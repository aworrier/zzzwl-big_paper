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56" r:id="rId2"/>
    <p:sldId id="336" r:id="rId3"/>
    <p:sldId id="257" r:id="rId4"/>
    <p:sldId id="409" r:id="rId5"/>
    <p:sldId id="364" r:id="rId6"/>
    <p:sldId id="411" r:id="rId7"/>
    <p:sldId id="414" r:id="rId8"/>
    <p:sldId id="374" r:id="rId9"/>
    <p:sldId id="366" r:id="rId10"/>
    <p:sldId id="408" r:id="rId11"/>
    <p:sldId id="367" r:id="rId12"/>
    <p:sldId id="368" r:id="rId13"/>
    <p:sldId id="375" r:id="rId14"/>
    <p:sldId id="415" r:id="rId15"/>
    <p:sldId id="400" r:id="rId16"/>
    <p:sldId id="406" r:id="rId17"/>
    <p:sldId id="384" r:id="rId18"/>
    <p:sldId id="386" r:id="rId19"/>
    <p:sldId id="410" r:id="rId20"/>
    <p:sldId id="388" r:id="rId21"/>
    <p:sldId id="401" r:id="rId22"/>
    <p:sldId id="402" r:id="rId23"/>
    <p:sldId id="389" r:id="rId24"/>
    <p:sldId id="390" r:id="rId25"/>
    <p:sldId id="393" r:id="rId26"/>
    <p:sldId id="391" r:id="rId27"/>
    <p:sldId id="392" r:id="rId28"/>
    <p:sldId id="412" r:id="rId29"/>
    <p:sldId id="413" r:id="rId30"/>
    <p:sldId id="403" r:id="rId31"/>
    <p:sldId id="395" r:id="rId32"/>
    <p:sldId id="396" r:id="rId33"/>
    <p:sldId id="405" r:id="rId34"/>
    <p:sldId id="397" r:id="rId35"/>
    <p:sldId id="416" r:id="rId36"/>
    <p:sldId id="357" r:id="rId37"/>
    <p:sldId id="369" r:id="rId38"/>
    <p:sldId id="339" r:id="rId39"/>
    <p:sldId id="399" r:id="rId40"/>
    <p:sldId id="417" r:id="rId41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扉页" id="{440B3B3A-52B6-40C3-A0DD-2645A41E507A}">
          <p14:sldIdLst>
            <p14:sldId id="256"/>
          </p14:sldIdLst>
        </p14:section>
        <p14:section name="研究背景与动机" id="{A8BF5B49-A46F-4017-B1C3-8C38E78566F2}">
          <p14:sldIdLst>
            <p14:sldId id="336"/>
            <p14:sldId id="257"/>
            <p14:sldId id="409"/>
            <p14:sldId id="364"/>
            <p14:sldId id="411"/>
          </p14:sldIdLst>
        </p14:section>
        <p14:section name="系统建模" id="{34E043FE-1AD8-4AF3-AB41-CD4A21F43F0B}">
          <p14:sldIdLst>
            <p14:sldId id="414"/>
            <p14:sldId id="374"/>
            <p14:sldId id="366"/>
            <p14:sldId id="408"/>
            <p14:sldId id="367"/>
            <p14:sldId id="368"/>
            <p14:sldId id="375"/>
          </p14:sldIdLst>
        </p14:section>
        <p14:section name="性能分析与优化" id="{E49E9034-64F3-445F-A18B-C1386FF7AF37}">
          <p14:sldIdLst>
            <p14:sldId id="415"/>
            <p14:sldId id="400"/>
            <p14:sldId id="406"/>
            <p14:sldId id="384"/>
            <p14:sldId id="386"/>
            <p14:sldId id="410"/>
            <p14:sldId id="388"/>
            <p14:sldId id="401"/>
            <p14:sldId id="402"/>
            <p14:sldId id="389"/>
            <p14:sldId id="390"/>
            <p14:sldId id="393"/>
            <p14:sldId id="391"/>
            <p14:sldId id="392"/>
            <p14:sldId id="412"/>
            <p14:sldId id="413"/>
            <p14:sldId id="403"/>
            <p14:sldId id="395"/>
            <p14:sldId id="396"/>
            <p14:sldId id="405"/>
            <p14:sldId id="397"/>
          </p14:sldIdLst>
        </p14:section>
        <p14:section name="总结与展望" id="{20DE51AB-6ABC-480D-9840-B2803812458D}">
          <p14:sldIdLst>
            <p14:sldId id="416"/>
            <p14:sldId id="357"/>
            <p14:sldId id="369"/>
          </p14:sldIdLst>
        </p14:section>
        <p14:section name="Q-A&amp;appendix" id="{EFFC6D04-2B90-42F6-8EAF-71295180438E}">
          <p14:sldIdLst>
            <p14:sldId id="339"/>
            <p14:sldId id="399"/>
            <p14:sldId id="417"/>
          </p14:sldIdLst>
        </p14:section>
      </p14:sectionLst>
    </p:ex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25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5561" autoAdjust="0"/>
  </p:normalViewPr>
  <p:slideViewPr>
    <p:cSldViewPr snapToGrid="0">
      <p:cViewPr varScale="1">
        <p:scale>
          <a:sx n="106" d="100"/>
          <a:sy n="106" d="100"/>
        </p:scale>
        <p:origin x="1908" y="102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38772"/>
    </p:cViewPr>
  </p:sorterViewPr>
  <p:notesViewPr>
    <p:cSldViewPr snapToGrid="0">
      <p:cViewPr varScale="1">
        <p:scale>
          <a:sx n="81" d="100"/>
          <a:sy n="81" d="100"/>
        </p:scale>
        <p:origin x="40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7BD2B-2E86-492D-A9AB-C3A2A1C97354}" type="datetimeFigureOut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5B968-8880-482F-B5EB-68DC0022B7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491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C631A-C8E7-40FB-AFB9-A94D1E4A2E60}" type="datetimeFigureOut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30FF6-F726-4DD3-8F33-A63C916287B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30FF6-F726-4DD3-8F33-A63C916287B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971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30FF6-F726-4DD3-8F33-A63C916287B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5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[1] Polyanskiy Y, Poor H V, </a:t>
            </a:r>
            <a:r>
              <a:rPr lang="en-US" altLang="zh-CN" dirty="0" err="1"/>
              <a:t>Verdu</a:t>
            </a:r>
            <a:r>
              <a:rPr lang="en-US" altLang="zh-CN" dirty="0"/>
              <a:t> S. Channel Coding Rate in the Finite </a:t>
            </a:r>
            <a:r>
              <a:rPr lang="en-US" altLang="zh-CN" dirty="0" err="1"/>
              <a:t>Blocklength</a:t>
            </a:r>
            <a:r>
              <a:rPr lang="en-US" altLang="zh-CN" dirty="0"/>
              <a:t> Regime[J]. IEEE</a:t>
            </a:r>
            <a:r>
              <a:rPr lang="en-US" altLang="zh-CN" baseline="0" dirty="0"/>
              <a:t> </a:t>
            </a:r>
            <a:r>
              <a:rPr lang="en-US" altLang="zh-CN" dirty="0"/>
              <a:t>Transactions on Information Theory, 2010, 56(5) : 2307 – 2359.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30FF6-F726-4DD3-8F33-A63C916287B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908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30FF6-F726-4DD3-8F33-A63C916287B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65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13299-E556-4978-83E5-97D8F8864967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en-US" altLang="zh-CN" smtClean="0"/>
              <a:t>‹#›</a:t>
            </a:fld>
            <a:endParaRPr lang="en-US" dirty="0"/>
          </a:p>
        </p:txBody>
      </p:sp>
      <p:pic>
        <p:nvPicPr>
          <p:cNvPr id="7" name="图片 6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9039" y="396558"/>
            <a:ext cx="2159588" cy="6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8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71653-389F-4F67-A8C8-8760615F053A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29039" y="399097"/>
            <a:ext cx="2159588" cy="63373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404840" y="530225"/>
            <a:ext cx="86295" cy="453854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30"/>
          </a:p>
        </p:txBody>
      </p:sp>
    </p:spTree>
    <p:extLst>
      <p:ext uri="{BB962C8B-B14F-4D97-AF65-F5344CB8AC3E}">
        <p14:creationId xmlns:p14="http://schemas.microsoft.com/office/powerpoint/2010/main" val="372980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C97AA-179E-45E6-A602-22E795E5E4F2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34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61557-620F-4D7E-87E5-92D794978D30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48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8871C-99B6-4C0A-9E12-FA0A0A532C85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33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7863-F1B1-46B6-86F1-03BA9C31AD61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3267" y="413385"/>
            <a:ext cx="1641634" cy="63373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404840" y="530225"/>
            <a:ext cx="86295" cy="453854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30"/>
          </a:p>
        </p:txBody>
      </p:sp>
    </p:spTree>
    <p:extLst>
      <p:ext uri="{BB962C8B-B14F-4D97-AF65-F5344CB8AC3E}">
        <p14:creationId xmlns:p14="http://schemas.microsoft.com/office/powerpoint/2010/main" val="1433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C4A4-F44A-4C67-8548-9F62867D1F3B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3267" y="413385"/>
            <a:ext cx="1641634" cy="63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0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2C9B-FE95-49E0-9056-E88DF3D8EAE7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333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BA4D-13E4-4289-BDC2-791962136F08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5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CB5A-ACB2-4A92-8CFD-B5803F3C2F2F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13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C76C5-C555-46B1-9EE0-77136096CE50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03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7863-F1B1-46B6-86F1-03BA9C31AD61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84052"/>
          </a:xfrm>
        </p:spPr>
        <p:txBody>
          <a:bodyPr>
            <a:normAutofit/>
          </a:bodyPr>
          <a:lstStyle>
            <a:lvl1pPr>
              <a:defRPr sz="2400" baseline="0">
                <a:solidFill>
                  <a:srgbClr val="005825"/>
                </a:solidFill>
                <a:latin typeface="Cambria Math" panose="020405030504060302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8" name="图片 7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3267" y="413385"/>
            <a:ext cx="1641634" cy="63373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404840" y="530225"/>
            <a:ext cx="86295" cy="453854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3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D61AE-822E-4FF7-AD14-C331E7AC1739}" type="datetime1">
              <a:rPr lang="zh-CN" altLang="en-US" smtClean="0"/>
              <a:t>2021/5/25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0EDF-B687-4851-88EF-036A594B1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52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5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"/>
            <a:ext cx="9144000" cy="1166949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8463" y="1979113"/>
            <a:ext cx="6858000" cy="1790700"/>
          </a:xfrm>
        </p:spPr>
        <p:txBody>
          <a:bodyPr>
            <a:noAutofit/>
          </a:bodyPr>
          <a:lstStyle/>
          <a:p>
            <a:r>
              <a:rPr lang="zh-CN" altLang="en-US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  <a:t>面向海量机器类通信的</a:t>
            </a:r>
            <a:r>
              <a:rPr lang="en-US" altLang="zh-CN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  <a:t/>
            </a:r>
            <a:br>
              <a:rPr lang="en-US" altLang="zh-CN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</a:br>
            <a:r>
              <a:rPr lang="zh-CN" altLang="en-US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  <a:t>短包</a:t>
            </a:r>
            <a:r>
              <a:rPr lang="en-US" altLang="zh-CN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  <a:t>Aloha</a:t>
            </a:r>
            <a:r>
              <a:rPr lang="zh-CN" altLang="en-US" sz="4000" b="1" dirty="0">
                <a:solidFill>
                  <a:srgbClr val="005825"/>
                </a:solidFill>
                <a:latin typeface="+mn-lt"/>
                <a:ea typeface="宋体" panose="02010600030101010101" pitchFamily="2" charset="-122"/>
                <a:cs typeface="+mn-ea"/>
                <a:sym typeface="+mn-lt"/>
              </a:rPr>
              <a:t>网络建模与分析</a:t>
            </a:r>
            <a:endParaRPr lang="zh-CN" altLang="en-US" sz="4000" b="1" dirty="0">
              <a:solidFill>
                <a:srgbClr val="005825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102929" y="5165263"/>
            <a:ext cx="2041072" cy="1692737"/>
          </a:xfrm>
        </p:spPr>
        <p:txBody>
          <a:bodyPr>
            <a:normAutofit/>
          </a:bodyPr>
          <a:lstStyle/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刘伟华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通信与信息系统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l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孙兴华 副教授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r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副标题 2"/>
          <p:cNvSpPr txBox="1">
            <a:spLocks/>
          </p:cNvSpPr>
          <p:nvPr/>
        </p:nvSpPr>
        <p:spPr>
          <a:xfrm>
            <a:off x="5753099" y="5165262"/>
            <a:ext cx="1468482" cy="169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答辩人：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r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专业：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r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指导教师：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332" y="-283847"/>
            <a:ext cx="2313668" cy="17346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矩形 392"/>
          <p:cNvSpPr/>
          <p:nvPr/>
        </p:nvSpPr>
        <p:spPr>
          <a:xfrm>
            <a:off x="0" y="0"/>
            <a:ext cx="2275285" cy="6858001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1">
              <a:solidFill>
                <a:srgbClr val="157E9F"/>
              </a:solidFill>
              <a:cs typeface="+mn-ea"/>
              <a:sym typeface="+mn-lt"/>
            </a:endParaRPr>
          </a:p>
        </p:txBody>
      </p:sp>
      <p:pic>
        <p:nvPicPr>
          <p:cNvPr id="4" name="图片 3" descr="资源 1@4x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16720" y="1633699"/>
            <a:ext cx="1535907" cy="1538288"/>
          </a:xfrm>
          <a:prstGeom prst="rect">
            <a:avLst/>
          </a:prstGeom>
        </p:spPr>
      </p:pic>
      <p:sp>
        <p:nvSpPr>
          <p:cNvPr id="28675" name="矩形 393"/>
          <p:cNvSpPr/>
          <p:nvPr/>
        </p:nvSpPr>
        <p:spPr>
          <a:xfrm>
            <a:off x="416725" y="3511811"/>
            <a:ext cx="1487908" cy="715709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51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目 录</a:t>
            </a:r>
          </a:p>
        </p:txBody>
      </p:sp>
      <p:sp>
        <p:nvSpPr>
          <p:cNvPr id="28682" name="矩形 420"/>
          <p:cNvSpPr/>
          <p:nvPr/>
        </p:nvSpPr>
        <p:spPr>
          <a:xfrm>
            <a:off x="587250" y="4204743"/>
            <a:ext cx="1135375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defTabSz="514338"/>
            <a:r>
              <a:rPr lang="en-US" altLang="zh-CN" sz="2000" b="1" dirty="0">
                <a:solidFill>
                  <a:srgbClr val="FFFFFF"/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28677" name="组合 399"/>
          <p:cNvGrpSpPr/>
          <p:nvPr/>
        </p:nvGrpSpPr>
        <p:grpSpPr>
          <a:xfrm>
            <a:off x="3693136" y="1541606"/>
            <a:ext cx="5309104" cy="620733"/>
            <a:chOff x="5534265" y="2004116"/>
            <a:chExt cx="7078394" cy="828000"/>
          </a:xfrm>
        </p:grpSpPr>
        <p:sp>
          <p:nvSpPr>
            <p:cNvPr id="403" name="矩形 402"/>
            <p:cNvSpPr/>
            <p:nvPr/>
          </p:nvSpPr>
          <p:spPr>
            <a:xfrm>
              <a:off x="5534265" y="2004116"/>
              <a:ext cx="828000" cy="82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5" name="文本框 400"/>
            <p:cNvSpPr txBox="1"/>
            <p:nvPr/>
          </p:nvSpPr>
          <p:spPr>
            <a:xfrm>
              <a:off x="6443311" y="2105227"/>
              <a:ext cx="6169348" cy="6979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研究</a:t>
              </a:r>
              <a:r>
                <a:rPr lang="zh-CN" altLang="en-US" sz="2800" b="1" dirty="0" smtClean="0">
                  <a:solidFill>
                    <a:srgbClr val="157E9F"/>
                  </a:solidFill>
                  <a:cs typeface="+mn-ea"/>
                  <a:sym typeface="+mn-lt"/>
                </a:rPr>
                <a:t>背景与动机</a:t>
              </a:r>
              <a:endParaRPr lang="zh-CN" altLang="en-US" sz="1600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6" name="文本框 401"/>
            <p:cNvSpPr txBox="1"/>
            <p:nvPr/>
          </p:nvSpPr>
          <p:spPr>
            <a:xfrm>
              <a:off x="5534265" y="2064173"/>
              <a:ext cx="828000" cy="738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28678" name="组合 404"/>
          <p:cNvGrpSpPr/>
          <p:nvPr/>
        </p:nvGrpSpPr>
        <p:grpSpPr>
          <a:xfrm>
            <a:off x="3693135" y="2311974"/>
            <a:ext cx="3964965" cy="621374"/>
            <a:chOff x="5529329" y="3237486"/>
            <a:chExt cx="5286047" cy="828000"/>
          </a:xfrm>
        </p:grpSpPr>
        <p:sp>
          <p:nvSpPr>
            <p:cNvPr id="408" name="矩形 407"/>
            <p:cNvSpPr/>
            <p:nvPr/>
          </p:nvSpPr>
          <p:spPr>
            <a:xfrm>
              <a:off x="5529329" y="32374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1" name="文本框 405"/>
            <p:cNvSpPr txBox="1"/>
            <p:nvPr/>
          </p:nvSpPr>
          <p:spPr>
            <a:xfrm>
              <a:off x="6438330" y="3338554"/>
              <a:ext cx="4377046" cy="697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系统建模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2" name="文本框 406"/>
            <p:cNvSpPr txBox="1"/>
            <p:nvPr/>
          </p:nvSpPr>
          <p:spPr>
            <a:xfrm>
              <a:off x="5529329" y="3297542"/>
              <a:ext cx="827998" cy="738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28679" name="组合 409"/>
          <p:cNvGrpSpPr/>
          <p:nvPr/>
        </p:nvGrpSpPr>
        <p:grpSpPr>
          <a:xfrm>
            <a:off x="3693137" y="3076570"/>
            <a:ext cx="4980774" cy="620537"/>
            <a:chOff x="5526151" y="4532886"/>
            <a:chExt cx="6639663" cy="828000"/>
          </a:xfrm>
        </p:grpSpPr>
        <p:sp>
          <p:nvSpPr>
            <p:cNvPr id="413" name="矩形 412"/>
            <p:cNvSpPr/>
            <p:nvPr/>
          </p:nvSpPr>
          <p:spPr>
            <a:xfrm>
              <a:off x="5526151" y="45328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7" name="文本框 410"/>
            <p:cNvSpPr txBox="1"/>
            <p:nvPr/>
          </p:nvSpPr>
          <p:spPr>
            <a:xfrm>
              <a:off x="6435061" y="4604862"/>
              <a:ext cx="5730753" cy="698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性能分析与优化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8" name="文本框 411"/>
            <p:cNvSpPr txBox="1"/>
            <p:nvPr/>
          </p:nvSpPr>
          <p:spPr>
            <a:xfrm>
              <a:off x="5526151" y="4592943"/>
              <a:ext cx="828000" cy="7392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28680" name="组合 414"/>
          <p:cNvGrpSpPr/>
          <p:nvPr/>
        </p:nvGrpSpPr>
        <p:grpSpPr>
          <a:xfrm>
            <a:off x="3693142" y="3862647"/>
            <a:ext cx="3786015" cy="621554"/>
            <a:chOff x="4624454" y="5601729"/>
            <a:chExt cx="5046978" cy="828000"/>
          </a:xfrm>
        </p:grpSpPr>
        <p:sp>
          <p:nvSpPr>
            <p:cNvPr id="418" name="矩形 417"/>
            <p:cNvSpPr/>
            <p:nvPr/>
          </p:nvSpPr>
          <p:spPr>
            <a:xfrm>
              <a:off x="4624454" y="5601729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3" name="文本框 415"/>
            <p:cNvSpPr txBox="1"/>
            <p:nvPr/>
          </p:nvSpPr>
          <p:spPr>
            <a:xfrm>
              <a:off x="5533358" y="5661786"/>
              <a:ext cx="4138074" cy="6970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总结与展望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4" name="文本框 416"/>
            <p:cNvSpPr txBox="1"/>
            <p:nvPr/>
          </p:nvSpPr>
          <p:spPr>
            <a:xfrm>
              <a:off x="4624454" y="5661786"/>
              <a:ext cx="828000" cy="7380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研究背景与动机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6" y="1151573"/>
            <a:ext cx="7886693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spc="1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宋体"/>
              </a:rPr>
              <a:t>选题背景</a:t>
            </a:r>
            <a:r>
              <a: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物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联网通信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特征</a:t>
            </a:r>
            <a:endParaRPr lang="en-US" altLang="zh-CN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空间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上（数量）：相较于典型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LTE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网络，更加</a:t>
            </a:r>
            <a:r>
              <a:rPr lang="zh-CN" altLang="en-US" sz="140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庞大节点数量</a:t>
            </a:r>
            <a:endParaRPr lang="en-US" altLang="zh-CN" sz="1400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时间上（频率）：传感器网络：事件触发导致</a:t>
            </a:r>
            <a:r>
              <a:rPr lang="zh-CN" altLang="en-US" sz="140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海量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周期性</a:t>
            </a:r>
            <a:r>
              <a:rPr lang="zh-CN" altLang="en-US" sz="140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传输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请求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实践中（成本）：电池容量较低；更换成本高导致</a:t>
            </a:r>
            <a:r>
              <a:rPr lang="zh-CN" altLang="en-US" sz="140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能效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要求更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高</a:t>
            </a:r>
            <a:endParaRPr lang="en-US" altLang="zh-CN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8656" y="3234194"/>
            <a:ext cx="5753100" cy="329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5750">
              <a:lnSpc>
                <a:spcPct val="15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物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联网部分应用场景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需求总结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智能家居：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传感器：周期性数据回传；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 lvl="1">
              <a:lnSpc>
                <a:spcPct val="150000"/>
              </a:lnSpc>
              <a:spcBef>
                <a:spcPts val="200"/>
              </a:spcBef>
            </a:pP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		      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远程控制：时延要求较低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智能交通：路网状况监控：可靠性、实时性要求高；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智能驾驶：要求高信息新鲜度与可靠性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智慧城市：广域海量传感器数据回传：高能效要求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工业自动化：生产监控：高可靠性；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841500" lvl="3">
              <a:lnSpc>
                <a:spcPct val="150000"/>
              </a:lnSpc>
              <a:spcBef>
                <a:spcPts val="200"/>
              </a:spcBef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运动控制：低时延低时延抖动；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841500" lvl="3">
              <a:lnSpc>
                <a:spcPct val="150000"/>
              </a:lnSpc>
              <a:spcBef>
                <a:spcPts val="200"/>
              </a:spcBef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振动、温度监控：周期性数据回传</a:t>
            </a:r>
            <a:endParaRPr lang="zh-CN" altLang="en-US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研究背景与动机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8" y="1147790"/>
            <a:ext cx="536256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宋体"/>
              </a:rPr>
              <a:t>研究现状</a:t>
            </a:r>
            <a:endParaRPr lang="en-US" altLang="zh-CN" sz="2400" b="1" spc="10" dirty="0" smtClean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宋体"/>
            </a:endParaRP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机器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类通信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机制特征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89088" y="2181263"/>
            <a:ext cx="4237233" cy="1166322"/>
            <a:chOff x="0" y="2160767"/>
            <a:chExt cx="5048250" cy="1033474"/>
          </a:xfrm>
        </p:grpSpPr>
        <p:sp>
          <p:nvSpPr>
            <p:cNvPr id="6" name="矩形 5"/>
            <p:cNvSpPr/>
            <p:nvPr/>
          </p:nvSpPr>
          <p:spPr>
            <a:xfrm>
              <a:off x="0" y="2160767"/>
              <a:ext cx="5048250" cy="1022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短包</a:t>
              </a:r>
              <a:r>
                <a:rPr lang="zh-CN" altLang="en-US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传输（监视与控制类信息）</a:t>
              </a:r>
              <a:endParaRPr lang="en-US" altLang="zh-CN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有效载荷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降低，信令开销占比提升</a:t>
              </a:r>
              <a:endPara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需要新理论以刻画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短包传输带来信道容量损失</a:t>
              </a:r>
              <a:endPara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0" y="2189123"/>
              <a:ext cx="4952999" cy="1005118"/>
            </a:xfrm>
            <a:prstGeom prst="roundRect">
              <a:avLst/>
            </a:prstGeom>
            <a:noFill/>
            <a:ln w="28575">
              <a:solidFill>
                <a:srgbClr val="00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865891" y="2181263"/>
            <a:ext cx="4048133" cy="1180789"/>
            <a:chOff x="5048250" y="2064652"/>
            <a:chExt cx="4048133" cy="1025396"/>
          </a:xfrm>
        </p:grpSpPr>
        <p:sp>
          <p:nvSpPr>
            <p:cNvPr id="10" name="圆角矩形 9"/>
            <p:cNvSpPr/>
            <p:nvPr/>
          </p:nvSpPr>
          <p:spPr bwMode="auto">
            <a:xfrm>
              <a:off x="5048250" y="2084930"/>
              <a:ext cx="4048133" cy="1005118"/>
            </a:xfrm>
            <a:prstGeom prst="roundRect">
              <a:avLst/>
            </a:prstGeom>
            <a:noFill/>
            <a:ln w="28575">
              <a:solidFill>
                <a:srgbClr val="00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048250" y="2064652"/>
              <a:ext cx="3895727" cy="10022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免授权接入 </a:t>
              </a:r>
              <a:endParaRPr lang="en-US" altLang="zh-CN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跳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过授权调度，降低信令开销占</a:t>
              </a: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比</a:t>
              </a:r>
              <a:endParaRPr lang="en-US" altLang="zh-CN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碰撞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导致可靠性与能效损失</a:t>
              </a:r>
              <a:endPara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628657" y="3479611"/>
            <a:ext cx="7878612" cy="45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现有研究成果</a:t>
            </a:r>
            <a:endParaRPr lang="en-US" altLang="zh-CN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9088" y="4024038"/>
            <a:ext cx="4237233" cy="1196080"/>
            <a:chOff x="0" y="2160766"/>
            <a:chExt cx="5048250" cy="1033474"/>
          </a:xfrm>
        </p:grpSpPr>
        <p:sp>
          <p:nvSpPr>
            <p:cNvPr id="17" name="矩形 16"/>
            <p:cNvSpPr/>
            <p:nvPr/>
          </p:nvSpPr>
          <p:spPr>
            <a:xfrm>
              <a:off x="0" y="2160766"/>
              <a:ext cx="5048250" cy="9972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7100" algn="l"/>
                </a:tabLst>
              </a:pPr>
              <a:r>
                <a:rPr lang="zh-CN" altLang="en-US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短</a:t>
              </a:r>
              <a:r>
                <a:rPr lang="zh-CN" altLang="en-US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包传输</a:t>
              </a:r>
              <a:endParaRPr lang="en-US" altLang="zh-CN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1" indent="-285750">
                <a:lnSpc>
                  <a:spcPct val="150000"/>
                </a:lnSpc>
                <a:buFont typeface="Wingdings" panose="05000000000000000000" pitchFamily="2" charset="2"/>
                <a:buChar char="p"/>
                <a:tabLst>
                  <a:tab pos="927100" algn="l"/>
                </a:tabLst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点对点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信道：短包信道容量建模</a:t>
              </a: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多址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接入：调整块长以优化网络</a:t>
              </a: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性能</a:t>
              </a:r>
              <a:endPara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圆角矩形 17"/>
            <p:cNvSpPr/>
            <p:nvPr/>
          </p:nvSpPr>
          <p:spPr bwMode="auto">
            <a:xfrm>
              <a:off x="0" y="2189122"/>
              <a:ext cx="4952999" cy="1005118"/>
            </a:xfrm>
            <a:prstGeom prst="roundRect">
              <a:avLst/>
            </a:prstGeom>
            <a:noFill/>
            <a:ln w="28575">
              <a:solidFill>
                <a:srgbClr val="00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865890" y="4025901"/>
            <a:ext cx="4214736" cy="1800493"/>
            <a:chOff x="5048250" y="2064651"/>
            <a:chExt cx="4115148" cy="1239090"/>
          </a:xfrm>
        </p:grpSpPr>
        <p:sp>
          <p:nvSpPr>
            <p:cNvPr id="21" name="圆角矩形 20"/>
            <p:cNvSpPr/>
            <p:nvPr/>
          </p:nvSpPr>
          <p:spPr bwMode="auto">
            <a:xfrm>
              <a:off x="5048250" y="2084930"/>
              <a:ext cx="4048133" cy="1005118"/>
            </a:xfrm>
            <a:prstGeom prst="roundRect">
              <a:avLst/>
            </a:prstGeom>
            <a:noFill/>
            <a:ln w="28575">
              <a:solidFill>
                <a:srgbClr val="0033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048250" y="2064651"/>
              <a:ext cx="4115148" cy="1239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免授权接入 </a:t>
              </a:r>
              <a:endParaRPr lang="en-US" altLang="zh-CN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重传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机制：提高传输可靠性，降低时延</a:t>
              </a: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丢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包机制：改善时延，降低</a:t>
              </a: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吞吐量</a:t>
              </a:r>
              <a:endParaRPr lang="en-US" altLang="zh-CN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285750" lvl="2" indent="-285750">
                <a:lnSpc>
                  <a:spcPct val="150000"/>
                </a:lnSpc>
                <a:buFont typeface="Wingdings" panose="05000000000000000000" pitchFamily="2" charset="2"/>
                <a:buChar char="p"/>
              </a:pP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  改良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接收机模型：提高信干噪比提升系统性能</a:t>
              </a:r>
            </a:p>
            <a:p>
              <a:pPr marL="0" lvl="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849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研究背景与动机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1"/>
            <a:ext cx="7886693" cy="195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indent="-457200"/>
            <a:r>
              <a:rPr lang="zh-CN" altLang="en-US" sz="2400" b="1" spc="10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宋体"/>
              </a:rPr>
              <a:t>研究</a:t>
            </a:r>
            <a:r>
              <a:rPr lang="zh-CN" altLang="en-US" sz="2400" b="1" spc="10" dirty="0" smtClean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宋体"/>
              </a:rPr>
              <a:t>现状与</a:t>
            </a:r>
            <a:r>
              <a:rPr lang="zh-CN" altLang="en-US" sz="2400" b="1" spc="10" dirty="0" smtClean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宋体"/>
              </a:rPr>
              <a:t>关键问题</a:t>
            </a:r>
            <a:endParaRPr lang="en-US" altLang="zh-CN" sz="2400" b="1" spc="10" dirty="0" smtClean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宋体"/>
            </a:endParaRPr>
          </a:p>
          <a:p>
            <a:pPr marL="0" lvl="1" indent="457200"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短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包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体系结合时隙</a:t>
            </a:r>
            <a:r>
              <a:rPr lang="en-US" altLang="zh-CN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Aloha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网络的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性能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分析框架不成熟、体系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不完善、结论较为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匮乏。</a:t>
            </a:r>
            <a:endParaRPr lang="en-US" altLang="zh-CN" sz="1400" dirty="0" smtClean="0">
              <a:solidFill>
                <a:prstClr val="black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0" lvl="1" indent="457200"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多节点时隙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Aloha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建模存在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队列耦合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导致计算复杂度高，缺乏显式解与最优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分析。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0" lvl="1" indent="457200">
              <a:lnSpc>
                <a:spcPct val="1500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如何克服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短包</a:t>
            </a:r>
            <a:r>
              <a:rPr lang="zh-CN" altLang="en-US" sz="1400" dirty="0" smtClean="0">
                <a:solidFill>
                  <a:srgbClr val="00B0F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和免授权</a:t>
            </a:r>
            <a:r>
              <a:rPr lang="zh-CN" alt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带来的缺点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？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如何满足高吞吐量、高数据速率、高可靠性、高能效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等      不同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需求</a:t>
            </a:r>
            <a:r>
              <a:rPr lang="zh-CN" altLang="en-US" sz="1400" dirty="0" smtClean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？各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性能之间如何</a:t>
            </a:r>
            <a:r>
              <a:rPr lang="zh-CN" altLang="en-US" sz="1400" dirty="0" smtClean="0">
                <a:solidFill>
                  <a:srgbClr val="00B0F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折中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8657" y="3580180"/>
            <a:ext cx="7886693" cy="2959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短包分析体系 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时隙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Aloha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免授权随机接入网络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接收机模型：共同传输模型→碰撞模型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成功传输条件：未发生碰撞 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&amp; 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数据包解码成功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0" lvl="1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节点中心建模框架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马尔可夫更新过程（解耦状态分布与状态滞留时间）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系统性能指标显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式解 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0" lvl="1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可调网络参数的性能优化定理与折中讨论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性能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的优化建议与仿真验证 </a:t>
            </a:r>
            <a:endParaRPr lang="en-US" altLang="zh-CN" sz="1400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914400" lvl="4" indent="-4572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性能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之间的折中讨论，为后续研究和应用打开思路 </a:t>
            </a:r>
            <a:endParaRPr lang="zh-CN" altLang="en-US" sz="1400" dirty="0">
              <a:solidFill>
                <a:srgbClr val="0070C0"/>
              </a:solidFill>
              <a:latin typeface="SimHei" panose="02010609060101010101" pitchFamily="49" charset="-122"/>
              <a:ea typeface="SimHei" panose="02010609060101010101" pitchFamily="49" charset="-122"/>
              <a:cs typeface="Microsoft JhengHei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8657" y="3141327"/>
            <a:ext cx="78866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本文创新点</a:t>
            </a:r>
            <a:r>
              <a: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029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研究背景与动机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1"/>
            <a:ext cx="78866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工作</a:t>
            </a: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成果与论文结构</a:t>
            </a:r>
            <a:r>
              <a:rPr lang="en-US" altLang="zh-CN" sz="2400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628657" y="1663436"/>
          <a:ext cx="7511796" cy="4692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" name="Visio" r:id="rId3" imgW="9286626" imgH="5800686" progId="Visio.Drawing.15">
                  <p:embed/>
                </p:oleObj>
              </mc:Choice>
              <mc:Fallback>
                <p:oleObj name="Visio" r:id="rId3" imgW="9286626" imgH="5800686" progId="Visio.Drawing.15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8657" y="1663436"/>
                        <a:ext cx="7511796" cy="4692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876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矩形 392"/>
          <p:cNvSpPr/>
          <p:nvPr/>
        </p:nvSpPr>
        <p:spPr>
          <a:xfrm>
            <a:off x="0" y="0"/>
            <a:ext cx="2275285" cy="6858001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1">
              <a:solidFill>
                <a:srgbClr val="157E9F"/>
              </a:solidFill>
              <a:cs typeface="+mn-ea"/>
              <a:sym typeface="+mn-lt"/>
            </a:endParaRPr>
          </a:p>
        </p:txBody>
      </p:sp>
      <p:pic>
        <p:nvPicPr>
          <p:cNvPr id="4" name="图片 3" descr="资源 1@4x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16720" y="1633699"/>
            <a:ext cx="1535907" cy="1538288"/>
          </a:xfrm>
          <a:prstGeom prst="rect">
            <a:avLst/>
          </a:prstGeom>
        </p:spPr>
      </p:pic>
      <p:sp>
        <p:nvSpPr>
          <p:cNvPr id="28675" name="矩形 393"/>
          <p:cNvSpPr/>
          <p:nvPr/>
        </p:nvSpPr>
        <p:spPr>
          <a:xfrm>
            <a:off x="416725" y="3511811"/>
            <a:ext cx="1487908" cy="715709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51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目 录</a:t>
            </a:r>
          </a:p>
        </p:txBody>
      </p:sp>
      <p:sp>
        <p:nvSpPr>
          <p:cNvPr id="28682" name="矩形 420"/>
          <p:cNvSpPr/>
          <p:nvPr/>
        </p:nvSpPr>
        <p:spPr>
          <a:xfrm>
            <a:off x="587250" y="4204743"/>
            <a:ext cx="1135375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defTabSz="514338"/>
            <a:r>
              <a:rPr lang="en-US" altLang="zh-CN" sz="2000" b="1" dirty="0">
                <a:solidFill>
                  <a:srgbClr val="FFFFFF"/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28677" name="组合 399"/>
          <p:cNvGrpSpPr/>
          <p:nvPr/>
        </p:nvGrpSpPr>
        <p:grpSpPr>
          <a:xfrm>
            <a:off x="3693136" y="1541606"/>
            <a:ext cx="5309104" cy="620733"/>
            <a:chOff x="5534265" y="2004116"/>
            <a:chExt cx="7078394" cy="828000"/>
          </a:xfrm>
        </p:grpSpPr>
        <p:sp>
          <p:nvSpPr>
            <p:cNvPr id="403" name="矩形 402"/>
            <p:cNvSpPr/>
            <p:nvPr/>
          </p:nvSpPr>
          <p:spPr>
            <a:xfrm>
              <a:off x="5534265" y="200411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5" name="文本框 400"/>
            <p:cNvSpPr txBox="1"/>
            <p:nvPr/>
          </p:nvSpPr>
          <p:spPr>
            <a:xfrm>
              <a:off x="6443311" y="2105227"/>
              <a:ext cx="6169348" cy="6979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研究</a:t>
              </a:r>
              <a:r>
                <a:rPr lang="zh-CN" altLang="en-US" sz="2800" b="1" dirty="0" smtClean="0">
                  <a:solidFill>
                    <a:srgbClr val="157E9F"/>
                  </a:solidFill>
                  <a:cs typeface="+mn-ea"/>
                  <a:sym typeface="+mn-lt"/>
                </a:rPr>
                <a:t>背景与动机</a:t>
              </a:r>
              <a:endParaRPr lang="zh-CN" altLang="en-US" sz="1600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6" name="文本框 401"/>
            <p:cNvSpPr txBox="1"/>
            <p:nvPr/>
          </p:nvSpPr>
          <p:spPr>
            <a:xfrm>
              <a:off x="5534265" y="2064173"/>
              <a:ext cx="828000" cy="738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28678" name="组合 404"/>
          <p:cNvGrpSpPr/>
          <p:nvPr/>
        </p:nvGrpSpPr>
        <p:grpSpPr>
          <a:xfrm>
            <a:off x="3693135" y="2311974"/>
            <a:ext cx="3964965" cy="621374"/>
            <a:chOff x="5529329" y="3237486"/>
            <a:chExt cx="5286047" cy="828000"/>
          </a:xfrm>
        </p:grpSpPr>
        <p:sp>
          <p:nvSpPr>
            <p:cNvPr id="408" name="矩形 407"/>
            <p:cNvSpPr/>
            <p:nvPr/>
          </p:nvSpPr>
          <p:spPr>
            <a:xfrm>
              <a:off x="5529329" y="3237486"/>
              <a:ext cx="828000" cy="82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1" name="文本框 405"/>
            <p:cNvSpPr txBox="1"/>
            <p:nvPr/>
          </p:nvSpPr>
          <p:spPr>
            <a:xfrm>
              <a:off x="6438330" y="3338554"/>
              <a:ext cx="4377046" cy="697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系统建模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2" name="文本框 406"/>
            <p:cNvSpPr txBox="1"/>
            <p:nvPr/>
          </p:nvSpPr>
          <p:spPr>
            <a:xfrm>
              <a:off x="5529329" y="3297542"/>
              <a:ext cx="827998" cy="738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28679" name="组合 409"/>
          <p:cNvGrpSpPr/>
          <p:nvPr/>
        </p:nvGrpSpPr>
        <p:grpSpPr>
          <a:xfrm>
            <a:off x="3693137" y="3076570"/>
            <a:ext cx="4980774" cy="620537"/>
            <a:chOff x="5526151" y="4532886"/>
            <a:chExt cx="6639663" cy="828000"/>
          </a:xfrm>
        </p:grpSpPr>
        <p:sp>
          <p:nvSpPr>
            <p:cNvPr id="413" name="矩形 412"/>
            <p:cNvSpPr/>
            <p:nvPr/>
          </p:nvSpPr>
          <p:spPr>
            <a:xfrm>
              <a:off x="5526151" y="45328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7" name="文本框 410"/>
            <p:cNvSpPr txBox="1"/>
            <p:nvPr/>
          </p:nvSpPr>
          <p:spPr>
            <a:xfrm>
              <a:off x="6435061" y="4604862"/>
              <a:ext cx="5730753" cy="698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性能分析与优化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8" name="文本框 411"/>
            <p:cNvSpPr txBox="1"/>
            <p:nvPr/>
          </p:nvSpPr>
          <p:spPr>
            <a:xfrm>
              <a:off x="5526151" y="4592943"/>
              <a:ext cx="828000" cy="7392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28680" name="组合 414"/>
          <p:cNvGrpSpPr/>
          <p:nvPr/>
        </p:nvGrpSpPr>
        <p:grpSpPr>
          <a:xfrm>
            <a:off x="3693142" y="3862647"/>
            <a:ext cx="3786015" cy="621554"/>
            <a:chOff x="4624454" y="5601729"/>
            <a:chExt cx="5046978" cy="828000"/>
          </a:xfrm>
        </p:grpSpPr>
        <p:sp>
          <p:nvSpPr>
            <p:cNvPr id="418" name="矩形 417"/>
            <p:cNvSpPr/>
            <p:nvPr/>
          </p:nvSpPr>
          <p:spPr>
            <a:xfrm>
              <a:off x="4624454" y="5601729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3" name="文本框 415"/>
            <p:cNvSpPr txBox="1"/>
            <p:nvPr/>
          </p:nvSpPr>
          <p:spPr>
            <a:xfrm>
              <a:off x="5533358" y="5661786"/>
              <a:ext cx="4138074" cy="6970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总结与展望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4" name="文本框 416"/>
            <p:cNvSpPr txBox="1"/>
            <p:nvPr/>
          </p:nvSpPr>
          <p:spPr>
            <a:xfrm>
              <a:off x="4624454" y="5661786"/>
              <a:ext cx="828000" cy="7380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73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28657" y="1201771"/>
            <a:ext cx="51215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场景与假设</a:t>
            </a:r>
            <a:r>
              <a: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7" y="3391162"/>
            <a:ext cx="7193814" cy="311270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28657" y="1783982"/>
            <a:ext cx="4572000" cy="133882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接收机模型：碰撞模型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发射节点功率控制：统一接收端信噪比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即时信令反馈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527546" y="1783982"/>
            <a:ext cx="4532462" cy="1389572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41306" y="1783982"/>
            <a:ext cx="2945444" cy="127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网络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处于饱和状态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节点缓冲器队列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无穷大</a:t>
            </a:r>
            <a:endParaRPr lang="en-US" altLang="zh-CN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927100" algn="l"/>
              </a:tabLst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AWGN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信道多址</a:t>
            </a: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接入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5200657" y="1783982"/>
            <a:ext cx="3086093" cy="1389572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9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28657" y="1201772"/>
            <a:ext cx="7886693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</a:pP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lang="en-US" altLang="zh-CN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有限码长信道容量</a:t>
            </a:r>
            <a:r>
              <a: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节点编码速率（码率）物理含义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ct val="1500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en-US" altLang="zh-CN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AWGN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信道短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包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速率上限近似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lang="en-US" altLang="zh-CN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[1]</a:t>
            </a:r>
          </a:p>
          <a:p>
            <a:pPr marL="469900">
              <a:lnSpc>
                <a:spcPct val="1500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AWGN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近似的接收端解码错误概率（误码率）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ct val="1500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500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030" y="2217998"/>
            <a:ext cx="731824" cy="5796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9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553244" y="2243348"/>
                <a:ext cx="57824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每数据包信息比特数</a:t>
                </a:r>
                <a:r>
                  <a:rPr lang="en-US" altLang="zh-CN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en-US" altLang="zh-CN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块长度</a:t>
                </a:r>
                <a:r>
                  <a:rPr lang="en-US" altLang="zh-CN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信息比特编码后的符号个数</a:t>
                </a:r>
                <a:r>
                  <a:rPr lang="en-US" altLang="zh-CN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)(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𝐻𝑧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endPara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244" y="2243348"/>
                <a:ext cx="5782492" cy="523220"/>
              </a:xfrm>
              <a:prstGeom prst="rect">
                <a:avLst/>
              </a:prstGeom>
              <a:blipFill>
                <a:blip r:embed="rId4"/>
                <a:stretch>
                  <a:fillRect l="-211" t="-3488" b="-1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030" y="3166652"/>
            <a:ext cx="3907179" cy="61760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648" y="4184343"/>
            <a:ext cx="3476355" cy="646763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1037030" y="4861858"/>
            <a:ext cx="4625217" cy="738664"/>
            <a:chOff x="965958" y="5669120"/>
            <a:chExt cx="4572000" cy="7386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/>
                <p:cNvSpPr/>
                <p:nvPr/>
              </p:nvSpPr>
              <p:spPr>
                <a:xfrm>
                  <a:off x="965958" y="5669120"/>
                  <a:ext cx="4572000" cy="738664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sz="14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1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14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为信噪比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CN" altLang="en-US" sz="14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𝑉为信道色散，</a:t>
                  </a:r>
                  <a:r>
                    <a:rPr lang="en-US" altLang="zh-CN" sz="14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AWGN</a:t>
                  </a:r>
                  <a:r>
                    <a:rPr lang="zh-CN" altLang="en-US" sz="14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下近似为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(∙)</m:t>
                      </m:r>
                    </m:oMath>
                  </a14:m>
                  <a:r>
                    <a:rPr lang="zh-CN" altLang="en-US" sz="1400" dirty="0">
                      <a:latin typeface="Times New Roman" panose="02020603050405020304" pitchFamily="18" charset="0"/>
                      <a:ea typeface="黑体" panose="02010609060101010101" pitchFamily="49" charset="-122"/>
                    </a:rPr>
                    <a:t>为高斯𝑄函数的反函数   </a:t>
                  </a:r>
                </a:p>
              </p:txBody>
            </p:sp>
          </mc:Choice>
          <mc:Fallback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5958" y="5669120"/>
                  <a:ext cx="4572000" cy="738664"/>
                </a:xfrm>
                <a:prstGeom prst="rect">
                  <a:avLst/>
                </a:prstGeom>
                <a:blipFill>
                  <a:blip r:embed="rId7"/>
                  <a:stretch>
                    <a:fillRect l="-132" t="-2479" b="-7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766726" y="5927916"/>
              <a:ext cx="1177483" cy="304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506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7886693" cy="936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lang="en-US" altLang="zh-CN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碰撞模型接收机</a:t>
            </a:r>
            <a:r>
              <a:rPr lang="en-US" altLang="zh-CN" sz="2400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接收机模型：从共同传输模型 到 碰撞模型</a:t>
            </a:r>
            <a:endParaRPr lang="en-US" altLang="zh-CN" b="1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4677428" y="2294669"/>
                <a:ext cx="3943348" cy="3713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共同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传输模型：信干噪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比</a:t>
                </a: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SINR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400" i="1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den>
                        </m:f>
                      </m:den>
                    </m:f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,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=0, 1, 2, 3 ⋯</m:t>
                    </m:r>
                  </m:oMath>
                </a14:m>
                <a:endPara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给定信息编码速率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，误码率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随共同传输数量的提高迅速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降低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共同传输机制对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传输可靠性的增益非常小。</a:t>
                </a:r>
                <a:endPara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给定误码率 </a:t>
                </a:r>
                <a14:m>
                  <m:oMath xmlns:m="http://schemas.openxmlformats.org/officeDocument/2006/math">
                    <m:r>
                      <a:rPr lang="zh-CN" altLang="en-US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，信息编码速率 </a:t>
                </a:r>
                <a14:m>
                  <m:oMath xmlns:m="http://schemas.openxmlformats.org/officeDocument/2006/math">
                    <m:r>
                      <a:rPr lang="en-US" altLang="zh-CN" sz="1400" i="1" dirty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随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共同传输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数量的提高迅速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降低。共同传输机制对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信道容量的增益非常小。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zh-CN" altLang="en-US" sz="1400" dirty="0"/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428" y="2294669"/>
                <a:ext cx="3943348" cy="3713645"/>
              </a:xfrm>
              <a:prstGeom prst="rect">
                <a:avLst/>
              </a:prstGeom>
              <a:blipFill>
                <a:blip r:embed="rId2"/>
                <a:stretch>
                  <a:fillRect l="-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4669"/>
            <a:ext cx="4677428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8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11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1716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建模</a:t>
                </a:r>
                <a:r>
                  <a:rPr lang="en-US" altLang="zh-CN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队列头包状态分析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马尔可夫更新过程 </a:t>
                </a:r>
                <a:r>
                  <a:rPr lang="en-US" altLang="zh-CN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– 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嵌入式马尔可夫链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l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将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与 状态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滞留时间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的分析解耦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的可能情况：</a:t>
                </a:r>
                <a:endParaRPr lang="en-US" altLang="zh-CN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  <a:p>
                <a:pPr marL="1270000" lvl="1" indent="-342900">
                  <a:lnSpc>
                    <a:spcPct val="7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等待发射（状态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）</a:t>
                </a:r>
                <a:endParaRPr lang="en-US" altLang="zh-CN" sz="1400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  <a:p>
                <a:pPr marL="1270000" lvl="1" indent="-342900">
                  <a:lnSpc>
                    <a:spcPct val="7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碰撞导致传输失败（状态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）</a:t>
                </a:r>
                <a:endParaRPr lang="en-US" altLang="zh-CN" sz="1400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  <a:p>
                <a:pPr marL="1270000" lvl="1" indent="-342900">
                  <a:lnSpc>
                    <a:spcPct val="7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成功传输（状态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b="0" i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Microsoft JhengHei"/>
                      </a:rPr>
                      <m:t>T</m:t>
                    </m:r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）</a:t>
                </a:r>
                <a:endParaRPr lang="en-US" altLang="zh-CN" sz="1400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171672"/>
              </a:xfrm>
              <a:prstGeom prst="rect">
                <a:avLst/>
              </a:prstGeom>
              <a:blipFill>
                <a:blip r:embed="rId2"/>
                <a:stretch>
                  <a:fillRect l="-1005" t="-1296" b="-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287" y="2249694"/>
            <a:ext cx="4668263" cy="22973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r="2193" b="-652"/>
          <a:stretch/>
        </p:blipFill>
        <p:spPr>
          <a:xfrm>
            <a:off x="5490935" y="1745469"/>
            <a:ext cx="3195866" cy="39312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180" y="3234590"/>
            <a:ext cx="972615" cy="3275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83972" y="2865258"/>
            <a:ext cx="9408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遍历性</a:t>
            </a:r>
          </a:p>
        </p:txBody>
      </p:sp>
    </p:spTree>
    <p:extLst>
      <p:ext uri="{BB962C8B-B14F-4D97-AF65-F5344CB8AC3E}">
        <p14:creationId xmlns:p14="http://schemas.microsoft.com/office/powerpoint/2010/main" val="112097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6834589" cy="56810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建模</a:t>
                </a:r>
                <a:r>
                  <a:rPr lang="en-US" altLang="zh-CN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队列头包成功传输概率</a:t>
                </a:r>
                <a14:m>
                  <m:oMath xmlns:m="http://schemas.openxmlformats.org/officeDocument/2006/math">
                    <m:r>
                      <a:rPr lang="en-US" altLang="zh-CN" sz="2400" b="1" i="1" spc="1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稳态概率分布（状态占比） 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←</a:t>
                </a:r>
                <a:r>
                  <a:rPr lang="en-US" altLang="zh-CN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状态滞留时间（时隙期望）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1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任意状态的极限状态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概率（</a:t>
                </a:r>
                <a:r>
                  <a:rPr lang="en-US" altLang="zh-CN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limiting state probability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的极限状态概率（处于状态</a:t>
                </a:r>
                <a:r>
                  <a:rPr lang="en-US" altLang="zh-CN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的概率）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6834589" cy="5681042"/>
              </a:xfrm>
              <a:prstGeom prst="rect">
                <a:avLst/>
              </a:prstGeom>
              <a:blipFill>
                <a:blip r:embed="rId2"/>
                <a:stretch>
                  <a:fillRect l="-1160" t="-1180" r="-1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2718"/>
          <a:stretch/>
        </p:blipFill>
        <p:spPr>
          <a:xfrm>
            <a:off x="1580796" y="4520088"/>
            <a:ext cx="4559586" cy="6763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198" y="2247239"/>
            <a:ext cx="1228896" cy="6096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372" y="5928952"/>
            <a:ext cx="3002762" cy="78631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927" y="3029951"/>
            <a:ext cx="1160209" cy="293275"/>
          </a:xfrm>
          <a:prstGeom prst="rect">
            <a:avLst/>
          </a:prstGeom>
        </p:spPr>
      </p:pic>
      <p:sp>
        <p:nvSpPr>
          <p:cNvPr id="10" name="左大括号 9"/>
          <p:cNvSpPr/>
          <p:nvPr/>
        </p:nvSpPr>
        <p:spPr>
          <a:xfrm>
            <a:off x="6559550" y="2603500"/>
            <a:ext cx="159377" cy="599281"/>
          </a:xfrm>
          <a:prstGeom prst="leftBrace">
            <a:avLst>
              <a:gd name="adj1" fmla="val 11372"/>
              <a:gd name="adj2" fmla="val 49600"/>
            </a:avLst>
          </a:prstGeom>
          <a:noFill/>
          <a:ln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5636126" y="2828254"/>
            <a:ext cx="819150" cy="173027"/>
          </a:xfrm>
          <a:prstGeom prst="leftArrow">
            <a:avLst/>
          </a:prstGeom>
          <a:solidFill>
            <a:srgbClr val="005825"/>
          </a:solidFill>
          <a:ln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7"/>
          <a:srcRect l="2262" t="7640" b="9734"/>
          <a:stretch/>
        </p:blipFill>
        <p:spPr>
          <a:xfrm>
            <a:off x="1155315" y="2328431"/>
            <a:ext cx="3954153" cy="55013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8"/>
          <a:srcRect l="2612"/>
          <a:stretch/>
        </p:blipFill>
        <p:spPr>
          <a:xfrm>
            <a:off x="1155315" y="3001281"/>
            <a:ext cx="3954153" cy="55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6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系统建模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7" y="1190479"/>
                <a:ext cx="6834589" cy="330859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建模</a:t>
                </a:r>
                <a:r>
                  <a:rPr lang="en-US" altLang="zh-CN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队列头包成功传输概率</a:t>
                </a:r>
                <a14:m>
                  <m:oMath xmlns:m="http://schemas.openxmlformats.org/officeDocument/2006/math">
                    <m:r>
                      <a:rPr lang="en-US" altLang="zh-CN" sz="2400" b="1" i="1" spc="1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队列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头包成功传输概率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（网络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工作点）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2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sz="12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sz="12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190479"/>
                <a:ext cx="6834589" cy="3308598"/>
              </a:xfrm>
              <a:prstGeom prst="rect">
                <a:avLst/>
              </a:prstGeom>
              <a:blipFill>
                <a:blip r:embed="rId3"/>
                <a:stretch>
                  <a:fillRect l="-1160" t="-20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554" y="2243530"/>
            <a:ext cx="4801270" cy="2953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554" y="2701566"/>
            <a:ext cx="2931857" cy="874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554" y="4410288"/>
            <a:ext cx="3672086" cy="1329006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11520" y="3693732"/>
            <a:ext cx="2170446" cy="431623"/>
            <a:chOff x="2809881" y="4408882"/>
            <a:chExt cx="3332734" cy="647128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09881" y="4408882"/>
              <a:ext cx="1057269" cy="30756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09881" y="4716451"/>
              <a:ext cx="1955855" cy="323788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4713309" y="4686853"/>
              <a:ext cx="511017" cy="369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for</a:t>
              </a:r>
              <a:endParaRPr lang="zh-CN" altLang="en-US" sz="1000" dirty="0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24325" y="4761942"/>
              <a:ext cx="918290" cy="232806"/>
            </a:xfrm>
            <a:prstGeom prst="rect">
              <a:avLst/>
            </a:prstGeom>
          </p:spPr>
        </p:pic>
      </p:grpSp>
      <p:sp>
        <p:nvSpPr>
          <p:cNvPr id="19" name="下箭头 18"/>
          <p:cNvSpPr/>
          <p:nvPr/>
        </p:nvSpPr>
        <p:spPr>
          <a:xfrm>
            <a:off x="2354009" y="3555695"/>
            <a:ext cx="175831" cy="76509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3324225" y="2744766"/>
            <a:ext cx="412750" cy="200025"/>
          </a:xfrm>
          <a:prstGeom prst="roundRect">
            <a:avLst/>
          </a:prstGeom>
          <a:noFill/>
          <a:ln w="19050"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825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157283" y="2690889"/>
            <a:ext cx="3539042" cy="307777"/>
          </a:xfrm>
          <a:prstGeom prst="rect">
            <a:avLst/>
          </a:prstGeom>
          <a:noFill/>
          <a:ln w="19050">
            <a:solidFill>
              <a:srgbClr val="00582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碰撞模型：其他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节点队列头</a:t>
            </a: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包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不</a:t>
            </a: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参与传输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761672" y="2982310"/>
            <a:ext cx="644977" cy="340488"/>
          </a:xfrm>
          <a:prstGeom prst="roundRect">
            <a:avLst/>
          </a:prstGeom>
          <a:noFill/>
          <a:ln w="19050"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5825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157283" y="2998666"/>
            <a:ext cx="3539042" cy="307777"/>
          </a:xfrm>
          <a:prstGeom prst="rect">
            <a:avLst/>
          </a:prstGeom>
          <a:noFill/>
          <a:ln w="19050">
            <a:solidFill>
              <a:srgbClr val="005825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短数据包：接收机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解码成功</a:t>
            </a:r>
          </a:p>
        </p:txBody>
      </p:sp>
      <p:cxnSp>
        <p:nvCxnSpPr>
          <p:cNvPr id="54" name="直接箭头连接符 53"/>
          <p:cNvCxnSpPr>
            <a:stCxn id="22" idx="3"/>
            <a:endCxn id="30" idx="1"/>
          </p:cNvCxnSpPr>
          <p:nvPr/>
        </p:nvCxnSpPr>
        <p:spPr>
          <a:xfrm flipV="1">
            <a:off x="3736975" y="2844778"/>
            <a:ext cx="1420308" cy="1"/>
          </a:xfrm>
          <a:prstGeom prst="straightConnector1">
            <a:avLst/>
          </a:prstGeom>
          <a:ln>
            <a:solidFill>
              <a:srgbClr val="0058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1" idx="3"/>
            <a:endCxn id="43" idx="1"/>
          </p:cNvCxnSpPr>
          <p:nvPr/>
        </p:nvCxnSpPr>
        <p:spPr>
          <a:xfrm>
            <a:off x="4406649" y="3152554"/>
            <a:ext cx="750634" cy="1"/>
          </a:xfrm>
          <a:prstGeom prst="straightConnector1">
            <a:avLst/>
          </a:prstGeom>
          <a:ln>
            <a:solidFill>
              <a:srgbClr val="0058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300303" y="5112785"/>
                <a:ext cx="13786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14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的不动点方程</a:t>
                </a:r>
                <a:endPara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303" y="5112785"/>
                <a:ext cx="1378634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078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矩形 392"/>
          <p:cNvSpPr/>
          <p:nvPr/>
        </p:nvSpPr>
        <p:spPr>
          <a:xfrm>
            <a:off x="0" y="0"/>
            <a:ext cx="2275285" cy="6858001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1">
              <a:solidFill>
                <a:srgbClr val="157E9F"/>
              </a:solidFill>
              <a:cs typeface="+mn-ea"/>
              <a:sym typeface="+mn-lt"/>
            </a:endParaRPr>
          </a:p>
        </p:txBody>
      </p:sp>
      <p:pic>
        <p:nvPicPr>
          <p:cNvPr id="4" name="图片 3" descr="资源 1@4x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16720" y="1633699"/>
            <a:ext cx="1535907" cy="1538288"/>
          </a:xfrm>
          <a:prstGeom prst="rect">
            <a:avLst/>
          </a:prstGeom>
        </p:spPr>
      </p:pic>
      <p:sp>
        <p:nvSpPr>
          <p:cNvPr id="28675" name="矩形 393"/>
          <p:cNvSpPr/>
          <p:nvPr/>
        </p:nvSpPr>
        <p:spPr>
          <a:xfrm>
            <a:off x="416725" y="3511811"/>
            <a:ext cx="1487908" cy="715709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51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目 录</a:t>
            </a:r>
          </a:p>
        </p:txBody>
      </p:sp>
      <p:sp>
        <p:nvSpPr>
          <p:cNvPr id="28682" name="矩形 420"/>
          <p:cNvSpPr/>
          <p:nvPr/>
        </p:nvSpPr>
        <p:spPr>
          <a:xfrm>
            <a:off x="587250" y="4204743"/>
            <a:ext cx="1135375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defTabSz="514338"/>
            <a:r>
              <a:rPr lang="en-US" altLang="zh-CN" sz="2000" b="1" dirty="0">
                <a:solidFill>
                  <a:srgbClr val="FFFFFF"/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28677" name="组合 399"/>
          <p:cNvGrpSpPr/>
          <p:nvPr/>
        </p:nvGrpSpPr>
        <p:grpSpPr>
          <a:xfrm>
            <a:off x="3693136" y="1541606"/>
            <a:ext cx="5309104" cy="620733"/>
            <a:chOff x="5534265" y="2004116"/>
            <a:chExt cx="7078394" cy="828000"/>
          </a:xfrm>
        </p:grpSpPr>
        <p:sp>
          <p:nvSpPr>
            <p:cNvPr id="403" name="矩形 402"/>
            <p:cNvSpPr/>
            <p:nvPr/>
          </p:nvSpPr>
          <p:spPr>
            <a:xfrm>
              <a:off x="5534265" y="200411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5" name="文本框 400"/>
            <p:cNvSpPr txBox="1"/>
            <p:nvPr/>
          </p:nvSpPr>
          <p:spPr>
            <a:xfrm>
              <a:off x="6443311" y="2105227"/>
              <a:ext cx="6169348" cy="6979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研究</a:t>
              </a:r>
              <a:r>
                <a:rPr lang="zh-CN" altLang="en-US" sz="2800" b="1" dirty="0" smtClean="0">
                  <a:solidFill>
                    <a:srgbClr val="157E9F"/>
                  </a:solidFill>
                  <a:cs typeface="+mn-ea"/>
                  <a:sym typeface="+mn-lt"/>
                </a:rPr>
                <a:t>背景与动机</a:t>
              </a:r>
              <a:endParaRPr lang="zh-CN" altLang="en-US" sz="1600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6" name="文本框 401"/>
            <p:cNvSpPr txBox="1"/>
            <p:nvPr/>
          </p:nvSpPr>
          <p:spPr>
            <a:xfrm>
              <a:off x="5534265" y="2064173"/>
              <a:ext cx="828000" cy="738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28678" name="组合 404"/>
          <p:cNvGrpSpPr/>
          <p:nvPr/>
        </p:nvGrpSpPr>
        <p:grpSpPr>
          <a:xfrm>
            <a:off x="3693135" y="2311974"/>
            <a:ext cx="3964965" cy="621374"/>
            <a:chOff x="5529329" y="3237486"/>
            <a:chExt cx="5286047" cy="828000"/>
          </a:xfrm>
        </p:grpSpPr>
        <p:sp>
          <p:nvSpPr>
            <p:cNvPr id="408" name="矩形 407"/>
            <p:cNvSpPr/>
            <p:nvPr/>
          </p:nvSpPr>
          <p:spPr>
            <a:xfrm>
              <a:off x="5529329" y="32374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1" name="文本框 405"/>
            <p:cNvSpPr txBox="1"/>
            <p:nvPr/>
          </p:nvSpPr>
          <p:spPr>
            <a:xfrm>
              <a:off x="6438330" y="3338554"/>
              <a:ext cx="4377046" cy="697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系统建模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2" name="文本框 406"/>
            <p:cNvSpPr txBox="1"/>
            <p:nvPr/>
          </p:nvSpPr>
          <p:spPr>
            <a:xfrm>
              <a:off x="5529329" y="3297542"/>
              <a:ext cx="827998" cy="738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28679" name="组合 409"/>
          <p:cNvGrpSpPr/>
          <p:nvPr/>
        </p:nvGrpSpPr>
        <p:grpSpPr>
          <a:xfrm>
            <a:off x="3693137" y="3076570"/>
            <a:ext cx="4980774" cy="620537"/>
            <a:chOff x="5526151" y="4532886"/>
            <a:chExt cx="6639663" cy="828000"/>
          </a:xfrm>
        </p:grpSpPr>
        <p:sp>
          <p:nvSpPr>
            <p:cNvPr id="413" name="矩形 412"/>
            <p:cNvSpPr/>
            <p:nvPr/>
          </p:nvSpPr>
          <p:spPr>
            <a:xfrm>
              <a:off x="5526151" y="4532886"/>
              <a:ext cx="828000" cy="82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7" name="文本框 410"/>
            <p:cNvSpPr txBox="1"/>
            <p:nvPr/>
          </p:nvSpPr>
          <p:spPr>
            <a:xfrm>
              <a:off x="6435061" y="4604862"/>
              <a:ext cx="5730753" cy="698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性能分析与优化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8" name="文本框 411"/>
            <p:cNvSpPr txBox="1"/>
            <p:nvPr/>
          </p:nvSpPr>
          <p:spPr>
            <a:xfrm>
              <a:off x="5526151" y="4592943"/>
              <a:ext cx="828000" cy="7392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28680" name="组合 414"/>
          <p:cNvGrpSpPr/>
          <p:nvPr/>
        </p:nvGrpSpPr>
        <p:grpSpPr>
          <a:xfrm>
            <a:off x="3693142" y="3862647"/>
            <a:ext cx="3786015" cy="621554"/>
            <a:chOff x="4624454" y="5601729"/>
            <a:chExt cx="5046978" cy="828000"/>
          </a:xfrm>
        </p:grpSpPr>
        <p:sp>
          <p:nvSpPr>
            <p:cNvPr id="418" name="矩形 417"/>
            <p:cNvSpPr/>
            <p:nvPr/>
          </p:nvSpPr>
          <p:spPr>
            <a:xfrm>
              <a:off x="4624454" y="5601729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3" name="文本框 415"/>
            <p:cNvSpPr txBox="1"/>
            <p:nvPr/>
          </p:nvSpPr>
          <p:spPr>
            <a:xfrm>
              <a:off x="5533358" y="5661786"/>
              <a:ext cx="4138074" cy="6970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总结与展望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4" name="文本框 416"/>
            <p:cNvSpPr txBox="1"/>
            <p:nvPr/>
          </p:nvSpPr>
          <p:spPr>
            <a:xfrm>
              <a:off x="4624454" y="5661786"/>
              <a:ext cx="828000" cy="7380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148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优化（第三章）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6985481" cy="4732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性能指标</a:t>
            </a: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的定义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：可靠性、吞吐量、和速率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传输可靠性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丢包概率 → 传输可靠性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网络吞吐量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ct val="150000"/>
              </a:lnSpc>
              <a:spcBef>
                <a:spcPts val="1100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节点数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节点服务速率（吞吐量）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网络总和数据速率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网络吞吐量 </a:t>
            </a:r>
            <a:r>
              <a:rPr lang="en-US" altLang="zh-CN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* 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信息编码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速率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19609" y="2533678"/>
            <a:ext cx="3759393" cy="425033"/>
            <a:chOff x="1475769" y="2621287"/>
            <a:chExt cx="3759393" cy="425033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5769" y="2621287"/>
              <a:ext cx="1460746" cy="425033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2500" y="2645732"/>
              <a:ext cx="1812662" cy="400588"/>
            </a:xfrm>
            <a:prstGeom prst="rect">
              <a:avLst/>
            </a:prstGeom>
          </p:spPr>
        </p:pic>
        <p:cxnSp>
          <p:nvCxnSpPr>
            <p:cNvPr id="7" name="直接箭头连接符 6"/>
            <p:cNvCxnSpPr>
              <a:endCxn id="5" idx="1"/>
            </p:cNvCxnSpPr>
            <p:nvPr/>
          </p:nvCxnSpPr>
          <p:spPr>
            <a:xfrm flipV="1">
              <a:off x="2936515" y="2846026"/>
              <a:ext cx="485985" cy="35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609" y="3938801"/>
            <a:ext cx="2352142" cy="51815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609" y="5490186"/>
            <a:ext cx="1324160" cy="342948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 bwMode="auto">
          <a:xfrm>
            <a:off x="965126" y="1695480"/>
            <a:ext cx="4711773" cy="1291507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965125" y="3082693"/>
            <a:ext cx="4711773" cy="1341214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965126" y="4519613"/>
            <a:ext cx="4711771" cy="1347787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35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16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36779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数据速率最优化定理</a:t>
                </a:r>
                <a:endParaRPr lang="en-US" altLang="zh-CN" sz="2400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网络数据速率优化问题</a:t>
                </a:r>
                <a:endParaRPr lang="en-US" altLang="zh-CN" b="1" dirty="0" smtClean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600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思路：两步优化</a:t>
                </a:r>
                <a:endParaRPr lang="en-US" altLang="zh-CN" sz="1600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b="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第一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步：给定块长优化吞吐量</a:t>
                </a:r>
                <a:endPara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	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初始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接入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最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 →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工作点 </a:t>
                </a:r>
                <a14:m>
                  <m:oMath xmlns:m="http://schemas.openxmlformats.org/officeDocument/2006/math">
                    <m:r>
                      <a:rPr lang="en-US" altLang="zh-CN" sz="1400" b="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最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 → 吞吐量最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第二步：优化数据速率</a:t>
                </a:r>
                <a:endParaRPr lang="en-US" altLang="zh-CN" sz="1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spcBef>
                    <a:spcPts val="1245"/>
                  </a:spcBef>
                  <a:tabLst>
                    <a:tab pos="927100" algn="l"/>
                  </a:tabLst>
                </a:pP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	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初始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接入概率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b="0" i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和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块长度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b="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最优 → 工作点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b="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最优 →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速率最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3677930"/>
              </a:xfrm>
              <a:prstGeom prst="rect">
                <a:avLst/>
              </a:prstGeom>
              <a:blipFill>
                <a:blip r:embed="rId2"/>
                <a:stretch>
                  <a:fillRect l="-1005" t="-1824" b="-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3151" t="10327" b="12647"/>
          <a:stretch/>
        </p:blipFill>
        <p:spPr>
          <a:xfrm>
            <a:off x="1985302" y="2575191"/>
            <a:ext cx="3914337" cy="54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2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7886693" cy="936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数据速率最优化</a:t>
            </a: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定理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solidFill>
                  <a:schemeClr val="tx1"/>
                </a:solidFill>
                <a:ea typeface="SimHei" panose="02010609060101010101" pitchFamily="49" charset="-122"/>
                <a:cs typeface="Times New Roman" panose="02020603050405020304" pitchFamily="18" charset="0"/>
              </a:rPr>
              <a:t>短包块长对网络最大吞吐量</a:t>
            </a:r>
            <a:r>
              <a:rPr lang="zh-CN" altLang="en-US" b="1" dirty="0">
                <a:solidFill>
                  <a:schemeClr val="tx1"/>
                </a:solidFill>
                <a:ea typeface="SimHei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 smtClean="0">
                <a:solidFill>
                  <a:schemeClr val="tx1"/>
                </a:solidFill>
                <a:ea typeface="SimHei" panose="02010609060101010101" pitchFamily="49" charset="-122"/>
                <a:cs typeface="Times New Roman" panose="02020603050405020304" pitchFamily="18" charset="0"/>
              </a:rPr>
              <a:t>影响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7" y="2137926"/>
            <a:ext cx="4791744" cy="404869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294002" y="3377441"/>
            <a:ext cx="3682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影响区间较窄，效果明显</a:t>
            </a:r>
            <a:endParaRPr lang="en-US" altLang="zh-CN" sz="16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数据包信息比特数 </a:t>
            </a:r>
            <a:r>
              <a:rPr lang="en-US" altLang="zh-CN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不影响最大网络吞吐量，但会影响到区间位置和宽度。</a:t>
            </a:r>
            <a:endParaRPr lang="en-US" altLang="zh-CN" sz="16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2408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585" y="2192951"/>
            <a:ext cx="3100415" cy="245149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168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数据速率最优化定理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速率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优化的数值计算结果分析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如定理所述，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与重传限制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无关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情况下，重传限制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的增大提升了可靠性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168531"/>
              </a:xfrm>
              <a:prstGeom prst="rect">
                <a:avLst/>
              </a:prstGeom>
              <a:blipFill>
                <a:blip r:embed="rId3"/>
                <a:stretch>
                  <a:fillRect l="-1005" t="-1297" b="-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3196" r="2434"/>
          <a:stretch/>
        </p:blipFill>
        <p:spPr>
          <a:xfrm>
            <a:off x="0" y="2137926"/>
            <a:ext cx="6127039" cy="29652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/>
              <p:cNvSpPr txBox="1"/>
              <p:nvPr/>
            </p:nvSpPr>
            <p:spPr>
              <a:xfrm>
                <a:off x="6287589" y="4685211"/>
                <a:ext cx="28564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最大化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的情况下，可靠性指标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与重传限制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1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的关系</a:t>
                </a:r>
              </a:p>
            </p:txBody>
          </p:sp>
        </mc:Choice>
        <mc:Fallback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589" y="4685211"/>
                <a:ext cx="2856411" cy="461665"/>
              </a:xfrm>
              <a:prstGeom prst="rect">
                <a:avLst/>
              </a:prstGeom>
              <a:blipFill>
                <a:blip r:embed="rId5"/>
                <a:stretch>
                  <a:fillRect t="-1333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68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2714" y="1201772"/>
            <a:ext cx="394928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事件驱动仿真</a:t>
            </a:r>
            <a:r>
              <a:rPr lang="en-US" altLang="zh-CN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机制</a:t>
            </a:r>
            <a:endParaRPr lang="en-US" altLang="zh-CN" sz="2400" b="1" spc="10" dirty="0">
              <a:solidFill>
                <a:srgbClr val="0070C0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"/>
            <a:endParaRPr lang="en-US" altLang="zh-CN" sz="2400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每</a:t>
            </a:r>
            <a:r>
              <a:rPr lang="zh-CN" altLang="en-US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时隙每节点</a:t>
            </a:r>
            <a:endParaRPr lang="en-US" altLang="zh-CN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数据包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入队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模拟队列头包退避或传输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请求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判断该节点是否满足传输条件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12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节点是否正在传输</a:t>
            </a:r>
            <a:endParaRPr lang="en-US" altLang="zh-CN" sz="14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12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能量是否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充足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7556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模拟数据包的发射过程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12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成功发射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128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碰撞或解包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失败</a:t>
            </a:r>
            <a:endParaRPr lang="en-US" altLang="zh-CN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仿真数据统计</a:t>
            </a:r>
            <a:endParaRPr lang="en-US" altLang="zh-CN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44" y="1045029"/>
            <a:ext cx="4059256" cy="531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82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470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数据速率最优化定理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网络数据速率优化仿真验证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如定理所述，在给定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的情况下，优化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可以使吞吐量达到最优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吞吐量最优情况下，可以优化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使</m:t>
                    </m:r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数据速率最优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470728"/>
              </a:xfrm>
              <a:prstGeom prst="rect">
                <a:avLst/>
              </a:prstGeom>
              <a:blipFill>
                <a:blip r:embed="rId2"/>
                <a:stretch>
                  <a:fillRect l="-1005" t="-1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39" y="2046130"/>
            <a:ext cx="7343745" cy="395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5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优化（第四章）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21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206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时延指标定义</a:t>
                </a:r>
                <a:r>
                  <a:rPr lang="en-US" altLang="zh-CN" sz="2400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状态滞留时间 → 头包离队时间 → 平均接入时延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以时隙为单位的状态滞留时间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：队列头包在状态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的平均滞留时间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r>
                  <a:rPr lang="en-GB" altLang="zh-CN" sz="1400" b="0" dirty="0">
                    <a:ea typeface="SimHei" panose="02010609060101010101" pitchFamily="49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GB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GB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GB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GB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GB" altLang="zh-CN" sz="1400" b="0" i="1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sSub>
                          <m:sSubPr>
                            <m:ctrlPr>
                              <a:rPr lang="en-US" altLang="zh-CN" sz="1400" b="0" i="1" dirty="0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  <a:ea typeface="SimHei" panose="02010609060101010101" pitchFamily="49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以时隙为单位的头包离队时间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：从状态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到离队为止总时隙。递推表达式：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sz="1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新鲜头包离队时间期望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组成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分析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（丢包与成功）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206554"/>
              </a:xfrm>
              <a:prstGeom prst="rect">
                <a:avLst/>
              </a:prstGeom>
              <a:blipFill>
                <a:blip r:embed="rId2"/>
                <a:stretch>
                  <a:fillRect l="-1005" t="-1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569" y="3560288"/>
            <a:ext cx="3251866" cy="6917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854" y="3753733"/>
            <a:ext cx="1676634" cy="30484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569" y="4246996"/>
            <a:ext cx="1423065" cy="28156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4569" y="5858824"/>
            <a:ext cx="4648849" cy="41915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945" y="4916934"/>
            <a:ext cx="4420217" cy="6287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950" y="4889038"/>
            <a:ext cx="121425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5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优化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7886693" cy="3783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时延指标定义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时隙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为测度的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平均接入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时延</a:t>
            </a:r>
            <a:endParaRPr lang="en-US" altLang="zh-CN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ts val="25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ts val="25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sz="1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以块长度为测度的平均接入时延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70" y="2315646"/>
            <a:ext cx="4610477" cy="6528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170" y="4011364"/>
            <a:ext cx="5334744" cy="657317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 bwMode="auto">
          <a:xfrm>
            <a:off x="1064713" y="1723473"/>
            <a:ext cx="5118804" cy="1318490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1064713" y="3560702"/>
            <a:ext cx="5879295" cy="1247552"/>
          </a:xfrm>
          <a:prstGeom prst="roundRect">
            <a:avLst/>
          </a:prstGeom>
          <a:noFill/>
          <a:ln w="28575">
            <a:solidFill>
              <a:srgbClr val="00339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22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23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37446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性能分析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平均接入时延优化问题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 smtClean="0"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</a:t>
                </a:r>
                <a:r>
                  <a:rPr lang="zh-CN" altLang="en-US" sz="1400" dirty="0" smtClean="0">
                    <a:ea typeface="SimHei" panose="02010609060101010101" pitchFamily="49" charset="-122"/>
                    <a:cs typeface="Times New Roman" panose="02020603050405020304" pitchFamily="18" charset="0"/>
                  </a:rPr>
                  <a:t>显</a:t>
                </a:r>
                <a:r>
                  <a:rPr lang="zh-CN" altLang="en-US" sz="1400" dirty="0">
                    <a:ea typeface="SimHei" panose="02010609060101010101" pitchFamily="49" charset="-122"/>
                    <a:cs typeface="Times New Roman" panose="02020603050405020304" pitchFamily="18" charset="0"/>
                  </a:rPr>
                  <a:t>式</a:t>
                </a:r>
                <a:r>
                  <a:rPr lang="zh-CN" altLang="en-US" sz="1400" dirty="0" smtClean="0">
                    <a:ea typeface="SimHei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1400" dirty="0" smtClean="0">
                    <a:ea typeface="SimHei" panose="02010609060101010101" pitchFamily="49" charset="-122"/>
                    <a:cs typeface="Times New Roman" panose="02020603050405020304" pitchFamily="18" charset="0"/>
                  </a:rPr>
                  <a:t>特征：参数高度耦合 </a:t>
                </a: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𝐸𝐷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←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,   </m:t>
                    </m:r>
                    <m:r>
                      <a:rPr lang="en-US" altLang="zh-CN" sz="1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←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1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14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1400" b="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问题化简：讨论极限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情况、数值求解、仿真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验证</a:t>
                </a:r>
                <a:endParaRPr lang="en-US" altLang="zh-CN" sz="1400" b="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根据重传限制</a:t>
                </a:r>
                <a:r>
                  <a:rPr lang="en-US" altLang="zh-CN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，分类讨论极限情况</a:t>
                </a: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与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都有其明确物理含义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3744615"/>
              </a:xfrm>
              <a:prstGeom prst="rect">
                <a:avLst/>
              </a:prstGeom>
              <a:blipFill>
                <a:blip r:embed="rId2"/>
                <a:stretch>
                  <a:fillRect l="-1005" t="-1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01"/>
          <a:stretch/>
        </p:blipFill>
        <p:spPr>
          <a:xfrm>
            <a:off x="1550126" y="2107102"/>
            <a:ext cx="5455764" cy="9240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l="8012" t="9291" b="13836"/>
          <a:stretch/>
        </p:blipFill>
        <p:spPr>
          <a:xfrm>
            <a:off x="2303461" y="5018063"/>
            <a:ext cx="1381392" cy="5906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186" y="6070010"/>
            <a:ext cx="2902522" cy="6514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6"/>
          <a:srcRect l="9155" t="13874" b="6381"/>
          <a:stretch/>
        </p:blipFill>
        <p:spPr>
          <a:xfrm>
            <a:off x="2233247" y="6065913"/>
            <a:ext cx="1521820" cy="534353"/>
          </a:xfrm>
          <a:prstGeom prst="rect">
            <a:avLst/>
          </a:prstGeom>
        </p:spPr>
      </p:pic>
      <p:sp>
        <p:nvSpPr>
          <p:cNvPr id="16" name="左箭头 15"/>
          <p:cNvSpPr/>
          <p:nvPr/>
        </p:nvSpPr>
        <p:spPr>
          <a:xfrm>
            <a:off x="3818207" y="6333089"/>
            <a:ext cx="558979" cy="152657"/>
          </a:xfrm>
          <a:prstGeom prst="leftArrow">
            <a:avLst/>
          </a:prstGeom>
          <a:solidFill>
            <a:srgbClr val="005825"/>
          </a:solidFill>
          <a:ln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59427" y="4674448"/>
            <a:ext cx="1584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不进行重传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9428" y="5766638"/>
            <a:ext cx="2956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无限制</a:t>
            </a: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重传：可靠传输</a:t>
            </a:r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731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24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516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性能分析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平均接入时延优化数值计算分析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5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增大可以改善接入时延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5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重传限制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的减小可以改善接入时延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5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的增大会导致时延恶化；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的减小会导致工作点恶化，进而导致时延恶化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516895"/>
              </a:xfrm>
              <a:prstGeom prst="rect">
                <a:avLst/>
              </a:prstGeom>
              <a:blipFill>
                <a:blip r:embed="rId2"/>
                <a:stretch>
                  <a:fillRect l="-1005" t="-1215" b="-5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7" y="2050452"/>
            <a:ext cx="7886693" cy="386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7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25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6938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性能分析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平均接入时延仿真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验证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sz="12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sz="10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800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验证图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4-1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的结论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800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重传限制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的增大可以提高传输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可靠性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693866"/>
              </a:xfrm>
              <a:prstGeom prst="rect">
                <a:avLst/>
              </a:prstGeom>
              <a:blipFill>
                <a:blip r:embed="rId2"/>
                <a:stretch>
                  <a:fillRect l="-1005" t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446" r="1677" b="3795"/>
          <a:stretch/>
        </p:blipFill>
        <p:spPr>
          <a:xfrm>
            <a:off x="628657" y="2169392"/>
            <a:ext cx="7623018" cy="392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9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7" y="2000009"/>
            <a:ext cx="7886693" cy="381802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7886693" cy="5516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最优时延</a:t>
            </a: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性能分析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最优平均接入时延优化数值计算分析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500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暴力搜索方法得到数值解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500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一组合适的参数（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较小，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较大）相对符合低时延高可靠性需求。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ct val="50000"/>
              </a:lnSpc>
              <a:spcBef>
                <a:spcPts val="1245"/>
              </a:spcBef>
              <a:tabLst>
                <a:tab pos="927100" algn="l"/>
              </a:tabLst>
            </a:pP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但是会导致网络最优总和速率降低（参考图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3-2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744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27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4681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时延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与数据速率的关系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平均接入时延与数据速率的关系（仿真验证）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 smtClean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500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足够大时，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与 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𝐸𝐷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呈反比例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关系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，此时两指标可以共同优化。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468164"/>
              </a:xfrm>
              <a:prstGeom prst="rect">
                <a:avLst/>
              </a:prstGeom>
              <a:blipFill>
                <a:blip r:embed="rId2"/>
                <a:stretch>
                  <a:fillRect l="-1005" t="-1226" b="-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134" y="2842788"/>
            <a:ext cx="6704219" cy="3513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573" y="2175672"/>
            <a:ext cx="4375265" cy="74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28</a:t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28657" y="1201772"/>
            <a:ext cx="7383229" cy="2359620"/>
            <a:chOff x="628657" y="1201772"/>
            <a:chExt cx="7383229" cy="2359620"/>
          </a:xfrm>
        </p:grpSpPr>
        <p:sp>
          <p:nvSpPr>
            <p:cNvPr id="8" name="矩形 7"/>
            <p:cNvSpPr/>
            <p:nvPr/>
          </p:nvSpPr>
          <p:spPr>
            <a:xfrm>
              <a:off x="628657" y="1201772"/>
              <a:ext cx="7383229" cy="23596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</a:pPr>
              <a:r>
                <a:rPr lang="en-US" altLang="zh-CN" sz="2400" b="1" spc="1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LTE-M</a:t>
              </a:r>
              <a:r>
                <a:rPr lang="zh-CN" altLang="en-US" sz="2400" b="1" spc="1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场景短</a:t>
              </a:r>
              <a:r>
                <a:rPr lang="zh-CN" altLang="en-US" sz="2400" b="1" spc="10" dirty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包</a:t>
              </a:r>
              <a:r>
                <a:rPr lang="en-US" altLang="zh-CN" sz="2400" b="1" spc="1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Aloha</a:t>
              </a:r>
              <a:r>
                <a:rPr lang="zh-CN" altLang="en-US" sz="2400" b="1" spc="1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网络性能分析</a:t>
              </a:r>
              <a:endPara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812800" indent="-342900">
                <a:lnSpc>
                  <a:spcPts val="2500"/>
                </a:lnSpc>
                <a:spcBef>
                  <a:spcPts val="1245"/>
                </a:spcBef>
                <a:buFont typeface="Wingdings" panose="05000000000000000000" pitchFamily="2" charset="2"/>
                <a:buChar char="Ø"/>
                <a:tabLst>
                  <a:tab pos="927100" algn="l"/>
                </a:tabLst>
              </a:pPr>
              <a:r>
                <a:rPr lang="zh-CN" altLang="en-US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场景特征</a:t>
              </a:r>
              <a:endParaRPr lang="en-US" altLang="zh-CN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  <a:p>
              <a:pPr marL="1270000" lvl="1" indent="-342900">
                <a:lnSpc>
                  <a:spcPts val="2500"/>
                </a:lnSpc>
                <a:spcBef>
                  <a:spcPts val="1245"/>
                </a:spcBef>
                <a:buFont typeface="Arial" panose="020B0604020202020204" pitchFamily="34" charset="0"/>
                <a:buChar char="•"/>
                <a:tabLst>
                  <a:tab pos="927100" algn="l"/>
                </a:tabLst>
              </a:pP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业务需求：时延关键的超可靠传输（</a:t>
              </a:r>
              <a:r>
                <a: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99.999%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）</a:t>
              </a:r>
            </a:p>
            <a:p>
              <a:pPr marL="1270000" lvl="1" indent="-342900">
                <a:lnSpc>
                  <a:spcPts val="2500"/>
                </a:lnSpc>
                <a:spcBef>
                  <a:spcPts val="1245"/>
                </a:spcBef>
                <a:buFont typeface="Arial" panose="020B0604020202020204" pitchFamily="34" charset="0"/>
                <a:buChar char="•"/>
                <a:tabLst>
                  <a:tab pos="927100" algn="l"/>
                </a:tabLst>
              </a:pP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时延约束：</a:t>
              </a:r>
            </a:p>
            <a:p>
              <a:pPr marL="1270000" lvl="1" indent="-342900">
                <a:lnSpc>
                  <a:spcPts val="2500"/>
                </a:lnSpc>
                <a:spcBef>
                  <a:spcPts val="1245"/>
                </a:spcBef>
                <a:buFont typeface="Arial" panose="020B0604020202020204" pitchFamily="34" charset="0"/>
                <a:buChar char="•"/>
                <a:tabLst>
                  <a:tab pos="927100" algn="l"/>
                </a:tabLst>
              </a:pPr>
              <a:r>
                <a: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LTE-M</a:t>
              </a:r>
              <a:r>
                <a:rPr lang="zh-CN" altLang="en-US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传输</a:t>
              </a:r>
              <a:r>
                <a:rPr lang="zh-CN" altLang="en-US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带宽 </a:t>
              </a:r>
              <a:r>
                <a: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B </a:t>
              </a:r>
              <a:r>
                <a: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= </a:t>
              </a:r>
              <a:r>
                <a: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1.08 </a:t>
              </a:r>
              <a:r>
                <a:rPr lang="en-US" altLang="zh-CN" sz="1400" dirty="0" err="1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rPr>
                <a:t>Mhz</a:t>
              </a:r>
              <a:endPara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2"/>
            <a:srcRect l="6296" t="15224"/>
            <a:stretch/>
          </p:blipFill>
          <p:spPr>
            <a:xfrm>
              <a:off x="2876550" y="2740685"/>
              <a:ext cx="1276636" cy="313416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628656" y="3718135"/>
            <a:ext cx="7383229" cy="2310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理论分析</a:t>
            </a:r>
            <a:endParaRPr lang="en-US" altLang="zh-CN" b="1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共同优化</a:t>
            </a:r>
            <a:endParaRPr lang="en-US" altLang="zh-CN" sz="14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参考定理</a:t>
            </a:r>
            <a:r>
              <a:rPr lang="en-US" altLang="zh-CN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3.1</a:t>
            </a: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可得</a:t>
            </a:r>
            <a:endParaRPr lang="en-US" altLang="zh-CN" sz="14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性能指标：最大允许信息比特数</a:t>
            </a:r>
            <a:endParaRPr lang="en-US" altLang="zh-CN" sz="14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76206" y="4108838"/>
            <a:ext cx="4548373" cy="580504"/>
            <a:chOff x="1950554" y="4068675"/>
            <a:chExt cx="5153403" cy="651468"/>
          </a:xfrm>
        </p:grpSpPr>
        <p:sp>
          <p:nvSpPr>
            <p:cNvPr id="11" name="左箭头 15">
              <a:extLst>
                <a:ext uri="{FF2B5EF4-FFF2-40B4-BE49-F238E27FC236}">
                  <a16:creationId xmlns:a16="http://schemas.microsoft.com/office/drawing/2014/main" id="{C1A64745-58B6-408E-99F1-1B240064B3FC}"/>
                </a:ext>
              </a:extLst>
            </p:cNvPr>
            <p:cNvSpPr/>
            <p:nvPr/>
          </p:nvSpPr>
          <p:spPr>
            <a:xfrm>
              <a:off x="3557415" y="4324474"/>
              <a:ext cx="558979" cy="152657"/>
            </a:xfrm>
            <a:prstGeom prst="leftArrow">
              <a:avLst/>
            </a:prstGeom>
            <a:solidFill>
              <a:srgbClr val="005825"/>
            </a:solidFill>
            <a:ln>
              <a:solidFill>
                <a:srgbClr val="0058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4F0FC69-F12E-416F-B3EF-E7380AC17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1435" y="4068675"/>
              <a:ext cx="2902522" cy="651468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BE56719-62C7-44EA-8698-E28A09020C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9155" t="13874" b="6381"/>
            <a:stretch/>
          </p:blipFill>
          <p:spPr>
            <a:xfrm>
              <a:off x="1950554" y="4127233"/>
              <a:ext cx="1521820" cy="534353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5"/>
          <a:srcRect t="12095"/>
          <a:stretch/>
        </p:blipFill>
        <p:spPr>
          <a:xfrm>
            <a:off x="3391403" y="4732787"/>
            <a:ext cx="2942844" cy="40497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209" y="5474008"/>
            <a:ext cx="281979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1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9" y="2015587"/>
            <a:ext cx="7894591" cy="39258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性能分析与优化（第四章）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29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383229" cy="5470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en-US" altLang="zh-CN" sz="2400" b="1" spc="1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LTE-M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场景短包</a:t>
                </a:r>
                <a:r>
                  <a:rPr lang="en-US" altLang="zh-CN" sz="2400" b="1" spc="1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Aloha</a:t>
                </a:r>
                <a:r>
                  <a:rPr lang="zh-CN" altLang="en-US" sz="2400" b="1" spc="1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网络性能分析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数值计算结果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 随 网络规模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Microsoft JhengHei"/>
                      </a:rPr>
                      <m:t>𝑛</m:t>
                    </m:r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 单调递减</a:t>
                </a:r>
                <a:endParaRPr lang="en-US" altLang="zh-CN" sz="1400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 随 信噪比 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Microsoft JhengHei"/>
                      </a:rPr>
                      <m:t>𝜌</m:t>
                    </m:r>
                  </m:oMath>
                </a14:m>
                <a:r>
                  <a:rPr lang="zh-CN" altLang="en-US" sz="1400" dirty="0">
                    <a:latin typeface="SimHei" panose="02010609060101010101" pitchFamily="49" charset="-122"/>
                    <a:ea typeface="SimHei" panose="02010609060101010101" pitchFamily="49" charset="-122"/>
                    <a:cs typeface="Microsoft JhengHei"/>
                  </a:rPr>
                  <a:t> 递增，但存在边际效用递减</a:t>
                </a: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383229" cy="5470728"/>
              </a:xfrm>
              <a:prstGeom prst="rect">
                <a:avLst/>
              </a:prstGeom>
              <a:blipFill>
                <a:blip r:embed="rId3"/>
                <a:stretch>
                  <a:fillRect l="-1073" t="-1225" b="-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54" y="5941407"/>
            <a:ext cx="1349826" cy="41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6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</a:t>
            </a:r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优化（第五章）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6800843" cy="4257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能量效率指标定义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节点生命周期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469900">
              <a:lnSpc>
                <a:spcPts val="2500"/>
              </a:lnSpc>
              <a:spcBef>
                <a:spcPts val="1245"/>
              </a:spcBef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节点生命周期内成功传输数据包的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期望（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能量效率指标）</a:t>
            </a: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1270000" lvl="1" indent="-342900">
              <a:lnSpc>
                <a:spcPts val="2500"/>
              </a:lnSpc>
              <a:spcBef>
                <a:spcPts val="1245"/>
              </a:spcBef>
              <a:buFont typeface="Arial" panose="020B0604020202020204" pitchFamily="34" charset="0"/>
              <a:buChar char="•"/>
              <a:tabLst>
                <a:tab pos="927100" algn="l"/>
              </a:tabLst>
            </a:pP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节点生命周期</a:t>
            </a:r>
            <a:r>
              <a:rPr lang="en-US" altLang="zh-CN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sz="14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节点吞吐量</a:t>
            </a:r>
            <a:endParaRPr lang="en-US" altLang="zh-CN" sz="14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endParaRPr lang="en-US" altLang="zh-CN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36729" y="2169292"/>
            <a:ext cx="6403342" cy="1540797"/>
            <a:chOff x="1719609" y="2640829"/>
            <a:chExt cx="6403342" cy="1540797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19609" y="2640829"/>
              <a:ext cx="3286810" cy="64162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9609" y="3439525"/>
              <a:ext cx="1903157" cy="30049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8045" y="3229017"/>
              <a:ext cx="2634906" cy="66775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9609" y="3896767"/>
              <a:ext cx="1398060" cy="284859"/>
            </a:xfrm>
            <a:prstGeom prst="rect">
              <a:avLst/>
            </a:prstGeom>
          </p:spPr>
        </p:pic>
        <p:sp>
          <p:nvSpPr>
            <p:cNvPr id="16" name="右大括号 15"/>
            <p:cNvSpPr/>
            <p:nvPr/>
          </p:nvSpPr>
          <p:spPr>
            <a:xfrm>
              <a:off x="5068389" y="2778034"/>
              <a:ext cx="357686" cy="1403592"/>
            </a:xfrm>
            <a:prstGeom prst="rightBrace">
              <a:avLst>
                <a:gd name="adj1" fmla="val 36634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6789" y="4916892"/>
            <a:ext cx="3338776" cy="69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3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7886693" cy="5365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能量效率最优化定理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生命周期阈值限制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节点投放到网络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中的工作时间的下限</a:t>
                </a:r>
                <a:endParaRPr lang="en-US" altLang="zh-CN" sz="1400" b="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能量效率优化问题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en-US" altLang="zh-CN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思路：两步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优化过程</a:t>
                </a: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spcBef>
                    <a:spcPts val="1245"/>
                  </a:spcBef>
                  <a:buFont typeface="Wingdings" panose="05000000000000000000" pitchFamily="2" charset="2"/>
                  <a:buChar char="p"/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第一步：给定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块长度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→ 优化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和工作点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→ 给定块长的最优值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spcBef>
                    <a:spcPts val="1245"/>
                  </a:spcBef>
                  <a:buFont typeface="Wingdings" panose="05000000000000000000" pitchFamily="2" charset="2"/>
                  <a:buChar char="p"/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第二步：优化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块长度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→ 最优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能效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927100" lvl="1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7886693" cy="5365571"/>
              </a:xfrm>
              <a:prstGeom prst="rect">
                <a:avLst/>
              </a:prstGeom>
              <a:blipFill>
                <a:blip r:embed="rId2"/>
                <a:stretch>
                  <a:fillRect l="-1005" t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性能分析与优化（第五章）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31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219" y="2285765"/>
            <a:ext cx="674303" cy="2825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7" y="3561921"/>
            <a:ext cx="1705213" cy="1047896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2416136" y="3940795"/>
            <a:ext cx="993531" cy="290147"/>
          </a:xfrm>
          <a:prstGeom prst="rightArrow">
            <a:avLst/>
          </a:prstGeom>
          <a:solidFill>
            <a:srgbClr val="005825"/>
          </a:solidFill>
          <a:ln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626" y="3633368"/>
            <a:ext cx="1714739" cy="1057423"/>
          </a:xfrm>
          <a:prstGeom prst="rect">
            <a:avLst/>
          </a:prstGeom>
        </p:spPr>
      </p:pic>
      <p:sp>
        <p:nvSpPr>
          <p:cNvPr id="15" name="右箭头 14"/>
          <p:cNvSpPr/>
          <p:nvPr/>
        </p:nvSpPr>
        <p:spPr>
          <a:xfrm>
            <a:off x="5873515" y="3940794"/>
            <a:ext cx="993531" cy="290147"/>
          </a:xfrm>
          <a:prstGeom prst="rightArrow">
            <a:avLst/>
          </a:prstGeom>
          <a:solidFill>
            <a:srgbClr val="005825"/>
          </a:solidFill>
          <a:ln>
            <a:solidFill>
              <a:srgbClr val="005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6"/>
          <a:srcRect t="7334"/>
          <a:stretch/>
        </p:blipFill>
        <p:spPr>
          <a:xfrm>
            <a:off x="3450800" y="3601522"/>
            <a:ext cx="2381582" cy="112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6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性能分析与优化（第五章）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7" y="1201772"/>
                <a:ext cx="6879973" cy="2359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能量效率最优化定理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</a:t>
                </a: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优化难点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约束条件（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）导致的最优能效分段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结构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解决办法</a:t>
                </a:r>
                <a:endParaRPr lang="en-US" altLang="zh-CN" b="1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00" lvl="1" indent="-342900">
                  <a:lnSpc>
                    <a:spcPts val="2500"/>
                  </a:lnSpc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分类讨论条件：</a:t>
                </a: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 2.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的取值范围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201772"/>
                <a:ext cx="6879973" cy="2359620"/>
              </a:xfrm>
              <a:prstGeom prst="rect">
                <a:avLst/>
              </a:prstGeom>
              <a:blipFill>
                <a:blip r:embed="rId2"/>
                <a:stretch>
                  <a:fillRect l="-1151" t="-2842" b="-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7" y="3715686"/>
            <a:ext cx="7516274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0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性能分析与优化（第五章）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6879973" cy="936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10" dirty="0" smtClean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能量效率最优化定理</a:t>
            </a:r>
            <a:endParaRPr lang="en-US" altLang="zh-CN" sz="2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ts val="2500"/>
              </a:lnSpc>
              <a:spcBef>
                <a:spcPts val="1245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能量效率</a:t>
            </a:r>
            <a:r>
              <a:rPr lang="zh-CN" altLang="en-US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优化主要</a:t>
            </a:r>
            <a:r>
              <a:rPr lang="zh-CN" altLang="en-US" b="1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结论</a:t>
            </a:r>
            <a:endParaRPr lang="en-US" altLang="zh-CN" sz="1400" b="1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4724" y="6044370"/>
                <a:ext cx="4804996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Cambria Math" panose="020405030504060302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最优化数据速率和能效的最优块长</a:t>
                </a:r>
                <a:r>
                  <a:rPr lang="en-US" altLang="zh-CN" sz="1400" i="1" dirty="0" smtClean="0">
                    <a:latin typeface="Cambria Math" panose="020405030504060302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1400" dirty="0">
                    <a:latin typeface="Cambria Math" panose="020405030504060302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一致</a:t>
                </a:r>
                <a:endParaRPr lang="en-US" altLang="zh-CN" sz="1400" dirty="0" smtClean="0">
                  <a:latin typeface="Cambria Math" panose="020405030504060302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的增大导致能效指标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恶化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4" y="6044370"/>
                <a:ext cx="4804996" cy="677108"/>
              </a:xfrm>
              <a:prstGeom prst="rect">
                <a:avLst/>
              </a:prstGeom>
              <a:blipFill>
                <a:blip r:embed="rId2"/>
                <a:stretch>
                  <a:fillRect t="-2703" b="-9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897191" y="6044370"/>
                <a:ext cx="4752242" cy="6771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12800" indent="-34290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时，数据速率和能量效率可以共同优化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755650" indent="-28575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时，两者无法同时优化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191" y="6044370"/>
                <a:ext cx="4752242" cy="677108"/>
              </a:xfrm>
              <a:prstGeom prst="rect">
                <a:avLst/>
              </a:prstGeom>
              <a:blipFill>
                <a:blip r:embed="rId3"/>
                <a:stretch>
                  <a:fillRect t="-2703" b="-7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840" t="1938" r="1322" b="2260"/>
          <a:stretch/>
        </p:blipFill>
        <p:spPr>
          <a:xfrm>
            <a:off x="628657" y="2046141"/>
            <a:ext cx="7139354" cy="384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性能分析与优化（第五章）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34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28658" y="1201772"/>
                <a:ext cx="7444188" cy="57938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00000"/>
                  </a:lnSpc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能量效率最优化定理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能量效率优化仿真验证</a:t>
                </a: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lnSpc>
                    <a:spcPts val="2500"/>
                  </a:lnSpc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ts val="2500"/>
                  </a:lnSpc>
                  <a:spcBef>
                    <a:spcPts val="1245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69900">
                  <a:spcBef>
                    <a:spcPts val="1245"/>
                  </a:spcBef>
                  <a:tabLst>
                    <a:tab pos="927100" algn="l"/>
                  </a:tabLst>
                </a:pP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的增大导致最优能效指标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恶化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12850" lvl="1" indent="-28575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的增大通过限制工作点影响最优能效指标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8" y="1201772"/>
                <a:ext cx="7444188" cy="5793894"/>
              </a:xfrm>
              <a:prstGeom prst="rect">
                <a:avLst/>
              </a:prstGeom>
              <a:blipFill>
                <a:blip r:embed="rId2"/>
                <a:stretch>
                  <a:fillRect l="-1065" t="-11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2145" t="1996" r="1704" b="2420"/>
          <a:stretch/>
        </p:blipFill>
        <p:spPr>
          <a:xfrm>
            <a:off x="628658" y="2063547"/>
            <a:ext cx="6847514" cy="401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7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矩形 392"/>
          <p:cNvSpPr/>
          <p:nvPr/>
        </p:nvSpPr>
        <p:spPr>
          <a:xfrm>
            <a:off x="0" y="0"/>
            <a:ext cx="2275285" cy="6858001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sz="1351">
              <a:solidFill>
                <a:srgbClr val="157E9F"/>
              </a:solidFill>
              <a:cs typeface="+mn-ea"/>
              <a:sym typeface="+mn-lt"/>
            </a:endParaRPr>
          </a:p>
        </p:txBody>
      </p:sp>
      <p:pic>
        <p:nvPicPr>
          <p:cNvPr id="4" name="图片 3" descr="资源 1@4x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416720" y="1633699"/>
            <a:ext cx="1535907" cy="1538288"/>
          </a:xfrm>
          <a:prstGeom prst="rect">
            <a:avLst/>
          </a:prstGeom>
        </p:spPr>
      </p:pic>
      <p:sp>
        <p:nvSpPr>
          <p:cNvPr id="28675" name="矩形 393"/>
          <p:cNvSpPr/>
          <p:nvPr/>
        </p:nvSpPr>
        <p:spPr>
          <a:xfrm>
            <a:off x="416725" y="3511811"/>
            <a:ext cx="1487908" cy="715709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4051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目 录</a:t>
            </a:r>
          </a:p>
        </p:txBody>
      </p:sp>
      <p:sp>
        <p:nvSpPr>
          <p:cNvPr id="28682" name="矩形 420"/>
          <p:cNvSpPr/>
          <p:nvPr/>
        </p:nvSpPr>
        <p:spPr>
          <a:xfrm>
            <a:off x="587250" y="4204743"/>
            <a:ext cx="1135375" cy="4001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defTabSz="514338"/>
            <a:r>
              <a:rPr lang="en-US" altLang="zh-CN" sz="2000" b="1" dirty="0">
                <a:solidFill>
                  <a:srgbClr val="FFFFFF"/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28677" name="组合 399"/>
          <p:cNvGrpSpPr/>
          <p:nvPr/>
        </p:nvGrpSpPr>
        <p:grpSpPr>
          <a:xfrm>
            <a:off x="3693136" y="1541606"/>
            <a:ext cx="5309104" cy="620733"/>
            <a:chOff x="5534265" y="2004116"/>
            <a:chExt cx="7078394" cy="828000"/>
          </a:xfrm>
        </p:grpSpPr>
        <p:sp>
          <p:nvSpPr>
            <p:cNvPr id="403" name="矩形 402"/>
            <p:cNvSpPr/>
            <p:nvPr/>
          </p:nvSpPr>
          <p:spPr>
            <a:xfrm>
              <a:off x="5534265" y="200411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5" name="文本框 400"/>
            <p:cNvSpPr txBox="1"/>
            <p:nvPr/>
          </p:nvSpPr>
          <p:spPr>
            <a:xfrm>
              <a:off x="6443311" y="2105227"/>
              <a:ext cx="6169348" cy="6979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研究</a:t>
              </a:r>
              <a:r>
                <a:rPr lang="zh-CN" altLang="en-US" sz="2800" b="1" dirty="0" smtClean="0">
                  <a:solidFill>
                    <a:srgbClr val="157E9F"/>
                  </a:solidFill>
                  <a:cs typeface="+mn-ea"/>
                  <a:sym typeface="+mn-lt"/>
                </a:rPr>
                <a:t>背景与动机</a:t>
              </a:r>
              <a:endParaRPr lang="zh-CN" altLang="en-US" sz="1600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6" name="文本框 401"/>
            <p:cNvSpPr txBox="1"/>
            <p:nvPr/>
          </p:nvSpPr>
          <p:spPr>
            <a:xfrm>
              <a:off x="5534265" y="2064173"/>
              <a:ext cx="828000" cy="738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1</a:t>
              </a:r>
            </a:p>
          </p:txBody>
        </p:sp>
      </p:grpSp>
      <p:grpSp>
        <p:nvGrpSpPr>
          <p:cNvPr id="28678" name="组合 404"/>
          <p:cNvGrpSpPr/>
          <p:nvPr/>
        </p:nvGrpSpPr>
        <p:grpSpPr>
          <a:xfrm>
            <a:off x="3693135" y="2311974"/>
            <a:ext cx="3964965" cy="621374"/>
            <a:chOff x="5529329" y="3237486"/>
            <a:chExt cx="5286047" cy="828000"/>
          </a:xfrm>
        </p:grpSpPr>
        <p:sp>
          <p:nvSpPr>
            <p:cNvPr id="408" name="矩形 407"/>
            <p:cNvSpPr/>
            <p:nvPr/>
          </p:nvSpPr>
          <p:spPr>
            <a:xfrm>
              <a:off x="5529329" y="32374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91" name="文本框 405"/>
            <p:cNvSpPr txBox="1"/>
            <p:nvPr/>
          </p:nvSpPr>
          <p:spPr>
            <a:xfrm>
              <a:off x="6438330" y="3338554"/>
              <a:ext cx="4377046" cy="6972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系统建模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92" name="文本框 406"/>
            <p:cNvSpPr txBox="1"/>
            <p:nvPr/>
          </p:nvSpPr>
          <p:spPr>
            <a:xfrm>
              <a:off x="5529329" y="3297542"/>
              <a:ext cx="827998" cy="738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2</a:t>
              </a:r>
            </a:p>
          </p:txBody>
        </p:sp>
      </p:grpSp>
      <p:grpSp>
        <p:nvGrpSpPr>
          <p:cNvPr id="28679" name="组合 409"/>
          <p:cNvGrpSpPr/>
          <p:nvPr/>
        </p:nvGrpSpPr>
        <p:grpSpPr>
          <a:xfrm>
            <a:off x="3693137" y="3076570"/>
            <a:ext cx="4980774" cy="620537"/>
            <a:chOff x="5526151" y="4532886"/>
            <a:chExt cx="6639663" cy="828000"/>
          </a:xfrm>
        </p:grpSpPr>
        <p:sp>
          <p:nvSpPr>
            <p:cNvPr id="413" name="矩形 412"/>
            <p:cNvSpPr/>
            <p:nvPr/>
          </p:nvSpPr>
          <p:spPr>
            <a:xfrm>
              <a:off x="5526151" y="4532886"/>
              <a:ext cx="828000" cy="828000"/>
            </a:xfrm>
            <a:prstGeom prst="rect">
              <a:avLst/>
            </a:prstGeom>
            <a:noFill/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7" name="文本框 410"/>
            <p:cNvSpPr txBox="1"/>
            <p:nvPr/>
          </p:nvSpPr>
          <p:spPr>
            <a:xfrm>
              <a:off x="6435061" y="4604862"/>
              <a:ext cx="5730753" cy="6981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性能分析与优化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8" name="文本框 411"/>
            <p:cNvSpPr txBox="1"/>
            <p:nvPr/>
          </p:nvSpPr>
          <p:spPr>
            <a:xfrm>
              <a:off x="5526151" y="4592943"/>
              <a:ext cx="828000" cy="7392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3</a:t>
              </a:r>
            </a:p>
          </p:txBody>
        </p:sp>
      </p:grpSp>
      <p:grpSp>
        <p:nvGrpSpPr>
          <p:cNvPr id="28680" name="组合 414"/>
          <p:cNvGrpSpPr/>
          <p:nvPr/>
        </p:nvGrpSpPr>
        <p:grpSpPr>
          <a:xfrm>
            <a:off x="3693142" y="3862647"/>
            <a:ext cx="3786015" cy="621554"/>
            <a:chOff x="4624454" y="5601729"/>
            <a:chExt cx="5046978" cy="828000"/>
          </a:xfrm>
        </p:grpSpPr>
        <p:sp>
          <p:nvSpPr>
            <p:cNvPr id="418" name="矩形 417"/>
            <p:cNvSpPr/>
            <p:nvPr/>
          </p:nvSpPr>
          <p:spPr>
            <a:xfrm>
              <a:off x="4624454" y="5601729"/>
              <a:ext cx="828000" cy="828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157E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zh-CN" altLang="en-US" sz="1351">
                <a:cs typeface="+mn-ea"/>
                <a:sym typeface="+mn-lt"/>
              </a:endParaRPr>
            </a:p>
          </p:txBody>
        </p:sp>
        <p:sp>
          <p:nvSpPr>
            <p:cNvPr id="28683" name="文本框 415"/>
            <p:cNvSpPr txBox="1"/>
            <p:nvPr/>
          </p:nvSpPr>
          <p:spPr>
            <a:xfrm>
              <a:off x="5533358" y="5661786"/>
              <a:ext cx="4138074" cy="6970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157E9F"/>
                  </a:solidFill>
                  <a:cs typeface="+mn-ea"/>
                  <a:sym typeface="+mn-lt"/>
                </a:rPr>
                <a:t>总结与展望</a:t>
              </a:r>
              <a:endParaRPr lang="zh-CN" altLang="en-US" sz="2800" b="1" dirty="0">
                <a:solidFill>
                  <a:srgbClr val="157E9F"/>
                </a:solidFill>
                <a:cs typeface="+mn-ea"/>
                <a:sym typeface="+mn-lt"/>
              </a:endParaRPr>
            </a:p>
          </p:txBody>
        </p:sp>
        <p:sp>
          <p:nvSpPr>
            <p:cNvPr id="28684" name="文本框 416"/>
            <p:cNvSpPr txBox="1"/>
            <p:nvPr/>
          </p:nvSpPr>
          <p:spPr>
            <a:xfrm>
              <a:off x="4624454" y="5661786"/>
              <a:ext cx="828000" cy="7380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altLang="zh-CN" sz="3000" b="1" dirty="0">
                  <a:solidFill>
                    <a:srgbClr val="157E9F"/>
                  </a:solidFill>
                  <a:cs typeface="+mn-ea"/>
                  <a:sym typeface="+mn-lt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699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总结与展望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36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7" y="1111238"/>
                <a:ext cx="7886692" cy="3738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>
                  <a:lnSpc>
                    <a:spcPct val="150000"/>
                  </a:lnSpc>
                  <a:spcBef>
                    <a:spcPts val="1100"/>
                  </a:spcBef>
                </a:pPr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工作总结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提出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时隙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Aloha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在短包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体系下的分析框架</a:t>
                </a:r>
                <a:endParaRPr lang="en-US" altLang="zh-CN" sz="16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给出各网络性能指标关于成功传输概率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显式解</a:t>
                </a:r>
                <a:endParaRPr lang="en-US" altLang="zh-CN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给出和速率、能量效率的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优化定理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；给出时延的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优化分析</a:t>
                </a:r>
                <a:endParaRPr lang="en-US" altLang="zh-CN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通过数值计算结果，分析网络性能之间的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折中与共同优化关系</a:t>
                </a:r>
                <a:endParaRPr lang="en-US" altLang="zh-CN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给出基于模拟节点队列行为的事件驱动</a:t>
                </a:r>
                <a:r>
                  <a:rPr lang="zh-CN" altLang="en-US" sz="16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仿真算法和结果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作为理论分析的支撑</a:t>
                </a:r>
                <a:endParaRPr lang="en-US" altLang="zh-CN" sz="16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812800" indent="-342900">
                  <a:lnSpc>
                    <a:spcPct val="150000"/>
                  </a:lnSpc>
                  <a:spcBef>
                    <a:spcPts val="1100"/>
                  </a:spcBef>
                  <a:buFont typeface="Wingdings" panose="05000000000000000000" pitchFamily="2" charset="2"/>
                  <a:buChar char="Ø"/>
                  <a:tabLst>
                    <a:tab pos="927100" algn="l"/>
                  </a:tabLst>
                </a:pP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给出</a:t>
                </a:r>
                <a:r>
                  <a:rPr lang="en-US" altLang="zh-CN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LTE-M</a:t>
                </a: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场景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下的短包时隙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Aloha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分析</a:t>
                </a:r>
                <a:endPara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  <a:cs typeface="Microsoft JhengHei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7" y="1111238"/>
                <a:ext cx="7886692" cy="3738909"/>
              </a:xfrm>
              <a:prstGeom prst="rect">
                <a:avLst/>
              </a:prstGeom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57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总结与展望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628657" y="1201772"/>
            <a:ext cx="7886693" cy="264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100"/>
              </a:spcBef>
            </a:pPr>
            <a:r>
              <a:rPr lang="zh-CN" altLang="en-US" sz="2400" b="1" spc="10" dirty="0">
                <a:solidFill>
                  <a:srgbClr val="0070C0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研究展望</a:t>
            </a:r>
            <a:r>
              <a:rPr lang="en-US" altLang="zh-CN" sz="2400" b="1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812800" indent="-34290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平均接入时延的优化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：优化方法定理化</a:t>
            </a:r>
            <a:endParaRPr lang="en-US" altLang="zh-CN" sz="16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考虑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排队时延或信息新鲜度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非理想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信道</a:t>
            </a:r>
            <a:r>
              <a:rPr lang="zh-CN" altLang="en-US" sz="1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多信道</a:t>
            </a:r>
            <a:endParaRPr lang="en-US" altLang="zh-CN" sz="1600" dirty="0" smtClean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50000"/>
              </a:lnSpc>
              <a:spcBef>
                <a:spcPts val="1100"/>
              </a:spcBef>
              <a:buFont typeface="Wingdings" panose="05000000000000000000" pitchFamily="2" charset="2"/>
              <a:buChar char="Ø"/>
              <a:tabLst>
                <a:tab pos="927100" algn="l"/>
              </a:tabLst>
            </a:pPr>
            <a:r>
              <a:rPr lang="zh-CN" altLang="en-US" sz="1600" dirty="0" smtClean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不同的接收机模型：考虑信干噪比的俘获模型等</a:t>
            </a:r>
            <a:endParaRPr lang="en-US" altLang="zh-CN" sz="1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55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8463" y="1979112"/>
            <a:ext cx="6858000" cy="2383337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5825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/>
            </a:r>
            <a:br>
              <a:rPr lang="en-US" altLang="zh-CN" b="1" dirty="0">
                <a:solidFill>
                  <a:srgbClr val="005825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</a:br>
            <a:r>
              <a:rPr lang="zh-CN" altLang="en-US" b="1" dirty="0">
                <a:solidFill>
                  <a:srgbClr val="005825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163116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08463" y="1979112"/>
            <a:ext cx="6858000" cy="2383337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5825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答辩环节</a:t>
            </a:r>
          </a:p>
        </p:txBody>
      </p:sp>
    </p:spTree>
    <p:extLst>
      <p:ext uri="{BB962C8B-B14F-4D97-AF65-F5344CB8AC3E}">
        <p14:creationId xmlns:p14="http://schemas.microsoft.com/office/powerpoint/2010/main" val="2946181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7" y="469254"/>
            <a:ext cx="7886693" cy="575775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性能分析与优化（第三章）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0EDF-B687-4851-88EF-036A594B1DDE}" type="slidenum">
              <a:rPr lang="zh-CN" altLang="en-US" smtClean="0"/>
              <a:t>40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32565" y="1201772"/>
                <a:ext cx="4468035" cy="4739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700"/>
                <a:r>
                  <a:rPr lang="zh-CN" altLang="en-US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事件驱动仿真</a:t>
                </a:r>
                <a:r>
                  <a:rPr lang="en-US" altLang="zh-CN" sz="2400" b="1" spc="10" dirty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b="1" spc="10" dirty="0" smtClean="0">
                    <a:solidFill>
                      <a:srgbClr val="0070C0"/>
                    </a:solidFill>
                    <a:latin typeface="SimHei" panose="02010609060101010101" pitchFamily="49" charset="-122"/>
                    <a:ea typeface="SimHei" panose="02010609060101010101" pitchFamily="49" charset="-122"/>
                    <a:cs typeface="Times New Roman" panose="02020603050405020304" pitchFamily="18" charset="0"/>
                  </a:rPr>
                  <a:t>伪代码</a:t>
                </a:r>
                <a:endParaRPr lang="en-US" altLang="zh-CN" sz="2400" b="1" spc="10" dirty="0" smtClean="0">
                  <a:solidFill>
                    <a:srgbClr val="0070C0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12700"/>
                <a:r>
                  <a:rPr lang="en-US" altLang="zh-CN" sz="2400" b="1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endParaRPr lang="en-US" altLang="zh-CN" sz="2400" b="1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98450" indent="-285750">
                  <a:buFont typeface="Wingdings" panose="05000000000000000000" pitchFamily="2" charset="2"/>
                  <a:buChar char="Ø"/>
                </a:pPr>
                <a:r>
                  <a:rPr lang="zh-CN" altLang="en-US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输入输出</a:t>
                </a:r>
                <a:endParaRPr lang="en-US" altLang="zh-CN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98450" indent="-285750">
                  <a:buFont typeface="Wingdings" panose="05000000000000000000" pitchFamily="2" charset="2"/>
                  <a:buChar char="Ø"/>
                </a:pPr>
                <a:endParaRPr lang="en-US" altLang="zh-CN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 indent="-285750">
                  <a:buFont typeface="Arial" panose="020B0604020202020204" pitchFamily="34" charset="0"/>
                  <a:buChar char="•"/>
                </a:pPr>
                <a:r>
                  <a:rPr lang="zh-CN" altLang="en-US" sz="16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输入</a:t>
                </a:r>
                <a:r>
                  <a:rPr lang="zh-CN" altLang="en-US" sz="16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60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lvl="1"/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网络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节点数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、每数据包信息比特数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、块长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、信噪比</a:t>
                </a:r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𝜌</m:t>
                    </m:r>
                  </m:oMath>
                </a14:m>
                <a:r>
                  <a:rPr lang="zh-CN" altLang="en-US" sz="1400" i="0" dirty="0">
                    <a:latin typeface="+mj-lt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、初始传输概率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、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重传限制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、节点初始能量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、生命周期门限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、传输功率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、等待功率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𝑊</m:t>
                        </m:r>
                      </m:sub>
                    </m:sSub>
                  </m:oMath>
                </a14:m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-28575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输出</a:t>
                </a:r>
                <a:r>
                  <a:rPr lang="zh-CN" altLang="en-US" sz="1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成功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传输概率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zh-CN" altLang="en-US" sz="1400" i="1">
                        <a:latin typeface="Cambria Math" panose="02040503050406030204" pitchFamily="18" charset="0"/>
                        <a:ea typeface="SimHei" panose="02010609060101010101" pitchFamily="49" charset="-122"/>
                        <a:cs typeface="Times New Roman" panose="02020603050405020304" pitchFamily="18" charset="0"/>
                      </a:rPr>
                      <m:t>、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平均接入时延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acdelays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、网络吞吐量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lambda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、网络和速率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outprate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、可靠性指标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eta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、生命周期内成功发送数据包总数平均值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numberofsucc</a:t>
                </a:r>
                <a:endParaRPr lang="en-US" altLang="zh-CN" sz="1400" dirty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 indent="-285750">
                  <a:spcBef>
                    <a:spcPts val="1245"/>
                  </a:spcBef>
                  <a:buFont typeface="Arial" panose="020B0604020202020204" pitchFamily="34" charset="0"/>
                  <a:buChar char="•"/>
                  <a:tabLst>
                    <a:tab pos="927100" algn="l"/>
                  </a:tabLst>
                </a:pPr>
                <a:r>
                  <a:rPr lang="zh-CN" alt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初始化</a:t>
                </a:r>
                <a:r>
                  <a:rPr lang="zh-CN" altLang="en-US" sz="1400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endParaRPr lang="en-US" altLang="zh-CN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tabLst>
                    <a:tab pos="927100" algn="l"/>
                  </a:tabLst>
                </a:pP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包错误概率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epsilon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、节点队列长度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  <a:ea typeface="SimHei" panose="02010609060101010101" pitchFamily="49" charset="-122"/>
                            <a:cs typeface="Times New Roman" panose="020206030504050203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1400" dirty="0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节点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退避状态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HOLS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、各节点成功发送数据包个数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ns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、节点发射计数器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nre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、头包时间戳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ToH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、新鲜表示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frH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、传输标志位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tfflags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、入队数据包总数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inp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、各节点剩余能量计数器</a:t>
                </a:r>
                <a:r>
                  <a:rPr lang="en-US" altLang="zh-CN" sz="1400" dirty="0" err="1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nodeE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、各节点工作时隙数</a:t>
                </a:r>
                <a:r>
                  <a:rPr lang="en-US" altLang="zh-CN" sz="1400" dirty="0" err="1" smtClean="0">
                    <a:latin typeface="Times New Roman" panose="02020603050405020304" pitchFamily="18" charset="0"/>
                    <a:ea typeface="SimHei" panose="02010609060101010101" pitchFamily="49" charset="-122"/>
                    <a:cs typeface="Times New Roman" panose="02020603050405020304" pitchFamily="18" charset="0"/>
                  </a:rPr>
                  <a:t>noderunslot</a:t>
                </a:r>
                <a:endParaRPr lang="en-US" altLang="zh-CN" sz="1400" dirty="0" smtClean="0">
                  <a:latin typeface="Times New Roman" panose="02020603050405020304" pitchFamily="18" charset="0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65" y="1201772"/>
                <a:ext cx="4468035" cy="4739759"/>
              </a:xfrm>
              <a:prstGeom prst="rect">
                <a:avLst/>
              </a:prstGeom>
              <a:blipFill>
                <a:blip r:embed="rId2"/>
                <a:stretch>
                  <a:fillRect l="-1910" t="-1028" r="-409" b="-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744" y="1045029"/>
            <a:ext cx="4059256" cy="531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8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19981</TotalTime>
  <Words>2544</Words>
  <Application>Microsoft Office PowerPoint</Application>
  <PresentationFormat>全屏显示(4:3)</PresentationFormat>
  <Paragraphs>447</Paragraphs>
  <Slides>40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Microsoft JhengHei</vt:lpstr>
      <vt:lpstr>等线</vt:lpstr>
      <vt:lpstr>等线 Light</vt:lpstr>
      <vt:lpstr>黑体</vt:lpstr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Visio</vt:lpstr>
      <vt:lpstr>面向海量机器类通信的 短包Aloha网络建模与分析</vt:lpstr>
      <vt:lpstr>PowerPoint 演示文稿</vt:lpstr>
      <vt:lpstr>研究背景与动机</vt:lpstr>
      <vt:lpstr>研究背景与动机</vt:lpstr>
      <vt:lpstr>研究背景与动机</vt:lpstr>
      <vt:lpstr>研究背景与动机</vt:lpstr>
      <vt:lpstr>PowerPoint 演示文稿</vt:lpstr>
      <vt:lpstr>系统建模</vt:lpstr>
      <vt:lpstr>系统建模</vt:lpstr>
      <vt:lpstr>系统建模</vt:lpstr>
      <vt:lpstr>系统建模</vt:lpstr>
      <vt:lpstr>系统建模</vt:lpstr>
      <vt:lpstr>系统建模</vt:lpstr>
      <vt:lpstr>PowerPoint 演示文稿</vt:lpstr>
      <vt:lpstr>性能分析与优化（第三章）</vt:lpstr>
      <vt:lpstr>性能分析与优化（第三章）</vt:lpstr>
      <vt:lpstr>性能分析与优化（第三章）</vt:lpstr>
      <vt:lpstr>性能分析与优化（第三章）</vt:lpstr>
      <vt:lpstr>性能分析与优化（第三章）</vt:lpstr>
      <vt:lpstr>性能分析与优化（第三章）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性能分析与优化（第四章）</vt:lpstr>
      <vt:lpstr>性能分析与优化（第五章）</vt:lpstr>
      <vt:lpstr>性能分析与优化（第五章）</vt:lpstr>
      <vt:lpstr>性能分析与优化（第五章）</vt:lpstr>
      <vt:lpstr>性能分析与优化（第五章）</vt:lpstr>
      <vt:lpstr>性能分析与优化（第五章）</vt:lpstr>
      <vt:lpstr>PowerPoint 演示文稿</vt:lpstr>
      <vt:lpstr>总结与展望</vt:lpstr>
      <vt:lpstr>总结与展望</vt:lpstr>
      <vt:lpstr> 感谢聆听！</vt:lpstr>
      <vt:lpstr>答辩环节</vt:lpstr>
      <vt:lpstr>性能分析与优化（第三章）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分享内容：连续小波变换（CWT）</dc:title>
  <dc:creator>林立;胡纪元</dc:creator>
  <cp:lastModifiedBy>liu weihua</cp:lastModifiedBy>
  <cp:revision>916</cp:revision>
  <cp:lastPrinted>2018-12-18T01:52:38Z</cp:lastPrinted>
  <dcterms:created xsi:type="dcterms:W3CDTF">2018-11-22T15:17:00Z</dcterms:created>
  <dcterms:modified xsi:type="dcterms:W3CDTF">2021-05-26T07:42:54Z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2052-11.1.0.8183</vt:lpwstr>
  </property>
</Properties>
</file>