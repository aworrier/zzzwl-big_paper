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84" r:id="rId1"/>
  </p:sldMasterIdLst>
  <p:notesMasterIdLst>
    <p:notesMasterId r:id="rId45"/>
  </p:notesMasterIdLst>
  <p:handoutMasterIdLst>
    <p:handoutMasterId r:id="rId46"/>
  </p:handoutMasterIdLst>
  <p:sldIdLst>
    <p:sldId id="256" r:id="rId2"/>
    <p:sldId id="336" r:id="rId3"/>
    <p:sldId id="257" r:id="rId4"/>
    <p:sldId id="409" r:id="rId5"/>
    <p:sldId id="364" r:id="rId6"/>
    <p:sldId id="411" r:id="rId7"/>
    <p:sldId id="414" r:id="rId8"/>
    <p:sldId id="374" r:id="rId9"/>
    <p:sldId id="366" r:id="rId10"/>
    <p:sldId id="408" r:id="rId11"/>
    <p:sldId id="367" r:id="rId12"/>
    <p:sldId id="368" r:id="rId13"/>
    <p:sldId id="375" r:id="rId14"/>
    <p:sldId id="415" r:id="rId15"/>
    <p:sldId id="400" r:id="rId16"/>
    <p:sldId id="406" r:id="rId17"/>
    <p:sldId id="384" r:id="rId18"/>
    <p:sldId id="386" r:id="rId19"/>
    <p:sldId id="410" r:id="rId20"/>
    <p:sldId id="388" r:id="rId21"/>
    <p:sldId id="401" r:id="rId22"/>
    <p:sldId id="402" r:id="rId23"/>
    <p:sldId id="389" r:id="rId24"/>
    <p:sldId id="390" r:id="rId25"/>
    <p:sldId id="393" r:id="rId26"/>
    <p:sldId id="391" r:id="rId27"/>
    <p:sldId id="392" r:id="rId28"/>
    <p:sldId id="412" r:id="rId29"/>
    <p:sldId id="413" r:id="rId30"/>
    <p:sldId id="403" r:id="rId31"/>
    <p:sldId id="395" r:id="rId32"/>
    <p:sldId id="396" r:id="rId33"/>
    <p:sldId id="405" r:id="rId34"/>
    <p:sldId id="397" r:id="rId35"/>
    <p:sldId id="416" r:id="rId36"/>
    <p:sldId id="357" r:id="rId37"/>
    <p:sldId id="369" r:id="rId38"/>
    <p:sldId id="419" r:id="rId39"/>
    <p:sldId id="421" r:id="rId40"/>
    <p:sldId id="339" r:id="rId41"/>
    <p:sldId id="399" r:id="rId42"/>
    <p:sldId id="420" r:id="rId43"/>
    <p:sldId id="417" r:id="rId44"/>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扉页" id="{440B3B3A-52B6-40C3-A0DD-2645A41E507A}">
          <p14:sldIdLst>
            <p14:sldId id="256"/>
          </p14:sldIdLst>
        </p14:section>
        <p14:section name="研究背景与动机" id="{A8BF5B49-A46F-4017-B1C3-8C38E78566F2}">
          <p14:sldIdLst>
            <p14:sldId id="336"/>
            <p14:sldId id="257"/>
            <p14:sldId id="409"/>
            <p14:sldId id="364"/>
            <p14:sldId id="411"/>
          </p14:sldIdLst>
        </p14:section>
        <p14:section name="系统建模" id="{34E043FE-1AD8-4AF3-AB41-CD4A21F43F0B}">
          <p14:sldIdLst>
            <p14:sldId id="414"/>
            <p14:sldId id="374"/>
            <p14:sldId id="366"/>
            <p14:sldId id="408"/>
            <p14:sldId id="367"/>
            <p14:sldId id="368"/>
            <p14:sldId id="375"/>
          </p14:sldIdLst>
        </p14:section>
        <p14:section name="性能分析与优化" id="{E49E9034-64F3-445F-A18B-C1386FF7AF37}">
          <p14:sldIdLst>
            <p14:sldId id="415"/>
            <p14:sldId id="400"/>
            <p14:sldId id="406"/>
            <p14:sldId id="384"/>
            <p14:sldId id="386"/>
            <p14:sldId id="410"/>
            <p14:sldId id="388"/>
            <p14:sldId id="401"/>
            <p14:sldId id="402"/>
            <p14:sldId id="389"/>
            <p14:sldId id="390"/>
            <p14:sldId id="393"/>
            <p14:sldId id="391"/>
            <p14:sldId id="392"/>
            <p14:sldId id="412"/>
            <p14:sldId id="413"/>
            <p14:sldId id="403"/>
            <p14:sldId id="395"/>
            <p14:sldId id="396"/>
            <p14:sldId id="405"/>
            <p14:sldId id="397"/>
          </p14:sldIdLst>
        </p14:section>
        <p14:section name="总结与展望" id="{20DE51AB-6ABC-480D-9840-B2803812458D}">
          <p14:sldIdLst>
            <p14:sldId id="416"/>
            <p14:sldId id="357"/>
            <p14:sldId id="369"/>
            <p14:sldId id="419"/>
            <p14:sldId id="421"/>
          </p14:sldIdLst>
        </p14:section>
        <p14:section name="Q-A&amp;appendix" id="{EFFC6D04-2B90-42F6-8EAF-71295180438E}">
          <p14:sldIdLst>
            <p14:sldId id="339"/>
            <p14:sldId id="399"/>
            <p14:sldId id="420"/>
            <p14:sldId id="417"/>
          </p14:sldIdLst>
        </p14:section>
      </p14:sectionLst>
    </p:ext>
    <p:ext uri="{EFAFB233-063F-42B5-8137-9DF3F51BA10A}">
      <p15:sldGuideLst xmlns:p15="http://schemas.microsoft.com/office/powerpoint/2012/main">
        <p15:guide id="1" pos="288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25"/>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95561" autoAdjust="0"/>
  </p:normalViewPr>
  <p:slideViewPr>
    <p:cSldViewPr snapToGrid="0">
      <p:cViewPr>
        <p:scale>
          <a:sx n="100" d="100"/>
          <a:sy n="100" d="100"/>
        </p:scale>
        <p:origin x="2058" y="216"/>
      </p:cViewPr>
      <p:guideLst>
        <p:guide pos="2880"/>
        <p:guide orient="horz" pos="2160"/>
      </p:guideLst>
    </p:cSldViewPr>
  </p:slideViewPr>
  <p:notesTextViewPr>
    <p:cViewPr>
      <p:scale>
        <a:sx n="1" d="1"/>
        <a:sy n="1" d="1"/>
      </p:scale>
      <p:origin x="0" y="0"/>
    </p:cViewPr>
  </p:notesTextViewPr>
  <p:sorterViewPr>
    <p:cViewPr>
      <p:scale>
        <a:sx n="170" d="100"/>
        <a:sy n="170" d="100"/>
      </p:scale>
      <p:origin x="0" y="-38772"/>
    </p:cViewPr>
  </p:sorterViewPr>
  <p:notesViewPr>
    <p:cSldViewPr snapToGrid="0">
      <p:cViewPr varScale="1">
        <p:scale>
          <a:sx n="81" d="100"/>
          <a:sy n="81" d="100"/>
        </p:scale>
        <p:origin x="400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2D37BD2B-2E86-492D-A9AB-C3A2A1C97354}" type="datetimeFigureOut">
              <a:rPr lang="zh-CN" altLang="en-US" smtClean="0"/>
              <a:t>2021/5/27</a:t>
            </a:fld>
            <a:endParaRPr lang="zh-CN" altLang="en-US"/>
          </a:p>
        </p:txBody>
      </p:sp>
      <p:sp>
        <p:nvSpPr>
          <p:cNvPr id="4" name="页脚占位符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9E65B968-8880-482F-B5EB-68DC0022B79B}" type="slidenum">
              <a:rPr lang="zh-CN" altLang="en-US" smtClean="0"/>
              <a:t>‹#›</a:t>
            </a:fld>
            <a:endParaRPr lang="zh-CN" altLang="en-US"/>
          </a:p>
        </p:txBody>
      </p:sp>
    </p:spTree>
    <p:extLst>
      <p:ext uri="{BB962C8B-B14F-4D97-AF65-F5344CB8AC3E}">
        <p14:creationId xmlns:p14="http://schemas.microsoft.com/office/powerpoint/2010/main" val="9934913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F22C631A-C8E7-40FB-AFB9-A94D1E4A2E60}" type="datetimeFigureOut">
              <a:rPr lang="zh-CN" altLang="en-US" smtClean="0"/>
              <a:t>2021/5/27</a:t>
            </a:fld>
            <a:endParaRPr lang="zh-CN" altLang="en-US"/>
          </a:p>
        </p:txBody>
      </p:sp>
      <p:sp>
        <p:nvSpPr>
          <p:cNvPr id="4" name="幻灯片图像占位符 3"/>
          <p:cNvSpPr>
            <a:spLocks noGrp="1" noRot="1" noChangeAspect="1"/>
          </p:cNvSpPr>
          <p:nvPr>
            <p:ph type="sldImg" idx="2"/>
          </p:nvPr>
        </p:nvSpPr>
        <p:spPr>
          <a:xfrm>
            <a:off x="1147763" y="1233488"/>
            <a:ext cx="4440237" cy="33289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31230FF6-F726-4DD3-8F33-A63C916287B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230FF6-F726-4DD3-8F33-A63C916287BA}" type="slidenum">
              <a:rPr lang="zh-CN" altLang="en-US" smtClean="0"/>
              <a:t>1</a:t>
            </a:fld>
            <a:endParaRPr lang="zh-CN" altLang="en-US"/>
          </a:p>
        </p:txBody>
      </p:sp>
    </p:spTree>
    <p:extLst>
      <p:ext uri="{BB962C8B-B14F-4D97-AF65-F5344CB8AC3E}">
        <p14:creationId xmlns:p14="http://schemas.microsoft.com/office/powerpoint/2010/main" val="1478971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5</a:t>
            </a:fld>
            <a:endParaRPr lang="zh-CN" altLang="en-US"/>
          </a:p>
        </p:txBody>
      </p:sp>
    </p:spTree>
    <p:extLst>
      <p:ext uri="{BB962C8B-B14F-4D97-AF65-F5344CB8AC3E}">
        <p14:creationId xmlns:p14="http://schemas.microsoft.com/office/powerpoint/2010/main" val="389251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Polyanskiy Y, Poor H V, </a:t>
            </a:r>
            <a:r>
              <a:rPr lang="en-US" altLang="zh-CN" dirty="0" err="1"/>
              <a:t>Verdu</a:t>
            </a:r>
            <a:r>
              <a:rPr lang="en-US" altLang="zh-CN" dirty="0"/>
              <a:t> S. Channel Coding Rate in the Finite </a:t>
            </a:r>
            <a:r>
              <a:rPr lang="en-US" altLang="zh-CN" dirty="0" err="1"/>
              <a:t>Blocklength</a:t>
            </a:r>
            <a:r>
              <a:rPr lang="en-US" altLang="zh-CN" dirty="0"/>
              <a:t> Regime[J]. IEEE</a:t>
            </a:r>
            <a:r>
              <a:rPr lang="en-US" altLang="zh-CN" baseline="0" dirty="0"/>
              <a:t> </a:t>
            </a:r>
            <a:r>
              <a:rPr lang="en-US" altLang="zh-CN" dirty="0"/>
              <a:t>Transactions on Information Theory, 2010, 56(5) : 2307 – 2359.</a:t>
            </a:r>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9</a:t>
            </a:fld>
            <a:endParaRPr lang="zh-CN" altLang="en-US"/>
          </a:p>
        </p:txBody>
      </p:sp>
    </p:spTree>
    <p:extLst>
      <p:ext uri="{BB962C8B-B14F-4D97-AF65-F5344CB8AC3E}">
        <p14:creationId xmlns:p14="http://schemas.microsoft.com/office/powerpoint/2010/main" val="1699908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13</a:t>
            </a:fld>
            <a:endParaRPr lang="zh-CN" altLang="en-US"/>
          </a:p>
        </p:txBody>
      </p:sp>
    </p:spTree>
    <p:extLst>
      <p:ext uri="{BB962C8B-B14F-4D97-AF65-F5344CB8AC3E}">
        <p14:creationId xmlns:p14="http://schemas.microsoft.com/office/powerpoint/2010/main" val="1460650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230FF6-F726-4DD3-8F33-A63C916287BA}" type="slidenum">
              <a:rPr lang="zh-CN" altLang="en-US" smtClean="0"/>
              <a:t>42</a:t>
            </a:fld>
            <a:endParaRPr lang="zh-CN" altLang="en-US"/>
          </a:p>
        </p:txBody>
      </p:sp>
    </p:spTree>
    <p:extLst>
      <p:ext uri="{BB962C8B-B14F-4D97-AF65-F5344CB8AC3E}">
        <p14:creationId xmlns:p14="http://schemas.microsoft.com/office/powerpoint/2010/main" val="759398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04513299-E556-4978-83E5-97D8F8864967}" type="datetime1">
              <a:rPr lang="zh-CN" altLang="en-US" smtClean="0"/>
              <a:t>2021/5/27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en-US" altLang="zh-CN" smtClean="0"/>
              <a:t>‹#›</a:t>
            </a:fld>
            <a:endParaRPr lang="en-US" dirty="0"/>
          </a:p>
        </p:txBody>
      </p:sp>
      <p:pic>
        <p:nvPicPr>
          <p:cNvPr id="7" name="图片 6" descr="资源 2@4x"/>
          <p:cNvPicPr>
            <a:picLocks noChangeAspect="1"/>
          </p:cNvPicPr>
          <p:nvPr userDrawn="1"/>
        </p:nvPicPr>
        <p:blipFill>
          <a:blip r:embed="rId2"/>
          <a:stretch>
            <a:fillRect/>
          </a:stretch>
        </p:blipFill>
        <p:spPr>
          <a:xfrm>
            <a:off x="6729039" y="396558"/>
            <a:ext cx="2159588" cy="633730"/>
          </a:xfrm>
          <a:prstGeom prst="rect">
            <a:avLst/>
          </a:prstGeom>
        </p:spPr>
      </p:pic>
    </p:spTree>
    <p:extLst>
      <p:ext uri="{BB962C8B-B14F-4D97-AF65-F5344CB8AC3E}">
        <p14:creationId xmlns:p14="http://schemas.microsoft.com/office/powerpoint/2010/main" val="3206489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5571653-389F-4F67-A8C8-8760615F053A}" type="datetime1">
              <a:rPr lang="zh-CN" altLang="en-US" smtClean="0"/>
              <a:t>2021/5/27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7" name="图片 6" descr="资源 2@4x"/>
          <p:cNvPicPr>
            <a:picLocks noChangeAspect="1"/>
          </p:cNvPicPr>
          <p:nvPr userDrawn="1"/>
        </p:nvPicPr>
        <p:blipFill>
          <a:blip r:embed="rId2"/>
          <a:stretch>
            <a:fillRect/>
          </a:stretch>
        </p:blipFill>
        <p:spPr>
          <a:xfrm>
            <a:off x="6729039" y="399097"/>
            <a:ext cx="2159588" cy="633730"/>
          </a:xfrm>
          <a:prstGeom prst="rect">
            <a:avLst/>
          </a:prstGeom>
        </p:spPr>
      </p:pic>
      <p:sp>
        <p:nvSpPr>
          <p:cNvPr id="8" name="矩形 7"/>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a:p>
        </p:txBody>
      </p:sp>
    </p:spTree>
    <p:extLst>
      <p:ext uri="{BB962C8B-B14F-4D97-AF65-F5344CB8AC3E}">
        <p14:creationId xmlns:p14="http://schemas.microsoft.com/office/powerpoint/2010/main" val="372980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0EC97AA-179E-45E6-A602-22E795E5E4F2}" type="datetime1">
              <a:rPr lang="zh-CN" altLang="en-US" smtClean="0"/>
              <a:t>2021/5/27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660342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5861557-620F-4D7E-87E5-92D794978D30}" type="datetime1">
              <a:rPr lang="zh-CN" altLang="en-US" smtClean="0"/>
              <a:t>2021/5/27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728482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1"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EE8871C-99B6-4C0A-9E12-FA0A0A532C85}" type="datetime1">
              <a:rPr lang="zh-CN" altLang="en-US" smtClean="0"/>
              <a:t>2021/5/27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1853332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1EB7863-F1B1-46B6-86F1-03BA9C31AD61}" type="datetime1">
              <a:rPr lang="zh-CN" altLang="en-US" smtClean="0"/>
              <a:t>2021/5/27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6" name="图片 5" descr="资源 2@4x"/>
          <p:cNvPicPr>
            <a:picLocks noChangeAspect="1"/>
          </p:cNvPicPr>
          <p:nvPr userDrawn="1"/>
        </p:nvPicPr>
        <p:blipFill>
          <a:blip r:embed="rId2"/>
          <a:stretch>
            <a:fillRect/>
          </a:stretch>
        </p:blipFill>
        <p:spPr>
          <a:xfrm>
            <a:off x="7083267" y="413385"/>
            <a:ext cx="1641634" cy="633730"/>
          </a:xfrm>
          <a:prstGeom prst="rect">
            <a:avLst/>
          </a:prstGeom>
        </p:spPr>
      </p:pic>
      <p:sp>
        <p:nvSpPr>
          <p:cNvPr id="7" name="矩形 6"/>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a:p>
        </p:txBody>
      </p:sp>
    </p:spTree>
    <p:extLst>
      <p:ext uri="{BB962C8B-B14F-4D97-AF65-F5344CB8AC3E}">
        <p14:creationId xmlns:p14="http://schemas.microsoft.com/office/powerpoint/2010/main" val="14333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6C4A4-F44A-4C67-8548-9F62867D1F3B}" type="datetime1">
              <a:rPr lang="zh-CN" altLang="en-US" smtClean="0"/>
              <a:t>2021/5/27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0B10EDF-B687-4851-88EF-036A594B1DDE}" type="slidenum">
              <a:rPr lang="zh-CN" altLang="en-US" smtClean="0"/>
              <a:t>‹#›</a:t>
            </a:fld>
            <a:endParaRPr lang="zh-CN" altLang="en-US"/>
          </a:p>
        </p:txBody>
      </p:sp>
      <p:pic>
        <p:nvPicPr>
          <p:cNvPr id="5" name="图片 4" descr="资源 2@4x"/>
          <p:cNvPicPr>
            <a:picLocks noChangeAspect="1"/>
          </p:cNvPicPr>
          <p:nvPr userDrawn="1"/>
        </p:nvPicPr>
        <p:blipFill>
          <a:blip r:embed="rId2"/>
          <a:stretch>
            <a:fillRect/>
          </a:stretch>
        </p:blipFill>
        <p:spPr>
          <a:xfrm>
            <a:off x="7083267" y="413385"/>
            <a:ext cx="1641634" cy="633730"/>
          </a:xfrm>
          <a:prstGeom prst="rect">
            <a:avLst/>
          </a:prstGeom>
        </p:spPr>
      </p:pic>
    </p:spTree>
    <p:extLst>
      <p:ext uri="{BB962C8B-B14F-4D97-AF65-F5344CB8AC3E}">
        <p14:creationId xmlns:p14="http://schemas.microsoft.com/office/powerpoint/2010/main" val="4149701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1C82C9B-FE95-49E0-9056-E88DF3D8EAE7}" type="datetime1">
              <a:rPr lang="zh-CN" altLang="en-US" smtClean="0"/>
              <a:t>2021/5/27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181333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C15BA4D-13E4-4289-BDC2-791962136F08}" type="datetime1">
              <a:rPr lang="zh-CN" altLang="en-US" smtClean="0"/>
              <a:t>2021/5/27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153450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70ECB5A-ACB2-4A92-8CFD-B5803F3C2F2F}" type="datetime1">
              <a:rPr lang="zh-CN" altLang="en-US" smtClean="0"/>
              <a:t>2021/5/27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79913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C76C5-C555-46B1-9EE0-77136096CE50}" type="datetime1">
              <a:rPr lang="zh-CN" altLang="en-US" smtClean="0"/>
              <a:t>2021/5/27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481032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1EB7863-F1B1-46B6-86F1-03BA9C31AD61}" type="datetime1">
              <a:rPr lang="zh-CN" altLang="en-US" smtClean="0"/>
              <a:t>2021/5/27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B10EDF-B687-4851-88EF-036A594B1DDE}" type="slidenum">
              <a:rPr lang="zh-CN" altLang="en-US" smtClean="0"/>
              <a:t>‹#›</a:t>
            </a:fld>
            <a:endParaRPr lang="zh-CN" altLang="en-US"/>
          </a:p>
        </p:txBody>
      </p:sp>
      <p:sp>
        <p:nvSpPr>
          <p:cNvPr id="7" name="标题 1"/>
          <p:cNvSpPr>
            <a:spLocks noGrp="1"/>
          </p:cNvSpPr>
          <p:nvPr>
            <p:ph type="title"/>
          </p:nvPr>
        </p:nvSpPr>
        <p:spPr>
          <a:xfrm>
            <a:off x="628650" y="365126"/>
            <a:ext cx="7886700" cy="784052"/>
          </a:xfrm>
        </p:spPr>
        <p:txBody>
          <a:bodyPr>
            <a:normAutofit/>
          </a:bodyPr>
          <a:lstStyle>
            <a:lvl1pPr>
              <a:defRPr sz="2400" baseline="0">
                <a:solidFill>
                  <a:srgbClr val="005825"/>
                </a:solidFill>
                <a:latin typeface="Cambria Math" panose="02040503050406030204" pitchFamily="18" charset="0"/>
                <a:ea typeface="微软雅黑" panose="020B0503020204020204" pitchFamily="34" charset="-122"/>
              </a:defRPr>
            </a:lvl1pPr>
          </a:lstStyle>
          <a:p>
            <a:r>
              <a:rPr lang="zh-CN" altLang="en-US" dirty="0"/>
              <a:t>单击此处编辑母版标题样式</a:t>
            </a:r>
          </a:p>
        </p:txBody>
      </p:sp>
      <p:pic>
        <p:nvPicPr>
          <p:cNvPr id="8" name="图片 7" descr="资源 2@4x"/>
          <p:cNvPicPr>
            <a:picLocks noChangeAspect="1"/>
          </p:cNvPicPr>
          <p:nvPr userDrawn="1"/>
        </p:nvPicPr>
        <p:blipFill>
          <a:blip r:embed="rId2"/>
          <a:stretch>
            <a:fillRect/>
          </a:stretch>
        </p:blipFill>
        <p:spPr>
          <a:xfrm>
            <a:off x="7083267" y="413385"/>
            <a:ext cx="1641634" cy="633730"/>
          </a:xfrm>
          <a:prstGeom prst="rect">
            <a:avLst/>
          </a:prstGeom>
        </p:spPr>
      </p:pic>
      <p:sp>
        <p:nvSpPr>
          <p:cNvPr id="9" name="矩形 8"/>
          <p:cNvSpPr/>
          <p:nvPr userDrawn="1"/>
        </p:nvSpPr>
        <p:spPr>
          <a:xfrm>
            <a:off x="404840" y="530225"/>
            <a:ext cx="86295" cy="453854"/>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D61AE-822E-4FF7-AD14-C331E7AC1739}" type="datetime1">
              <a:rPr lang="zh-CN" altLang="en-US" smtClean="0"/>
              <a:t>2021/5/27</a:t>
            </a:fld>
            <a:endParaRPr lang="zh-CN" alt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B10EDF-B687-4851-88EF-036A594B1DDE}" type="slidenum">
              <a:rPr lang="zh-CN" altLang="en-US" smtClean="0"/>
              <a:t>‹#›</a:t>
            </a:fld>
            <a:endParaRPr lang="zh-CN" altLang="en-US"/>
          </a:p>
        </p:txBody>
      </p:sp>
    </p:spTree>
    <p:extLst>
      <p:ext uri="{BB962C8B-B14F-4D97-AF65-F5344CB8AC3E}">
        <p14:creationId xmlns:p14="http://schemas.microsoft.com/office/powerpoint/2010/main" val="35535246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5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0.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6.png"/><Relationship Id="rId7"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9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0.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
            <a:ext cx="9144000" cy="1166949"/>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308463" y="1979113"/>
            <a:ext cx="6858000" cy="1790700"/>
          </a:xfrm>
        </p:spPr>
        <p:txBody>
          <a:bodyPr>
            <a:noAutofit/>
          </a:bodyPr>
          <a:lstStyle/>
          <a:p>
            <a:r>
              <a:rPr lang="zh-CN" altLang="en-US" sz="4000" b="1" dirty="0">
                <a:solidFill>
                  <a:srgbClr val="005825"/>
                </a:solidFill>
                <a:latin typeface="+mn-lt"/>
                <a:ea typeface="宋体" panose="02010600030101010101" pitchFamily="2" charset="-122"/>
                <a:cs typeface="+mn-ea"/>
                <a:sym typeface="+mn-lt"/>
              </a:rPr>
              <a:t>面向海量机器类通信的</a:t>
            </a:r>
            <a:r>
              <a:rPr lang="en-US" altLang="zh-CN" sz="4000" b="1" dirty="0">
                <a:solidFill>
                  <a:srgbClr val="005825"/>
                </a:solidFill>
                <a:latin typeface="+mn-lt"/>
                <a:ea typeface="宋体" panose="02010600030101010101" pitchFamily="2" charset="-122"/>
                <a:cs typeface="+mn-ea"/>
                <a:sym typeface="+mn-lt"/>
              </a:rPr>
              <a:t/>
            </a:r>
            <a:br>
              <a:rPr lang="en-US" altLang="zh-CN" sz="4000" b="1" dirty="0">
                <a:solidFill>
                  <a:srgbClr val="005825"/>
                </a:solidFill>
                <a:latin typeface="+mn-lt"/>
                <a:ea typeface="宋体" panose="02010600030101010101" pitchFamily="2" charset="-122"/>
                <a:cs typeface="+mn-ea"/>
                <a:sym typeface="+mn-lt"/>
              </a:rPr>
            </a:br>
            <a:r>
              <a:rPr lang="zh-CN" altLang="en-US" sz="4000" b="1" dirty="0">
                <a:solidFill>
                  <a:srgbClr val="005825"/>
                </a:solidFill>
                <a:latin typeface="+mn-lt"/>
                <a:ea typeface="宋体" panose="02010600030101010101" pitchFamily="2" charset="-122"/>
                <a:cs typeface="+mn-ea"/>
                <a:sym typeface="+mn-lt"/>
              </a:rPr>
              <a:t>短包</a:t>
            </a:r>
            <a:r>
              <a:rPr lang="en-US" altLang="zh-CN" sz="4000" b="1" dirty="0">
                <a:solidFill>
                  <a:srgbClr val="005825"/>
                </a:solidFill>
                <a:latin typeface="+mn-lt"/>
                <a:ea typeface="宋体" panose="02010600030101010101" pitchFamily="2" charset="-122"/>
                <a:cs typeface="+mn-ea"/>
                <a:sym typeface="+mn-lt"/>
              </a:rPr>
              <a:t>Aloha</a:t>
            </a:r>
            <a:r>
              <a:rPr lang="zh-CN" altLang="en-US" sz="4000" b="1" dirty="0">
                <a:solidFill>
                  <a:srgbClr val="005825"/>
                </a:solidFill>
                <a:latin typeface="+mn-lt"/>
                <a:ea typeface="宋体" panose="02010600030101010101" pitchFamily="2" charset="-122"/>
                <a:cs typeface="+mn-ea"/>
                <a:sym typeface="+mn-lt"/>
              </a:rPr>
              <a:t>网络建模与分析</a:t>
            </a:r>
            <a:endParaRPr lang="zh-CN" altLang="en-US" sz="4000" b="1" dirty="0">
              <a:solidFill>
                <a:srgbClr val="005825"/>
              </a:solidFill>
              <a:latin typeface="宋体" panose="02010600030101010101" pitchFamily="2" charset="-122"/>
              <a:ea typeface="宋体" panose="02010600030101010101" pitchFamily="2" charset="-122"/>
              <a:cs typeface="+mn-ea"/>
              <a:sym typeface="+mn-lt"/>
            </a:endParaRPr>
          </a:p>
        </p:txBody>
      </p:sp>
      <p:sp>
        <p:nvSpPr>
          <p:cNvPr id="3" name="副标题 2"/>
          <p:cNvSpPr>
            <a:spLocks noGrp="1"/>
          </p:cNvSpPr>
          <p:nvPr>
            <p:ph type="subTitle" idx="1"/>
          </p:nvPr>
        </p:nvSpPr>
        <p:spPr>
          <a:xfrm>
            <a:off x="7102929" y="5165263"/>
            <a:ext cx="2041072" cy="1692737"/>
          </a:xfrm>
        </p:spPr>
        <p:txBody>
          <a:bodyPr>
            <a:normAutofit/>
          </a:bodyPr>
          <a:lstStyle/>
          <a:p>
            <a:pPr algn="l"/>
            <a:r>
              <a:rPr lang="zh-CN" altLang="en-US" sz="2000" dirty="0">
                <a:latin typeface="宋体" panose="02010600030101010101" pitchFamily="2" charset="-122"/>
                <a:ea typeface="宋体" panose="02010600030101010101" pitchFamily="2" charset="-122"/>
                <a:cs typeface="+mn-ea"/>
                <a:sym typeface="+mn-lt"/>
              </a:rPr>
              <a:t>刘伟华</a:t>
            </a:r>
            <a:endParaRPr lang="en-US" altLang="zh-CN" sz="2000" dirty="0">
              <a:latin typeface="宋体" panose="02010600030101010101" pitchFamily="2" charset="-122"/>
              <a:ea typeface="宋体" panose="02010600030101010101" pitchFamily="2" charset="-122"/>
              <a:cs typeface="+mn-ea"/>
              <a:sym typeface="+mn-lt"/>
            </a:endParaRPr>
          </a:p>
          <a:p>
            <a:pPr algn="l"/>
            <a:r>
              <a:rPr lang="zh-CN" altLang="en-US" sz="2000" dirty="0">
                <a:latin typeface="宋体" panose="02010600030101010101" pitchFamily="2" charset="-122"/>
                <a:ea typeface="宋体" panose="02010600030101010101" pitchFamily="2" charset="-122"/>
                <a:cs typeface="+mn-ea"/>
                <a:sym typeface="+mn-lt"/>
              </a:rPr>
              <a:t>通信与信息系统</a:t>
            </a:r>
            <a:endParaRPr lang="en-US" altLang="zh-CN" sz="2000" dirty="0">
              <a:latin typeface="宋体" panose="02010600030101010101" pitchFamily="2" charset="-122"/>
              <a:ea typeface="宋体" panose="02010600030101010101" pitchFamily="2" charset="-122"/>
              <a:cs typeface="+mn-ea"/>
              <a:sym typeface="+mn-lt"/>
            </a:endParaRPr>
          </a:p>
          <a:p>
            <a:pPr algn="l"/>
            <a:r>
              <a:rPr lang="zh-CN" altLang="en-US" sz="2000" dirty="0">
                <a:latin typeface="宋体" panose="02010600030101010101" pitchFamily="2" charset="-122"/>
                <a:ea typeface="宋体" panose="02010600030101010101" pitchFamily="2" charset="-122"/>
                <a:cs typeface="+mn-ea"/>
                <a:sym typeface="+mn-lt"/>
              </a:rPr>
              <a:t>孙兴华 副教授</a:t>
            </a:r>
            <a:endParaRPr lang="en-US" altLang="zh-CN" sz="2000" dirty="0">
              <a:latin typeface="宋体" panose="02010600030101010101" pitchFamily="2" charset="-122"/>
              <a:ea typeface="宋体" panose="02010600030101010101" pitchFamily="2" charset="-122"/>
              <a:cs typeface="+mn-ea"/>
              <a:sym typeface="+mn-lt"/>
            </a:endParaRPr>
          </a:p>
          <a:p>
            <a:pPr algn="r"/>
            <a:endParaRPr lang="zh-CN" altLang="en-US" dirty="0">
              <a:latin typeface="黑体" panose="02010609060101010101" pitchFamily="49" charset="-122"/>
              <a:ea typeface="黑体" panose="02010609060101010101" pitchFamily="49" charset="-122"/>
              <a:cs typeface="+mn-ea"/>
              <a:sym typeface="+mn-lt"/>
            </a:endParaRPr>
          </a:p>
        </p:txBody>
      </p:sp>
      <p:sp>
        <p:nvSpPr>
          <p:cNvPr id="4" name="副标题 2"/>
          <p:cNvSpPr txBox="1">
            <a:spLocks/>
          </p:cNvSpPr>
          <p:nvPr/>
        </p:nvSpPr>
        <p:spPr>
          <a:xfrm>
            <a:off x="5753099" y="5165262"/>
            <a:ext cx="1468482" cy="16927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zh-CN" altLang="en-US" sz="2000" dirty="0">
                <a:latin typeface="宋体" panose="02010600030101010101" pitchFamily="2" charset="-122"/>
                <a:ea typeface="宋体" panose="02010600030101010101" pitchFamily="2" charset="-122"/>
                <a:cs typeface="+mn-ea"/>
                <a:sym typeface="+mn-lt"/>
              </a:rPr>
              <a:t>答辩人：</a:t>
            </a:r>
            <a:endParaRPr lang="en-US" altLang="zh-CN" sz="2000" dirty="0">
              <a:latin typeface="宋体" panose="02010600030101010101" pitchFamily="2" charset="-122"/>
              <a:ea typeface="宋体" panose="02010600030101010101" pitchFamily="2" charset="-122"/>
              <a:cs typeface="+mn-ea"/>
              <a:sym typeface="+mn-lt"/>
            </a:endParaRPr>
          </a:p>
          <a:p>
            <a:pPr algn="r"/>
            <a:r>
              <a:rPr lang="zh-CN" altLang="en-US" sz="2000" dirty="0">
                <a:latin typeface="宋体" panose="02010600030101010101" pitchFamily="2" charset="-122"/>
                <a:ea typeface="宋体" panose="02010600030101010101" pitchFamily="2" charset="-122"/>
                <a:cs typeface="+mn-ea"/>
                <a:sym typeface="+mn-lt"/>
              </a:rPr>
              <a:t>专业：</a:t>
            </a:r>
            <a:endParaRPr lang="en-US" altLang="zh-CN" sz="2000" dirty="0">
              <a:latin typeface="宋体" panose="02010600030101010101" pitchFamily="2" charset="-122"/>
              <a:ea typeface="宋体" panose="02010600030101010101" pitchFamily="2" charset="-122"/>
              <a:cs typeface="+mn-ea"/>
              <a:sym typeface="+mn-lt"/>
            </a:endParaRPr>
          </a:p>
          <a:p>
            <a:pPr algn="r"/>
            <a:r>
              <a:rPr lang="zh-CN" altLang="en-US" sz="2000" dirty="0">
                <a:latin typeface="宋体" panose="02010600030101010101" pitchFamily="2" charset="-122"/>
                <a:ea typeface="宋体" panose="02010600030101010101" pitchFamily="2" charset="-122"/>
                <a:cs typeface="+mn-ea"/>
                <a:sym typeface="+mn-lt"/>
              </a:rPr>
              <a:t>指导教师：</a:t>
            </a:r>
            <a:endParaRPr lang="zh-CN" altLang="en-US" dirty="0">
              <a:latin typeface="黑体" panose="02010609060101010101" pitchFamily="49" charset="-122"/>
              <a:ea typeface="黑体" panose="02010609060101010101" pitchFamily="49" charset="-122"/>
              <a:cs typeface="+mn-ea"/>
              <a:sym typeface="+mn-lt"/>
            </a:endParaRPr>
          </a:p>
        </p:txBody>
      </p:sp>
      <p:pic>
        <p:nvPicPr>
          <p:cNvPr id="6" name="图片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830332" y="-283847"/>
            <a:ext cx="2313668" cy="173463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solidFill>
              <a:schemeClr val="bg1">
                <a:lumMod val="85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a:t>
            </a:fld>
            <a:endParaRPr lang="zh-CN" altLang="en-US" dirty="0"/>
          </a:p>
        </p:txBody>
      </p:sp>
      <p:sp>
        <p:nvSpPr>
          <p:cNvPr id="8" name="矩形 7"/>
          <p:cNvSpPr/>
          <p:nvPr/>
        </p:nvSpPr>
        <p:spPr>
          <a:xfrm>
            <a:off x="628656" y="1151573"/>
            <a:ext cx="7886693" cy="576248"/>
          </a:xfrm>
          <a:prstGeom prst="rect">
            <a:avLst/>
          </a:prstGeom>
        </p:spPr>
        <p:txBody>
          <a:bodyPr wrap="square">
            <a:spAutoFit/>
          </a:bodyPr>
          <a:lstStyle/>
          <a:p>
            <a:pPr marL="12700">
              <a:lnSpc>
                <a:spcPct val="150000"/>
              </a:lnSpc>
            </a:pPr>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选题背景</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p>
        </p:txBody>
      </p:sp>
      <p:sp>
        <p:nvSpPr>
          <p:cNvPr id="5" name="矩形 4"/>
          <p:cNvSpPr/>
          <p:nvPr/>
        </p:nvSpPr>
        <p:spPr>
          <a:xfrm>
            <a:off x="0" y="3240576"/>
            <a:ext cx="5753100" cy="3298339"/>
          </a:xfrm>
          <a:prstGeom prst="rect">
            <a:avLst/>
          </a:prstGeom>
        </p:spPr>
        <p:txBody>
          <a:bodyPr wrap="square">
            <a:spAutoFit/>
          </a:bodyPr>
          <a:lstStyle/>
          <a:p>
            <a:pPr marL="298450" indent="-285750">
              <a:lnSpc>
                <a:spcPct val="150000"/>
              </a:lnSpc>
              <a:spcBef>
                <a:spcPts val="200"/>
              </a:spcBef>
              <a:buFont typeface="Wingdings" panose="05000000000000000000" pitchFamily="2" charset="2"/>
              <a:buChar char="Ø"/>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物</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联网部分应用场景</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需求总结</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智能家居：</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传感器：周期性数据回传；</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lvl="1">
              <a:lnSpc>
                <a:spcPct val="150000"/>
              </a:lnSpc>
              <a:spcBef>
                <a:spcPts val="200"/>
              </a:spcBef>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远程控制：时延要求较低</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智能交通：路网状况监控：可靠性、实时性要求高；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智能驾驶：要求高信息新鲜度与可靠性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智慧城市：广域海量传感器数据回传：高能效要求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工业自动化：生产监控：高可靠性；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841500" lvl="3">
              <a:lnSpc>
                <a:spcPct val="150000"/>
              </a:lnSpc>
              <a:spcBef>
                <a:spcPts val="200"/>
              </a:spcBef>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运动控制：低时延低时延抖动；</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841500" lvl="3">
              <a:lnSpc>
                <a:spcPct val="150000"/>
              </a:lnSpc>
              <a:spcBef>
                <a:spcPts val="200"/>
              </a:spcBef>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振动、温度监控：周期性数据回传</a:t>
            </a:r>
          </a:p>
        </p:txBody>
      </p:sp>
      <p:sp>
        <p:nvSpPr>
          <p:cNvPr id="3" name="矩形 2"/>
          <p:cNvSpPr/>
          <p:nvPr/>
        </p:nvSpPr>
        <p:spPr>
          <a:xfrm>
            <a:off x="2" y="1618625"/>
            <a:ext cx="6457948" cy="1528624"/>
          </a:xfrm>
          <a:prstGeom prst="rect">
            <a:avLst/>
          </a:prstGeom>
        </p:spPr>
        <p:txBody>
          <a:bodyPr wrap="square">
            <a:spAutoFit/>
          </a:bodyPr>
          <a:lstStyle/>
          <a:p>
            <a:pPr marL="298450" indent="-285750">
              <a:lnSpc>
                <a:spcPct val="150000"/>
              </a:lnSpc>
              <a:buFont typeface="Wingdings" panose="05000000000000000000" pitchFamily="2" charset="2"/>
              <a:buChar char="Ø"/>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物联网通信特征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空间上（数量）：相较于典型</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网络，更加</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庞大节点数量</a:t>
            </a:r>
            <a:endParaRPr lang="en-US" altLang="zh-CN"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时间上（频率）：传感器网络：事件触发导致</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海量</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周期性</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传输</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请求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spcBef>
                <a:spcPts val="200"/>
              </a:spcBef>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实践中（成本）：电池容量较低；更换成本高导致</a:t>
            </a: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能效</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要求更高</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5540721" y="3035666"/>
            <a:ext cx="3603279" cy="3408131"/>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4</a:t>
            </a:fld>
            <a:endParaRPr lang="zh-CN" altLang="en-US" dirty="0"/>
          </a:p>
        </p:txBody>
      </p:sp>
      <p:sp>
        <p:nvSpPr>
          <p:cNvPr id="8" name="矩形 7"/>
          <p:cNvSpPr/>
          <p:nvPr/>
        </p:nvSpPr>
        <p:spPr>
          <a:xfrm>
            <a:off x="628658" y="1147790"/>
            <a:ext cx="5362568" cy="1061829"/>
          </a:xfrm>
          <a:prstGeom prst="rect">
            <a:avLst/>
          </a:prstGeom>
        </p:spPr>
        <p:txBody>
          <a:bodyPr wrap="square">
            <a:spAutoFit/>
          </a:bodyPr>
          <a:lstStyle/>
          <a:p>
            <a:pPr marL="12700">
              <a:lnSpc>
                <a:spcPct val="150000"/>
              </a:lnSpc>
            </a:pPr>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研究现状</a:t>
            </a:r>
            <a:endParaRPr lang="en-US" altLang="zh-CN" sz="2400" b="1" spc="10" dirty="0" smtClean="0">
              <a:solidFill>
                <a:srgbClr val="0070C0"/>
              </a:solidFill>
              <a:latin typeface="Times New Roman" panose="02020603050405020304" pitchFamily="18" charset="0"/>
              <a:ea typeface="SimHei" panose="02010609060101010101" pitchFamily="49" charset="-122"/>
              <a:cs typeface="宋体"/>
            </a:endParaRPr>
          </a:p>
          <a:p>
            <a:pPr marL="298450" indent="-285750">
              <a:lnSpc>
                <a:spcPct val="150000"/>
              </a:lnSpc>
              <a:buFont typeface="Wingdings" panose="05000000000000000000" pitchFamily="2" charset="2"/>
              <a:buChar char="Ø"/>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机器类通信机制特征</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2" name="组合 11"/>
          <p:cNvGrpSpPr/>
          <p:nvPr/>
        </p:nvGrpSpPr>
        <p:grpSpPr>
          <a:xfrm>
            <a:off x="389088" y="2181263"/>
            <a:ext cx="4237233" cy="1166322"/>
            <a:chOff x="0" y="2160767"/>
            <a:chExt cx="5048250" cy="1033474"/>
          </a:xfrm>
        </p:grpSpPr>
        <p:sp>
          <p:nvSpPr>
            <p:cNvPr id="6" name="矩形 5"/>
            <p:cNvSpPr/>
            <p:nvPr/>
          </p:nvSpPr>
          <p:spPr>
            <a:xfrm>
              <a:off x="0" y="2160767"/>
              <a:ext cx="5048250" cy="1022699"/>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短包</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传输（监视与控制类信息）</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有效载荷</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降低，信令开销占比提升</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需要新理论以刻画</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短包传输带来信道容量损失</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9" name="圆角矩形 8"/>
            <p:cNvSpPr/>
            <p:nvPr/>
          </p:nvSpPr>
          <p:spPr bwMode="auto">
            <a:xfrm>
              <a:off x="0" y="2189123"/>
              <a:ext cx="4952999"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13" name="组合 12"/>
          <p:cNvGrpSpPr/>
          <p:nvPr/>
        </p:nvGrpSpPr>
        <p:grpSpPr>
          <a:xfrm>
            <a:off x="4865891" y="2181263"/>
            <a:ext cx="4048133" cy="1180789"/>
            <a:chOff x="5048250" y="2064652"/>
            <a:chExt cx="4048133" cy="1025396"/>
          </a:xfrm>
        </p:grpSpPr>
        <p:sp>
          <p:nvSpPr>
            <p:cNvPr id="10" name="圆角矩形 9"/>
            <p:cNvSpPr/>
            <p:nvPr/>
          </p:nvSpPr>
          <p:spPr bwMode="auto">
            <a:xfrm>
              <a:off x="5048250" y="2084930"/>
              <a:ext cx="4048133"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1" name="矩形 10"/>
            <p:cNvSpPr/>
            <p:nvPr/>
          </p:nvSpPr>
          <p:spPr>
            <a:xfrm>
              <a:off x="5048250" y="2064652"/>
              <a:ext cx="3895727" cy="1002274"/>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免授权接入 </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跳</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过授权调度，降低信令开销占</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比</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碰撞</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导致可靠性与能效损失</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sp>
        <p:nvSpPr>
          <p:cNvPr id="15" name="矩形 14"/>
          <p:cNvSpPr/>
          <p:nvPr/>
        </p:nvSpPr>
        <p:spPr>
          <a:xfrm>
            <a:off x="628657" y="3479611"/>
            <a:ext cx="7878612" cy="455253"/>
          </a:xfrm>
          <a:prstGeom prst="rect">
            <a:avLst/>
          </a:prstGeom>
        </p:spPr>
        <p:txBody>
          <a:bodyPr wrap="square">
            <a:spAutoFit/>
          </a:bodyPr>
          <a:lstStyle/>
          <a:p>
            <a:pPr>
              <a:lnSpc>
                <a:spcPct val="150000"/>
              </a:lnSpc>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现有研究成果</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6" name="组合 15"/>
          <p:cNvGrpSpPr/>
          <p:nvPr/>
        </p:nvGrpSpPr>
        <p:grpSpPr>
          <a:xfrm>
            <a:off x="389088" y="4024038"/>
            <a:ext cx="4237233" cy="1196080"/>
            <a:chOff x="0" y="2160766"/>
            <a:chExt cx="5048250" cy="1033474"/>
          </a:xfrm>
        </p:grpSpPr>
        <p:sp>
          <p:nvSpPr>
            <p:cNvPr id="17" name="矩形 16"/>
            <p:cNvSpPr/>
            <p:nvPr/>
          </p:nvSpPr>
          <p:spPr>
            <a:xfrm>
              <a:off x="0" y="2160766"/>
              <a:ext cx="5048250" cy="997255"/>
            </a:xfrm>
            <a:prstGeom prst="rect">
              <a:avLst/>
            </a:prstGeom>
          </p:spPr>
          <p:txBody>
            <a:bodyPr wrap="square">
              <a:spAutoFit/>
            </a:bodyPr>
            <a:lstStyle/>
            <a:p>
              <a:pPr marL="285750" indent="-285750">
                <a:lnSpc>
                  <a:spcPct val="150000"/>
                </a:lnSpc>
                <a:buFont typeface="Arial" panose="020B0604020202020204" pitchFamily="34" charset="0"/>
                <a:buChar char="•"/>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短</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包传输</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1" indent="-28575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点对点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信道：短包信道容量建模</a:t>
              </a: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多址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接入：调整块长以优化网络</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endParaRPr lang="zh-CN" altLang="en-US" sz="1400"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8" name="圆角矩形 17"/>
            <p:cNvSpPr/>
            <p:nvPr/>
          </p:nvSpPr>
          <p:spPr bwMode="auto">
            <a:xfrm>
              <a:off x="0" y="2189122"/>
              <a:ext cx="4952999"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20" name="组合 19"/>
          <p:cNvGrpSpPr/>
          <p:nvPr/>
        </p:nvGrpSpPr>
        <p:grpSpPr>
          <a:xfrm>
            <a:off x="4865890" y="4025901"/>
            <a:ext cx="4214736" cy="1800493"/>
            <a:chOff x="5048250" y="2064651"/>
            <a:chExt cx="4115148" cy="1239090"/>
          </a:xfrm>
        </p:grpSpPr>
        <p:sp>
          <p:nvSpPr>
            <p:cNvPr id="21" name="圆角矩形 20"/>
            <p:cNvSpPr/>
            <p:nvPr/>
          </p:nvSpPr>
          <p:spPr bwMode="auto">
            <a:xfrm>
              <a:off x="5048250" y="2084930"/>
              <a:ext cx="4048133" cy="1005118"/>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2" name="矩形 21"/>
            <p:cNvSpPr/>
            <p:nvPr/>
          </p:nvSpPr>
          <p:spPr>
            <a:xfrm>
              <a:off x="5048250" y="2064651"/>
              <a:ext cx="4115148" cy="1239090"/>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免授权接入 </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重传</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机制：提高传输可靠性，降低时延</a:t>
              </a: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丢</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包机制：改善时延，降低</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吞吐量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lvl="2" indent="-285750">
                <a:lnSpc>
                  <a:spcPct val="150000"/>
                </a:lnSpc>
                <a:buFont typeface="Wingdings" panose="05000000000000000000" pitchFamily="2" charset="2"/>
                <a:buChar char="p"/>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改良</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接收机模型：提高信干噪比提升系统性能</a:t>
              </a:r>
            </a:p>
            <a:p>
              <a:pPr marL="0" lvl="2">
                <a:lnSpc>
                  <a:spcPct val="150000"/>
                </a:lnSpc>
                <a:buFont typeface="Arial" panose="020B0604020202020204" pitchFamily="34" charset="0"/>
                <a:buChar char="•"/>
              </a:pPr>
              <a:endParaRPr lang="zh-CN" altLang="en-US"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8084967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5</a:t>
            </a:fld>
            <a:endParaRPr lang="zh-CN" altLang="en-US" dirty="0"/>
          </a:p>
        </p:txBody>
      </p:sp>
      <p:sp>
        <p:nvSpPr>
          <p:cNvPr id="8" name="矩形 7"/>
          <p:cNvSpPr/>
          <p:nvPr/>
        </p:nvSpPr>
        <p:spPr>
          <a:xfrm>
            <a:off x="628657" y="1201771"/>
            <a:ext cx="7886693" cy="1785104"/>
          </a:xfrm>
          <a:prstGeom prst="rect">
            <a:avLst/>
          </a:prstGeom>
        </p:spPr>
        <p:txBody>
          <a:bodyPr wrap="square">
            <a:spAutoFit/>
          </a:bodyPr>
          <a:lstStyle/>
          <a:p>
            <a:pPr marL="12700" indent="-457200"/>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关键</a:t>
            </a:r>
            <a:r>
              <a:rPr lang="zh-CN" altLang="en-US" sz="2400" b="1" spc="10" dirty="0" smtClean="0">
                <a:solidFill>
                  <a:srgbClr val="0070C0"/>
                </a:solidFill>
                <a:latin typeface="Times New Roman" panose="02020603050405020304" pitchFamily="18" charset="0"/>
                <a:ea typeface="SimHei" panose="02010609060101010101" pitchFamily="49" charset="-122"/>
                <a:cs typeface="宋体"/>
              </a:rPr>
              <a:t>问题</a:t>
            </a:r>
            <a:endParaRPr lang="en-US" altLang="zh-CN" sz="2400" b="1" spc="10" dirty="0" smtClean="0">
              <a:solidFill>
                <a:srgbClr val="0070C0"/>
              </a:solidFill>
              <a:latin typeface="Times New Roman" panose="02020603050405020304" pitchFamily="18" charset="0"/>
              <a:ea typeface="SimHei" panose="02010609060101010101" pitchFamily="49" charset="-122"/>
              <a:cs typeface="宋体"/>
            </a:endParaRPr>
          </a:p>
          <a:p>
            <a:pPr marL="0" lvl="1" indent="457200">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时隙</a:t>
            </a:r>
            <a:r>
              <a:rPr lang="en-US" altLang="zh-CN"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网络在短包情况</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下的</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性能分析框架不成熟、体系</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不完善、结论较为</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匮乏。</a:t>
            </a:r>
            <a:endParaRPr lang="en-US" altLang="zh-CN"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endParaRPr>
          </a:p>
          <a:p>
            <a:pPr marL="0" lvl="1" indent="457200">
              <a:spcBef>
                <a:spcPts val="1245"/>
              </a:spcBef>
              <a:buFont typeface="Arial" panose="020B0604020202020204" pitchFamily="34" charset="0"/>
              <a:buChar char="•"/>
              <a:tabLst>
                <a:tab pos="927100" algn="l"/>
              </a:tabLst>
            </a:pP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多节点时隙</a:t>
            </a:r>
            <a:r>
              <a:rPr lang="en-US" altLang="zh-CN"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建模存在</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队列耦合</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导致计算复杂度高，缺乏显式解与最优</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分析。</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如何克服</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短包</a:t>
            </a:r>
            <a:r>
              <a:rPr lang="zh-CN" altLang="en-US"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和免授权</a:t>
            </a:r>
            <a:r>
              <a:rPr lang="zh-CN" altLang="en-US" sz="1400" dirty="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带来的缺点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如何满足高吞吐量、高数据速率、高可靠性、高能效</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等      </a:t>
            </a:r>
            <a:r>
              <a:rPr lang="en-US" altLang="zh-CN"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不同</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需求</a:t>
            </a:r>
            <a:r>
              <a:rPr lang="zh-CN" altLang="en-US" sz="1400" dirty="0" smtClean="0">
                <a:solidFill>
                  <a:prstClr val="black"/>
                </a:solidFill>
                <a:latin typeface="Times New Roman" panose="02020603050405020304" pitchFamily="18" charset="0"/>
                <a:ea typeface="SimHei" panose="02010609060101010101" pitchFamily="49" charset="-122"/>
                <a:cs typeface="Times New Roman" panose="02020603050405020304" pitchFamily="18" charset="0"/>
              </a:rPr>
              <a:t>？各</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性能之间如何</a:t>
            </a:r>
            <a:r>
              <a:rPr lang="zh-CN" altLang="en-US" sz="1400" dirty="0" smtClean="0">
                <a:solidFill>
                  <a:srgbClr val="00B0F0"/>
                </a:solidFill>
                <a:latin typeface="Times New Roman" panose="02020603050405020304" pitchFamily="18" charset="0"/>
                <a:ea typeface="SimHei" panose="02010609060101010101" pitchFamily="49" charset="-122"/>
                <a:cs typeface="Times New Roman" panose="02020603050405020304" pitchFamily="18" charset="0"/>
              </a:rPr>
              <a:t>折中</a:t>
            </a:r>
            <a:r>
              <a:rPr lang="zh-CN" altLang="en-US"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a:solidFill>
                <a:prstClr val="black"/>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3" name="矩形 2"/>
          <p:cNvSpPr/>
          <p:nvPr/>
        </p:nvSpPr>
        <p:spPr>
          <a:xfrm>
            <a:off x="628657" y="3580180"/>
            <a:ext cx="7886693" cy="3000821"/>
          </a:xfrm>
          <a:prstGeom prst="rect">
            <a:avLst/>
          </a:prstGeom>
        </p:spPr>
        <p:txBody>
          <a:bodyPr wrap="square">
            <a:spAutoFit/>
          </a:bodyPr>
          <a:lstStyle/>
          <a:p>
            <a:pPr marL="0" lvl="1" indent="-4572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短包分析体系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时隙</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免</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授权接入</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接收机模型：共同传输模型→碰撞模型</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成功传输条件：未发生碰撞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&amp;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数据包解码成功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节点中心建模框架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马尔可夫更新过程（解耦状态分布与状态滞留时间）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系统性能指标显</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式解 </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0" lvl="1" indent="-457200">
              <a:lnSpc>
                <a:spcPct val="150000"/>
              </a:lnSpc>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基于</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可调网络参数的性能优化定理与折中讨论</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的优化建议与仿真验证 </a:t>
            </a:r>
            <a:endParaRPr lang="en-US" altLang="zh-CN"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914400" lvl="4" indent="-457200">
              <a:lnSpc>
                <a:spcPct val="150000"/>
              </a:lnSpc>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之间的折中讨论，为后续研究和应用打开思路 </a:t>
            </a:r>
            <a:endParaRPr lang="zh-CN" altLang="en-US" sz="1400" dirty="0">
              <a:solidFill>
                <a:srgbClr val="0070C0"/>
              </a:solidFill>
              <a:latin typeface="SimHei" panose="02010609060101010101" pitchFamily="49" charset="-122"/>
              <a:ea typeface="SimHei" panose="02010609060101010101" pitchFamily="49" charset="-122"/>
              <a:cs typeface="Microsoft JhengHei"/>
            </a:endParaRPr>
          </a:p>
        </p:txBody>
      </p:sp>
      <p:sp>
        <p:nvSpPr>
          <p:cNvPr id="6" name="矩形 5"/>
          <p:cNvSpPr/>
          <p:nvPr/>
        </p:nvSpPr>
        <p:spPr>
          <a:xfrm>
            <a:off x="628657" y="3141327"/>
            <a:ext cx="7886693" cy="461665"/>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本文创新点</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spTree>
    <p:extLst>
      <p:ext uri="{BB962C8B-B14F-4D97-AF65-F5344CB8AC3E}">
        <p14:creationId xmlns:p14="http://schemas.microsoft.com/office/powerpoint/2010/main" val="13802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研究背景与动机</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6</a:t>
            </a:fld>
            <a:endParaRPr lang="zh-CN" altLang="en-US" dirty="0"/>
          </a:p>
        </p:txBody>
      </p:sp>
      <p:sp>
        <p:nvSpPr>
          <p:cNvPr id="8" name="矩形 7"/>
          <p:cNvSpPr/>
          <p:nvPr/>
        </p:nvSpPr>
        <p:spPr>
          <a:xfrm>
            <a:off x="628657" y="1201771"/>
            <a:ext cx="7886693" cy="46166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工作成果与论文结构</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extLst/>
          </p:nvPr>
        </p:nvGraphicFramePr>
        <p:xfrm>
          <a:off x="628657" y="1663436"/>
          <a:ext cx="7511796" cy="4692917"/>
        </p:xfrm>
        <a:graphic>
          <a:graphicData uri="http://schemas.openxmlformats.org/presentationml/2006/ole">
            <mc:AlternateContent xmlns:mc="http://schemas.openxmlformats.org/markup-compatibility/2006">
              <mc:Choice xmlns:v="urn:schemas-microsoft-com:vml" Requires="v">
                <p:oleObj spid="_x0000_s5256" name="Visio" r:id="rId3" imgW="9286626" imgH="5800686" progId="Visio.Drawing.15">
                  <p:embed/>
                </p:oleObj>
              </mc:Choice>
              <mc:Fallback>
                <p:oleObj name="Visio" r:id="rId3" imgW="9286626" imgH="5800686" progId="Visio.Drawing.15">
                  <p:embed/>
                  <p:pic>
                    <p:nvPicPr>
                      <p:cNvPr id="5" name="对象 4"/>
                      <p:cNvPicPr/>
                      <p:nvPr/>
                    </p:nvPicPr>
                    <p:blipFill>
                      <a:blip r:embed="rId4"/>
                      <a:stretch>
                        <a:fillRect/>
                      </a:stretch>
                    </p:blipFill>
                    <p:spPr>
                      <a:xfrm>
                        <a:off x="628657" y="1663436"/>
                        <a:ext cx="7511796" cy="4692917"/>
                      </a:xfrm>
                      <a:prstGeom prst="rect">
                        <a:avLst/>
                      </a:prstGeom>
                    </p:spPr>
                  </p:pic>
                </p:oleObj>
              </mc:Fallback>
            </mc:AlternateContent>
          </a:graphicData>
        </a:graphic>
      </p:graphicFrame>
    </p:spTree>
    <p:extLst>
      <p:ext uri="{BB962C8B-B14F-4D97-AF65-F5344CB8AC3E}">
        <p14:creationId xmlns:p14="http://schemas.microsoft.com/office/powerpoint/2010/main" val="528764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2578737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8</a:t>
            </a:fld>
            <a:endParaRPr lang="zh-CN" altLang="en-US" dirty="0"/>
          </a:p>
        </p:txBody>
      </p:sp>
      <p:sp>
        <p:nvSpPr>
          <p:cNvPr id="6" name="矩形 5"/>
          <p:cNvSpPr/>
          <p:nvPr/>
        </p:nvSpPr>
        <p:spPr>
          <a:xfrm>
            <a:off x="628657" y="1201771"/>
            <a:ext cx="5121512" cy="461665"/>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场景与假设</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pic>
        <p:nvPicPr>
          <p:cNvPr id="5" name="图片 4"/>
          <p:cNvPicPr>
            <a:picLocks noChangeAspect="1"/>
          </p:cNvPicPr>
          <p:nvPr/>
        </p:nvPicPr>
        <p:blipFill>
          <a:blip r:embed="rId2"/>
          <a:stretch>
            <a:fillRect/>
          </a:stretch>
        </p:blipFill>
        <p:spPr>
          <a:xfrm>
            <a:off x="628657" y="3391162"/>
            <a:ext cx="7193814" cy="3112708"/>
          </a:xfrm>
          <a:prstGeom prst="rect">
            <a:avLst/>
          </a:prstGeom>
        </p:spPr>
      </p:pic>
      <p:sp>
        <p:nvSpPr>
          <p:cNvPr id="3" name="矩形 2"/>
          <p:cNvSpPr/>
          <p:nvPr/>
        </p:nvSpPr>
        <p:spPr>
          <a:xfrm>
            <a:off x="628657" y="1783982"/>
            <a:ext cx="4572000" cy="1338828"/>
          </a:xfrm>
          <a:prstGeom prst="rect">
            <a:avLst/>
          </a:prstGeom>
        </p:spPr>
        <p:txBody>
          <a:bodyPr>
            <a:spAutoFit/>
          </a:bodyPr>
          <a:lstStyle/>
          <a:p>
            <a:pPr indent="-342900">
              <a:lnSpc>
                <a:spcPct val="150000"/>
              </a:lnSpc>
              <a:buFont typeface="Wingdings" panose="05000000000000000000" pitchFamily="2" charset="2"/>
              <a:buChar char="p"/>
              <a:tabLst>
                <a:tab pos="927100" algn="l"/>
              </a:tabLst>
            </a:pPr>
            <a:r>
              <a:rPr lang="zh-CN" altLang="en-US" b="1"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rPr>
              <a:t>接收机模型：碰撞模型</a:t>
            </a:r>
            <a:endParaRPr lang="en-US" altLang="zh-CN" b="1"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发射节点功率控制：统一接收端信噪比</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即时信令反馈</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1" name="圆角矩形 10"/>
          <p:cNvSpPr/>
          <p:nvPr/>
        </p:nvSpPr>
        <p:spPr bwMode="auto">
          <a:xfrm>
            <a:off x="527546" y="1783982"/>
            <a:ext cx="4532462" cy="138957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8" name="矩形 7"/>
          <p:cNvSpPr/>
          <p:nvPr/>
        </p:nvSpPr>
        <p:spPr>
          <a:xfrm>
            <a:off x="5341306" y="1783982"/>
            <a:ext cx="2945444" cy="1273875"/>
          </a:xfrm>
          <a:prstGeom prst="rect">
            <a:avLst/>
          </a:prstGeom>
        </p:spPr>
        <p:txBody>
          <a:bodyPr wrap="square">
            <a:spAutoFit/>
          </a:bodyPr>
          <a:lstStyle/>
          <a:p>
            <a:pPr marL="355600" indent="-342900">
              <a:lnSpc>
                <a:spcPct val="150000"/>
              </a:lnSpc>
              <a:buFont typeface="Wingdings" panose="05000000000000000000" pitchFamily="2" charset="2"/>
              <a:buChar char="p"/>
            </a:pP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网络</a:t>
            </a:r>
            <a:r>
              <a:rPr lang="zh-CN" altLang="en-US" b="1" dirty="0">
                <a:latin typeface="黑体" panose="02010609060101010101" pitchFamily="49" charset="-122"/>
                <a:ea typeface="黑体" panose="02010609060101010101" pitchFamily="49" charset="-122"/>
                <a:cs typeface="Times New Roman" panose="02020603050405020304" pitchFamily="18" charset="0"/>
              </a:rPr>
              <a:t>处于饱和状态</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zh-CN" altLang="en-US" b="1" dirty="0">
                <a:latin typeface="黑体" panose="02010609060101010101" pitchFamily="49" charset="-122"/>
                <a:ea typeface="黑体" panose="02010609060101010101" pitchFamily="49" charset="-122"/>
                <a:cs typeface="Times New Roman" panose="02020603050405020304" pitchFamily="18" charset="0"/>
              </a:rPr>
              <a:t>节点缓冲器队列</a:t>
            </a: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无穷大</a:t>
            </a:r>
            <a:endParaRPr lang="en-US" altLang="zh-CN" b="1" dirty="0" smtClean="0">
              <a:latin typeface="黑体" panose="02010609060101010101" pitchFamily="49" charset="-122"/>
              <a:ea typeface="黑体"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p"/>
              <a:tabLst>
                <a:tab pos="927100" algn="l"/>
              </a:tabLst>
            </a:pPr>
            <a:r>
              <a:rPr lang="en-US" altLang="zh-CN" b="1" dirty="0">
                <a:latin typeface="黑体" panose="02010609060101010101" pitchFamily="49" charset="-122"/>
                <a:ea typeface="黑体" panose="02010609060101010101" pitchFamily="49" charset="-122"/>
                <a:cs typeface="Times New Roman" panose="02020603050405020304" pitchFamily="18" charset="0"/>
              </a:rPr>
              <a:t>AWGN</a:t>
            </a:r>
            <a:r>
              <a:rPr lang="zh-CN" altLang="en-US" b="1" dirty="0">
                <a:latin typeface="黑体" panose="02010609060101010101" pitchFamily="49" charset="-122"/>
                <a:ea typeface="黑体" panose="02010609060101010101" pitchFamily="49" charset="-122"/>
                <a:cs typeface="Times New Roman" panose="02020603050405020304" pitchFamily="18" charset="0"/>
              </a:rPr>
              <a:t>信道多址</a:t>
            </a:r>
            <a:r>
              <a:rPr lang="zh-CN" altLang="en-US" b="1" dirty="0" smtClean="0">
                <a:latin typeface="黑体" panose="02010609060101010101" pitchFamily="49" charset="-122"/>
                <a:ea typeface="黑体" panose="02010609060101010101" pitchFamily="49" charset="-122"/>
                <a:cs typeface="Times New Roman" panose="02020603050405020304" pitchFamily="18" charset="0"/>
              </a:rPr>
              <a:t>接入</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2" name="圆角矩形 11"/>
          <p:cNvSpPr/>
          <p:nvPr/>
        </p:nvSpPr>
        <p:spPr bwMode="auto">
          <a:xfrm>
            <a:off x="5200657" y="1783982"/>
            <a:ext cx="3086093" cy="138957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7489672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28657" y="1201772"/>
            <a:ext cx="7886693" cy="4601260"/>
          </a:xfrm>
          <a:prstGeom prst="rect">
            <a:avLst/>
          </a:prstGeom>
        </p:spPr>
        <p:txBody>
          <a:bodyPr wrap="square">
            <a:spAutoFit/>
          </a:bodyPr>
          <a:lstStyle/>
          <a:p>
            <a:pPr marL="12700">
              <a:lnSpc>
                <a:spcPct val="15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有限码长信道容量</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indent="-342900">
              <a:lnSpc>
                <a:spcPct val="150000"/>
              </a:lnSpc>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节点编码速率（码率）物理</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含义</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indent="-342900">
              <a:lnSpc>
                <a:spcPct val="150000"/>
              </a:lnSpc>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1500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buFont typeface="Wingdings" panose="05000000000000000000" pitchFamily="2" charset="2"/>
              <a:buChar char="Ø"/>
              <a:tabLst>
                <a:tab pos="927100" algn="l"/>
              </a:tabLst>
            </a:pP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AWGN</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信道短</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包</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编码</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速率上限近似</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方法</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[1]</a:t>
            </a:r>
          </a:p>
          <a:p>
            <a:pPr marL="469900">
              <a:spcBef>
                <a:spcPts val="1245"/>
              </a:spcBef>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indent="-342900">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基于</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AWGN</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近似的接收端解码错误概率（误码率）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1500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037030" y="2336580"/>
            <a:ext cx="731824" cy="579630"/>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9</a:t>
            </a:fld>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2553244" y="2361930"/>
                <a:ext cx="5782492" cy="52322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CN" sz="1400" i="1" smtClean="0">
                        <a:latin typeface="Cambria Math" panose="02040503050406030204" pitchFamily="18" charset="0"/>
                      </a:rPr>
                      <m:t>𝑘</m:t>
                    </m:r>
                    <m:r>
                      <a:rPr lang="en-US" altLang="zh-CN" sz="1400" b="0" i="1" smtClean="0">
                        <a:latin typeface="Cambria Math" panose="02040503050406030204" pitchFamily="18" charset="0"/>
                      </a:rPr>
                      <m:t> :</m:t>
                    </m:r>
                  </m:oMath>
                </a14:m>
                <a:r>
                  <a:rPr lang="zh-CN" altLang="en-US" sz="1400" dirty="0">
                    <a:latin typeface="黑体" panose="02010609060101010101" pitchFamily="49" charset="-122"/>
                    <a:ea typeface="黑体" panose="02010609060101010101" pitchFamily="49" charset="-122"/>
                  </a:rPr>
                  <a:t> 每数据包信息比特数</a:t>
                </a:r>
                <a:r>
                  <a:rPr lang="en-US" altLang="zh-CN" sz="1400" dirty="0">
                    <a:latin typeface="黑体" panose="02010609060101010101" pitchFamily="49" charset="-122"/>
                    <a:ea typeface="黑体" panose="02010609060101010101" pitchFamily="49" charset="-122"/>
                  </a:rPr>
                  <a:t>(</a:t>
                </a:r>
                <a14:m>
                  <m:oMath xmlns:m="http://schemas.openxmlformats.org/officeDocument/2006/math">
                    <m:r>
                      <a:rPr lang="en-US" altLang="zh-CN" sz="1400" i="1" dirty="0" smtClean="0">
                        <a:latin typeface="Cambria Math" panose="02040503050406030204" pitchFamily="18" charset="0"/>
                      </a:rPr>
                      <m:t>𝑏𝑖𝑡</m:t>
                    </m:r>
                  </m:oMath>
                </a14:m>
                <a:r>
                  <a:rPr lang="en-US" altLang="zh-CN" sz="1400" dirty="0">
                    <a:latin typeface="黑体" panose="02010609060101010101" pitchFamily="49" charset="-122"/>
                    <a:ea typeface="黑体" panose="02010609060101010101" pitchFamily="49" charset="-122"/>
                  </a:rPr>
                  <a:t>)</a:t>
                </a:r>
              </a:p>
              <a:p>
                <a:pPr marL="285750" indent="-285750">
                  <a:buFont typeface="Arial" panose="020B0604020202020204" pitchFamily="34" charset="0"/>
                  <a:buChar char="•"/>
                </a:pPr>
                <a14:m>
                  <m:oMath xmlns:m="http://schemas.openxmlformats.org/officeDocument/2006/math">
                    <m:r>
                      <a:rPr lang="en-US" altLang="zh-CN" sz="1400" i="1" dirty="0">
                        <a:latin typeface="Cambria Math" panose="02040503050406030204" pitchFamily="18" charset="0"/>
                      </a:rPr>
                      <m:t>𝑁</m:t>
                    </m:r>
                    <m:r>
                      <a:rPr lang="en-US" altLang="zh-CN" sz="1400" b="0" i="1" dirty="0" smtClean="0">
                        <a:latin typeface="Cambria Math" panose="02040503050406030204" pitchFamily="18" charset="0"/>
                      </a:rPr>
                      <m:t> :</m:t>
                    </m:r>
                  </m:oMath>
                </a14:m>
                <a:r>
                  <a:rPr lang="zh-CN" altLang="en-US" sz="1400" dirty="0">
                    <a:latin typeface="黑体" panose="02010609060101010101" pitchFamily="49" charset="-122"/>
                    <a:ea typeface="黑体" panose="02010609060101010101" pitchFamily="49" charset="-122"/>
                  </a:rPr>
                  <a:t> 块长度</a:t>
                </a:r>
                <a:r>
                  <a:rPr lang="en-US" altLang="zh-CN" sz="1400" dirty="0">
                    <a:latin typeface="黑体" panose="02010609060101010101" pitchFamily="49" charset="-122"/>
                    <a:ea typeface="黑体" panose="02010609060101010101" pitchFamily="49" charset="-122"/>
                  </a:rPr>
                  <a:t>(</a:t>
                </a:r>
                <a:r>
                  <a:rPr lang="zh-CN" altLang="en-US" sz="1400" dirty="0">
                    <a:latin typeface="黑体" panose="02010609060101010101" pitchFamily="49" charset="-122"/>
                    <a:ea typeface="黑体" panose="02010609060101010101" pitchFamily="49" charset="-122"/>
                  </a:rPr>
                  <a:t>信息比特编码后的符号个数</a:t>
                </a:r>
                <a:r>
                  <a:rPr lang="en-US" altLang="zh-CN" sz="1400" dirty="0">
                    <a:latin typeface="黑体" panose="02010609060101010101" pitchFamily="49" charset="-122"/>
                    <a:ea typeface="黑体" panose="02010609060101010101" pitchFamily="49" charset="-122"/>
                  </a:rPr>
                  <a:t>)(</a:t>
                </a:r>
                <a14:m>
                  <m:oMath xmlns:m="http://schemas.openxmlformats.org/officeDocument/2006/math">
                    <m:r>
                      <a:rPr lang="en-US" altLang="zh-CN" sz="1400" i="1" dirty="0" smtClean="0">
                        <a:latin typeface="Cambria Math" panose="02040503050406030204" pitchFamily="18" charset="0"/>
                        <a:ea typeface="Cambria Math" panose="02040503050406030204" pitchFamily="18" charset="0"/>
                      </a:rPr>
                      <m:t>𝐻𝑧</m:t>
                    </m:r>
                    <m:r>
                      <a:rPr lang="en-US" altLang="zh-CN" sz="1400" i="1" dirty="0" smtClean="0">
                        <a:latin typeface="Cambria Math" panose="02040503050406030204" pitchFamily="18" charset="0"/>
                        <a:ea typeface="Cambria Math" panose="02040503050406030204" pitchFamily="18" charset="0"/>
                      </a:rPr>
                      <m:t>∙</m:t>
                    </m:r>
                    <m:r>
                      <a:rPr lang="en-US" altLang="zh-CN" sz="1400" i="1" dirty="0" smtClean="0">
                        <a:latin typeface="Cambria Math" panose="02040503050406030204" pitchFamily="18" charset="0"/>
                        <a:ea typeface="Cambria Math" panose="02040503050406030204" pitchFamily="18" charset="0"/>
                      </a:rPr>
                      <m:t>𝑠</m:t>
                    </m:r>
                  </m:oMath>
                </a14:m>
                <a:r>
                  <a:rPr lang="en-US" altLang="zh-CN" sz="1400" dirty="0">
                    <a:latin typeface="黑体" panose="02010609060101010101" pitchFamily="49" charset="-122"/>
                    <a:ea typeface="黑体" panose="02010609060101010101" pitchFamily="49" charset="-122"/>
                  </a:rPr>
                  <a:t>)</a:t>
                </a:r>
                <a:endParaRPr lang="zh-CN" altLang="en-US" sz="1400" dirty="0">
                  <a:latin typeface="黑体" panose="02010609060101010101" pitchFamily="49" charset="-122"/>
                  <a:ea typeface="黑体"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553244" y="2361930"/>
                <a:ext cx="5782492" cy="523220"/>
              </a:xfrm>
              <a:prstGeom prst="rect">
                <a:avLst/>
              </a:prstGeom>
              <a:blipFill>
                <a:blip r:embed="rId4"/>
                <a:stretch>
                  <a:fillRect l="-211" t="-2326" b="-10465"/>
                </a:stretch>
              </a:blipFill>
            </p:spPr>
            <p:txBody>
              <a:bodyPr/>
              <a:lstStyle/>
              <a:p>
                <a:r>
                  <a:rPr lang="zh-CN" altLang="en-US">
                    <a:noFill/>
                  </a:rPr>
                  <a:t> </a:t>
                </a:r>
              </a:p>
            </p:txBody>
          </p:sp>
        </mc:Fallback>
      </mc:AlternateContent>
      <p:pic>
        <p:nvPicPr>
          <p:cNvPr id="6" name="图片 5"/>
          <p:cNvPicPr>
            <a:picLocks noChangeAspect="1"/>
          </p:cNvPicPr>
          <p:nvPr/>
        </p:nvPicPr>
        <p:blipFill>
          <a:blip r:embed="rId5"/>
          <a:stretch>
            <a:fillRect/>
          </a:stretch>
        </p:blipFill>
        <p:spPr>
          <a:xfrm>
            <a:off x="1037030" y="3579709"/>
            <a:ext cx="3907179" cy="617607"/>
          </a:xfrm>
          <a:prstGeom prst="rect">
            <a:avLst/>
          </a:prstGeom>
        </p:spPr>
      </p:pic>
      <p:pic>
        <p:nvPicPr>
          <p:cNvPr id="11" name="图片 10"/>
          <p:cNvPicPr>
            <a:picLocks noChangeAspect="1"/>
          </p:cNvPicPr>
          <p:nvPr/>
        </p:nvPicPr>
        <p:blipFill>
          <a:blip r:embed="rId6"/>
          <a:stretch>
            <a:fillRect/>
          </a:stretch>
        </p:blipFill>
        <p:spPr>
          <a:xfrm>
            <a:off x="1095648" y="4676792"/>
            <a:ext cx="3476355" cy="646763"/>
          </a:xfrm>
          <a:prstGeom prst="rect">
            <a:avLst/>
          </a:prstGeom>
        </p:spPr>
      </p:pic>
      <p:grpSp>
        <p:nvGrpSpPr>
          <p:cNvPr id="7" name="组合 6"/>
          <p:cNvGrpSpPr/>
          <p:nvPr/>
        </p:nvGrpSpPr>
        <p:grpSpPr>
          <a:xfrm>
            <a:off x="1037030" y="5341029"/>
            <a:ext cx="4625217" cy="738664"/>
            <a:chOff x="819273" y="5982814"/>
            <a:chExt cx="4625217" cy="738664"/>
          </a:xfrm>
        </p:grpSpPr>
        <mc:AlternateContent xmlns:mc="http://schemas.openxmlformats.org/markup-compatibility/2006" xmlns:a14="http://schemas.microsoft.com/office/drawing/2010/main">
          <mc:Choice Requires="a14">
            <p:sp>
              <p:nvSpPr>
                <p:cNvPr id="14" name="矩形 13"/>
                <p:cNvSpPr/>
                <p:nvPr/>
              </p:nvSpPr>
              <p:spPr>
                <a:xfrm>
                  <a:off x="819273" y="5982814"/>
                  <a:ext cx="4625217" cy="738664"/>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r>
                        <a:rPr lang="zh-CN" altLang="en-US" sz="1400" i="1" dirty="0" smtClean="0">
                          <a:latin typeface="Cambria Math" panose="02040503050406030204" pitchFamily="18" charset="0"/>
                        </a:rPr>
                        <m:t>𝜌</m:t>
                      </m:r>
                      <m:r>
                        <a:rPr lang="zh-CN" altLang="en-US" sz="1400" i="1" dirty="0" smtClean="0">
                          <a:latin typeface="Cambria Math" panose="02040503050406030204" pitchFamily="18" charset="0"/>
                        </a:rPr>
                        <m:t> </m:t>
                      </m:r>
                    </m:oMath>
                  </a14:m>
                  <a:r>
                    <a:rPr lang="zh-CN" altLang="en-US" sz="1400" dirty="0">
                      <a:latin typeface="Times New Roman" panose="02020603050405020304" pitchFamily="18" charset="0"/>
                      <a:ea typeface="黑体" panose="02010609060101010101" pitchFamily="49" charset="-122"/>
                    </a:rPr>
                    <a:t>为信噪比</a:t>
                  </a:r>
                </a:p>
                <a:p>
                  <a:pPr marL="285750" indent="-285750">
                    <a:buFont typeface="Arial" panose="020B0604020202020204" pitchFamily="34" charset="0"/>
                    <a:buChar char="•"/>
                  </a:pPr>
                  <a:r>
                    <a:rPr lang="zh-CN" altLang="en-US" sz="1400" dirty="0">
                      <a:latin typeface="Times New Roman" panose="02020603050405020304" pitchFamily="18" charset="0"/>
                      <a:ea typeface="黑体" panose="02010609060101010101" pitchFamily="49" charset="-122"/>
                    </a:rPr>
                    <a:t>𝑉为信道色散，</a:t>
                  </a:r>
                  <a:r>
                    <a:rPr lang="en-US" altLang="zh-CN" sz="1400" dirty="0">
                      <a:latin typeface="Times New Roman" panose="02020603050405020304" pitchFamily="18" charset="0"/>
                      <a:ea typeface="黑体" panose="02010609060101010101" pitchFamily="49" charset="-122"/>
                    </a:rPr>
                    <a:t>AWGN</a:t>
                  </a:r>
                  <a:r>
                    <a:rPr lang="zh-CN" altLang="en-US" sz="1400" dirty="0">
                      <a:latin typeface="Times New Roman" panose="02020603050405020304" pitchFamily="18" charset="0"/>
                      <a:ea typeface="黑体" panose="02010609060101010101" pitchFamily="49" charset="-122"/>
                    </a:rPr>
                    <a:t>下近似为</a:t>
                  </a:r>
                </a:p>
                <a:p>
                  <a:pPr marL="285750" indent="-285750">
                    <a:buFont typeface="Arial" panose="020B0604020202020204" pitchFamily="34" charset="0"/>
                    <a:buChar char="•"/>
                  </a:pPr>
                  <a14:m>
                    <m:oMath xmlns:m="http://schemas.openxmlformats.org/officeDocument/2006/math">
                      <m:sSup>
                        <m:sSupPr>
                          <m:ctrlPr>
                            <a:rPr lang="en-US" altLang="zh-CN" sz="1400" i="1" dirty="0" smtClean="0">
                              <a:latin typeface="Cambria Math" panose="02040503050406030204" pitchFamily="18" charset="0"/>
                            </a:rPr>
                          </m:ctrlPr>
                        </m:sSupPr>
                        <m:e>
                          <m:r>
                            <a:rPr lang="zh-CN" altLang="en-US" sz="1400" i="1" dirty="0">
                              <a:latin typeface="Cambria Math" panose="02040503050406030204" pitchFamily="18" charset="0"/>
                            </a:rPr>
                            <m:t>𝑄</m:t>
                          </m:r>
                        </m:e>
                        <m:sup>
                          <m:r>
                            <a:rPr lang="en-US" altLang="zh-CN" sz="1400" i="1" dirty="0">
                              <a:latin typeface="Cambria Math" panose="02040503050406030204" pitchFamily="18" charset="0"/>
                            </a:rPr>
                            <m:t>−1</m:t>
                          </m:r>
                        </m:sup>
                      </m:sSup>
                      <m:r>
                        <a:rPr lang="en-US" altLang="zh-CN" sz="1400" i="1" dirty="0" smtClean="0">
                          <a:latin typeface="Cambria Math" panose="02040503050406030204" pitchFamily="18" charset="0"/>
                        </a:rPr>
                        <m:t> </m:t>
                      </m:r>
                      <m:r>
                        <a:rPr lang="en-US" altLang="zh-CN" sz="1400" i="1" dirty="0">
                          <a:latin typeface="Cambria Math" panose="02040503050406030204" pitchFamily="18" charset="0"/>
                        </a:rPr>
                        <m:t>(∙)</m:t>
                      </m:r>
                    </m:oMath>
                  </a14:m>
                  <a:r>
                    <a:rPr lang="zh-CN" altLang="en-US" sz="1400" dirty="0">
                      <a:latin typeface="Times New Roman" panose="02020603050405020304" pitchFamily="18" charset="0"/>
                      <a:ea typeface="黑体" panose="02010609060101010101" pitchFamily="49" charset="-122"/>
                    </a:rPr>
                    <a:t>为高斯𝑄函数的反函数   </a:t>
                  </a:r>
                </a:p>
              </p:txBody>
            </p:sp>
          </mc:Choice>
          <mc:Fallback xmlns="">
            <p:sp>
              <p:nvSpPr>
                <p:cNvPr id="14" name="矩形 13"/>
                <p:cNvSpPr>
                  <a:spLocks noRot="1" noChangeAspect="1" noMove="1" noResize="1" noEditPoints="1" noAdjustHandles="1" noChangeArrowheads="1" noChangeShapeType="1" noTextEdit="1"/>
                </p:cNvSpPr>
                <p:nvPr/>
              </p:nvSpPr>
              <p:spPr>
                <a:xfrm>
                  <a:off x="819273" y="5982814"/>
                  <a:ext cx="4625217" cy="738664"/>
                </a:xfrm>
                <a:prstGeom prst="rect">
                  <a:avLst/>
                </a:prstGeom>
                <a:blipFill>
                  <a:blip r:embed="rId7"/>
                  <a:stretch>
                    <a:fillRect l="-132" t="-2479" b="-8264"/>
                  </a:stretch>
                </a:blipFill>
              </p:spPr>
              <p:txBody>
                <a:bodyPr/>
                <a:lstStyle/>
                <a:p>
                  <a:r>
                    <a:rPr lang="zh-CN" altLang="en-US">
                      <a:noFill/>
                    </a:rPr>
                    <a:t> </a:t>
                  </a:r>
                </a:p>
              </p:txBody>
            </p:sp>
          </mc:Fallback>
        </mc:AlternateContent>
        <p:pic>
          <p:nvPicPr>
            <p:cNvPr id="15" name="图片 14"/>
            <p:cNvPicPr>
              <a:picLocks noChangeAspect="1"/>
            </p:cNvPicPr>
            <p:nvPr/>
          </p:nvPicPr>
          <p:blipFill>
            <a:blip r:embed="rId8"/>
            <a:stretch>
              <a:fillRect/>
            </a:stretch>
          </p:blipFill>
          <p:spPr>
            <a:xfrm>
              <a:off x="3632274" y="6211430"/>
              <a:ext cx="1191189" cy="304380"/>
            </a:xfrm>
            <a:prstGeom prst="rect">
              <a:avLst/>
            </a:prstGeom>
          </p:spPr>
        </p:pic>
      </p:grpSp>
    </p:spTree>
    <p:extLst>
      <p:ext uri="{BB962C8B-B14F-4D97-AF65-F5344CB8AC3E}">
        <p14:creationId xmlns:p14="http://schemas.microsoft.com/office/powerpoint/2010/main" val="14450685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10</a:t>
            </a:fld>
            <a:endParaRPr lang="zh-CN" altLang="en-US" dirty="0"/>
          </a:p>
        </p:txBody>
      </p:sp>
      <p:sp>
        <p:nvSpPr>
          <p:cNvPr id="8" name="矩形 7"/>
          <p:cNvSpPr/>
          <p:nvPr/>
        </p:nvSpPr>
        <p:spPr>
          <a:xfrm>
            <a:off x="628657" y="1201772"/>
            <a:ext cx="788669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碰撞模型接收机</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rPr>
              <a:t>接收机模型：从共同传输模型 到 碰撞模型</a:t>
            </a:r>
            <a:endParaRPr lang="en-US" altLang="zh-CN" b="1" dirty="0" smtClean="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4677428" y="2294669"/>
                <a:ext cx="3943348" cy="371364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传输模型：信干噪</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比</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SINR</a:t>
                </a:r>
              </a:p>
              <a:p>
                <a:pPr>
                  <a:lnSpc>
                    <a:spcPct val="150000"/>
                  </a:lnSpc>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f>
                      <m:f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fPr>
                      <m:num>
                        <m:r>
                          <a:rPr lang="en-US" altLang="zh-CN" sz="1400" i="1">
                            <a:latin typeface="Cambria Math" panose="02040503050406030204" pitchFamily="18" charset="0"/>
                            <a:ea typeface="SimHei" panose="02010609060101010101" pitchFamily="49" charset="-122"/>
                            <a:cs typeface="Times New Roman" panose="02020603050405020304" pitchFamily="18" charset="0"/>
                          </a:rPr>
                          <m:t>1</m:t>
                        </m:r>
                      </m:num>
                      <m:den>
                        <m:r>
                          <a:rPr lang="en-US" altLang="zh-CN" sz="1400" i="1">
                            <a:latin typeface="Cambria Math" panose="02040503050406030204" pitchFamily="18" charset="0"/>
                            <a:ea typeface="SimHei" panose="02010609060101010101" pitchFamily="49" charset="-122"/>
                            <a:cs typeface="Times New Roman" panose="02020603050405020304" pitchFamily="18" charset="0"/>
                          </a:rPr>
                          <m:t>𝑖</m:t>
                        </m:r>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f>
                          <m:fPr>
                            <m:type m:val="lin"/>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fPr>
                          <m:num>
                            <m:r>
                              <a:rPr lang="en-US" altLang="zh-CN" sz="1400" i="1">
                                <a:latin typeface="Cambria Math" panose="02040503050406030204" pitchFamily="18" charset="0"/>
                                <a:ea typeface="SimHei" panose="02010609060101010101" pitchFamily="49" charset="-122"/>
                                <a:cs typeface="Times New Roman" panose="02020603050405020304" pitchFamily="18" charset="0"/>
                              </a:rPr>
                              <m:t>1</m:t>
                            </m:r>
                          </m:num>
                          <m:den>
                            <m:r>
                              <a:rPr lang="zh-CN" altLang="en-US" sz="1400" i="1">
                                <a:latin typeface="Cambria Math" panose="02040503050406030204" pitchFamily="18" charset="0"/>
                                <a:ea typeface="SimHei" panose="02010609060101010101" pitchFamily="49" charset="-122"/>
                                <a:cs typeface="Times New Roman" panose="02020603050405020304" pitchFamily="18" charset="0"/>
                              </a:rPr>
                              <m:t>𝜌</m:t>
                            </m:r>
                          </m:den>
                        </m:f>
                      </m:den>
                    </m:f>
                    <m:r>
                      <a:rPr lang="en-US" altLang="zh-CN" sz="1400" i="1">
                        <a:latin typeface="Cambria Math" panose="02040503050406030204" pitchFamily="18" charset="0"/>
                        <a:ea typeface="SimHei" panose="02010609060101010101" pitchFamily="49" charset="-122"/>
                        <a:cs typeface="Times New Roman" panose="02020603050405020304" pitchFamily="18" charset="0"/>
                      </a:rPr>
                      <m:t> ,</m:t>
                    </m:r>
                    <m:r>
                      <a:rPr lang="en-US" altLang="zh-CN" sz="1400" i="1">
                        <a:latin typeface="Cambria Math" panose="02040503050406030204" pitchFamily="18" charset="0"/>
                        <a:ea typeface="SimHei" panose="02010609060101010101" pitchFamily="49" charset="-122"/>
                        <a:cs typeface="Times New Roman" panose="02020603050405020304" pitchFamily="18" charset="0"/>
                      </a:rPr>
                      <m:t>𝑖</m:t>
                    </m:r>
                    <m:r>
                      <a:rPr lang="en-US" altLang="zh-CN" sz="1400" i="1">
                        <a:latin typeface="Cambria Math" panose="02040503050406030204" pitchFamily="18" charset="0"/>
                        <a:ea typeface="SimHei" panose="02010609060101010101" pitchFamily="49" charset="-122"/>
                        <a:cs typeface="Times New Roman" panose="02020603050405020304" pitchFamily="18" charset="0"/>
                      </a:rPr>
                      <m:t>=0, 1, 2, 3 ⋯</m:t>
                    </m:r>
                  </m:oMath>
                </a14:m>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a:lnSpc>
                    <a:spcPct val="150000"/>
                  </a:lnSpc>
                </a:pP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给定信息编码速率 </a:t>
                </a: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𝑅</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，误码率 </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Times New Roman" panose="02020603050405020304" pitchFamily="18" charset="0"/>
                      </a:rPr>
                      <m:t>𝜖</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随共同传输数量的提高迅速降低</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共同传输机制对传输可靠性的增益非常小。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给定误码率 </a:t>
                </a:r>
                <a14:m>
                  <m:oMath xmlns:m="http://schemas.openxmlformats.org/officeDocument/2006/math">
                    <m:r>
                      <a:rPr lang="zh-CN" altLang="en-US" sz="1400" i="1">
                        <a:latin typeface="Cambria Math" panose="02040503050406030204" pitchFamily="18" charset="0"/>
                        <a:ea typeface="SimHei" panose="02010609060101010101" pitchFamily="49" charset="-122"/>
                        <a:cs typeface="Times New Roman" panose="02020603050405020304" pitchFamily="18" charset="0"/>
                      </a:rPr>
                      <m:t>𝜖</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，信息编码速率 </a:t>
                </a:r>
                <a14:m>
                  <m:oMath xmlns:m="http://schemas.openxmlformats.org/officeDocument/2006/math">
                    <m:r>
                      <a:rPr lang="en-US" altLang="zh-CN" sz="1400" i="1" dirty="0">
                        <a:latin typeface="Cambria Math" panose="02040503050406030204" pitchFamily="18" charset="0"/>
                        <a:ea typeface="SimHei" panose="02010609060101010101" pitchFamily="49" charset="-122"/>
                        <a:cs typeface="Times New Roman" panose="02020603050405020304" pitchFamily="18" charset="0"/>
                      </a:rPr>
                      <m:t>𝑅</m:t>
                    </m:r>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随</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共同传输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数量的提高迅速降低。共同传输机制对信道容量的增益非常小。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4677428" y="2294669"/>
                <a:ext cx="3943348" cy="3713645"/>
              </a:xfrm>
              <a:prstGeom prst="rect">
                <a:avLst/>
              </a:prstGeom>
              <a:blipFill>
                <a:blip r:embed="rId2"/>
                <a:stretch>
                  <a:fillRect l="-155"/>
                </a:stretch>
              </a:blipFill>
            </p:spPr>
            <p:txBody>
              <a:bodyPr/>
              <a:lstStyle/>
              <a:p>
                <a:r>
                  <a:rPr lang="zh-CN" altLang="en-US">
                    <a:noFill/>
                  </a:rPr>
                  <a:t> </a:t>
                </a:r>
              </a:p>
            </p:txBody>
          </p:sp>
        </mc:Fallback>
      </mc:AlternateContent>
      <p:pic>
        <p:nvPicPr>
          <p:cNvPr id="11" name="图片 10"/>
          <p:cNvPicPr>
            <a:picLocks noChangeAspect="1"/>
          </p:cNvPicPr>
          <p:nvPr/>
        </p:nvPicPr>
        <p:blipFill>
          <a:blip r:embed="rId3"/>
          <a:stretch>
            <a:fillRect/>
          </a:stretch>
        </p:blipFill>
        <p:spPr>
          <a:xfrm>
            <a:off x="0" y="2294669"/>
            <a:ext cx="4677428" cy="3572374"/>
          </a:xfrm>
          <a:prstGeom prst="rect">
            <a:avLst/>
          </a:prstGeom>
        </p:spPr>
      </p:pic>
    </p:spTree>
    <p:extLst>
      <p:ext uri="{BB962C8B-B14F-4D97-AF65-F5344CB8AC3E}">
        <p14:creationId xmlns:p14="http://schemas.microsoft.com/office/powerpoint/2010/main" val="37072874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11</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171672"/>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队列头包状态分析</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马尔可夫更新过程 </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嵌入式马尔可夫链</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Wingdings" panose="05000000000000000000" pitchFamily="2" charset="2"/>
                  <a:buChar char="l"/>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将状态</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与 状态</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滞留时间</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𝑉</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+1</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𝑉</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的分析解耦</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dirty="0">
                    <a:latin typeface="Times New Roman" panose="02020603050405020304" pitchFamily="18" charset="0"/>
                    <a:ea typeface="SimHei" panose="02010609060101010101" pitchFamily="49" charset="-122"/>
                    <a:cs typeface="Times New Roman" panose="02020603050405020304" pitchFamily="18" charset="0"/>
                  </a:rPr>
                  <a:t>状态</a:t>
                </a:r>
                <a14:m>
                  <m:oMath xmlns:m="http://schemas.openxmlformats.org/officeDocument/2006/math">
                    <m:sSub>
                      <m:sSubPr>
                        <m:ctrlPr>
                          <a:rPr lang="en-US" altLang="zh-CN"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i="1">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i="1">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dirty="0">
                    <a:latin typeface="SimHei" panose="02010609060101010101" pitchFamily="49" charset="-122"/>
                    <a:ea typeface="SimHei" panose="02010609060101010101" pitchFamily="49" charset="-122"/>
                    <a:cs typeface="Microsoft JhengHei"/>
                  </a:rPr>
                  <a:t>的可能情况：</a:t>
                </a:r>
                <a:endParaRPr lang="en-US" altLang="zh-CN"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等待发射（状态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m:rPr>
                            <m:sty m:val="p"/>
                          </m:rPr>
                          <a:rPr lang="en-US" altLang="zh-CN" sz="1400" i="1">
                            <a:latin typeface="Cambria Math" panose="02040503050406030204" pitchFamily="18" charset="0"/>
                            <a:ea typeface="SimHei" panose="02010609060101010101" pitchFamily="49" charset="-122"/>
                          </a:rPr>
                          <m:t>R</m:t>
                        </m:r>
                      </m:e>
                      <m:sub>
                        <m:r>
                          <m:rPr>
                            <m:sty m:val="p"/>
                          </m:rPr>
                          <a:rPr lang="en-US" altLang="zh-CN" sz="1400" i="1">
                            <a:latin typeface="Cambria Math" panose="02040503050406030204" pitchFamily="18" charset="0"/>
                            <a:ea typeface="SimHei" panose="02010609060101010101" pitchFamily="49" charset="-122"/>
                          </a:rPr>
                          <m:t>i</m:t>
                        </m:r>
                      </m:sub>
                    </m:sSub>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碰撞导致传输失败（状态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m:rPr>
                            <m:sty m:val="p"/>
                          </m:rPr>
                          <a:rPr lang="en-US" altLang="zh-CN" sz="1400" i="1">
                            <a:latin typeface="Cambria Math" panose="02040503050406030204" pitchFamily="18" charset="0"/>
                            <a:ea typeface="SimHei" panose="02010609060101010101" pitchFamily="49" charset="-122"/>
                          </a:rPr>
                          <m:t>F</m:t>
                        </m:r>
                      </m:e>
                      <m:sub>
                        <m:r>
                          <m:rPr>
                            <m:sty m:val="p"/>
                          </m:rPr>
                          <a:rPr lang="en-US" altLang="zh-CN" sz="1400" i="1">
                            <a:latin typeface="Cambria Math" panose="02040503050406030204" pitchFamily="18" charset="0"/>
                            <a:ea typeface="SimHei" panose="02010609060101010101" pitchFamily="49" charset="-122"/>
                          </a:rPr>
                          <m:t>i</m:t>
                        </m:r>
                      </m:sub>
                    </m:sSub>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a:p>
                <a:pPr marL="1270000" lvl="1" indent="-342900">
                  <a:lnSpc>
                    <a:spcPct val="70000"/>
                  </a:lnSpc>
                  <a:spcBef>
                    <a:spcPts val="1245"/>
                  </a:spcBef>
                  <a:buFont typeface="Arial" panose="020B0604020202020204" pitchFamily="34" charset="0"/>
                  <a:buChar char="•"/>
                  <a:tabLst>
                    <a:tab pos="927100" algn="l"/>
                  </a:tabLst>
                </a:pPr>
                <a:r>
                  <a:rPr lang="zh-CN" altLang="en-US" sz="1400" dirty="0">
                    <a:latin typeface="SimHei" panose="02010609060101010101" pitchFamily="49" charset="-122"/>
                    <a:ea typeface="SimHei" panose="02010609060101010101" pitchFamily="49" charset="-122"/>
                    <a:cs typeface="Microsoft JhengHei"/>
                  </a:rPr>
                  <a:t>成功传输（状态</a:t>
                </a:r>
                <a14:m>
                  <m:oMath xmlns:m="http://schemas.openxmlformats.org/officeDocument/2006/math">
                    <m:r>
                      <m:rPr>
                        <m:sty m:val="p"/>
                      </m:rPr>
                      <a:rPr lang="en-US" altLang="zh-CN" sz="1400" b="0" i="0" smtClean="0">
                        <a:latin typeface="Cambria Math" panose="02040503050406030204" pitchFamily="18" charset="0"/>
                        <a:ea typeface="SimHei" panose="02010609060101010101" pitchFamily="49" charset="-122"/>
                        <a:cs typeface="Microsoft JhengHei"/>
                      </a:rPr>
                      <m:t>T</m:t>
                    </m:r>
                  </m:oMath>
                </a14:m>
                <a:r>
                  <a:rPr lang="zh-CN" altLang="en-US" sz="1400" dirty="0">
                    <a:latin typeface="SimHei" panose="02010609060101010101" pitchFamily="49" charset="-122"/>
                    <a:ea typeface="SimHei" panose="02010609060101010101" pitchFamily="49" charset="-122"/>
                    <a:cs typeface="Microsoft JhengHei"/>
                  </a:rPr>
                  <a:t>）</a:t>
                </a:r>
                <a:endParaRPr lang="en-US" altLang="zh-CN" sz="1400" dirty="0">
                  <a:latin typeface="SimHei" panose="02010609060101010101" pitchFamily="49" charset="-122"/>
                  <a:ea typeface="SimHei" panose="02010609060101010101" pitchFamily="49" charset="-122"/>
                  <a:cs typeface="Microsoft JhengHei"/>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171672"/>
              </a:xfrm>
              <a:prstGeom prst="rect">
                <a:avLst/>
              </a:prstGeom>
              <a:blipFill>
                <a:blip r:embed="rId2"/>
                <a:stretch>
                  <a:fillRect l="-1005" t="-1296" b="-118"/>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256287" y="2249694"/>
            <a:ext cx="4668263" cy="2297374"/>
          </a:xfrm>
          <a:prstGeom prst="rect">
            <a:avLst/>
          </a:prstGeom>
        </p:spPr>
      </p:pic>
      <p:pic>
        <p:nvPicPr>
          <p:cNvPr id="5" name="图片 4"/>
          <p:cNvPicPr>
            <a:picLocks noChangeAspect="1"/>
          </p:cNvPicPr>
          <p:nvPr/>
        </p:nvPicPr>
        <p:blipFill rotWithShape="1">
          <a:blip r:embed="rId4"/>
          <a:srcRect r="2193" b="-652"/>
          <a:stretch/>
        </p:blipFill>
        <p:spPr>
          <a:xfrm>
            <a:off x="5490935" y="1745469"/>
            <a:ext cx="3195866" cy="393129"/>
          </a:xfrm>
          <a:prstGeom prst="rect">
            <a:avLst/>
          </a:prstGeom>
        </p:spPr>
      </p:pic>
      <p:pic>
        <p:nvPicPr>
          <p:cNvPr id="7" name="图片 6"/>
          <p:cNvPicPr>
            <a:picLocks noChangeAspect="1"/>
          </p:cNvPicPr>
          <p:nvPr/>
        </p:nvPicPr>
        <p:blipFill>
          <a:blip r:embed="rId5"/>
          <a:stretch>
            <a:fillRect/>
          </a:stretch>
        </p:blipFill>
        <p:spPr>
          <a:xfrm>
            <a:off x="6552180" y="3234590"/>
            <a:ext cx="972615" cy="327582"/>
          </a:xfrm>
          <a:prstGeom prst="rect">
            <a:avLst/>
          </a:prstGeom>
        </p:spPr>
      </p:pic>
      <p:sp>
        <p:nvSpPr>
          <p:cNvPr id="6" name="文本框 5"/>
          <p:cNvSpPr txBox="1"/>
          <p:nvPr/>
        </p:nvSpPr>
        <p:spPr>
          <a:xfrm>
            <a:off x="6583972" y="2865258"/>
            <a:ext cx="940823" cy="307777"/>
          </a:xfrm>
          <a:prstGeom prst="rect">
            <a:avLst/>
          </a:prstGeom>
          <a:noFill/>
        </p:spPr>
        <p:txBody>
          <a:bodyPr wrap="square" rtlCol="0">
            <a:spAutoFit/>
          </a:bodyPr>
          <a:lstStyle/>
          <a:p>
            <a:r>
              <a:rPr lang="zh-CN" altLang="en-US" sz="1400" dirty="0">
                <a:latin typeface="黑体" panose="02010609060101010101" pitchFamily="49" charset="-122"/>
                <a:ea typeface="黑体" panose="02010609060101010101" pitchFamily="49" charset="-122"/>
              </a:rPr>
              <a:t>遍历性</a:t>
            </a:r>
          </a:p>
        </p:txBody>
      </p:sp>
    </p:spTree>
    <p:extLst>
      <p:ext uri="{BB962C8B-B14F-4D97-AF65-F5344CB8AC3E}">
        <p14:creationId xmlns:p14="http://schemas.microsoft.com/office/powerpoint/2010/main" val="1120973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628657" y="1201772"/>
                <a:ext cx="6834589" cy="5681042"/>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队列头包成功传输概率</a:t>
                </a:r>
                <a14:m>
                  <m:oMath xmlns:m="http://schemas.openxmlformats.org/officeDocument/2006/math">
                    <m:r>
                      <a:rPr lang="en-US" altLang="zh-CN" sz="2400" b="1" i="1" spc="10" smtClean="0">
                        <a:solidFill>
                          <a:srgbClr val="0070C0"/>
                        </a:solidFill>
                        <a:latin typeface="Cambria Math" panose="02040503050406030204" pitchFamily="18" charset="0"/>
                        <a:ea typeface="SimHei" panose="02010609060101010101" pitchFamily="49" charset="-122"/>
                        <a:cs typeface="Times New Roman" panose="02020603050405020304" pitchFamily="18" charset="0"/>
                      </a:rPr>
                      <m:t>𝒑</m:t>
                    </m:r>
                  </m:oMath>
                </a14:m>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稳态概率分布（状态占比） </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状态滞留时间（时隙期望）</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1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任意状态的极限状态</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概率（</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limiting state probability</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状态</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T</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的极限状态概率（处于状态</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T</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的概率）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6834589" cy="5681042"/>
              </a:xfrm>
              <a:prstGeom prst="rect">
                <a:avLst/>
              </a:prstGeom>
              <a:blipFill>
                <a:blip r:embed="rId2"/>
                <a:stretch>
                  <a:fillRect l="-1160" t="-1180" r="-1160"/>
                </a:stretch>
              </a:blipFill>
            </p:spPr>
            <p:txBody>
              <a:bodyPr/>
              <a:lstStyle/>
              <a:p>
                <a:r>
                  <a:rPr lang="zh-CN" altLang="en-US">
                    <a:noFill/>
                  </a:rPr>
                  <a:t> </a:t>
                </a:r>
              </a:p>
            </p:txBody>
          </p:sp>
        </mc:Fallback>
      </mc:AlternateContent>
      <p:pic>
        <p:nvPicPr>
          <p:cNvPr id="7" name="图片 6"/>
          <p:cNvPicPr>
            <a:picLocks noChangeAspect="1"/>
          </p:cNvPicPr>
          <p:nvPr/>
        </p:nvPicPr>
        <p:blipFill rotWithShape="1">
          <a:blip r:embed="rId3"/>
          <a:srcRect l="2718"/>
          <a:stretch/>
        </p:blipFill>
        <p:spPr>
          <a:xfrm>
            <a:off x="1580796" y="4520088"/>
            <a:ext cx="4559586" cy="676369"/>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12</a:t>
            </a:fld>
            <a:endParaRPr lang="zh-CN" altLang="en-US" dirty="0"/>
          </a:p>
        </p:txBody>
      </p:sp>
      <p:pic>
        <p:nvPicPr>
          <p:cNvPr id="5" name="图片 4"/>
          <p:cNvPicPr>
            <a:picLocks noChangeAspect="1"/>
          </p:cNvPicPr>
          <p:nvPr/>
        </p:nvPicPr>
        <p:blipFill>
          <a:blip r:embed="rId4"/>
          <a:stretch>
            <a:fillRect/>
          </a:stretch>
        </p:blipFill>
        <p:spPr>
          <a:xfrm>
            <a:off x="6526198" y="2247239"/>
            <a:ext cx="1228896" cy="609685"/>
          </a:xfrm>
          <a:prstGeom prst="rect">
            <a:avLst/>
          </a:prstGeom>
        </p:spPr>
      </p:pic>
      <p:pic>
        <p:nvPicPr>
          <p:cNvPr id="9" name="图片 8"/>
          <p:cNvPicPr>
            <a:picLocks noChangeAspect="1"/>
          </p:cNvPicPr>
          <p:nvPr/>
        </p:nvPicPr>
        <p:blipFill>
          <a:blip r:embed="rId5"/>
          <a:stretch>
            <a:fillRect/>
          </a:stretch>
        </p:blipFill>
        <p:spPr>
          <a:xfrm>
            <a:off x="1436372" y="5928952"/>
            <a:ext cx="3002762" cy="786312"/>
          </a:xfrm>
          <a:prstGeom prst="rect">
            <a:avLst/>
          </a:prstGeom>
        </p:spPr>
      </p:pic>
      <p:pic>
        <p:nvPicPr>
          <p:cNvPr id="11" name="图片 10"/>
          <p:cNvPicPr>
            <a:picLocks noChangeAspect="1"/>
          </p:cNvPicPr>
          <p:nvPr/>
        </p:nvPicPr>
        <p:blipFill>
          <a:blip r:embed="rId6"/>
          <a:stretch>
            <a:fillRect/>
          </a:stretch>
        </p:blipFill>
        <p:spPr>
          <a:xfrm>
            <a:off x="6718927" y="3029951"/>
            <a:ext cx="1160209" cy="293275"/>
          </a:xfrm>
          <a:prstGeom prst="rect">
            <a:avLst/>
          </a:prstGeom>
        </p:spPr>
      </p:pic>
      <p:sp>
        <p:nvSpPr>
          <p:cNvPr id="10" name="左大括号 9"/>
          <p:cNvSpPr/>
          <p:nvPr/>
        </p:nvSpPr>
        <p:spPr>
          <a:xfrm>
            <a:off x="6559550" y="2603500"/>
            <a:ext cx="159377" cy="599281"/>
          </a:xfrm>
          <a:prstGeom prst="leftBrace">
            <a:avLst>
              <a:gd name="adj1" fmla="val 11372"/>
              <a:gd name="adj2" fmla="val 49600"/>
            </a:avLst>
          </a:prstGeom>
          <a:noFill/>
          <a:ln>
            <a:solidFill>
              <a:srgbClr val="00582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左箭头 11"/>
          <p:cNvSpPr/>
          <p:nvPr/>
        </p:nvSpPr>
        <p:spPr>
          <a:xfrm>
            <a:off x="5636126" y="2828254"/>
            <a:ext cx="819150" cy="17302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7"/>
          <a:srcRect l="2262" t="7640" b="9734"/>
          <a:stretch/>
        </p:blipFill>
        <p:spPr>
          <a:xfrm>
            <a:off x="1155315" y="2328431"/>
            <a:ext cx="3954153" cy="550138"/>
          </a:xfrm>
          <a:prstGeom prst="rect">
            <a:avLst/>
          </a:prstGeom>
        </p:spPr>
      </p:pic>
      <p:pic>
        <p:nvPicPr>
          <p:cNvPr id="14" name="图片 13"/>
          <p:cNvPicPr>
            <a:picLocks noChangeAspect="1"/>
          </p:cNvPicPr>
          <p:nvPr/>
        </p:nvPicPr>
        <p:blipFill rotWithShape="1">
          <a:blip r:embed="rId8"/>
          <a:srcRect l="2612"/>
          <a:stretch/>
        </p:blipFill>
        <p:spPr>
          <a:xfrm>
            <a:off x="1155315" y="3001281"/>
            <a:ext cx="3954153" cy="554538"/>
          </a:xfrm>
          <a:prstGeom prst="rect">
            <a:avLst/>
          </a:prstGeom>
        </p:spPr>
      </p:pic>
    </p:spTree>
    <p:extLst>
      <p:ext uri="{BB962C8B-B14F-4D97-AF65-F5344CB8AC3E}">
        <p14:creationId xmlns:p14="http://schemas.microsoft.com/office/powerpoint/2010/main" val="37844616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13</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190479"/>
                <a:ext cx="6834589" cy="3308598"/>
              </a:xfrm>
              <a:prstGeom prst="rect">
                <a:avLst/>
              </a:prstGeom>
              <a:ln>
                <a:noFill/>
              </a:ln>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队列头包成功传输概率</a:t>
                </a:r>
                <a14:m>
                  <m:oMath xmlns:m="http://schemas.openxmlformats.org/officeDocument/2006/math">
                    <m:r>
                      <a:rPr lang="en-US" altLang="zh-CN" sz="2400" b="1" i="1" spc="10" smtClean="0">
                        <a:solidFill>
                          <a:srgbClr val="0070C0"/>
                        </a:solidFill>
                        <a:latin typeface="Cambria Math" panose="02040503050406030204" pitchFamily="18" charset="0"/>
                        <a:ea typeface="SimHei" panose="02010609060101010101" pitchFamily="49" charset="-122"/>
                        <a:cs typeface="Times New Roman" panose="02020603050405020304" pitchFamily="18" charset="0"/>
                      </a:rPr>
                      <m:t>𝒑</m:t>
                    </m:r>
                  </m:oMath>
                </a14:m>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队列</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头包成功传输概率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（网络</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工作点）</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190479"/>
                <a:ext cx="6834589" cy="3308598"/>
              </a:xfrm>
              <a:prstGeom prst="rect">
                <a:avLst/>
              </a:prstGeom>
              <a:blipFill>
                <a:blip r:embed="rId3"/>
                <a:stretch>
                  <a:fillRect l="-1160" t="-2026"/>
                </a:stretch>
              </a:blipFill>
              <a:ln>
                <a:noFill/>
              </a:ln>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1448554" y="2243530"/>
            <a:ext cx="4801270" cy="295316"/>
          </a:xfrm>
          <a:prstGeom prst="rect">
            <a:avLst/>
          </a:prstGeom>
        </p:spPr>
      </p:pic>
      <p:pic>
        <p:nvPicPr>
          <p:cNvPr id="7" name="图片 6"/>
          <p:cNvPicPr>
            <a:picLocks noChangeAspect="1"/>
          </p:cNvPicPr>
          <p:nvPr/>
        </p:nvPicPr>
        <p:blipFill>
          <a:blip r:embed="rId5"/>
          <a:stretch>
            <a:fillRect/>
          </a:stretch>
        </p:blipFill>
        <p:spPr>
          <a:xfrm>
            <a:off x="1448554" y="2701566"/>
            <a:ext cx="2931857" cy="874120"/>
          </a:xfrm>
          <a:prstGeom prst="rect">
            <a:avLst/>
          </a:prstGeom>
        </p:spPr>
      </p:pic>
      <p:pic>
        <p:nvPicPr>
          <p:cNvPr id="9" name="图片 8"/>
          <p:cNvPicPr>
            <a:picLocks noChangeAspect="1"/>
          </p:cNvPicPr>
          <p:nvPr/>
        </p:nvPicPr>
        <p:blipFill>
          <a:blip r:embed="rId6"/>
          <a:stretch>
            <a:fillRect/>
          </a:stretch>
        </p:blipFill>
        <p:spPr>
          <a:xfrm>
            <a:off x="1448554" y="4410288"/>
            <a:ext cx="3672086" cy="1329006"/>
          </a:xfrm>
          <a:prstGeom prst="rect">
            <a:avLst/>
          </a:prstGeom>
        </p:spPr>
      </p:pic>
      <p:grpSp>
        <p:nvGrpSpPr>
          <p:cNvPr id="20" name="组合 19"/>
          <p:cNvGrpSpPr/>
          <p:nvPr/>
        </p:nvGrpSpPr>
        <p:grpSpPr>
          <a:xfrm>
            <a:off x="2611520" y="3693732"/>
            <a:ext cx="2170446" cy="431623"/>
            <a:chOff x="2809881" y="4408882"/>
            <a:chExt cx="3332734" cy="647128"/>
          </a:xfrm>
        </p:grpSpPr>
        <p:pic>
          <p:nvPicPr>
            <p:cNvPr id="15" name="图片 14"/>
            <p:cNvPicPr>
              <a:picLocks noChangeAspect="1"/>
            </p:cNvPicPr>
            <p:nvPr/>
          </p:nvPicPr>
          <p:blipFill>
            <a:blip r:embed="rId7"/>
            <a:stretch>
              <a:fillRect/>
            </a:stretch>
          </p:blipFill>
          <p:spPr>
            <a:xfrm>
              <a:off x="2809881" y="4408882"/>
              <a:ext cx="1057269" cy="307569"/>
            </a:xfrm>
            <a:prstGeom prst="rect">
              <a:avLst/>
            </a:prstGeom>
          </p:spPr>
        </p:pic>
        <p:pic>
          <p:nvPicPr>
            <p:cNvPr id="16" name="图片 15"/>
            <p:cNvPicPr>
              <a:picLocks noChangeAspect="1"/>
            </p:cNvPicPr>
            <p:nvPr/>
          </p:nvPicPr>
          <p:blipFill>
            <a:blip r:embed="rId8"/>
            <a:stretch>
              <a:fillRect/>
            </a:stretch>
          </p:blipFill>
          <p:spPr>
            <a:xfrm>
              <a:off x="2809881" y="4716451"/>
              <a:ext cx="1955855" cy="323788"/>
            </a:xfrm>
            <a:prstGeom prst="rect">
              <a:avLst/>
            </a:prstGeom>
          </p:spPr>
        </p:pic>
        <p:sp>
          <p:nvSpPr>
            <p:cNvPr id="17" name="文本框 16"/>
            <p:cNvSpPr txBox="1"/>
            <p:nvPr/>
          </p:nvSpPr>
          <p:spPr>
            <a:xfrm>
              <a:off x="4713309" y="4686853"/>
              <a:ext cx="511017" cy="369157"/>
            </a:xfrm>
            <a:prstGeom prst="rect">
              <a:avLst/>
            </a:prstGeom>
            <a:noFill/>
          </p:spPr>
          <p:txBody>
            <a:bodyPr wrap="square" rtlCol="0">
              <a:spAutoFit/>
            </a:bodyPr>
            <a:lstStyle/>
            <a:p>
              <a:r>
                <a:rPr lang="en-US" altLang="zh-CN" sz="1000" dirty="0"/>
                <a:t>for</a:t>
              </a:r>
              <a:endParaRPr lang="zh-CN" altLang="en-US" sz="1000" dirty="0"/>
            </a:p>
          </p:txBody>
        </p:sp>
        <p:pic>
          <p:nvPicPr>
            <p:cNvPr id="18" name="图片 17"/>
            <p:cNvPicPr>
              <a:picLocks noChangeAspect="1"/>
            </p:cNvPicPr>
            <p:nvPr/>
          </p:nvPicPr>
          <p:blipFill>
            <a:blip r:embed="rId9"/>
            <a:stretch>
              <a:fillRect/>
            </a:stretch>
          </p:blipFill>
          <p:spPr>
            <a:xfrm>
              <a:off x="5224325" y="4761942"/>
              <a:ext cx="918290" cy="232806"/>
            </a:xfrm>
            <a:prstGeom prst="rect">
              <a:avLst/>
            </a:prstGeom>
          </p:spPr>
        </p:pic>
      </p:grpSp>
      <p:sp>
        <p:nvSpPr>
          <p:cNvPr id="19" name="下箭头 18"/>
          <p:cNvSpPr/>
          <p:nvPr/>
        </p:nvSpPr>
        <p:spPr>
          <a:xfrm>
            <a:off x="2354009" y="3555695"/>
            <a:ext cx="175831" cy="765098"/>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3324225" y="2744766"/>
            <a:ext cx="412750" cy="200025"/>
          </a:xfrm>
          <a:prstGeom prst="roundRect">
            <a:avLst/>
          </a:prstGeom>
          <a:noFill/>
          <a:ln w="19050">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825"/>
              </a:solidFill>
            </a:endParaRPr>
          </a:p>
        </p:txBody>
      </p:sp>
      <p:sp>
        <p:nvSpPr>
          <p:cNvPr id="30" name="文本框 29"/>
          <p:cNvSpPr txBox="1"/>
          <p:nvPr/>
        </p:nvSpPr>
        <p:spPr>
          <a:xfrm>
            <a:off x="5157283" y="2690889"/>
            <a:ext cx="3539042" cy="307777"/>
          </a:xfrm>
          <a:prstGeom prst="rect">
            <a:avLst/>
          </a:prstGeom>
          <a:noFill/>
          <a:ln w="19050">
            <a:solidFill>
              <a:srgbClr val="005825"/>
            </a:solidFill>
          </a:ln>
        </p:spPr>
        <p:txBody>
          <a:bodyPr wrap="square" rtlCol="0">
            <a:spAutoFit/>
          </a:bodyPr>
          <a:lstStyle/>
          <a:p>
            <a:r>
              <a:rPr lang="zh-CN" altLang="en-US" sz="1400" dirty="0" smtClean="0">
                <a:latin typeface="黑体" panose="02010609060101010101" pitchFamily="49" charset="-122"/>
                <a:ea typeface="黑体" panose="02010609060101010101" pitchFamily="49" charset="-122"/>
              </a:rPr>
              <a:t>碰撞模型：其他</a:t>
            </a:r>
            <a:r>
              <a:rPr lang="zh-CN" altLang="en-US" sz="1400" dirty="0">
                <a:latin typeface="黑体" panose="02010609060101010101" pitchFamily="49" charset="-122"/>
                <a:ea typeface="黑体" panose="02010609060101010101" pitchFamily="49" charset="-122"/>
              </a:rPr>
              <a:t>节点队列头</a:t>
            </a:r>
            <a:r>
              <a:rPr lang="zh-CN" altLang="en-US" sz="1400" dirty="0" smtClean="0">
                <a:latin typeface="黑体" panose="02010609060101010101" pitchFamily="49" charset="-122"/>
                <a:ea typeface="黑体" panose="02010609060101010101" pitchFamily="49" charset="-122"/>
              </a:rPr>
              <a:t>包</a:t>
            </a:r>
            <a:r>
              <a:rPr lang="zh-CN" altLang="en-US" sz="1400" dirty="0">
                <a:latin typeface="黑体" panose="02010609060101010101" pitchFamily="49" charset="-122"/>
                <a:ea typeface="黑体" panose="02010609060101010101" pitchFamily="49" charset="-122"/>
              </a:rPr>
              <a:t>不</a:t>
            </a:r>
            <a:r>
              <a:rPr lang="zh-CN" altLang="en-US" sz="1400" dirty="0" smtClean="0">
                <a:latin typeface="黑体" panose="02010609060101010101" pitchFamily="49" charset="-122"/>
                <a:ea typeface="黑体" panose="02010609060101010101" pitchFamily="49" charset="-122"/>
              </a:rPr>
              <a:t>参与传输</a:t>
            </a:r>
            <a:endParaRPr lang="zh-CN" altLang="en-US" sz="1400" dirty="0">
              <a:latin typeface="黑体" panose="02010609060101010101" pitchFamily="49" charset="-122"/>
              <a:ea typeface="黑体" panose="02010609060101010101" pitchFamily="49" charset="-122"/>
            </a:endParaRPr>
          </a:p>
        </p:txBody>
      </p:sp>
      <p:sp>
        <p:nvSpPr>
          <p:cNvPr id="31" name="圆角矩形 30"/>
          <p:cNvSpPr/>
          <p:nvPr/>
        </p:nvSpPr>
        <p:spPr>
          <a:xfrm>
            <a:off x="3761672" y="2982310"/>
            <a:ext cx="644977" cy="340488"/>
          </a:xfrm>
          <a:prstGeom prst="roundRect">
            <a:avLst/>
          </a:prstGeom>
          <a:noFill/>
          <a:ln w="19050">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5825"/>
              </a:solidFill>
            </a:endParaRPr>
          </a:p>
        </p:txBody>
      </p:sp>
      <p:sp>
        <p:nvSpPr>
          <p:cNvPr id="43" name="文本框 42"/>
          <p:cNvSpPr txBox="1"/>
          <p:nvPr/>
        </p:nvSpPr>
        <p:spPr>
          <a:xfrm>
            <a:off x="5157283" y="2998666"/>
            <a:ext cx="3539042" cy="307777"/>
          </a:xfrm>
          <a:prstGeom prst="rect">
            <a:avLst/>
          </a:prstGeom>
          <a:noFill/>
          <a:ln w="19050">
            <a:solidFill>
              <a:srgbClr val="005825"/>
            </a:solidFill>
          </a:ln>
        </p:spPr>
        <p:txBody>
          <a:bodyPr wrap="square" rtlCol="0">
            <a:spAutoFit/>
          </a:bodyPr>
          <a:lstStyle/>
          <a:p>
            <a:r>
              <a:rPr lang="zh-CN" altLang="en-US" sz="1400" dirty="0" smtClean="0">
                <a:latin typeface="黑体" panose="02010609060101010101" pitchFamily="49" charset="-122"/>
                <a:ea typeface="黑体" panose="02010609060101010101" pitchFamily="49" charset="-122"/>
              </a:rPr>
              <a:t>短数据包：接收机</a:t>
            </a:r>
            <a:r>
              <a:rPr lang="zh-CN" altLang="en-US" sz="1400" dirty="0">
                <a:latin typeface="黑体" panose="02010609060101010101" pitchFamily="49" charset="-122"/>
                <a:ea typeface="黑体" panose="02010609060101010101" pitchFamily="49" charset="-122"/>
              </a:rPr>
              <a:t>解码成功</a:t>
            </a:r>
          </a:p>
        </p:txBody>
      </p:sp>
      <p:cxnSp>
        <p:nvCxnSpPr>
          <p:cNvPr id="54" name="直接箭头连接符 53"/>
          <p:cNvCxnSpPr>
            <a:stCxn id="22" idx="3"/>
            <a:endCxn id="30" idx="1"/>
          </p:cNvCxnSpPr>
          <p:nvPr/>
        </p:nvCxnSpPr>
        <p:spPr>
          <a:xfrm flipV="1">
            <a:off x="3736975" y="2844778"/>
            <a:ext cx="1420308" cy="1"/>
          </a:xfrm>
          <a:prstGeom prst="straightConnector1">
            <a:avLst/>
          </a:prstGeom>
          <a:ln>
            <a:solidFill>
              <a:srgbClr val="005825"/>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3"/>
            <a:endCxn id="43" idx="1"/>
          </p:cNvCxnSpPr>
          <p:nvPr/>
        </p:nvCxnSpPr>
        <p:spPr>
          <a:xfrm>
            <a:off x="4406649" y="3152554"/>
            <a:ext cx="750634" cy="1"/>
          </a:xfrm>
          <a:prstGeom prst="straightConnector1">
            <a:avLst/>
          </a:prstGeom>
          <a:ln>
            <a:solidFill>
              <a:srgbClr val="00582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p:cNvSpPr txBox="1"/>
              <p:nvPr/>
            </p:nvSpPr>
            <p:spPr>
              <a:xfrm>
                <a:off x="5300303" y="5112785"/>
                <a:ext cx="1378634" cy="307777"/>
              </a:xfrm>
              <a:prstGeom prst="rect">
                <a:avLst/>
              </a:prstGeom>
              <a:noFill/>
            </p:spPr>
            <p:txBody>
              <a:bodyPr wrap="square" rtlCol="0">
                <a:spAutoFit/>
              </a:bodyPr>
              <a:lstStyle/>
              <a:p>
                <a14:m>
                  <m:oMath xmlns:m="http://schemas.openxmlformats.org/officeDocument/2006/math">
                    <m:r>
                      <a:rPr lang="en-US" altLang="zh-CN" sz="1400" b="0" i="1" smtClean="0">
                        <a:latin typeface="Cambria Math" panose="02040503050406030204" pitchFamily="18" charset="0"/>
                      </a:rPr>
                      <m:t>𝑝</m:t>
                    </m:r>
                  </m:oMath>
                </a14:m>
                <a:r>
                  <a:rPr lang="zh-CN" altLang="en-US" sz="1400" dirty="0" smtClean="0">
                    <a:latin typeface="黑体" panose="02010609060101010101" pitchFamily="49" charset="-122"/>
                    <a:ea typeface="黑体" panose="02010609060101010101" pitchFamily="49" charset="-122"/>
                  </a:rPr>
                  <a:t>的不动点方程</a:t>
                </a:r>
                <a:endParaRPr lang="zh-CN" altLang="en-US" sz="1400" dirty="0">
                  <a:latin typeface="黑体" panose="02010609060101010101" pitchFamily="49" charset="-122"/>
                  <a:ea typeface="黑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300303" y="5112785"/>
                <a:ext cx="1378634" cy="307777"/>
              </a:xfrm>
              <a:prstGeom prst="rect">
                <a:avLst/>
              </a:prstGeom>
              <a:blipFill>
                <a:blip r:embed="rId10"/>
                <a:stretch>
                  <a:fillRect t="-6000" b="-18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307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30" grpId="0" animBg="1"/>
      <p:bldP spid="30" grpId="1" animBg="1"/>
      <p:bldP spid="31" grpId="0" animBg="1"/>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2051489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优化（第三章）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15</a:t>
            </a:fld>
            <a:endParaRPr lang="zh-CN" altLang="en-US" dirty="0"/>
          </a:p>
        </p:txBody>
      </p:sp>
      <p:sp>
        <p:nvSpPr>
          <p:cNvPr id="8" name="矩形 7"/>
          <p:cNvSpPr/>
          <p:nvPr/>
        </p:nvSpPr>
        <p:spPr>
          <a:xfrm>
            <a:off x="628657" y="1201772"/>
            <a:ext cx="6985481" cy="473206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性能指标</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的定义</a:t>
            </a:r>
            <a:r>
              <a:rPr lang="en-US" altLang="zh-CN" sz="2400" b="1"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 </a:t>
            </a:r>
            <a:r>
              <a:rPr lang="zh-CN" altLang="en-US" sz="2400" b="1"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：可靠性、吞吐量、和速率</a:t>
            </a:r>
            <a:endParaRPr lang="en-US" altLang="zh-CN" sz="2400" b="1"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100"/>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传输可靠性</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1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丢包概率 → 传输可靠性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100"/>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网络吞吐量</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spcBef>
                <a:spcPts val="1100"/>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节点服务速率（吞吐量）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网络总和数据速率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网络吞吐量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信息编码</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速率</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0" name="组合 9"/>
          <p:cNvGrpSpPr/>
          <p:nvPr/>
        </p:nvGrpSpPr>
        <p:grpSpPr>
          <a:xfrm>
            <a:off x="1719609" y="2533678"/>
            <a:ext cx="3759393" cy="425033"/>
            <a:chOff x="1475769" y="2621287"/>
            <a:chExt cx="3759393" cy="425033"/>
          </a:xfrm>
        </p:grpSpPr>
        <p:pic>
          <p:nvPicPr>
            <p:cNvPr id="3" name="图片 2"/>
            <p:cNvPicPr>
              <a:picLocks noChangeAspect="1"/>
            </p:cNvPicPr>
            <p:nvPr/>
          </p:nvPicPr>
          <p:blipFill>
            <a:blip r:embed="rId2"/>
            <a:stretch>
              <a:fillRect/>
            </a:stretch>
          </p:blipFill>
          <p:spPr>
            <a:xfrm>
              <a:off x="1475769" y="2621287"/>
              <a:ext cx="1460746" cy="425033"/>
            </a:xfrm>
            <a:prstGeom prst="rect">
              <a:avLst/>
            </a:prstGeom>
          </p:spPr>
        </p:pic>
        <p:pic>
          <p:nvPicPr>
            <p:cNvPr id="5" name="图片 4"/>
            <p:cNvPicPr>
              <a:picLocks noChangeAspect="1"/>
            </p:cNvPicPr>
            <p:nvPr/>
          </p:nvPicPr>
          <p:blipFill>
            <a:blip r:embed="rId3"/>
            <a:stretch>
              <a:fillRect/>
            </a:stretch>
          </p:blipFill>
          <p:spPr>
            <a:xfrm>
              <a:off x="3422500" y="2645732"/>
              <a:ext cx="1812662" cy="400588"/>
            </a:xfrm>
            <a:prstGeom prst="rect">
              <a:avLst/>
            </a:prstGeom>
          </p:spPr>
        </p:pic>
        <p:cxnSp>
          <p:nvCxnSpPr>
            <p:cNvPr id="7" name="直接箭头连接符 6"/>
            <p:cNvCxnSpPr>
              <a:endCxn id="5" idx="1"/>
            </p:cNvCxnSpPr>
            <p:nvPr/>
          </p:nvCxnSpPr>
          <p:spPr>
            <a:xfrm flipV="1">
              <a:off x="2936515" y="2846026"/>
              <a:ext cx="485985" cy="35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1" name="图片 10"/>
          <p:cNvPicPr>
            <a:picLocks noChangeAspect="1"/>
          </p:cNvPicPr>
          <p:nvPr/>
        </p:nvPicPr>
        <p:blipFill>
          <a:blip r:embed="rId4"/>
          <a:stretch>
            <a:fillRect/>
          </a:stretch>
        </p:blipFill>
        <p:spPr>
          <a:xfrm>
            <a:off x="1719609" y="3938801"/>
            <a:ext cx="2352142" cy="518153"/>
          </a:xfrm>
          <a:prstGeom prst="rect">
            <a:avLst/>
          </a:prstGeom>
        </p:spPr>
      </p:pic>
      <p:pic>
        <p:nvPicPr>
          <p:cNvPr id="12" name="图片 11"/>
          <p:cNvPicPr>
            <a:picLocks noChangeAspect="1"/>
          </p:cNvPicPr>
          <p:nvPr/>
        </p:nvPicPr>
        <p:blipFill>
          <a:blip r:embed="rId5"/>
          <a:stretch>
            <a:fillRect/>
          </a:stretch>
        </p:blipFill>
        <p:spPr>
          <a:xfrm>
            <a:off x="1719609" y="5490186"/>
            <a:ext cx="1324160" cy="342948"/>
          </a:xfrm>
          <a:prstGeom prst="rect">
            <a:avLst/>
          </a:prstGeom>
        </p:spPr>
      </p:pic>
      <p:sp>
        <p:nvSpPr>
          <p:cNvPr id="14" name="圆角矩形 13"/>
          <p:cNvSpPr/>
          <p:nvPr/>
        </p:nvSpPr>
        <p:spPr bwMode="auto">
          <a:xfrm>
            <a:off x="965126" y="1695480"/>
            <a:ext cx="4711773" cy="1291507"/>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5" name="圆角矩形 14"/>
          <p:cNvSpPr/>
          <p:nvPr/>
        </p:nvSpPr>
        <p:spPr bwMode="auto">
          <a:xfrm>
            <a:off x="965125" y="3082693"/>
            <a:ext cx="4711773" cy="1341214"/>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6" name="圆角矩形 15"/>
          <p:cNvSpPr/>
          <p:nvPr/>
        </p:nvSpPr>
        <p:spPr bwMode="auto">
          <a:xfrm>
            <a:off x="965126" y="4519613"/>
            <a:ext cx="4711771" cy="1347787"/>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16743517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16</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3677930"/>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网络数据速率优化问题</a:t>
                </a:r>
                <a:endParaRPr lang="en-US" altLang="zh-CN" b="1"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600" b="1" dirty="0" smtClean="0">
                    <a:latin typeface="Times New Roman" panose="02020603050405020304" pitchFamily="18" charset="0"/>
                    <a:ea typeface="SimHei" panose="02010609060101010101" pitchFamily="49" charset="-122"/>
                    <a:cs typeface="Times New Roman" panose="02020603050405020304" pitchFamily="18" charset="0"/>
                  </a:rPr>
                  <a:t>思路：两步优化</a:t>
                </a:r>
                <a:endParaRPr lang="en-US" altLang="zh-CN" sz="16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endParaRPr lang="en-US" altLang="zh-CN" sz="1400" b="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第一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步：给定块长优化吞吐量</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初始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概率 </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优 →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工作点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最</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优 → 吞吐量最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第二步：优化数据速率</a:t>
                </a:r>
                <a:endParaRPr lang="en-US" altLang="zh-CN" sz="1400"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927100" lvl="1">
                  <a:spcBef>
                    <a:spcPts val="1245"/>
                  </a:spcBef>
                  <a:tabLst>
                    <a:tab pos="927100" algn="l"/>
                  </a:tabLst>
                </a:pP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初始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接入概率</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0"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和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𝑁</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最优 → 工作点</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r>
                      <a:rPr lang="en-US" altLang="zh-CN" sz="1400" b="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最优 →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数据</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速率最</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优</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3677930"/>
              </a:xfrm>
              <a:prstGeom prst="rect">
                <a:avLst/>
              </a:prstGeom>
              <a:blipFill>
                <a:blip r:embed="rId2"/>
                <a:stretch>
                  <a:fillRect l="-1005" t="-1824" b="-995"/>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3151" t="10327" b="12647"/>
          <a:stretch/>
        </p:blipFill>
        <p:spPr>
          <a:xfrm>
            <a:off x="1985302" y="2575191"/>
            <a:ext cx="3914337" cy="547003"/>
          </a:xfrm>
          <a:prstGeom prst="rect">
            <a:avLst/>
          </a:prstGeom>
        </p:spPr>
      </p:pic>
    </p:spTree>
    <p:extLst>
      <p:ext uri="{BB962C8B-B14F-4D97-AF65-F5344CB8AC3E}">
        <p14:creationId xmlns:p14="http://schemas.microsoft.com/office/powerpoint/2010/main" val="34560257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17</a:t>
            </a:fld>
            <a:endParaRPr lang="zh-CN" altLang="en-US" dirty="0"/>
          </a:p>
        </p:txBody>
      </p:sp>
      <p:sp>
        <p:nvSpPr>
          <p:cNvPr id="8" name="矩形 7"/>
          <p:cNvSpPr/>
          <p:nvPr/>
        </p:nvSpPr>
        <p:spPr>
          <a:xfrm>
            <a:off x="628657" y="1201772"/>
            <a:ext cx="788669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solidFill>
                  <a:schemeClr val="tx1"/>
                </a:solidFill>
                <a:ea typeface="SimHei" panose="02010609060101010101" pitchFamily="49" charset="-122"/>
                <a:cs typeface="Times New Roman" panose="02020603050405020304" pitchFamily="18" charset="0"/>
              </a:rPr>
              <a:t>短包块长对网络最大吞吐量</a:t>
            </a:r>
            <a:r>
              <a:rPr lang="zh-CN" altLang="en-US" b="1" dirty="0">
                <a:solidFill>
                  <a:schemeClr val="tx1"/>
                </a:solidFill>
                <a:ea typeface="SimHei" panose="02010609060101010101" pitchFamily="49" charset="-122"/>
                <a:cs typeface="Times New Roman" panose="02020603050405020304" pitchFamily="18" charset="0"/>
              </a:rPr>
              <a:t>的</a:t>
            </a:r>
            <a:r>
              <a:rPr lang="zh-CN" altLang="en-US" b="1" dirty="0" smtClean="0">
                <a:solidFill>
                  <a:schemeClr val="tx1"/>
                </a:solidFill>
                <a:ea typeface="SimHei" panose="02010609060101010101" pitchFamily="49" charset="-122"/>
                <a:cs typeface="Times New Roman" panose="02020603050405020304" pitchFamily="18" charset="0"/>
              </a:rPr>
              <a:t>影响</a:t>
            </a:r>
            <a:endParaRPr lang="en-US" altLang="zh-CN" b="1"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7" name="文本框 6"/>
          <p:cNvSpPr txBox="1"/>
          <p:nvPr/>
        </p:nvSpPr>
        <p:spPr>
          <a:xfrm>
            <a:off x="4114800" y="2971800"/>
            <a:ext cx="65" cy="276999"/>
          </a:xfrm>
          <a:prstGeom prst="rect">
            <a:avLst/>
          </a:prstGeom>
          <a:noFill/>
        </p:spPr>
        <p:txBody>
          <a:bodyPr wrap="none" lIns="0" tIns="0" rIns="0" bIns="0" rtlCol="0">
            <a:spAutoFit/>
          </a:bodyPr>
          <a:lstStyle/>
          <a:p>
            <a:endParaRPr lang="zh-CN" altLang="en-US" dirty="0"/>
          </a:p>
        </p:txBody>
      </p:sp>
      <p:pic>
        <p:nvPicPr>
          <p:cNvPr id="3" name="图片 2"/>
          <p:cNvPicPr>
            <a:picLocks noChangeAspect="1"/>
          </p:cNvPicPr>
          <p:nvPr/>
        </p:nvPicPr>
        <p:blipFill>
          <a:blip r:embed="rId2"/>
          <a:stretch>
            <a:fillRect/>
          </a:stretch>
        </p:blipFill>
        <p:spPr>
          <a:xfrm>
            <a:off x="628657" y="2137926"/>
            <a:ext cx="4791744" cy="4048690"/>
          </a:xfrm>
          <a:prstGeom prst="rect">
            <a:avLst/>
          </a:prstGeom>
        </p:spPr>
      </p:pic>
      <p:sp>
        <p:nvSpPr>
          <p:cNvPr id="12" name="矩形 11"/>
          <p:cNvSpPr/>
          <p:nvPr/>
        </p:nvSpPr>
        <p:spPr>
          <a:xfrm>
            <a:off x="5294002" y="3377441"/>
            <a:ext cx="3682944" cy="2308324"/>
          </a:xfrm>
          <a:prstGeom prst="rect">
            <a:avLst/>
          </a:prstGeom>
        </p:spPr>
        <p:txBody>
          <a:bodyPr wrap="square">
            <a:spAutoFit/>
          </a:bodyPr>
          <a:lstStyle/>
          <a:p>
            <a:pPr marL="285750" indent="-285750">
              <a:buFont typeface="Arial" panose="020B0604020202020204" pitchFamily="34" charset="0"/>
              <a:buChar char="•"/>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影响区间较窄，效果明显</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每</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数据包信息比特数 </a:t>
            </a:r>
            <a:r>
              <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rPr>
              <a:t>k </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不影响最大网络吞吐量，但会影响到区间位置和宽度。</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zh-CN" altLang="en-US" sz="1600" dirty="0"/>
          </a:p>
        </p:txBody>
      </p:sp>
      <p:sp>
        <p:nvSpPr>
          <p:cNvPr id="6" name="椭圆 5"/>
          <p:cNvSpPr/>
          <p:nvPr/>
        </p:nvSpPr>
        <p:spPr>
          <a:xfrm>
            <a:off x="3360420" y="2446020"/>
            <a:ext cx="1234440" cy="301752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4648200" y="3459480"/>
            <a:ext cx="645802"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295400" y="5204460"/>
            <a:ext cx="396240" cy="25908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581400" y="5189220"/>
            <a:ext cx="899160" cy="25908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a:off x="4533900" y="5090160"/>
            <a:ext cx="944880"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226820" y="2430780"/>
            <a:ext cx="510638" cy="301752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408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animBg="1"/>
      <p:bldP spid="9" grpId="1" animBg="1"/>
      <p:bldP spid="10" grpId="0" animBg="1"/>
      <p:bldP spid="13" grpId="0" animBg="1"/>
      <p:bldP spid="14" grpId="0" animBg="1"/>
      <p:bldP spid="15" grpId="0" animBg="1"/>
      <p:bldP spid="1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6043585" y="2192951"/>
            <a:ext cx="3100415" cy="2451491"/>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18</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365571"/>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数据</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速率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优化的数值计算结果分析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ea typeface="SimHei" panose="02010609060101010101" pitchFamily="49" charset="-122"/>
                    <a:cs typeface="Times New Roman" panose="02020603050405020304" pitchFamily="18" charset="0"/>
                  </a:rPr>
                  <a:t>较小</a:t>
                </a:r>
                <a:r>
                  <a:rPr lang="zh-CN" altLang="en-US" sz="1400" dirty="0" smtClean="0">
                    <a:ea typeface="SimHei" panose="02010609060101010101" pitchFamily="49" charset="-122"/>
                    <a:cs typeface="Times New Roman" panose="02020603050405020304" pitchFamily="18" charset="0"/>
                  </a:rPr>
                  <a:t>的 </a:t>
                </a:r>
                <a14:m>
                  <m:oMath xmlns:m="http://schemas.openxmlformats.org/officeDocument/2006/math">
                    <m:r>
                      <a:rPr lang="en-US" altLang="zh-CN" sz="1400" i="1" dirty="0"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smtClean="0">
                    <a:solidFill>
                      <a:schemeClr val="tx1"/>
                    </a:solidFill>
                    <a:latin typeface="Times New Roman" panose="02020603050405020304" pitchFamily="18" charset="0"/>
                    <a:ea typeface="SimHei" panose="02010609060101010101" pitchFamily="49" charset="-122"/>
                    <a:cs typeface="Times New Roman" panose="02020603050405020304" pitchFamily="18" charset="0"/>
                  </a:rPr>
                  <a:t>会降低最大总和速率</a:t>
                </a:r>
                <a:r>
                  <a:rPr lang="en-US" altLang="zh-CN" sz="1400" dirty="0" smtClean="0">
                    <a:solidFill>
                      <a:schemeClr val="tx1"/>
                    </a:solidFill>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𝐶</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en-US" altLang="zh-CN" sz="1400" dirty="0" smtClean="0">
                    <a:solidFill>
                      <a:schemeClr val="tx1"/>
                    </a:solidFill>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spcBef>
                    <a:spcPts val="1245"/>
                  </a:spcBef>
                  <a:buFont typeface="Arial" panose="020B0604020202020204" pitchFamily="34" charset="0"/>
                  <a:buChar char="•"/>
                  <a:tabLst>
                    <a:tab pos="927100" algn="l"/>
                  </a:tabLst>
                </a:pPr>
                <a:r>
                  <a:rPr lang="zh-CN" altLang="en-US" sz="1400" dirty="0" smtClean="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如</a:t>
                </a: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定理所述，</a:t>
                </a:r>
                <a14:m>
                  <m:oMath xmlns:m="http://schemas.openxmlformats.org/officeDocument/2006/math">
                    <m:sSub>
                      <m:sSubPr>
                        <m:ctrlPr>
                          <a:rPr lang="en-US" altLang="zh-CN" sz="140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𝐶</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与重传限制</a:t>
                </a:r>
                <a:r>
                  <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无关</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在</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𝐶</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情况下，重传限制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的增大提升了可靠性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365571"/>
              </a:xfrm>
              <a:prstGeom prst="rect">
                <a:avLst/>
              </a:prstGeom>
              <a:blipFill>
                <a:blip r:embed="rId3"/>
                <a:stretch>
                  <a:fillRect l="-1005" t="-1250" b="-341"/>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4"/>
          <a:srcRect l="3196" r="2434"/>
          <a:stretch/>
        </p:blipFill>
        <p:spPr>
          <a:xfrm>
            <a:off x="0" y="2137926"/>
            <a:ext cx="6127039" cy="2965297"/>
          </a:xfrm>
          <a:prstGeom prst="rect">
            <a:avLst/>
          </a:prstGeom>
        </p:spPr>
      </p:pic>
      <mc:AlternateContent xmlns:mc="http://schemas.openxmlformats.org/markup-compatibility/2006" xmlns:a14="http://schemas.microsoft.com/office/drawing/2010/main">
        <mc:Choice Requires="a14">
          <p:sp>
            <p:nvSpPr>
              <p:cNvPr id="16" name="文本框 15"/>
              <p:cNvSpPr txBox="1"/>
              <p:nvPr/>
            </p:nvSpPr>
            <p:spPr>
              <a:xfrm>
                <a:off x="6287589" y="4685211"/>
                <a:ext cx="2856411" cy="461665"/>
              </a:xfrm>
              <a:prstGeom prst="rect">
                <a:avLst/>
              </a:prstGeom>
              <a:noFill/>
            </p:spPr>
            <p:txBody>
              <a:bodyPr wrap="square" rtlCol="0">
                <a:spAutoFit/>
              </a:bodyPr>
              <a:lstStyle/>
              <a:p>
                <a:r>
                  <a:rPr lang="zh-CN" altLang="en-US" sz="1200" dirty="0">
                    <a:latin typeface="宋体" panose="02010600030101010101" pitchFamily="2" charset="-122"/>
                    <a:ea typeface="宋体" panose="02010600030101010101" pitchFamily="2" charset="-122"/>
                  </a:rPr>
                  <a:t>最大化</a:t>
                </a:r>
                <a14:m>
                  <m:oMath xmlns:m="http://schemas.openxmlformats.org/officeDocument/2006/math">
                    <m:r>
                      <a:rPr lang="en-US" altLang="zh-CN" sz="1200" b="0" i="1" smtClean="0">
                        <a:latin typeface="Cambria Math" panose="02040503050406030204" pitchFamily="18" charset="0"/>
                      </a:rPr>
                      <m:t>𝐶</m:t>
                    </m:r>
                  </m:oMath>
                </a14:m>
                <a:r>
                  <a:rPr lang="zh-CN" altLang="en-US" sz="1200" dirty="0">
                    <a:latin typeface="宋体" panose="02010600030101010101" pitchFamily="2" charset="-122"/>
                    <a:ea typeface="宋体" panose="02010600030101010101" pitchFamily="2" charset="-122"/>
                  </a:rPr>
                  <a:t>的情况下，可靠性指标</a:t>
                </a:r>
                <a14:m>
                  <m:oMath xmlns:m="http://schemas.openxmlformats.org/officeDocument/2006/math">
                    <m:r>
                      <a:rPr lang="zh-CN" altLang="en-US" sz="1200" i="1" smtClean="0">
                        <a:latin typeface="Cambria Math" panose="02040503050406030204" pitchFamily="18" charset="0"/>
                      </a:rPr>
                      <m:t>𝜂</m:t>
                    </m:r>
                  </m:oMath>
                </a14:m>
                <a:r>
                  <a:rPr lang="zh-CN" altLang="en-US" sz="1200" dirty="0">
                    <a:latin typeface="宋体" panose="02010600030101010101" pitchFamily="2" charset="-122"/>
                    <a:ea typeface="宋体" panose="02010600030101010101" pitchFamily="2" charset="-122"/>
                  </a:rPr>
                  <a:t>与重传限制</a:t>
                </a:r>
                <a14:m>
                  <m:oMath xmlns:m="http://schemas.openxmlformats.org/officeDocument/2006/math">
                    <m:r>
                      <a:rPr lang="en-US" altLang="zh-CN" sz="1200" b="0" i="1" smtClean="0">
                        <a:latin typeface="Cambria Math" panose="02040503050406030204" pitchFamily="18" charset="0"/>
                      </a:rPr>
                      <m:t>𝑀</m:t>
                    </m:r>
                  </m:oMath>
                </a14:m>
                <a:r>
                  <a:rPr lang="zh-CN" altLang="en-US" sz="1200" dirty="0">
                    <a:latin typeface="宋体" panose="02010600030101010101" pitchFamily="2" charset="-122"/>
                    <a:ea typeface="宋体" panose="02010600030101010101" pitchFamily="2" charset="-122"/>
                  </a:rPr>
                  <a:t>的关系</a:t>
                </a:r>
              </a:p>
            </p:txBody>
          </p:sp>
        </mc:Choice>
        <mc:Fallback xmlns="">
          <p:sp>
            <p:nvSpPr>
              <p:cNvPr id="16" name="文本框 15"/>
              <p:cNvSpPr txBox="1">
                <a:spLocks noRot="1" noChangeAspect="1" noMove="1" noResize="1" noEditPoints="1" noAdjustHandles="1" noChangeArrowheads="1" noChangeShapeType="1" noTextEdit="1"/>
              </p:cNvSpPr>
              <p:nvPr/>
            </p:nvSpPr>
            <p:spPr>
              <a:xfrm>
                <a:off x="6287589" y="4685211"/>
                <a:ext cx="2856411" cy="461665"/>
              </a:xfrm>
              <a:prstGeom prst="rect">
                <a:avLst/>
              </a:prstGeom>
              <a:blipFill>
                <a:blip r:embed="rId5"/>
                <a:stretch>
                  <a:fillRect t="-1333" b="-10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66871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19</a:t>
            </a:fld>
            <a:endParaRPr lang="zh-CN" altLang="en-US" dirty="0"/>
          </a:p>
        </p:txBody>
      </p:sp>
      <p:sp>
        <p:nvSpPr>
          <p:cNvPr id="8" name="矩形 7"/>
          <p:cNvSpPr/>
          <p:nvPr/>
        </p:nvSpPr>
        <p:spPr>
          <a:xfrm>
            <a:off x="622714" y="1201772"/>
            <a:ext cx="3949289" cy="4247317"/>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事件驱动仿真</a:t>
            </a:r>
            <a:r>
              <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仿真</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机制</a:t>
            </a:r>
            <a:endPar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endParaRPr>
          </a:p>
          <a:p>
            <a:pPr marL="12700"/>
            <a:endPar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lnSpc>
                <a:spcPct val="150000"/>
              </a:lnSpc>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每时隙每节点</a:t>
            </a:r>
            <a:endParaRPr lang="en-US" altLang="zh-CN" dirty="0" smtClean="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数据包</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入队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模拟队列头包退避或传输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请求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判断该节点是否满足传输条件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节点是否正在传输</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能量是否充足</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lvl="1"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模拟数据包的发射过程</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成功发射</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2" indent="-285750">
              <a:lnSpc>
                <a:spcPct val="150000"/>
              </a:lnSpc>
              <a:buFont typeface="Arial" panose="020B0604020202020204" pitchFamily="34" charset="0"/>
              <a:buChar char="•"/>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碰撞或解包</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失败</a:t>
            </a: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lnSpc>
                <a:spcPct val="150000"/>
              </a:lnSpc>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仿真数据统计</a:t>
            </a: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5084744" y="1045029"/>
            <a:ext cx="4059256" cy="5311324"/>
          </a:xfrm>
          <a:prstGeom prst="rect">
            <a:avLst/>
          </a:prstGeom>
        </p:spPr>
      </p:pic>
    </p:spTree>
    <p:extLst>
      <p:ext uri="{BB962C8B-B14F-4D97-AF65-F5344CB8AC3E}">
        <p14:creationId xmlns:p14="http://schemas.microsoft.com/office/powerpoint/2010/main" val="14370822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20</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470728"/>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数据速率最优化定理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网络数据速率优化仿真验证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如定理所述，在给定</a:t>
                </a:r>
                <a:r>
                  <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的情况下，优化</a:t>
                </a:r>
                <a14:m>
                  <m:oMath xmlns:m="http://schemas.openxmlformats.org/officeDocument/2006/math">
                    <m:sSub>
                      <m:sSubPr>
                        <m:ctrlP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可以使吞吐量达到最优</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吞吐量最优情况下，可以优化</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r>
                      <a:rPr lang="zh-CN" altLang="en-US" sz="1400" i="1">
                        <a:latin typeface="Cambria Math" panose="02040503050406030204" pitchFamily="18" charset="0"/>
                        <a:ea typeface="SimHei" panose="02010609060101010101" pitchFamily="49" charset="-122"/>
                        <a:cs typeface="Times New Roman" panose="02020603050405020304" pitchFamily="18" charset="0"/>
                      </a:rPr>
                      <m:t>使</m:t>
                    </m:r>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数据速率最优</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470728"/>
              </a:xfrm>
              <a:prstGeom prst="rect">
                <a:avLst/>
              </a:prstGeom>
              <a:blipFill>
                <a:blip r:embed="rId2"/>
                <a:stretch>
                  <a:fillRect l="-1005" t="-1225"/>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713839" y="2046130"/>
            <a:ext cx="7343745" cy="3952930"/>
          </a:xfrm>
          <a:prstGeom prst="rect">
            <a:avLst/>
          </a:prstGeom>
        </p:spPr>
      </p:pic>
    </p:spTree>
    <p:extLst>
      <p:ext uri="{BB962C8B-B14F-4D97-AF65-F5344CB8AC3E}">
        <p14:creationId xmlns:p14="http://schemas.microsoft.com/office/powerpoint/2010/main" val="12864542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优化（第四章）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21</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2065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状态滞留时间 → 头包离队时间 → 平均接入时延</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以时隙为单位的状态滞留时间</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𝑌</m:t>
                        </m:r>
                      </m:e>
                      <m:sub>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j</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：队列头包在状态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𝑋</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𝑗</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的平均滞留时间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27100" lvl="1">
                  <a:lnSpc>
                    <a:spcPts val="2500"/>
                  </a:lnSpc>
                  <a:spcBef>
                    <a:spcPts val="1245"/>
                  </a:spcBef>
                  <a:tabLst>
                    <a:tab pos="927100" algn="l"/>
                  </a:tabLst>
                </a:pPr>
                <a:r>
                  <a:rPr lang="en-GB" altLang="zh-CN" sz="1400" b="0" dirty="0">
                    <a:ea typeface="SimHei" panose="02010609060101010101" pitchFamily="49" charset="-122"/>
                    <a:cs typeface="Times New Roman" panose="02020603050405020304" pitchFamily="18" charset="0"/>
                  </a:rPr>
                  <a:t>	</a:t>
                </a:r>
                <a14:m>
                  <m:oMath xmlns:m="http://schemas.openxmlformats.org/officeDocument/2006/math">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𝑌</m:t>
                        </m:r>
                      </m:e>
                      <m:sub>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zh-CN" altLang="en-GB" sz="1400" b="0" i="1" smtClean="0">
                            <a:latin typeface="Cambria Math" panose="02040503050406030204" pitchFamily="18" charset="0"/>
                            <a:ea typeface="SimHei" panose="02010609060101010101" pitchFamily="49" charset="-122"/>
                            <a:cs typeface="Times New Roman" panose="02020603050405020304" pitchFamily="18" charset="0"/>
                          </a:rPr>
                          <m:t>𝜏</m:t>
                        </m:r>
                      </m:e>
                      <m:sub>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m:t>
                    </m:r>
                    <m:f>
                      <m:f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fPr>
                      <m:num>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1</m:t>
                        </m:r>
                      </m:num>
                      <m:den>
                        <m:sSub>
                          <m:sSubPr>
                            <m:ctrlP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GB"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den>
                    </m:f>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14:m>
                  <m:oMath xmlns:m="http://schemas.openxmlformats.org/officeDocument/2006/math">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𝑌</m:t>
                        </m:r>
                      </m:e>
                      <m: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𝑌</m:t>
                        </m:r>
                      </m:e>
                      <m:sub>
                        <m:sSub>
                          <m:sSubPr>
                            <m:ctrlP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𝐹</m:t>
                            </m:r>
                          </m:e>
                          <m: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𝑖</m:t>
                            </m:r>
                          </m:sub>
                        </m:sSub>
                      </m:sub>
                    </m:sSub>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=1</m:t>
                    </m:r>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以时隙为单位的头包离队时间</a:t>
                </a: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𝐷</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：从状态</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𝑅</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𝑖</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到离队为止总时隙。递推表达式：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新鲜头包离队时间期望</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组成</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分析</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（丢包与成功）</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206554"/>
              </a:xfrm>
              <a:prstGeom prst="rect">
                <a:avLst/>
              </a:prstGeom>
              <a:blipFill>
                <a:blip r:embed="rId2"/>
                <a:stretch>
                  <a:fillRect l="-1005" t="-1288"/>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1964569" y="3560288"/>
            <a:ext cx="3251866" cy="691735"/>
          </a:xfrm>
          <a:prstGeom prst="rect">
            <a:avLst/>
          </a:prstGeom>
        </p:spPr>
      </p:pic>
      <p:pic>
        <p:nvPicPr>
          <p:cNvPr id="9" name="图片 8"/>
          <p:cNvPicPr>
            <a:picLocks noChangeAspect="1"/>
          </p:cNvPicPr>
          <p:nvPr/>
        </p:nvPicPr>
        <p:blipFill>
          <a:blip r:embed="rId4"/>
          <a:stretch>
            <a:fillRect/>
          </a:stretch>
        </p:blipFill>
        <p:spPr>
          <a:xfrm>
            <a:off x="5431854" y="3753733"/>
            <a:ext cx="1676634" cy="304843"/>
          </a:xfrm>
          <a:prstGeom prst="rect">
            <a:avLst/>
          </a:prstGeom>
        </p:spPr>
      </p:pic>
      <p:pic>
        <p:nvPicPr>
          <p:cNvPr id="13" name="图片 12"/>
          <p:cNvPicPr>
            <a:picLocks noChangeAspect="1"/>
          </p:cNvPicPr>
          <p:nvPr/>
        </p:nvPicPr>
        <p:blipFill>
          <a:blip r:embed="rId5"/>
          <a:stretch>
            <a:fillRect/>
          </a:stretch>
        </p:blipFill>
        <p:spPr>
          <a:xfrm>
            <a:off x="1964569" y="4246996"/>
            <a:ext cx="1423065" cy="281569"/>
          </a:xfrm>
          <a:prstGeom prst="rect">
            <a:avLst/>
          </a:prstGeom>
        </p:spPr>
      </p:pic>
      <p:pic>
        <p:nvPicPr>
          <p:cNvPr id="15" name="图片 14"/>
          <p:cNvPicPr>
            <a:picLocks noChangeAspect="1"/>
          </p:cNvPicPr>
          <p:nvPr/>
        </p:nvPicPr>
        <p:blipFill>
          <a:blip r:embed="rId6"/>
          <a:stretch>
            <a:fillRect/>
          </a:stretch>
        </p:blipFill>
        <p:spPr>
          <a:xfrm>
            <a:off x="1964569" y="5858824"/>
            <a:ext cx="4648849" cy="419158"/>
          </a:xfrm>
          <a:prstGeom prst="rect">
            <a:avLst/>
          </a:prstGeom>
        </p:spPr>
      </p:pic>
      <p:pic>
        <p:nvPicPr>
          <p:cNvPr id="3" name="图片 2"/>
          <p:cNvPicPr>
            <a:picLocks noChangeAspect="1"/>
          </p:cNvPicPr>
          <p:nvPr/>
        </p:nvPicPr>
        <p:blipFill>
          <a:blip r:embed="rId7"/>
          <a:stretch>
            <a:fillRect/>
          </a:stretch>
        </p:blipFill>
        <p:spPr>
          <a:xfrm>
            <a:off x="1968945" y="4916934"/>
            <a:ext cx="4420217" cy="628738"/>
          </a:xfrm>
          <a:prstGeom prst="rect">
            <a:avLst/>
          </a:prstGeom>
        </p:spPr>
      </p:pic>
      <p:pic>
        <p:nvPicPr>
          <p:cNvPr id="5" name="图片 4"/>
          <p:cNvPicPr>
            <a:picLocks noChangeAspect="1"/>
          </p:cNvPicPr>
          <p:nvPr/>
        </p:nvPicPr>
        <p:blipFill>
          <a:blip r:embed="rId8"/>
          <a:stretch>
            <a:fillRect/>
          </a:stretch>
        </p:blipFill>
        <p:spPr>
          <a:xfrm>
            <a:off x="6457950" y="4889038"/>
            <a:ext cx="1214250" cy="628738"/>
          </a:xfrm>
          <a:prstGeom prst="rect">
            <a:avLst/>
          </a:prstGeom>
        </p:spPr>
      </p:pic>
    </p:spTree>
    <p:extLst>
      <p:ext uri="{BB962C8B-B14F-4D97-AF65-F5344CB8AC3E}">
        <p14:creationId xmlns:p14="http://schemas.microsoft.com/office/powerpoint/2010/main" val="13641548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a:t>
            </a:r>
            <a:r>
              <a:rPr lang="zh-CN" altLang="en-US" sz="3200" b="1" dirty="0">
                <a:latin typeface="黑体" panose="02010609060101010101" pitchFamily="49" charset="-122"/>
                <a:ea typeface="黑体" panose="02010609060101010101" pitchFamily="49" charset="-122"/>
                <a:cs typeface="+mn-ea"/>
                <a:sym typeface="+mn-lt"/>
              </a:rPr>
              <a:t>（第四章）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22</a:t>
            </a:fld>
            <a:endParaRPr lang="zh-CN" altLang="en-US" dirty="0"/>
          </a:p>
        </p:txBody>
      </p:sp>
      <p:sp>
        <p:nvSpPr>
          <p:cNvPr id="8" name="矩形 7"/>
          <p:cNvSpPr/>
          <p:nvPr/>
        </p:nvSpPr>
        <p:spPr>
          <a:xfrm>
            <a:off x="628657" y="1201772"/>
            <a:ext cx="7886693" cy="3783087"/>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时延指标定义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以</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时隙</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为测度的</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时延</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4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以块长度为测度的平均接入时延</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6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1438170" y="2315646"/>
            <a:ext cx="4610477" cy="652883"/>
          </a:xfrm>
          <a:prstGeom prst="rect">
            <a:avLst/>
          </a:prstGeom>
        </p:spPr>
      </p:pic>
      <p:pic>
        <p:nvPicPr>
          <p:cNvPr id="5" name="图片 4"/>
          <p:cNvPicPr>
            <a:picLocks noChangeAspect="1"/>
          </p:cNvPicPr>
          <p:nvPr/>
        </p:nvPicPr>
        <p:blipFill>
          <a:blip r:embed="rId3"/>
          <a:stretch>
            <a:fillRect/>
          </a:stretch>
        </p:blipFill>
        <p:spPr>
          <a:xfrm>
            <a:off x="1438170" y="4011364"/>
            <a:ext cx="5334744" cy="657317"/>
          </a:xfrm>
          <a:prstGeom prst="rect">
            <a:avLst/>
          </a:prstGeom>
        </p:spPr>
      </p:pic>
      <p:sp>
        <p:nvSpPr>
          <p:cNvPr id="7" name="圆角矩形 6"/>
          <p:cNvSpPr/>
          <p:nvPr/>
        </p:nvSpPr>
        <p:spPr bwMode="auto">
          <a:xfrm>
            <a:off x="1064713" y="1723473"/>
            <a:ext cx="5118804" cy="1318490"/>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9" name="圆角矩形 8"/>
          <p:cNvSpPr/>
          <p:nvPr/>
        </p:nvSpPr>
        <p:spPr bwMode="auto">
          <a:xfrm>
            <a:off x="1064713" y="3560702"/>
            <a:ext cx="5879295" cy="124755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1136228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23</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374461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平均接入时延优化问题</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buFont typeface="Arial" panose="020B0604020202020204" pitchFamily="34" charset="0"/>
                  <a:buChar char="•"/>
                  <a:tabLst>
                    <a:tab pos="927100" algn="l"/>
                  </a:tabLst>
                </a:pPr>
                <a:r>
                  <a:rPr lang="zh-CN" altLang="en-US" sz="1400" dirty="0" smtClean="0">
                    <a:ea typeface="SimHei" panose="02010609060101010101" pitchFamily="49" charset="-122"/>
                    <a:cs typeface="Times New Roman" panose="02020603050405020304" pitchFamily="18" charset="0"/>
                  </a:rPr>
                  <a:t>时延显</a:t>
                </a:r>
                <a:r>
                  <a:rPr lang="zh-CN" altLang="en-US" sz="1400" dirty="0">
                    <a:ea typeface="SimHei" panose="02010609060101010101" pitchFamily="49" charset="-122"/>
                    <a:cs typeface="Times New Roman" panose="02020603050405020304" pitchFamily="18" charset="0"/>
                  </a:rPr>
                  <a:t>式</a:t>
                </a:r>
                <a:r>
                  <a:rPr lang="zh-CN" altLang="en-US" sz="1400" dirty="0" smtClean="0">
                    <a:ea typeface="SimHei" panose="02010609060101010101" pitchFamily="49" charset="-122"/>
                    <a:cs typeface="Times New Roman" panose="02020603050405020304" pitchFamily="18" charset="0"/>
                  </a:rPr>
                  <a:t>解特征：参数高度耦合 </a:t>
                </a: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𝐸𝐷</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𝑁</m:t>
                        </m:r>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r>
                          <a:rPr lang="en-US" altLang="zh-CN" sz="1400" i="1">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   </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𝑝</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14:m>
                  <m:oMath xmlns:m="http://schemas.openxmlformats.org/officeDocument/2006/math">
                    <m:sSub>
                      <m:sSubPr>
                        <m:ctrlPr>
                          <a:rPr lang="en-US" altLang="zh-CN" sz="140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𝑝</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𝑁</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0</m:t>
                        </m:r>
                      </m:sub>
                    </m:sSub>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b="0" i="1" smtClean="0">
                        <a:solidFill>
                          <a:schemeClr val="accent2">
                            <a:lumMod val="75000"/>
                          </a:schemeClr>
                        </a:solidFill>
                        <a:latin typeface="Cambria Math" panose="02040503050406030204" pitchFamily="18" charset="0"/>
                        <a:ea typeface="SimHei" panose="02010609060101010101" pitchFamily="49" charset="-122"/>
                        <a:cs typeface="Times New Roman" panose="02020603050405020304" pitchFamily="18" charset="0"/>
                      </a:rPr>
                      <m:t>)</m:t>
                    </m:r>
                  </m:oMath>
                </a14:m>
                <a:endParaRPr lang="en-US" altLang="zh-CN" sz="1400" b="0" dirty="0">
                  <a:solidFill>
                    <a:schemeClr val="accent2">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ct val="150000"/>
                  </a:lnSpc>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问题化简：讨论极限</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情况、数值求解、仿真</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验证</a:t>
                </a:r>
                <a:endParaRPr lang="en-US" altLang="zh-CN" sz="1400" b="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根据重传限制</a:t>
                </a:r>
                <a:r>
                  <a:rPr lang="en-US" altLang="zh-CN" b="1"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，分类讨论极限情况</a:t>
                </a: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spcBef>
                    <a:spcPts val="1245"/>
                  </a:spcBef>
                  <a:buFont typeface="Arial" panose="020B0604020202020204" pitchFamily="34" charset="0"/>
                  <a:buChar char="•"/>
                  <a:tabLst>
                    <a:tab pos="927100" algn="l"/>
                  </a:tabLst>
                </a:pP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𝑀</m:t>
                    </m:r>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=1</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与 </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都有其明确物理含义</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3744615"/>
              </a:xfrm>
              <a:prstGeom prst="rect">
                <a:avLst/>
              </a:prstGeom>
              <a:blipFill>
                <a:blip r:embed="rId2"/>
                <a:stretch>
                  <a:fillRect l="-1005" t="-1792"/>
                </a:stretch>
              </a:blipFill>
            </p:spPr>
            <p:txBody>
              <a:bodyPr/>
              <a:lstStyle/>
              <a:p>
                <a:r>
                  <a:rPr lang="zh-CN" altLang="en-US">
                    <a:noFill/>
                  </a:rPr>
                  <a:t> </a:t>
                </a:r>
              </a:p>
            </p:txBody>
          </p:sp>
        </mc:Fallback>
      </mc:AlternateContent>
      <p:pic>
        <p:nvPicPr>
          <p:cNvPr id="6" name="图片 5"/>
          <p:cNvPicPr>
            <a:picLocks noChangeAspect="1"/>
          </p:cNvPicPr>
          <p:nvPr/>
        </p:nvPicPr>
        <p:blipFill rotWithShape="1">
          <a:blip r:embed="rId3"/>
          <a:srcRect l="2601"/>
          <a:stretch/>
        </p:blipFill>
        <p:spPr>
          <a:xfrm>
            <a:off x="1550126" y="2107102"/>
            <a:ext cx="5455764" cy="924054"/>
          </a:xfrm>
          <a:prstGeom prst="rect">
            <a:avLst/>
          </a:prstGeom>
        </p:spPr>
      </p:pic>
      <p:pic>
        <p:nvPicPr>
          <p:cNvPr id="9" name="图片 8"/>
          <p:cNvPicPr>
            <a:picLocks noChangeAspect="1"/>
          </p:cNvPicPr>
          <p:nvPr/>
        </p:nvPicPr>
        <p:blipFill rotWithShape="1">
          <a:blip r:embed="rId4"/>
          <a:srcRect l="8012" t="9291" b="13836"/>
          <a:stretch/>
        </p:blipFill>
        <p:spPr>
          <a:xfrm>
            <a:off x="2303461" y="5018063"/>
            <a:ext cx="1381392" cy="590626"/>
          </a:xfrm>
          <a:prstGeom prst="rect">
            <a:avLst/>
          </a:prstGeom>
        </p:spPr>
      </p:pic>
      <p:pic>
        <p:nvPicPr>
          <p:cNvPr id="13" name="图片 12"/>
          <p:cNvPicPr>
            <a:picLocks noChangeAspect="1"/>
          </p:cNvPicPr>
          <p:nvPr/>
        </p:nvPicPr>
        <p:blipFill>
          <a:blip r:embed="rId5"/>
          <a:stretch>
            <a:fillRect/>
          </a:stretch>
        </p:blipFill>
        <p:spPr>
          <a:xfrm>
            <a:off x="4377186" y="6070010"/>
            <a:ext cx="2902522" cy="651468"/>
          </a:xfrm>
          <a:prstGeom prst="rect">
            <a:avLst/>
          </a:prstGeom>
        </p:spPr>
      </p:pic>
      <p:pic>
        <p:nvPicPr>
          <p:cNvPr id="14" name="图片 13"/>
          <p:cNvPicPr>
            <a:picLocks noChangeAspect="1"/>
          </p:cNvPicPr>
          <p:nvPr/>
        </p:nvPicPr>
        <p:blipFill rotWithShape="1">
          <a:blip r:embed="rId6"/>
          <a:srcRect l="9155" t="13874" b="6381"/>
          <a:stretch/>
        </p:blipFill>
        <p:spPr>
          <a:xfrm>
            <a:off x="2233247" y="6065913"/>
            <a:ext cx="1521820" cy="534353"/>
          </a:xfrm>
          <a:prstGeom prst="rect">
            <a:avLst/>
          </a:prstGeom>
        </p:spPr>
      </p:pic>
      <p:sp>
        <p:nvSpPr>
          <p:cNvPr id="16" name="左箭头 15"/>
          <p:cNvSpPr/>
          <p:nvPr/>
        </p:nvSpPr>
        <p:spPr>
          <a:xfrm>
            <a:off x="3818207" y="6333089"/>
            <a:ext cx="558979" cy="15265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59427" y="4674448"/>
            <a:ext cx="1584961" cy="307777"/>
          </a:xfrm>
          <a:prstGeom prst="rect">
            <a:avLst/>
          </a:prstGeom>
          <a:noFill/>
        </p:spPr>
        <p:txBody>
          <a:bodyPr wrap="square" rtlCol="0">
            <a:spAutoFit/>
          </a:bodyPr>
          <a:lstStyle/>
          <a:p>
            <a:pPr marL="285750" indent="-285750">
              <a:buFont typeface="Wingdings" panose="05000000000000000000" pitchFamily="2" charset="2"/>
              <a:buChar char="p"/>
            </a:pPr>
            <a:r>
              <a:rPr lang="zh-CN" altLang="en-US" sz="1400" dirty="0" smtClean="0">
                <a:latin typeface="黑体" panose="02010609060101010101" pitchFamily="49" charset="-122"/>
                <a:ea typeface="黑体" panose="02010609060101010101" pitchFamily="49" charset="-122"/>
              </a:rPr>
              <a:t>不进行重传</a:t>
            </a:r>
            <a:endParaRPr lang="zh-CN" altLang="en-US" sz="1400" dirty="0">
              <a:latin typeface="黑体" panose="02010609060101010101" pitchFamily="49" charset="-122"/>
              <a:ea typeface="黑体" panose="02010609060101010101" pitchFamily="49" charset="-122"/>
            </a:endParaRPr>
          </a:p>
        </p:txBody>
      </p:sp>
      <p:sp>
        <p:nvSpPr>
          <p:cNvPr id="5" name="文本框 4"/>
          <p:cNvSpPr txBox="1"/>
          <p:nvPr/>
        </p:nvSpPr>
        <p:spPr>
          <a:xfrm>
            <a:off x="1959428" y="5766638"/>
            <a:ext cx="2956603" cy="307777"/>
          </a:xfrm>
          <a:prstGeom prst="rect">
            <a:avLst/>
          </a:prstGeom>
          <a:noFill/>
        </p:spPr>
        <p:txBody>
          <a:bodyPr wrap="square" rtlCol="0">
            <a:spAutoFit/>
          </a:bodyPr>
          <a:lstStyle/>
          <a:p>
            <a:pPr marL="285750" indent="-285750">
              <a:buFont typeface="Wingdings" panose="05000000000000000000" pitchFamily="2" charset="2"/>
              <a:buChar char="p"/>
            </a:pPr>
            <a:r>
              <a:rPr lang="zh-CN" altLang="en-US" sz="1400" dirty="0">
                <a:latin typeface="黑体" panose="02010609060101010101" pitchFamily="49" charset="-122"/>
                <a:ea typeface="黑体" panose="02010609060101010101" pitchFamily="49" charset="-122"/>
              </a:rPr>
              <a:t>无限制</a:t>
            </a:r>
            <a:r>
              <a:rPr lang="zh-CN" altLang="en-US" sz="1400" dirty="0" smtClean="0">
                <a:latin typeface="黑体" panose="02010609060101010101" pitchFamily="49" charset="-122"/>
                <a:ea typeface="黑体" panose="02010609060101010101" pitchFamily="49" charset="-122"/>
              </a:rPr>
              <a:t>重传：可靠传输</a:t>
            </a:r>
            <a:endParaRPr lang="zh-CN" altLang="en-US" sz="1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173102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24</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51689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平均接入时延优化数值计算分析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solidFill>
                              <a:schemeClr val="tx1"/>
                            </a:solidFill>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rPr>
                  <a:t>增大可以改善接入时延</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的减小可以改善接入时延</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结合图</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2-3</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p</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关于</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的变化情况，</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取值合适情况下可以降低时延</a:t>
                </a:r>
                <a:endParaRPr lang="en-US" altLang="zh-CN" sz="1400" dirty="0">
                  <a:solidFill>
                    <a:schemeClr val="tx1"/>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516895"/>
              </a:xfrm>
              <a:prstGeom prst="rect">
                <a:avLst/>
              </a:prstGeom>
              <a:blipFill>
                <a:blip r:embed="rId2"/>
                <a:stretch>
                  <a:fillRect l="-1005" t="-1215" b="-552"/>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28657" y="2050452"/>
            <a:ext cx="7886693" cy="3862173"/>
          </a:xfrm>
          <a:prstGeom prst="rect">
            <a:avLst/>
          </a:prstGeom>
        </p:spPr>
      </p:pic>
    </p:spTree>
    <p:extLst>
      <p:ext uri="{BB962C8B-B14F-4D97-AF65-F5344CB8AC3E}">
        <p14:creationId xmlns:p14="http://schemas.microsoft.com/office/powerpoint/2010/main" val="7482790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25</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693866"/>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平均接入时延仿真</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验证</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Wingdings" panose="05000000000000000000" pitchFamily="2" charset="2"/>
                  <a:buChar char="Ø"/>
                  <a:tabLst>
                    <a:tab pos="927100" algn="l"/>
                  </a:tabLst>
                </a:pPr>
                <a:endParaRPr lang="en-US" altLang="zh-CN" sz="1000" b="1"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0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200"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800"/>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仿真验证：图</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4-1</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的前两条结论</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800"/>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仿真验证：重传</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限制</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𝑀</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的增大可以提高传输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可靠性</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693866"/>
              </a:xfrm>
              <a:prstGeom prst="rect">
                <a:avLst/>
              </a:prstGeom>
              <a:blipFill>
                <a:blip r:embed="rId2"/>
                <a:stretch>
                  <a:fillRect l="-1005" t="-1178"/>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1446" r="1677" b="3795"/>
          <a:stretch/>
        </p:blipFill>
        <p:spPr>
          <a:xfrm>
            <a:off x="628657" y="2169392"/>
            <a:ext cx="7623018" cy="3922540"/>
          </a:xfrm>
          <a:prstGeom prst="rect">
            <a:avLst/>
          </a:prstGeom>
        </p:spPr>
      </p:pic>
    </p:spTree>
    <p:extLst>
      <p:ext uri="{BB962C8B-B14F-4D97-AF65-F5344CB8AC3E}">
        <p14:creationId xmlns:p14="http://schemas.microsoft.com/office/powerpoint/2010/main" val="1898694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28657" y="2000009"/>
            <a:ext cx="7886693" cy="3818029"/>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26</a:t>
            </a:fld>
            <a:endParaRPr lang="zh-CN" altLang="en-US" dirty="0"/>
          </a:p>
        </p:txBody>
      </p:sp>
      <p:sp>
        <p:nvSpPr>
          <p:cNvPr id="8" name="矩形 7"/>
          <p:cNvSpPr/>
          <p:nvPr/>
        </p:nvSpPr>
        <p:spPr>
          <a:xfrm>
            <a:off x="628657" y="1201772"/>
            <a:ext cx="7886693" cy="5516895"/>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最优时延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最优平均接入时延优化数值计算分析</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暴力搜索方法得到数值解</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一组合适的参数（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较小，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较大</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）符合</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低时延高</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可靠性设计需求，</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ct val="50000"/>
              </a:lnSpc>
              <a:spcBef>
                <a:spcPts val="1245"/>
              </a:spcBef>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但是会导致网络最优总和速率降低（参考图</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3-2</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34744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27</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886693" cy="546816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时延</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与数据速率的关系</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平均接入时延与数据速率的关系（仿真验证）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500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仿真验证：</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足够大时，</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𝐶</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与 </a:t>
                </a:r>
                <a14:m>
                  <m:oMath xmlns:m="http://schemas.openxmlformats.org/officeDocument/2006/math">
                    <m:r>
                      <a:rPr lang="en-US" altLang="zh-CN" sz="1400" b="0" i="1" dirty="0" smtClean="0">
                        <a:latin typeface="Cambria Math" panose="02040503050406030204" pitchFamily="18" charset="0"/>
                        <a:ea typeface="SimHei" panose="02010609060101010101" pitchFamily="49" charset="-122"/>
                        <a:cs typeface="Times New Roman" panose="02020603050405020304" pitchFamily="18" charset="0"/>
                      </a:rPr>
                      <m:t>𝐸𝐷</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呈反比例</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关系</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，此时两指标可以共同优化。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468164"/>
              </a:xfrm>
              <a:prstGeom prst="rect">
                <a:avLst/>
              </a:prstGeom>
              <a:blipFill>
                <a:blip r:embed="rId2"/>
                <a:stretch>
                  <a:fillRect l="-1005" t="-1226" b="-557"/>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188134" y="2842788"/>
            <a:ext cx="6704219" cy="3513565"/>
          </a:xfrm>
          <a:prstGeom prst="rect">
            <a:avLst/>
          </a:prstGeom>
        </p:spPr>
      </p:pic>
      <p:pic>
        <p:nvPicPr>
          <p:cNvPr id="6" name="图片 5"/>
          <p:cNvPicPr>
            <a:picLocks noChangeAspect="1"/>
          </p:cNvPicPr>
          <p:nvPr/>
        </p:nvPicPr>
        <p:blipFill>
          <a:blip r:embed="rId4"/>
          <a:stretch>
            <a:fillRect/>
          </a:stretch>
        </p:blipFill>
        <p:spPr>
          <a:xfrm>
            <a:off x="1443573" y="2175672"/>
            <a:ext cx="4375265" cy="749434"/>
          </a:xfrm>
          <a:prstGeom prst="rect">
            <a:avLst/>
          </a:prstGeom>
        </p:spPr>
      </p:pic>
    </p:spTree>
    <p:extLst>
      <p:ext uri="{BB962C8B-B14F-4D97-AF65-F5344CB8AC3E}">
        <p14:creationId xmlns:p14="http://schemas.microsoft.com/office/powerpoint/2010/main" val="2297447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28</a:t>
            </a:fld>
            <a:endParaRPr lang="zh-CN" altLang="en-US" dirty="0"/>
          </a:p>
        </p:txBody>
      </p:sp>
      <p:grpSp>
        <p:nvGrpSpPr>
          <p:cNvPr id="3" name="组合 2"/>
          <p:cNvGrpSpPr/>
          <p:nvPr/>
        </p:nvGrpSpPr>
        <p:grpSpPr>
          <a:xfrm>
            <a:off x="628657" y="1201772"/>
            <a:ext cx="7383229" cy="2359620"/>
            <a:chOff x="628657" y="1201772"/>
            <a:chExt cx="7383229" cy="2359620"/>
          </a:xfrm>
        </p:grpSpPr>
        <p:sp>
          <p:nvSpPr>
            <p:cNvPr id="8" name="矩形 7"/>
            <p:cNvSpPr/>
            <p:nvPr/>
          </p:nvSpPr>
          <p:spPr>
            <a:xfrm>
              <a:off x="628657" y="1201772"/>
              <a:ext cx="7383229" cy="2359620"/>
            </a:xfrm>
            <a:prstGeom prst="rect">
              <a:avLst/>
            </a:prstGeom>
          </p:spPr>
          <p:txBody>
            <a:bodyPr wrap="square">
              <a:spAutoFit/>
            </a:bodyPr>
            <a:lstStyle/>
            <a:p>
              <a:pPr marL="12700">
                <a:lnSpc>
                  <a:spcPct val="100000"/>
                </a:lnSpc>
              </a:pPr>
              <a:r>
                <a:rPr lang="en-US" altLang="zh-CN"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场景短</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包</a:t>
              </a:r>
              <a:r>
                <a:rPr lang="en-US" altLang="zh-CN"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2400" b="1" spc="1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网络性能分析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场景特征</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业务需求：时延关键的超可靠传输（</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99.999%</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a:t>
              </a: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时延约束：</a:t>
              </a:r>
            </a:p>
            <a:p>
              <a:pPr marL="1270000" lvl="1" indent="-342900">
                <a:lnSpc>
                  <a:spcPts val="25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LTE-M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带宽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B </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1.08 </a:t>
              </a:r>
              <a:r>
                <a:rPr lang="en-US" altLang="zh-CN" sz="1400" dirty="0" err="1" smtClean="0">
                  <a:latin typeface="Times New Roman" panose="02020603050405020304" pitchFamily="18" charset="0"/>
                  <a:ea typeface="SimHei" panose="02010609060101010101" pitchFamily="49" charset="-122"/>
                  <a:cs typeface="Times New Roman" panose="02020603050405020304" pitchFamily="18" charset="0"/>
                </a:rPr>
                <a:t>Mhz</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pic>
          <p:nvPicPr>
            <p:cNvPr id="10" name="图片 9"/>
            <p:cNvPicPr>
              <a:picLocks noChangeAspect="1"/>
            </p:cNvPicPr>
            <p:nvPr/>
          </p:nvPicPr>
          <p:blipFill rotWithShape="1">
            <a:blip r:embed="rId2"/>
            <a:srcRect l="6296" t="15224"/>
            <a:stretch/>
          </p:blipFill>
          <p:spPr>
            <a:xfrm>
              <a:off x="2876550" y="2740685"/>
              <a:ext cx="1276636" cy="313416"/>
            </a:xfrm>
            <a:prstGeom prst="rect">
              <a:avLst/>
            </a:prstGeom>
          </p:spPr>
        </p:pic>
      </p:grpSp>
      <p:sp>
        <p:nvSpPr>
          <p:cNvPr id="5" name="矩形 4"/>
          <p:cNvSpPr/>
          <p:nvPr/>
        </p:nvSpPr>
        <p:spPr>
          <a:xfrm>
            <a:off x="628656" y="3718135"/>
            <a:ext cx="7383229" cy="2310889"/>
          </a:xfrm>
          <a:prstGeom prst="rect">
            <a:avLst/>
          </a:prstGeom>
        </p:spPr>
        <p:txBody>
          <a:bodyPr wrap="square">
            <a:spAutoFit/>
          </a:bodyPr>
          <a:lstStyle/>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理论分析</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共同优化</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参考定理</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3.1</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可得</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性能指标：最大允许信息比特数</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14" name="组合 13"/>
          <p:cNvGrpSpPr/>
          <p:nvPr/>
        </p:nvGrpSpPr>
        <p:grpSpPr>
          <a:xfrm>
            <a:off x="2876206" y="4108838"/>
            <a:ext cx="4548373" cy="580504"/>
            <a:chOff x="1950554" y="4068675"/>
            <a:chExt cx="5153403" cy="651468"/>
          </a:xfrm>
        </p:grpSpPr>
        <p:sp>
          <p:nvSpPr>
            <p:cNvPr id="11" name="左箭头 15">
              <a:extLst>
                <a:ext uri="{FF2B5EF4-FFF2-40B4-BE49-F238E27FC236}">
                  <a16:creationId xmlns:a16="http://schemas.microsoft.com/office/drawing/2014/main" id="{C1A64745-58B6-408E-99F1-1B240064B3FC}"/>
                </a:ext>
              </a:extLst>
            </p:cNvPr>
            <p:cNvSpPr/>
            <p:nvPr/>
          </p:nvSpPr>
          <p:spPr>
            <a:xfrm>
              <a:off x="3557415" y="4324474"/>
              <a:ext cx="558979" cy="152657"/>
            </a:xfrm>
            <a:prstGeom prst="lef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4F0FC69-F12E-416F-B3EF-E7380AC17D12}"/>
                </a:ext>
              </a:extLst>
            </p:cNvPr>
            <p:cNvPicPr>
              <a:picLocks noChangeAspect="1"/>
            </p:cNvPicPr>
            <p:nvPr/>
          </p:nvPicPr>
          <p:blipFill>
            <a:blip r:embed="rId3"/>
            <a:stretch>
              <a:fillRect/>
            </a:stretch>
          </p:blipFill>
          <p:spPr>
            <a:xfrm>
              <a:off x="4201435" y="4068675"/>
              <a:ext cx="2902522" cy="651468"/>
            </a:xfrm>
            <a:prstGeom prst="rect">
              <a:avLst/>
            </a:prstGeom>
          </p:spPr>
        </p:pic>
        <p:pic>
          <p:nvPicPr>
            <p:cNvPr id="13" name="图片 12">
              <a:extLst>
                <a:ext uri="{FF2B5EF4-FFF2-40B4-BE49-F238E27FC236}">
                  <a16:creationId xmlns:a16="http://schemas.microsoft.com/office/drawing/2014/main" id="{0BE56719-62C7-44EA-8698-E28A09020C50}"/>
                </a:ext>
              </a:extLst>
            </p:cNvPr>
            <p:cNvPicPr>
              <a:picLocks noChangeAspect="1"/>
            </p:cNvPicPr>
            <p:nvPr/>
          </p:nvPicPr>
          <p:blipFill rotWithShape="1">
            <a:blip r:embed="rId4"/>
            <a:srcRect l="9155" t="13874" b="6381"/>
            <a:stretch/>
          </p:blipFill>
          <p:spPr>
            <a:xfrm>
              <a:off x="1950554" y="4127233"/>
              <a:ext cx="1521820" cy="534353"/>
            </a:xfrm>
            <a:prstGeom prst="rect">
              <a:avLst/>
            </a:prstGeom>
          </p:spPr>
        </p:pic>
      </p:grpSp>
      <p:pic>
        <p:nvPicPr>
          <p:cNvPr id="15" name="图片 14"/>
          <p:cNvPicPr>
            <a:picLocks noChangeAspect="1"/>
          </p:cNvPicPr>
          <p:nvPr/>
        </p:nvPicPr>
        <p:blipFill rotWithShape="1">
          <a:blip r:embed="rId5"/>
          <a:srcRect t="12095"/>
          <a:stretch/>
        </p:blipFill>
        <p:spPr>
          <a:xfrm>
            <a:off x="3391403" y="4732787"/>
            <a:ext cx="2942844" cy="404979"/>
          </a:xfrm>
          <a:prstGeom prst="rect">
            <a:avLst/>
          </a:prstGeom>
        </p:spPr>
      </p:pic>
      <p:pic>
        <p:nvPicPr>
          <p:cNvPr id="16" name="图片 15"/>
          <p:cNvPicPr>
            <a:picLocks noChangeAspect="1"/>
          </p:cNvPicPr>
          <p:nvPr/>
        </p:nvPicPr>
        <p:blipFill>
          <a:blip r:embed="rId6"/>
          <a:stretch>
            <a:fillRect/>
          </a:stretch>
        </p:blipFill>
        <p:spPr>
          <a:xfrm>
            <a:off x="1890209" y="5474008"/>
            <a:ext cx="2819794" cy="581106"/>
          </a:xfrm>
          <a:prstGeom prst="rect">
            <a:avLst/>
          </a:prstGeom>
        </p:spPr>
      </p:pic>
    </p:spTree>
    <p:extLst>
      <p:ext uri="{BB962C8B-B14F-4D97-AF65-F5344CB8AC3E}">
        <p14:creationId xmlns:p14="http://schemas.microsoft.com/office/powerpoint/2010/main" val="42294195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620759" y="2015587"/>
            <a:ext cx="7894591" cy="3925820"/>
          </a:xfrm>
          <a:prstGeom prst="rect">
            <a:avLst/>
          </a:prstGeom>
        </p:spPr>
      </p:pic>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性能分析与优化（第四章）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29</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7383229" cy="5470728"/>
              </a:xfrm>
              <a:prstGeom prst="rect">
                <a:avLst/>
              </a:prstGeom>
            </p:spPr>
            <p:txBody>
              <a:bodyPr wrap="square">
                <a:spAutoFit/>
              </a:bodyPr>
              <a:lstStyle/>
              <a:p>
                <a:pPr marL="12700">
                  <a:lnSpc>
                    <a:spcPct val="100000"/>
                  </a:lnSpc>
                </a:pPr>
                <a:r>
                  <a:rPr lang="en-US" altLang="zh-CN"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场景短包</a:t>
                </a:r>
                <a:r>
                  <a:rPr lang="en-US" altLang="zh-CN"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2400" b="1" spc="1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网络性能分析</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数值计算结果</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rPr>
                        </m:ctrlPr>
                      </m:sSubPr>
                      <m:e>
                        <m:r>
                          <a:rPr lang="en-US" altLang="zh-CN" sz="1400" b="0" i="1" smtClean="0">
                            <a:latin typeface="Cambria Math" panose="02040503050406030204" pitchFamily="18" charset="0"/>
                            <a:ea typeface="SimHei" panose="02010609060101010101" pitchFamily="49" charset="-122"/>
                          </a:rPr>
                          <m:t>𝑘</m:t>
                        </m:r>
                      </m:e>
                      <m:sub>
                        <m:r>
                          <a:rPr lang="en-US" altLang="zh-CN" sz="1400" b="0" i="1" smtClean="0">
                            <a:latin typeface="Cambria Math" panose="02040503050406030204" pitchFamily="18" charset="0"/>
                            <a:ea typeface="SimHei" panose="02010609060101010101" pitchFamily="49" charset="-122"/>
                          </a:rPr>
                          <m:t>𝑚𝑎𝑥</m:t>
                        </m:r>
                      </m:sub>
                    </m:sSub>
                  </m:oMath>
                </a14:m>
                <a:r>
                  <a:rPr lang="zh-CN" altLang="en-US" sz="1400" dirty="0">
                    <a:latin typeface="SimHei" panose="02010609060101010101" pitchFamily="49" charset="-122"/>
                    <a:ea typeface="SimHei" panose="02010609060101010101" pitchFamily="49" charset="-122"/>
                    <a:cs typeface="Microsoft JhengHei"/>
                  </a:rPr>
                  <a:t> 随 网络规模 </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Microsoft JhengHei"/>
                      </a:rPr>
                      <m:t>𝑛</m:t>
                    </m:r>
                  </m:oMath>
                </a14:m>
                <a:r>
                  <a:rPr lang="zh-CN" altLang="en-US" sz="1400" dirty="0">
                    <a:latin typeface="SimHei" panose="02010609060101010101" pitchFamily="49" charset="-122"/>
                    <a:ea typeface="SimHei" panose="02010609060101010101" pitchFamily="49" charset="-122"/>
                    <a:cs typeface="Microsoft JhengHei"/>
                  </a:rPr>
                  <a:t> 单调递减</a:t>
                </a:r>
                <a:endParaRPr lang="en-US" altLang="zh-CN" sz="1400" dirty="0">
                  <a:latin typeface="SimHei" panose="02010609060101010101" pitchFamily="49" charset="-122"/>
                  <a:ea typeface="SimHei" panose="02010609060101010101" pitchFamily="49" charset="-122"/>
                  <a:cs typeface="Microsoft JhengHei"/>
                </a:endParaRPr>
              </a:p>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rPr>
                        </m:ctrlPr>
                      </m:sSubPr>
                      <m:e>
                        <m:r>
                          <a:rPr lang="en-US" altLang="zh-CN" sz="1400" i="1">
                            <a:latin typeface="Cambria Math" panose="02040503050406030204" pitchFamily="18" charset="0"/>
                            <a:ea typeface="SimHei" panose="02010609060101010101" pitchFamily="49" charset="-122"/>
                          </a:rPr>
                          <m:t>𝑘</m:t>
                        </m:r>
                      </m:e>
                      <m:sub>
                        <m:r>
                          <a:rPr lang="en-US" altLang="zh-CN" sz="1400" i="1">
                            <a:latin typeface="Cambria Math" panose="02040503050406030204" pitchFamily="18" charset="0"/>
                            <a:ea typeface="SimHei" panose="02010609060101010101" pitchFamily="49" charset="-122"/>
                          </a:rPr>
                          <m:t>𝑚𝑎𝑥</m:t>
                        </m:r>
                      </m:sub>
                    </m:sSub>
                  </m:oMath>
                </a14:m>
                <a:r>
                  <a:rPr lang="zh-CN" altLang="en-US" sz="1400" dirty="0">
                    <a:latin typeface="SimHei" panose="02010609060101010101" pitchFamily="49" charset="-122"/>
                    <a:ea typeface="SimHei" panose="02010609060101010101" pitchFamily="49" charset="-122"/>
                    <a:cs typeface="Microsoft JhengHei"/>
                  </a:rPr>
                  <a:t> 随 信噪比 </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Microsoft JhengHei"/>
                      </a:rPr>
                      <m:t>𝜌</m:t>
                    </m:r>
                  </m:oMath>
                </a14:m>
                <a:r>
                  <a:rPr lang="zh-CN" altLang="en-US" sz="1400" dirty="0">
                    <a:latin typeface="SimHei" panose="02010609060101010101" pitchFamily="49" charset="-122"/>
                    <a:ea typeface="SimHei" panose="02010609060101010101" pitchFamily="49" charset="-122"/>
                    <a:cs typeface="Microsoft JhengHei"/>
                  </a:rPr>
                  <a:t> 递增，但存在边际效用递减</a:t>
                </a: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383229" cy="5470728"/>
              </a:xfrm>
              <a:prstGeom prst="rect">
                <a:avLst/>
              </a:prstGeom>
              <a:blipFill>
                <a:blip r:embed="rId3"/>
                <a:stretch>
                  <a:fillRect l="-1073" t="-1225" b="-111"/>
                </a:stretch>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4133854" y="5941407"/>
            <a:ext cx="1349826" cy="414946"/>
          </a:xfrm>
          <a:prstGeom prst="rect">
            <a:avLst/>
          </a:prstGeom>
        </p:spPr>
      </p:pic>
    </p:spTree>
    <p:extLst>
      <p:ext uri="{BB962C8B-B14F-4D97-AF65-F5344CB8AC3E}">
        <p14:creationId xmlns:p14="http://schemas.microsoft.com/office/powerpoint/2010/main" val="12079699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a:t>
            </a:r>
            <a:r>
              <a:rPr lang="zh-CN" altLang="en-US" sz="3200" b="1" dirty="0" smtClean="0">
                <a:latin typeface="黑体" panose="02010609060101010101" pitchFamily="49" charset="-122"/>
                <a:ea typeface="黑体" panose="02010609060101010101" pitchFamily="49" charset="-122"/>
                <a:cs typeface="+mn-ea"/>
                <a:sym typeface="+mn-lt"/>
              </a:rPr>
              <a:t>优化（第五章）</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30</a:t>
            </a:fld>
            <a:endParaRPr lang="zh-CN" altLang="en-US" dirty="0"/>
          </a:p>
        </p:txBody>
      </p:sp>
      <p:sp>
        <p:nvSpPr>
          <p:cNvPr id="8" name="矩形 7"/>
          <p:cNvSpPr/>
          <p:nvPr/>
        </p:nvSpPr>
        <p:spPr>
          <a:xfrm>
            <a:off x="628657" y="1201772"/>
            <a:ext cx="6800843" cy="4257576"/>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能量效率指标定义</a:t>
            </a:r>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节点生命周期</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节点生命周期内成功传输数据包的</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期望（能量效率指标）</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节点生命周期</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节点吞吐量</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p:grpSp>
        <p:nvGrpSpPr>
          <p:cNvPr id="3" name="组合 2"/>
          <p:cNvGrpSpPr/>
          <p:nvPr/>
        </p:nvGrpSpPr>
        <p:grpSpPr>
          <a:xfrm>
            <a:off x="1536729" y="2169292"/>
            <a:ext cx="6403342" cy="1540797"/>
            <a:chOff x="1719609" y="2640829"/>
            <a:chExt cx="6403342" cy="1540797"/>
          </a:xfrm>
        </p:grpSpPr>
        <p:pic>
          <p:nvPicPr>
            <p:cNvPr id="6" name="图片 5"/>
            <p:cNvPicPr>
              <a:picLocks noChangeAspect="1"/>
            </p:cNvPicPr>
            <p:nvPr/>
          </p:nvPicPr>
          <p:blipFill>
            <a:blip r:embed="rId2"/>
            <a:stretch>
              <a:fillRect/>
            </a:stretch>
          </p:blipFill>
          <p:spPr>
            <a:xfrm>
              <a:off x="1719609" y="2640829"/>
              <a:ext cx="3286810" cy="641624"/>
            </a:xfrm>
            <a:prstGeom prst="rect">
              <a:avLst/>
            </a:prstGeom>
          </p:spPr>
        </p:pic>
        <p:pic>
          <p:nvPicPr>
            <p:cNvPr id="9" name="图片 8"/>
            <p:cNvPicPr>
              <a:picLocks noChangeAspect="1"/>
            </p:cNvPicPr>
            <p:nvPr/>
          </p:nvPicPr>
          <p:blipFill>
            <a:blip r:embed="rId3"/>
            <a:stretch>
              <a:fillRect/>
            </a:stretch>
          </p:blipFill>
          <p:spPr>
            <a:xfrm>
              <a:off x="1719609" y="3439525"/>
              <a:ext cx="1903157" cy="300499"/>
            </a:xfrm>
            <a:prstGeom prst="rect">
              <a:avLst/>
            </a:prstGeom>
          </p:spPr>
        </p:pic>
        <p:pic>
          <p:nvPicPr>
            <p:cNvPr id="13" name="图片 12"/>
            <p:cNvPicPr>
              <a:picLocks noChangeAspect="1"/>
            </p:cNvPicPr>
            <p:nvPr/>
          </p:nvPicPr>
          <p:blipFill>
            <a:blip r:embed="rId4"/>
            <a:stretch>
              <a:fillRect/>
            </a:stretch>
          </p:blipFill>
          <p:spPr>
            <a:xfrm>
              <a:off x="5488045" y="3229017"/>
              <a:ext cx="2634906" cy="667750"/>
            </a:xfrm>
            <a:prstGeom prst="rect">
              <a:avLst/>
            </a:prstGeom>
          </p:spPr>
        </p:pic>
        <p:pic>
          <p:nvPicPr>
            <p:cNvPr id="15" name="图片 14"/>
            <p:cNvPicPr>
              <a:picLocks noChangeAspect="1"/>
            </p:cNvPicPr>
            <p:nvPr/>
          </p:nvPicPr>
          <p:blipFill>
            <a:blip r:embed="rId5"/>
            <a:stretch>
              <a:fillRect/>
            </a:stretch>
          </p:blipFill>
          <p:spPr>
            <a:xfrm>
              <a:off x="1719609" y="3896767"/>
              <a:ext cx="1398060" cy="284859"/>
            </a:xfrm>
            <a:prstGeom prst="rect">
              <a:avLst/>
            </a:prstGeom>
          </p:spPr>
        </p:pic>
        <p:sp>
          <p:nvSpPr>
            <p:cNvPr id="16" name="右大括号 15"/>
            <p:cNvSpPr/>
            <p:nvPr/>
          </p:nvSpPr>
          <p:spPr>
            <a:xfrm>
              <a:off x="5068389" y="2778034"/>
              <a:ext cx="357686" cy="1403592"/>
            </a:xfrm>
            <a:prstGeom prst="rightBrace">
              <a:avLst>
                <a:gd name="adj1" fmla="val 3663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17" name="图片 16"/>
          <p:cNvPicPr>
            <a:picLocks noChangeAspect="1"/>
          </p:cNvPicPr>
          <p:nvPr/>
        </p:nvPicPr>
        <p:blipFill>
          <a:blip r:embed="rId6"/>
          <a:stretch>
            <a:fillRect/>
          </a:stretch>
        </p:blipFill>
        <p:spPr>
          <a:xfrm>
            <a:off x="2016789" y="4916892"/>
            <a:ext cx="3338776" cy="699199"/>
          </a:xfrm>
          <a:prstGeom prst="rect">
            <a:avLst/>
          </a:prstGeom>
        </p:spPr>
      </p:pic>
    </p:spTree>
    <p:extLst>
      <p:ext uri="{BB962C8B-B14F-4D97-AF65-F5344CB8AC3E}">
        <p14:creationId xmlns:p14="http://schemas.microsoft.com/office/powerpoint/2010/main" val="19146393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628657" y="1201772"/>
                <a:ext cx="7886693" cy="5365571"/>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生命周期阈值限制</a:t>
                </a:r>
                <a14:m>
                  <m:oMath xmlns:m="http://schemas.openxmlformats.org/officeDocument/2006/math">
                    <m:sSub>
                      <m:sSubPr>
                        <m:ctrlPr>
                          <a:rPr lang="en-US" altLang="zh-CN" b="1"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b="1" i="1" smtClean="0">
                            <a:latin typeface="Cambria Math" panose="02040503050406030204" pitchFamily="18" charset="0"/>
                            <a:ea typeface="SimHei" panose="02010609060101010101" pitchFamily="49" charset="-122"/>
                            <a:cs typeface="Times New Roman" panose="02020603050405020304" pitchFamily="18" charset="0"/>
                          </a:rPr>
                          <m:t>𝑻</m:t>
                        </m:r>
                      </m:e>
                      <m:sub>
                        <m:r>
                          <a:rPr lang="en-US" altLang="zh-CN" b="1" i="1" smtClean="0">
                            <a:latin typeface="Cambria Math" panose="02040503050406030204" pitchFamily="18" charset="0"/>
                            <a:ea typeface="SimHei" panose="02010609060101010101" pitchFamily="49" charset="-122"/>
                            <a:cs typeface="Times New Roman" panose="02020603050405020304" pitchFamily="18" charset="0"/>
                          </a:rPr>
                          <m:t>𝟎</m:t>
                        </m:r>
                      </m:sub>
                    </m:sSub>
                  </m:oMath>
                </a14:m>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节点投放到网络</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中的工作时间的下限</a:t>
                </a:r>
                <a:endParaRPr lang="en-US" altLang="zh-CN" sz="1400" b="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能量效率优化问题</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思路：两步优化</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lnSpc>
                    <a:spcPts val="2500"/>
                  </a:lnSpc>
                  <a:spcBef>
                    <a:spcPts val="1245"/>
                  </a:spcBef>
                  <a:buFont typeface="Arial" panose="020B0604020202020204" pitchFamily="34" charset="0"/>
                  <a:buChar char="•"/>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优化过程</a:t>
                </a: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第一步：给定</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优化</a:t>
                </a: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和工作点</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𝑝</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给定块长的最优值</a:t>
                </a:r>
                <a14:m>
                  <m:oMath xmlns:m="http://schemas.openxmlformats.org/officeDocument/2006/math">
                    <m:sSubSup>
                      <m:sSubSup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Sup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𝑚𝑎𝑥</m:t>
                        </m:r>
                      </m:sub>
                      <m:sup>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sup>
                    </m:sSubSup>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Wingdings" panose="05000000000000000000" pitchFamily="2" charset="2"/>
                  <a:buChar char="p"/>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第二步：给定 </a:t>
                </a:r>
                <a14:m>
                  <m:oMath xmlns:m="http://schemas.openxmlformats.org/officeDocument/2006/math">
                    <m: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→优化</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块长度</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𝑁</m:t>
                    </m:r>
                  </m:oMath>
                </a14:m>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 最优</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能效</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927100" lvl="1">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7886693" cy="5365571"/>
              </a:xfrm>
              <a:prstGeom prst="rect">
                <a:avLst/>
              </a:prstGeom>
              <a:blipFill>
                <a:blip r:embed="rId2"/>
                <a:stretch>
                  <a:fillRect l="-1005" t="-1250"/>
                </a:stretch>
              </a:blipFill>
            </p:spPr>
            <p:txBody>
              <a:bodyPr/>
              <a:lstStyle/>
              <a:p>
                <a:r>
                  <a:rPr lang="zh-CN" altLang="en-US">
                    <a:noFill/>
                  </a:rPr>
                  <a:t> </a:t>
                </a:r>
              </a:p>
            </p:txBody>
          </p:sp>
        </mc:Fallback>
      </mc:AlternateContent>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31</a:t>
            </a:fld>
            <a:endParaRPr lang="zh-CN" altLang="en-US" dirty="0"/>
          </a:p>
        </p:txBody>
      </p:sp>
      <p:pic>
        <p:nvPicPr>
          <p:cNvPr id="6" name="图片 5"/>
          <p:cNvPicPr>
            <a:picLocks noChangeAspect="1"/>
          </p:cNvPicPr>
          <p:nvPr/>
        </p:nvPicPr>
        <p:blipFill>
          <a:blip r:embed="rId3"/>
          <a:stretch>
            <a:fillRect/>
          </a:stretch>
        </p:blipFill>
        <p:spPr>
          <a:xfrm>
            <a:off x="4890219" y="2285765"/>
            <a:ext cx="674303" cy="282565"/>
          </a:xfrm>
          <a:prstGeom prst="rect">
            <a:avLst/>
          </a:prstGeom>
        </p:spPr>
      </p:pic>
      <p:pic>
        <p:nvPicPr>
          <p:cNvPr id="3" name="图片 2"/>
          <p:cNvPicPr>
            <a:picLocks noChangeAspect="1"/>
          </p:cNvPicPr>
          <p:nvPr/>
        </p:nvPicPr>
        <p:blipFill>
          <a:blip r:embed="rId4"/>
          <a:stretch>
            <a:fillRect/>
          </a:stretch>
        </p:blipFill>
        <p:spPr>
          <a:xfrm>
            <a:off x="628657" y="3561921"/>
            <a:ext cx="1705213" cy="1047896"/>
          </a:xfrm>
          <a:prstGeom prst="rect">
            <a:avLst/>
          </a:prstGeom>
        </p:spPr>
      </p:pic>
      <p:sp>
        <p:nvSpPr>
          <p:cNvPr id="5" name="右箭头 4"/>
          <p:cNvSpPr/>
          <p:nvPr/>
        </p:nvSpPr>
        <p:spPr>
          <a:xfrm>
            <a:off x="2416136" y="3940795"/>
            <a:ext cx="993531" cy="290147"/>
          </a:xfrm>
          <a:prstGeom prst="righ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5"/>
          <a:stretch>
            <a:fillRect/>
          </a:stretch>
        </p:blipFill>
        <p:spPr>
          <a:xfrm>
            <a:off x="6884626" y="3633368"/>
            <a:ext cx="1714739" cy="1057423"/>
          </a:xfrm>
          <a:prstGeom prst="rect">
            <a:avLst/>
          </a:prstGeom>
        </p:spPr>
      </p:pic>
      <p:sp>
        <p:nvSpPr>
          <p:cNvPr id="15" name="右箭头 14"/>
          <p:cNvSpPr/>
          <p:nvPr/>
        </p:nvSpPr>
        <p:spPr>
          <a:xfrm>
            <a:off x="5873515" y="3940794"/>
            <a:ext cx="993531" cy="290147"/>
          </a:xfrm>
          <a:prstGeom prst="rightArrow">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6"/>
          <a:srcRect t="7334"/>
          <a:stretch/>
        </p:blipFill>
        <p:spPr>
          <a:xfrm>
            <a:off x="3450800" y="3601522"/>
            <a:ext cx="2381582" cy="1121114"/>
          </a:xfrm>
          <a:prstGeom prst="rect">
            <a:avLst/>
          </a:prstGeom>
        </p:spPr>
      </p:pic>
    </p:spTree>
    <p:extLst>
      <p:ext uri="{BB962C8B-B14F-4D97-AF65-F5344CB8AC3E}">
        <p14:creationId xmlns:p14="http://schemas.microsoft.com/office/powerpoint/2010/main" val="25039673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32</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201772"/>
                <a:ext cx="6879973" cy="2359620"/>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能量效率</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优化难点</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lnSpc>
                    <a:spcPts val="2500"/>
                  </a:lnSpc>
                  <a:spcBef>
                    <a:spcPts val="1245"/>
                  </a:spcBef>
                  <a:buFont typeface="Arial" panose="020B0604020202020204" pitchFamily="34" charset="0"/>
                  <a:buChar char="•"/>
                  <a:tabLst>
                    <a:tab pos="927100" algn="l"/>
                  </a:tabLst>
                </a:pP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约束条件（</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）导致的最优能效分段</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结构</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解决办法</a:t>
                </a:r>
                <a:endParaRPr lang="en-US" altLang="zh-CN" b="1" dirty="0" smtClean="0">
                  <a:latin typeface="Times New Roman" panose="02020603050405020304" pitchFamily="18" charset="0"/>
                  <a:ea typeface="SimHei" panose="02010609060101010101" pitchFamily="49" charset="-122"/>
                  <a:cs typeface="Times New Roman" panose="02020603050405020304" pitchFamily="18" charset="0"/>
                </a:endParaRPr>
              </a:p>
              <a:p>
                <a:pPr marL="1270000" lvl="1" indent="-342900">
                  <a:lnSpc>
                    <a:spcPts val="2500"/>
                  </a:lnSpc>
                  <a:spcBef>
                    <a:spcPts val="1245"/>
                  </a:spcBef>
                  <a:buFont typeface="Arial" panose="020B0604020202020204" pitchFamily="34" charset="0"/>
                  <a:buChar cha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分类讨论条件：</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1. </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2.</a:t>
                </a:r>
                <a14:m>
                  <m:oMath xmlns:m="http://schemas.openxmlformats.org/officeDocument/2006/math">
                    <m:r>
                      <a:rPr lang="en-US" altLang="zh-CN" sz="1400" b="0" i="0" smtClean="0">
                        <a:latin typeface="Cambria Math" panose="02040503050406030204" pitchFamily="18" charset="0"/>
                        <a:ea typeface="SimHei" panose="02010609060101010101" pitchFamily="49" charset="-122"/>
                        <a:cs typeface="Times New Roman" panose="02020603050405020304" pitchFamily="18" charset="0"/>
                      </a:rPr>
                      <m:t> </m:t>
                    </m:r>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 </m:t>
                    </m:r>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 的取值范围</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201772"/>
                <a:ext cx="6879973" cy="2359620"/>
              </a:xfrm>
              <a:prstGeom prst="rect">
                <a:avLst/>
              </a:prstGeom>
              <a:blipFill>
                <a:blip r:embed="rId2"/>
                <a:stretch>
                  <a:fillRect l="-1151" t="-2842" b="-258"/>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28657" y="3715686"/>
            <a:ext cx="7516274" cy="2486372"/>
          </a:xfrm>
          <a:prstGeom prst="rect">
            <a:avLst/>
          </a:prstGeom>
        </p:spPr>
      </p:pic>
    </p:spTree>
    <p:extLst>
      <p:ext uri="{BB962C8B-B14F-4D97-AF65-F5344CB8AC3E}">
        <p14:creationId xmlns:p14="http://schemas.microsoft.com/office/powerpoint/2010/main" val="9791044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33</a:t>
            </a:fld>
            <a:endParaRPr lang="zh-CN" altLang="en-US" dirty="0"/>
          </a:p>
        </p:txBody>
      </p:sp>
      <p:sp>
        <p:nvSpPr>
          <p:cNvPr id="8" name="矩形 7"/>
          <p:cNvSpPr/>
          <p:nvPr/>
        </p:nvSpPr>
        <p:spPr>
          <a:xfrm>
            <a:off x="628657" y="1201772"/>
            <a:ext cx="6879973" cy="936154"/>
          </a:xfrm>
          <a:prstGeom prst="rect">
            <a:avLst/>
          </a:prstGeom>
        </p:spPr>
        <p:txBody>
          <a:bodyPr wrap="square">
            <a:spAutoFit/>
          </a:bodyPr>
          <a:lstStyle/>
          <a:p>
            <a:pPr marL="12700">
              <a:lnSpc>
                <a:spcPct val="100000"/>
              </a:lnSpc>
            </a:pP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能量效率</a:t>
            </a:r>
            <a:r>
              <a:rPr lang="zh-CN" altLang="en-US" b="1" dirty="0">
                <a:latin typeface="Times New Roman" panose="02020603050405020304" pitchFamily="18" charset="0"/>
                <a:ea typeface="SimHei" panose="02010609060101010101" pitchFamily="49" charset="-122"/>
                <a:cs typeface="Times New Roman" panose="02020603050405020304" pitchFamily="18" charset="0"/>
              </a:rPr>
              <a:t>优化主要</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结论</a:t>
            </a:r>
            <a:endParaRPr lang="en-US" altLang="zh-CN" sz="1400" b="1" dirty="0">
              <a:latin typeface="Times New Roman" panose="02020603050405020304" pitchFamily="18" charset="0"/>
              <a:ea typeface="SimHe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p:cNvSpPr/>
              <p:nvPr/>
            </p:nvSpPr>
            <p:spPr>
              <a:xfrm>
                <a:off x="64724" y="6044370"/>
                <a:ext cx="4804996" cy="677108"/>
              </a:xfrm>
              <a:prstGeom prst="rect">
                <a:avLst/>
              </a:prstGeom>
            </p:spPr>
            <p:txBody>
              <a:bodyPr wrap="square">
                <a:spAutoFit/>
              </a:bodyPr>
              <a:lstStyle/>
              <a:p>
                <a:pPr marL="812800" indent="-342900">
                  <a:spcBef>
                    <a:spcPts val="1245"/>
                  </a:spcBef>
                  <a:buFont typeface="Arial" panose="020B0604020202020204" pitchFamily="34" charset="0"/>
                  <a:buChar char="•"/>
                  <a:tabLst>
                    <a:tab pos="927100" algn="l"/>
                  </a:tabLst>
                </a:pPr>
                <a:r>
                  <a:rPr lang="zh-CN" altLang="en-US" sz="1400" dirty="0" smtClean="0">
                    <a:latin typeface="Cambria Math" panose="02040503050406030204" pitchFamily="18" charset="0"/>
                    <a:ea typeface="SimHei" panose="02010609060101010101" pitchFamily="49" charset="-122"/>
                    <a:cs typeface="Times New Roman" panose="02020603050405020304" pitchFamily="18" charset="0"/>
                  </a:rPr>
                  <a:t>最优化数据速率和能效的最优块长</a:t>
                </a:r>
                <a:r>
                  <a:rPr lang="en-US" altLang="zh-CN" sz="1400" i="1" dirty="0" smtClean="0">
                    <a:latin typeface="Cambria Math" panose="02040503050406030204" pitchFamily="18" charset="0"/>
                    <a:ea typeface="SimHei" panose="02010609060101010101" pitchFamily="49" charset="-122"/>
                    <a:cs typeface="Times New Roman" panose="02020603050405020304" pitchFamily="18" charset="0"/>
                  </a:rPr>
                  <a:t>N </a:t>
                </a:r>
                <a:r>
                  <a:rPr lang="zh-CN" altLang="en-US" sz="1400" dirty="0">
                    <a:latin typeface="Cambria Math" panose="02040503050406030204" pitchFamily="18" charset="0"/>
                    <a:ea typeface="SimHei" panose="02010609060101010101" pitchFamily="49" charset="-122"/>
                    <a:cs typeface="Times New Roman" panose="02020603050405020304" pitchFamily="18" charset="0"/>
                  </a:rPr>
                  <a:t>一致</a:t>
                </a:r>
                <a:endParaRPr lang="en-US" altLang="zh-CN" sz="1400" dirty="0" smtClean="0">
                  <a:latin typeface="Cambria Math" panose="02040503050406030204" pitchFamily="18" charset="0"/>
                  <a:ea typeface="SimHei" panose="02010609060101010101" pitchFamily="49" charset="-122"/>
                  <a:cs typeface="Times New Roman" panose="02020603050405020304" pitchFamily="18" charset="0"/>
                </a:endParaRPr>
              </a:p>
              <a:p>
                <a:pPr marL="812800" indent="-342900">
                  <a:spcBef>
                    <a:spcPts val="1245"/>
                  </a:spcBef>
                  <a:buFont typeface="Arial" panose="020B0604020202020204" pitchFamily="34" charset="0"/>
                  <a:buChar char="•"/>
                  <a:tabLst>
                    <a:tab pos="927100" algn="l"/>
                  </a:tabLst>
                </a:pPr>
                <a14:m>
                  <m:oMath xmlns:m="http://schemas.openxmlformats.org/officeDocument/2006/math">
                    <m:r>
                      <a:rPr lang="en-US" altLang="zh-CN" sz="1400" i="1">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的增大导致能效指标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S</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恶化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64724" y="6044370"/>
                <a:ext cx="4804996" cy="677108"/>
              </a:xfrm>
              <a:prstGeom prst="rect">
                <a:avLst/>
              </a:prstGeom>
              <a:blipFill>
                <a:blip r:embed="rId2"/>
                <a:stretch>
                  <a:fillRect t="-2703" b="-90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897191" y="6044370"/>
                <a:ext cx="4752242" cy="677108"/>
              </a:xfrm>
              <a:prstGeom prst="rect">
                <a:avLst/>
              </a:prstGeom>
            </p:spPr>
            <p:txBody>
              <a:bodyPr wrap="square">
                <a:spAutoFit/>
              </a:bodyPr>
              <a:lstStyle/>
              <a:p>
                <a:pPr marL="812800" indent="-34290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i="1">
                        <a:latin typeface="Cambria Math" panose="02040503050406030204" pitchFamily="18" charset="0"/>
                        <a:ea typeface="SimHei" panose="02010609060101010101" pitchFamily="49" charset="-122"/>
                        <a:cs typeface="Times New Roman" panose="02020603050405020304" pitchFamily="18" charset="0"/>
                      </a:rPr>
                      <m:t>=</m:t>
                    </m:r>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时，数据速率和能量效率可以共同优化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755650" indent="-28575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𝑇</m:t>
                        </m:r>
                      </m:sub>
                    </m:sSub>
                    <m:r>
                      <a:rPr lang="en-US" altLang="zh-CN" sz="1400" i="1">
                        <a:latin typeface="Cambria Math" panose="02040503050406030204" pitchFamily="18" charset="0"/>
                        <a:ea typeface="SimHei" panose="02010609060101010101" pitchFamily="49" charset="-122"/>
                        <a:cs typeface="Times New Roman" panose="02020603050405020304" pitchFamily="18" charset="0"/>
                      </a:rPr>
                      <m:t>&gt;</m:t>
                    </m:r>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𝑊</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时，两者无法同时优化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897191" y="6044370"/>
                <a:ext cx="4752242" cy="677108"/>
              </a:xfrm>
              <a:prstGeom prst="rect">
                <a:avLst/>
              </a:prstGeom>
              <a:blipFill>
                <a:blip r:embed="rId3"/>
                <a:stretch>
                  <a:fillRect t="-2703" b="-7207"/>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4"/>
          <a:srcRect l="840" t="1938" r="1322" b="2260"/>
          <a:stretch/>
        </p:blipFill>
        <p:spPr>
          <a:xfrm>
            <a:off x="628657" y="2046141"/>
            <a:ext cx="7139354" cy="3842238"/>
          </a:xfrm>
          <a:prstGeom prst="rect">
            <a:avLst/>
          </a:prstGeom>
        </p:spPr>
      </p:pic>
    </p:spTree>
    <p:extLst>
      <p:ext uri="{BB962C8B-B14F-4D97-AF65-F5344CB8AC3E}">
        <p14:creationId xmlns:p14="http://schemas.microsoft.com/office/powerpoint/2010/main" val="3263619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性能分析与优化（第五章）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34</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8" y="1201772"/>
                <a:ext cx="7444188" cy="5793894"/>
              </a:xfrm>
              <a:prstGeom prst="rect">
                <a:avLst/>
              </a:prstGeom>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能量效率最优化定理</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a:latin typeface="Times New Roman" panose="02020603050405020304" pitchFamily="18" charset="0"/>
                    <a:ea typeface="SimHei" panose="02010609060101010101" pitchFamily="49" charset="-122"/>
                    <a:cs typeface="Times New Roman" panose="02020603050405020304" pitchFamily="18" charset="0"/>
                  </a:rPr>
                  <a:t>能量效率优化仿真验证</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469900">
                  <a:spcBef>
                    <a:spcPts val="1245"/>
                  </a:spcBef>
                  <a:tabLst>
                    <a:tab pos="927100" algn="l"/>
                  </a:tabLst>
                </a:pP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Arial" panose="020B0604020202020204" pitchFamily="34" charset="0"/>
                  <a:buChar char="•"/>
                  <a:tabLst>
                    <a:tab pos="927100" algn="l"/>
                  </a:tabLst>
                </a:pPr>
                <a:r>
                  <a:rPr lang="zh-CN" altLang="en-US" sz="1400" dirty="0" smtClean="0">
                    <a:ea typeface="SimHei" panose="02010609060101010101" pitchFamily="49" charset="-122"/>
                    <a:cs typeface="Times New Roman" panose="02020603050405020304" pitchFamily="18" charset="0"/>
                  </a:rPr>
                  <a:t>仿真验证：</a:t>
                </a:r>
                <a14:m>
                  <m:oMath xmlns:m="http://schemas.openxmlformats.org/officeDocument/2006/math">
                    <m:r>
                      <a:rPr lang="en-US" altLang="zh-CN" sz="1400" i="1">
                        <a:latin typeface="Cambria Math" panose="02040503050406030204" pitchFamily="18" charset="0"/>
                        <a:ea typeface="SimHei" panose="02010609060101010101" pitchFamily="49" charset="-122"/>
                        <a:cs typeface="Times New Roman" panose="02020603050405020304" pitchFamily="18" charset="0"/>
                      </a:rPr>
                      <m:t>𝑘</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的增大导致最优能效指标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𝑚𝑎𝑥</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恶化</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marL="1212850" lvl="1" indent="-285750">
                  <a:spcBef>
                    <a:spcPts val="1245"/>
                  </a:spcBef>
                  <a:buFont typeface="Arial" panose="020B0604020202020204" pitchFamily="34" charset="0"/>
                  <a:buChar char="•"/>
                  <a:tabLst>
                    <a:tab pos="927100" algn="l"/>
                  </a:tabLst>
                </a:pPr>
                <a14:m>
                  <m:oMath xmlns:m="http://schemas.openxmlformats.org/officeDocument/2006/math">
                    <m:sSub>
                      <m:sSubPr>
                        <m:ctrlP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的增大通过限制工作点影响最优能效指标</a:t>
                </a:r>
                <a14:m>
                  <m:oMath xmlns:m="http://schemas.openxmlformats.org/officeDocument/2006/math">
                    <m:sSub>
                      <m:sSubPr>
                        <m:ctrlPr>
                          <a:rPr lang="en-US" altLang="zh-CN" sz="1400" i="1">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i="1">
                            <a:latin typeface="Cambria Math" panose="02040503050406030204" pitchFamily="18" charset="0"/>
                            <a:ea typeface="SimHei" panose="02010609060101010101" pitchFamily="49" charset="-122"/>
                            <a:cs typeface="Times New Roman" panose="02020603050405020304" pitchFamily="18" charset="0"/>
                          </a:rPr>
                          <m:t>𝑆</m:t>
                        </m:r>
                      </m:e>
                      <m:sub>
                        <m:r>
                          <a:rPr lang="en-US" altLang="zh-CN" sz="1400" i="1">
                            <a:latin typeface="Cambria Math" panose="02040503050406030204" pitchFamily="18" charset="0"/>
                            <a:ea typeface="SimHei" panose="02010609060101010101" pitchFamily="49" charset="-122"/>
                            <a:cs typeface="Times New Roman" panose="02020603050405020304" pitchFamily="18" charset="0"/>
                          </a:rPr>
                          <m:t>𝑚𝑎𝑥</m:t>
                        </m:r>
                      </m:sub>
                    </m:sSub>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8" y="1201772"/>
                <a:ext cx="7444188" cy="5793894"/>
              </a:xfrm>
              <a:prstGeom prst="rect">
                <a:avLst/>
              </a:prstGeom>
              <a:blipFill>
                <a:blip r:embed="rId2"/>
                <a:stretch>
                  <a:fillRect l="-1065" t="-1157"/>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2145" t="1996" r="1704" b="2420"/>
          <a:stretch/>
        </p:blipFill>
        <p:spPr>
          <a:xfrm>
            <a:off x="628657" y="2063547"/>
            <a:ext cx="6711681" cy="3938902"/>
          </a:xfrm>
          <a:prstGeom prst="rect">
            <a:avLst/>
          </a:prstGeom>
        </p:spPr>
      </p:pic>
    </p:spTree>
    <p:extLst>
      <p:ext uri="{BB962C8B-B14F-4D97-AF65-F5344CB8AC3E}">
        <p14:creationId xmlns:p14="http://schemas.microsoft.com/office/powerpoint/2010/main" val="23694702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p:cNvSpPr/>
          <p:nvPr/>
        </p:nvSpPr>
        <p:spPr>
          <a:xfrm>
            <a:off x="0" y="0"/>
            <a:ext cx="2275285" cy="685800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solidFill>
                <a:srgbClr val="157E9F"/>
              </a:solidFill>
              <a:cs typeface="+mn-ea"/>
              <a:sym typeface="+mn-lt"/>
            </a:endParaRPr>
          </a:p>
        </p:txBody>
      </p:sp>
      <p:pic>
        <p:nvPicPr>
          <p:cNvPr id="4" name="图片 3" descr="资源 1@4x"/>
          <p:cNvPicPr>
            <a:picLocks noChangeAspect="1"/>
          </p:cNvPicPr>
          <p:nvPr/>
        </p:nvPicPr>
        <p:blipFill>
          <a:blip r:embed="rId2">
            <a:lum bright="70000" contrast="-70000"/>
          </a:blip>
          <a:stretch>
            <a:fillRect/>
          </a:stretch>
        </p:blipFill>
        <p:spPr>
          <a:xfrm>
            <a:off x="416720" y="1633699"/>
            <a:ext cx="1535907" cy="1538288"/>
          </a:xfrm>
          <a:prstGeom prst="rect">
            <a:avLst/>
          </a:prstGeom>
        </p:spPr>
      </p:pic>
      <p:sp>
        <p:nvSpPr>
          <p:cNvPr id="28675" name="矩形 393"/>
          <p:cNvSpPr/>
          <p:nvPr/>
        </p:nvSpPr>
        <p:spPr>
          <a:xfrm>
            <a:off x="416725" y="3511811"/>
            <a:ext cx="1487908" cy="715709"/>
          </a:xfrm>
          <a:prstGeom prst="rect">
            <a:avLst/>
          </a:prstGeom>
          <a:noFill/>
          <a:ln w="9525">
            <a:noFill/>
          </a:ln>
        </p:spPr>
        <p:txBody>
          <a:bodyPr wrap="none">
            <a:spAutoFit/>
          </a:bodyPr>
          <a:lstStyle/>
          <a:p>
            <a:pPr eaLnBrk="1" hangingPunct="1"/>
            <a:r>
              <a:rPr lang="zh-CN" altLang="en-US" sz="4051" b="1" dirty="0">
                <a:solidFill>
                  <a:schemeClr val="bg1"/>
                </a:solidFill>
                <a:latin typeface="黑体" panose="02010609060101010101" pitchFamily="49" charset="-122"/>
                <a:ea typeface="黑体" panose="02010609060101010101" pitchFamily="49" charset="-122"/>
                <a:cs typeface="+mn-ea"/>
                <a:sym typeface="+mn-lt"/>
              </a:rPr>
              <a:t>目 录</a:t>
            </a:r>
          </a:p>
        </p:txBody>
      </p:sp>
      <p:sp>
        <p:nvSpPr>
          <p:cNvPr id="28682" name="矩形 420"/>
          <p:cNvSpPr/>
          <p:nvPr/>
        </p:nvSpPr>
        <p:spPr>
          <a:xfrm>
            <a:off x="587250" y="4204743"/>
            <a:ext cx="1135375" cy="400110"/>
          </a:xfrm>
          <a:prstGeom prst="rect">
            <a:avLst/>
          </a:prstGeom>
          <a:noFill/>
          <a:ln w="9525">
            <a:noFill/>
          </a:ln>
        </p:spPr>
        <p:txBody>
          <a:bodyPr wrap="none">
            <a:spAutoFit/>
          </a:bodyPr>
          <a:lstStyle/>
          <a:p>
            <a:pPr algn="ctr" defTabSz="514338"/>
            <a:r>
              <a:rPr lang="en-US" altLang="zh-CN" sz="2000" b="1" dirty="0">
                <a:solidFill>
                  <a:srgbClr val="FFFFFF"/>
                </a:solidFill>
                <a:cs typeface="+mn-ea"/>
                <a:sym typeface="+mn-lt"/>
              </a:rPr>
              <a:t>Contents</a:t>
            </a:r>
          </a:p>
        </p:txBody>
      </p:sp>
      <p:grpSp>
        <p:nvGrpSpPr>
          <p:cNvPr id="28677" name="组合 399"/>
          <p:cNvGrpSpPr/>
          <p:nvPr/>
        </p:nvGrpSpPr>
        <p:grpSpPr>
          <a:xfrm>
            <a:off x="3693136" y="1541606"/>
            <a:ext cx="5309104" cy="620733"/>
            <a:chOff x="5534265" y="2004116"/>
            <a:chExt cx="7078394" cy="828000"/>
          </a:xfrm>
        </p:grpSpPr>
        <p:sp>
          <p:nvSpPr>
            <p:cNvPr id="403" name="矩形 402"/>
            <p:cNvSpPr/>
            <p:nvPr/>
          </p:nvSpPr>
          <p:spPr>
            <a:xfrm>
              <a:off x="5534265" y="200411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5" name="文本框 400"/>
            <p:cNvSpPr txBox="1"/>
            <p:nvPr/>
          </p:nvSpPr>
          <p:spPr>
            <a:xfrm>
              <a:off x="6443311" y="2105227"/>
              <a:ext cx="6169348" cy="697927"/>
            </a:xfrm>
            <a:prstGeom prst="rect">
              <a:avLst/>
            </a:prstGeom>
            <a:noFill/>
            <a:ln w="9525">
              <a:noFill/>
            </a:ln>
          </p:spPr>
          <p:txBody>
            <a:bodyPr wrap="square">
              <a:spAutoFit/>
            </a:bodyPr>
            <a:lstStyle/>
            <a:p>
              <a:pPr eaLnBrk="1" hangingPunct="1"/>
              <a:r>
                <a:rPr lang="zh-CN" altLang="en-US" sz="2800" b="1" dirty="0">
                  <a:solidFill>
                    <a:srgbClr val="157E9F"/>
                  </a:solidFill>
                  <a:cs typeface="+mn-ea"/>
                  <a:sym typeface="+mn-lt"/>
                </a:rPr>
                <a:t>研究</a:t>
              </a:r>
              <a:r>
                <a:rPr lang="zh-CN" altLang="en-US" sz="2800" b="1" dirty="0" smtClean="0">
                  <a:solidFill>
                    <a:srgbClr val="157E9F"/>
                  </a:solidFill>
                  <a:cs typeface="+mn-ea"/>
                  <a:sym typeface="+mn-lt"/>
                </a:rPr>
                <a:t>背景与动机</a:t>
              </a:r>
              <a:endParaRPr lang="zh-CN" altLang="en-US" sz="1600" dirty="0">
                <a:solidFill>
                  <a:srgbClr val="157E9F"/>
                </a:solidFill>
                <a:cs typeface="+mn-ea"/>
                <a:sym typeface="+mn-lt"/>
              </a:endParaRPr>
            </a:p>
          </p:txBody>
        </p:sp>
        <p:sp>
          <p:nvSpPr>
            <p:cNvPr id="28696" name="文本框 401"/>
            <p:cNvSpPr txBox="1"/>
            <p:nvPr/>
          </p:nvSpPr>
          <p:spPr>
            <a:xfrm>
              <a:off x="5534265" y="2064173"/>
              <a:ext cx="828000" cy="738982"/>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1</a:t>
              </a:r>
            </a:p>
          </p:txBody>
        </p:sp>
      </p:grpSp>
      <p:grpSp>
        <p:nvGrpSpPr>
          <p:cNvPr id="28678" name="组合 404"/>
          <p:cNvGrpSpPr/>
          <p:nvPr/>
        </p:nvGrpSpPr>
        <p:grpSpPr>
          <a:xfrm>
            <a:off x="3693135" y="2311974"/>
            <a:ext cx="3964965" cy="621374"/>
            <a:chOff x="5529329" y="3237486"/>
            <a:chExt cx="5286047" cy="828000"/>
          </a:xfrm>
        </p:grpSpPr>
        <p:sp>
          <p:nvSpPr>
            <p:cNvPr id="408" name="矩形 407"/>
            <p:cNvSpPr/>
            <p:nvPr/>
          </p:nvSpPr>
          <p:spPr>
            <a:xfrm>
              <a:off x="5529329" y="32374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91" name="文本框 405"/>
            <p:cNvSpPr txBox="1"/>
            <p:nvPr/>
          </p:nvSpPr>
          <p:spPr>
            <a:xfrm>
              <a:off x="6438330" y="3338554"/>
              <a:ext cx="4377046" cy="697207"/>
            </a:xfrm>
            <a:prstGeom prst="rect">
              <a:avLst/>
            </a:prstGeom>
            <a:noFill/>
            <a:ln w="9525">
              <a:noFill/>
            </a:ln>
          </p:spPr>
          <p:txBody>
            <a:bodyPr wrap="square">
              <a:spAutoFit/>
            </a:bodyPr>
            <a:lstStyle/>
            <a:p>
              <a:r>
                <a:rPr lang="zh-CN" altLang="en-US" sz="2800" b="1" dirty="0">
                  <a:solidFill>
                    <a:srgbClr val="157E9F"/>
                  </a:solidFill>
                  <a:cs typeface="+mn-ea"/>
                  <a:sym typeface="+mn-lt"/>
                </a:rPr>
                <a:t>系统建模</a:t>
              </a:r>
            </a:p>
          </p:txBody>
        </p:sp>
        <p:sp>
          <p:nvSpPr>
            <p:cNvPr id="28692" name="文本框 406"/>
            <p:cNvSpPr txBox="1"/>
            <p:nvPr/>
          </p:nvSpPr>
          <p:spPr>
            <a:xfrm>
              <a:off x="5529329" y="3297542"/>
              <a:ext cx="827998" cy="738220"/>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2</a:t>
              </a:r>
            </a:p>
          </p:txBody>
        </p:sp>
      </p:grpSp>
      <p:grpSp>
        <p:nvGrpSpPr>
          <p:cNvPr id="28679" name="组合 409"/>
          <p:cNvGrpSpPr/>
          <p:nvPr/>
        </p:nvGrpSpPr>
        <p:grpSpPr>
          <a:xfrm>
            <a:off x="3693137" y="3076570"/>
            <a:ext cx="4980774" cy="620537"/>
            <a:chOff x="5526151" y="4532886"/>
            <a:chExt cx="6639663" cy="828000"/>
          </a:xfrm>
        </p:grpSpPr>
        <p:sp>
          <p:nvSpPr>
            <p:cNvPr id="413" name="矩形 412"/>
            <p:cNvSpPr/>
            <p:nvPr/>
          </p:nvSpPr>
          <p:spPr>
            <a:xfrm>
              <a:off x="5526151" y="4532886"/>
              <a:ext cx="828000" cy="828000"/>
            </a:xfrm>
            <a:prstGeom prst="rect">
              <a:avLst/>
            </a:prstGeom>
            <a:no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7" name="文本框 410"/>
            <p:cNvSpPr txBox="1"/>
            <p:nvPr/>
          </p:nvSpPr>
          <p:spPr>
            <a:xfrm>
              <a:off x="6435061" y="4604862"/>
              <a:ext cx="5730753" cy="698147"/>
            </a:xfrm>
            <a:prstGeom prst="rect">
              <a:avLst/>
            </a:prstGeom>
            <a:noFill/>
            <a:ln w="9525">
              <a:noFill/>
            </a:ln>
          </p:spPr>
          <p:txBody>
            <a:bodyPr wrap="square">
              <a:spAutoFit/>
            </a:bodyPr>
            <a:lstStyle/>
            <a:p>
              <a:r>
                <a:rPr lang="zh-CN" altLang="en-US" sz="2800" b="1" dirty="0">
                  <a:solidFill>
                    <a:srgbClr val="157E9F"/>
                  </a:solidFill>
                  <a:cs typeface="+mn-ea"/>
                  <a:sym typeface="+mn-lt"/>
                </a:rPr>
                <a:t>性能分析与优化</a:t>
              </a:r>
            </a:p>
          </p:txBody>
        </p:sp>
        <p:sp>
          <p:nvSpPr>
            <p:cNvPr id="28688" name="文本框 411"/>
            <p:cNvSpPr txBox="1"/>
            <p:nvPr/>
          </p:nvSpPr>
          <p:spPr>
            <a:xfrm>
              <a:off x="5526151" y="4592943"/>
              <a:ext cx="828000" cy="73921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3</a:t>
              </a:r>
            </a:p>
          </p:txBody>
        </p:sp>
      </p:grpSp>
      <p:grpSp>
        <p:nvGrpSpPr>
          <p:cNvPr id="28680" name="组合 414"/>
          <p:cNvGrpSpPr/>
          <p:nvPr/>
        </p:nvGrpSpPr>
        <p:grpSpPr>
          <a:xfrm>
            <a:off x="3693142" y="3862647"/>
            <a:ext cx="3786015" cy="621554"/>
            <a:chOff x="4624454" y="5601729"/>
            <a:chExt cx="5046978" cy="828000"/>
          </a:xfrm>
        </p:grpSpPr>
        <p:sp>
          <p:nvSpPr>
            <p:cNvPr id="418" name="矩形 417"/>
            <p:cNvSpPr/>
            <p:nvPr/>
          </p:nvSpPr>
          <p:spPr>
            <a:xfrm>
              <a:off x="4624454" y="5601729"/>
              <a:ext cx="828000" cy="828000"/>
            </a:xfrm>
            <a:prstGeom prst="rect">
              <a:avLst/>
            </a:prstGeom>
            <a:solidFill>
              <a:schemeClr val="accent3">
                <a:lumMod val="40000"/>
                <a:lumOff val="60000"/>
              </a:schemeClr>
            </a:solidFill>
            <a:ln>
              <a:solidFill>
                <a:srgbClr val="157E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1">
                <a:cs typeface="+mn-ea"/>
                <a:sym typeface="+mn-lt"/>
              </a:endParaRPr>
            </a:p>
          </p:txBody>
        </p:sp>
        <p:sp>
          <p:nvSpPr>
            <p:cNvPr id="28683" name="文本框 415"/>
            <p:cNvSpPr txBox="1"/>
            <p:nvPr/>
          </p:nvSpPr>
          <p:spPr>
            <a:xfrm>
              <a:off x="5533358" y="5661786"/>
              <a:ext cx="4138074" cy="697005"/>
            </a:xfrm>
            <a:prstGeom prst="rect">
              <a:avLst/>
            </a:prstGeom>
            <a:noFill/>
            <a:ln w="9525">
              <a:noFill/>
            </a:ln>
          </p:spPr>
          <p:txBody>
            <a:bodyPr wrap="square">
              <a:spAutoFit/>
            </a:bodyPr>
            <a:lstStyle/>
            <a:p>
              <a:r>
                <a:rPr lang="zh-CN" altLang="en-US" sz="2800" b="1" dirty="0">
                  <a:solidFill>
                    <a:srgbClr val="157E9F"/>
                  </a:solidFill>
                  <a:cs typeface="+mn-ea"/>
                  <a:sym typeface="+mn-lt"/>
                </a:rPr>
                <a:t>总结与展望</a:t>
              </a:r>
            </a:p>
          </p:txBody>
        </p:sp>
        <p:sp>
          <p:nvSpPr>
            <p:cNvPr id="28684" name="文本框 416"/>
            <p:cNvSpPr txBox="1"/>
            <p:nvPr/>
          </p:nvSpPr>
          <p:spPr>
            <a:xfrm>
              <a:off x="4624454" y="5661786"/>
              <a:ext cx="828000" cy="738005"/>
            </a:xfrm>
            <a:prstGeom prst="rect">
              <a:avLst/>
            </a:prstGeom>
            <a:noFill/>
            <a:ln w="9525">
              <a:noFill/>
            </a:ln>
          </p:spPr>
          <p:txBody>
            <a:bodyPr>
              <a:spAutoFit/>
            </a:bodyPr>
            <a:lstStyle/>
            <a:p>
              <a:pPr algn="ctr" eaLnBrk="1" hangingPunct="1"/>
              <a:r>
                <a:rPr lang="en-US" altLang="zh-CN" sz="3000" b="1" dirty="0">
                  <a:solidFill>
                    <a:srgbClr val="157E9F"/>
                  </a:solidFill>
                  <a:cs typeface="+mn-ea"/>
                  <a:sym typeface="+mn-lt"/>
                </a:rPr>
                <a:t>4</a:t>
              </a:r>
            </a:p>
          </p:txBody>
        </p:sp>
      </p:grpSp>
    </p:spTree>
    <p:extLst>
      <p:ext uri="{BB962C8B-B14F-4D97-AF65-F5344CB8AC3E}">
        <p14:creationId xmlns:p14="http://schemas.microsoft.com/office/powerpoint/2010/main" val="12069984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总结与展望</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36</a:t>
            </a:fld>
            <a:endParaRPr lang="zh-CN" altLang="en-US" dirty="0"/>
          </a:p>
        </p:txBody>
      </p:sp>
      <p:sp>
        <p:nvSpPr>
          <p:cNvPr id="8" name="矩形 7"/>
          <p:cNvSpPr/>
          <p:nvPr/>
        </p:nvSpPr>
        <p:spPr>
          <a:xfrm>
            <a:off x="628657" y="1111238"/>
            <a:ext cx="7886692" cy="576248"/>
          </a:xfrm>
          <a:prstGeom prst="rect">
            <a:avLst/>
          </a:prstGeom>
        </p:spPr>
        <p:txBody>
          <a:bodyPr wrap="square">
            <a:spAutoFit/>
          </a:bodyPr>
          <a:lstStyle/>
          <a:p>
            <a:pPr marL="12700">
              <a:lnSpc>
                <a:spcPct val="150000"/>
              </a:lnSpc>
              <a:spcBef>
                <a:spcPts val="1100"/>
              </a:spcBef>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工作总结</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p:txBody>
      </p:sp>
      <p:sp>
        <p:nvSpPr>
          <p:cNvPr id="3" name="下箭头 2"/>
          <p:cNvSpPr/>
          <p:nvPr/>
        </p:nvSpPr>
        <p:spPr>
          <a:xfrm>
            <a:off x="4450845" y="2250392"/>
            <a:ext cx="242316" cy="5769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2286003" y="1631979"/>
            <a:ext cx="4572000" cy="621375"/>
            <a:chOff x="2171699" y="1632083"/>
            <a:chExt cx="4572000" cy="621375"/>
          </a:xfrm>
        </p:grpSpPr>
        <p:sp>
          <p:nvSpPr>
            <p:cNvPr id="5" name="圆角矩形 4"/>
            <p:cNvSpPr/>
            <p:nvPr/>
          </p:nvSpPr>
          <p:spPr bwMode="auto">
            <a:xfrm>
              <a:off x="2513267" y="1632083"/>
              <a:ext cx="3869426" cy="621375"/>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0" name="矩形 9"/>
            <p:cNvSpPr/>
            <p:nvPr/>
          </p:nvSpPr>
          <p:spPr>
            <a:xfrm>
              <a:off x="2171699" y="1732355"/>
              <a:ext cx="4572000" cy="414922"/>
            </a:xfrm>
            <a:prstGeom prst="rect">
              <a:avLst/>
            </a:prstGeom>
          </p:spPr>
          <p:txBody>
            <a:bodyPr>
              <a:spAutoFit/>
            </a:bodyPr>
            <a:lstStyle/>
            <a:p>
              <a:pPr marL="469900">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提出</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时隙</a:t>
              </a:r>
              <a:r>
                <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在短包</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体系下的分析框架</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p:txBody>
        </p:sp>
      </p:grpSp>
      <p:grpSp>
        <p:nvGrpSpPr>
          <p:cNvPr id="12" name="组合 11"/>
          <p:cNvGrpSpPr/>
          <p:nvPr/>
        </p:nvGrpSpPr>
        <p:grpSpPr>
          <a:xfrm>
            <a:off x="1385044" y="2840874"/>
            <a:ext cx="5859290" cy="1100580"/>
            <a:chOff x="695419" y="2787882"/>
            <a:chExt cx="5859290" cy="1100580"/>
          </a:xfrm>
        </p:grpSpPr>
        <p:sp>
          <p:nvSpPr>
            <p:cNvPr id="6" name="圆角矩形 5"/>
            <p:cNvSpPr/>
            <p:nvPr/>
          </p:nvSpPr>
          <p:spPr bwMode="auto">
            <a:xfrm>
              <a:off x="1236729" y="2787882"/>
              <a:ext cx="5317980" cy="1100580"/>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mc:AlternateContent xmlns:mc="http://schemas.openxmlformats.org/markup-compatibility/2006" xmlns:a14="http://schemas.microsoft.com/office/drawing/2010/main">
          <mc:Choice Requires="a14">
            <p:sp>
              <p:nvSpPr>
                <p:cNvPr id="11" name="矩形 10"/>
                <p:cNvSpPr/>
                <p:nvPr/>
              </p:nvSpPr>
              <p:spPr>
                <a:xfrm>
                  <a:off x="695419" y="2822858"/>
                  <a:ext cx="5859290" cy="925318"/>
                </a:xfrm>
                <a:prstGeom prst="rect">
                  <a:avLst/>
                </a:prstGeom>
              </p:spPr>
              <p:txBody>
                <a:bodyPr wrap="square">
                  <a:spAutoFit/>
                </a:bodyPr>
                <a:lstStyle/>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给出各网络性能指标关于成功传输概率</a:t>
                  </a:r>
                  <a14:m>
                    <m:oMath xmlns:m="http://schemas.openxmlformats.org/officeDocument/2006/math">
                      <m:r>
                        <a:rPr lang="en-US" altLang="zh-CN" sz="1600" i="1">
                          <a:latin typeface="Cambria Math" panose="02040503050406030204" pitchFamily="18" charset="0"/>
                          <a:ea typeface="SimHei" panose="02010609060101010101" pitchFamily="49" charset="-122"/>
                          <a:cs typeface="Times New Roman" panose="02020603050405020304" pitchFamily="18" charset="0"/>
                        </a:rPr>
                        <m:t>𝑝</m:t>
                      </m:r>
                    </m:oMath>
                  </a14:m>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显式解</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给出和速率、能量效率的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优化定理</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；给出时延的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优化分析</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695419" y="2822858"/>
                  <a:ext cx="5859290" cy="925318"/>
                </a:xfrm>
                <a:prstGeom prst="rect">
                  <a:avLst/>
                </a:prstGeom>
                <a:blipFill>
                  <a:blip r:embed="rId2"/>
                  <a:stretch>
                    <a:fillRect b="-6579"/>
                  </a:stretch>
                </a:blipFill>
              </p:spPr>
              <p:txBody>
                <a:bodyPr/>
                <a:lstStyle/>
                <a:p>
                  <a:r>
                    <a:rPr lang="zh-CN" altLang="en-US">
                      <a:noFill/>
                    </a:rPr>
                    <a:t> </a:t>
                  </a:r>
                </a:p>
              </p:txBody>
            </p:sp>
          </mc:Fallback>
        </mc:AlternateContent>
      </p:grpSp>
      <p:grpSp>
        <p:nvGrpSpPr>
          <p:cNvPr id="15" name="组合 14"/>
          <p:cNvGrpSpPr/>
          <p:nvPr/>
        </p:nvGrpSpPr>
        <p:grpSpPr>
          <a:xfrm>
            <a:off x="1291151" y="4512476"/>
            <a:ext cx="6195499" cy="1524032"/>
            <a:chOff x="1238627" y="4316706"/>
            <a:chExt cx="6195499" cy="1524032"/>
          </a:xfrm>
        </p:grpSpPr>
        <p:sp>
          <p:nvSpPr>
            <p:cNvPr id="7" name="圆角矩形 6"/>
            <p:cNvSpPr/>
            <p:nvPr/>
          </p:nvSpPr>
          <p:spPr bwMode="auto">
            <a:xfrm>
              <a:off x="1711105" y="4316706"/>
              <a:ext cx="5723021" cy="1524032"/>
            </a:xfrm>
            <a:prstGeom prst="roundRect">
              <a:avLst/>
            </a:prstGeom>
            <a:noFill/>
            <a:ln w="28575">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4" name="矩形 13"/>
            <p:cNvSpPr/>
            <p:nvPr/>
          </p:nvSpPr>
          <p:spPr>
            <a:xfrm>
              <a:off x="1238627" y="4352081"/>
              <a:ext cx="6195499" cy="1482457"/>
            </a:xfrm>
            <a:prstGeom prst="rect">
              <a:avLst/>
            </a:prstGeom>
          </p:spPr>
          <p:txBody>
            <a:bodyPr wrap="square">
              <a:spAutoFit/>
            </a:bodyPr>
            <a:lstStyle/>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通过数值计算结果，分析网络性能之间的</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折中与共同优化关系</a:t>
              </a:r>
              <a:endPar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基于</a:t>
              </a:r>
              <a:r>
                <a:rPr lang="zh-CN" altLang="en-US" sz="1600" dirty="0" smtClean="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rPr>
                <a:t>仿真算法</a:t>
              </a:r>
              <a:r>
                <a:rPr lang="zh-CN" altLang="en-US" sz="1600" dirty="0">
                  <a:solidFill>
                    <a:schemeClr val="accent1">
                      <a:lumMod val="75000"/>
                    </a:schemeClr>
                  </a:solidFill>
                  <a:latin typeface="Times New Roman" panose="02020603050405020304" pitchFamily="18" charset="0"/>
                  <a:ea typeface="SimHei" panose="02010609060101010101" pitchFamily="49" charset="-122"/>
                  <a:cs typeface="Times New Roman" panose="02020603050405020304" pitchFamily="18" charset="0"/>
                </a:rPr>
                <a:t>和结果</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作为理论分析的支撑</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a:p>
              <a:pPr marL="469900" algn="ctr">
                <a:lnSpc>
                  <a:spcPct val="150000"/>
                </a:lnSpc>
                <a:spcBef>
                  <a:spcPts val="1100"/>
                </a:spcBef>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给出</a:t>
              </a:r>
              <a:r>
                <a:rPr lang="en-US" altLang="zh-CN"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LTE-M</a:t>
              </a: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场景</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下的短包时隙</a:t>
              </a: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Aloha</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实践效果分析</a:t>
              </a:r>
              <a:endParaRPr lang="zh-CN" altLang="en-US" sz="1600" dirty="0">
                <a:latin typeface="SimHei" panose="02010609060101010101" pitchFamily="49" charset="-122"/>
                <a:ea typeface="SimHei" panose="02010609060101010101" pitchFamily="49" charset="-122"/>
                <a:cs typeface="Microsoft JhengHei"/>
              </a:endParaRPr>
            </a:p>
          </p:txBody>
        </p:sp>
      </p:grpSp>
      <p:sp>
        <p:nvSpPr>
          <p:cNvPr id="16" name="下箭头 15"/>
          <p:cNvSpPr/>
          <p:nvPr/>
        </p:nvSpPr>
        <p:spPr>
          <a:xfrm>
            <a:off x="4441126" y="3935529"/>
            <a:ext cx="242316" cy="5769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65716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总结与展望</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37</a:t>
            </a:fld>
            <a:endParaRPr lang="zh-CN" altLang="en-US" dirty="0"/>
          </a:p>
        </p:txBody>
      </p:sp>
      <p:sp>
        <p:nvSpPr>
          <p:cNvPr id="8" name="矩形 7"/>
          <p:cNvSpPr/>
          <p:nvPr/>
        </p:nvSpPr>
        <p:spPr>
          <a:xfrm>
            <a:off x="628657" y="1201772"/>
            <a:ext cx="7886693" cy="2641172"/>
          </a:xfrm>
          <a:prstGeom prst="rect">
            <a:avLst/>
          </a:prstGeom>
        </p:spPr>
        <p:txBody>
          <a:bodyPr wrap="square">
            <a:spAutoFit/>
          </a:bodyPr>
          <a:lstStyle/>
          <a:p>
            <a:pPr marL="12700">
              <a:lnSpc>
                <a:spcPct val="150000"/>
              </a:lnSpc>
              <a:spcBef>
                <a:spcPts val="1100"/>
              </a:spcBef>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研究展望</a:t>
            </a:r>
            <a:r>
              <a:rPr lang="en-US" altLang="zh-CN" sz="2400" b="1" dirty="0">
                <a:latin typeface="Times New Roman" panose="02020603050405020304" pitchFamily="18" charset="0"/>
                <a:ea typeface="SimHei" panose="02010609060101010101" pitchFamily="49" charset="-122"/>
                <a:cs typeface="Times New Roman" panose="02020603050405020304" pitchFamily="18" charset="0"/>
              </a:rPr>
              <a:t> </a:t>
            </a:r>
          </a:p>
          <a:p>
            <a:pPr marL="812800" indent="-342900">
              <a:lnSpc>
                <a:spcPct val="150000"/>
              </a:lnSpc>
              <a:spcBef>
                <a:spcPts val="1100"/>
              </a:spcBef>
              <a:buFont typeface="Wingdings" panose="05000000000000000000" pitchFamily="2" charset="2"/>
              <a:buChar char="Ø"/>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平均接入时延的优化</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定理：优化方法定理化</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考虑排队时延或信息新鲜度</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非理想</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信道</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与</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多信道</a:t>
            </a:r>
            <a:endParaRPr lang="en-US" altLang="zh-CN" sz="1600" dirty="0" smtClean="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ct val="150000"/>
              </a:lnSpc>
              <a:spcBef>
                <a:spcPts val="1100"/>
              </a:spcBef>
              <a:buFont typeface="Wingdings" panose="05000000000000000000" pitchFamily="2" charset="2"/>
              <a:buChar char="Ø"/>
              <a:tabLst>
                <a:tab pos="927100" algn="l"/>
              </a:tabLst>
            </a:pP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不同的接收机模型：考虑信干噪比的俘获模型等</a:t>
            </a:r>
            <a:endParaRPr lang="en-US" altLang="zh-CN" sz="1600" dirty="0">
              <a:latin typeface="Times New Roman" panose="02020603050405020304" pitchFamily="18" charset="0"/>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115577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smtClean="0">
                <a:latin typeface="黑体" panose="02010609060101010101" pitchFamily="49" charset="-122"/>
                <a:ea typeface="黑体" panose="02010609060101010101" pitchFamily="49" charset="-122"/>
                <a:cs typeface="+mn-ea"/>
                <a:sym typeface="+mn-lt"/>
              </a:rPr>
              <a:t>评审意见及修改</a:t>
            </a:r>
            <a:endParaRPr lang="zh-CN" altLang="en-US" sz="3200" b="1" dirty="0">
              <a:latin typeface="黑体" panose="02010609060101010101" pitchFamily="49" charset="-122"/>
              <a:ea typeface="黑体" panose="02010609060101010101" pitchFamily="49" charset="-122"/>
              <a:cs typeface="+mn-ea"/>
              <a:sym typeface="+mn-lt"/>
            </a:endParaRP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38</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00739804"/>
              </p:ext>
            </p:extLst>
          </p:nvPr>
        </p:nvGraphicFramePr>
        <p:xfrm>
          <a:off x="447870" y="1320928"/>
          <a:ext cx="8515739" cy="4759525"/>
        </p:xfrm>
        <a:graphic>
          <a:graphicData uri="http://schemas.openxmlformats.org/drawingml/2006/table">
            <a:tbl>
              <a:tblPr firstRow="1" bandRow="1">
                <a:tableStyleId>{793D81CF-94F2-401A-BA57-92F5A7B2D0C5}</a:tableStyleId>
              </a:tblPr>
              <a:tblGrid>
                <a:gridCol w="5162938">
                  <a:extLst>
                    <a:ext uri="{9D8B030D-6E8A-4147-A177-3AD203B41FA5}">
                      <a16:colId xmlns:a16="http://schemas.microsoft.com/office/drawing/2014/main" val="2844294717"/>
                    </a:ext>
                  </a:extLst>
                </a:gridCol>
                <a:gridCol w="3352801">
                  <a:extLst>
                    <a:ext uri="{9D8B030D-6E8A-4147-A177-3AD203B41FA5}">
                      <a16:colId xmlns:a16="http://schemas.microsoft.com/office/drawing/2014/main" val="134448847"/>
                    </a:ext>
                  </a:extLst>
                </a:gridCol>
              </a:tblGrid>
              <a:tr h="562429">
                <a:tc>
                  <a:txBody>
                    <a:bodyPr/>
                    <a:lstStyle/>
                    <a:p>
                      <a:pPr algn="just">
                        <a:lnSpc>
                          <a:spcPct val="130000"/>
                        </a:lnSpc>
                      </a:pPr>
                      <a:r>
                        <a:rPr lang="zh-CN" altLang="en-US" baseline="0" dirty="0" smtClean="0"/>
                        <a:t>评审意见</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25"/>
                    </a:solidFill>
                  </a:tcPr>
                </a:tc>
                <a:tc>
                  <a:txBody>
                    <a:bodyPr/>
                    <a:lstStyle/>
                    <a:p>
                      <a:pPr algn="ctr">
                        <a:lnSpc>
                          <a:spcPct val="130000"/>
                        </a:lnSpc>
                      </a:pPr>
                      <a:r>
                        <a:rPr lang="zh-CN" altLang="en-US" baseline="0" dirty="0" smtClean="0"/>
                        <a:t>修改情况</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25"/>
                    </a:solidFill>
                  </a:tcPr>
                </a:tc>
                <a:extLst>
                  <a:ext uri="{0D108BD9-81ED-4DB2-BD59-A6C34878D82A}">
                    <a16:rowId xmlns:a16="http://schemas.microsoft.com/office/drawing/2014/main" val="1168234615"/>
                  </a:ext>
                </a:extLst>
              </a:tr>
              <a:tr h="370840">
                <a:tc>
                  <a:txBody>
                    <a:bodyPr/>
                    <a:lstStyle/>
                    <a:p>
                      <a:pPr algn="just">
                        <a:lnSpc>
                          <a:spcPct val="130000"/>
                        </a:lnSpc>
                      </a:pPr>
                      <a:r>
                        <a:rPr lang="zh-CN" altLang="en-US" baseline="0" dirty="0" smtClean="0"/>
                        <a:t>第</a:t>
                      </a:r>
                      <a:r>
                        <a:rPr lang="en-US" altLang="zh-CN" baseline="0" dirty="0" smtClean="0"/>
                        <a:t>16</a:t>
                      </a:r>
                      <a:r>
                        <a:rPr lang="zh-CN" altLang="en-US" baseline="0" dirty="0" smtClean="0"/>
                        <a:t>页，图</a:t>
                      </a:r>
                      <a:r>
                        <a:rPr lang="en-US" altLang="zh-CN" baseline="0" dirty="0" smtClean="0"/>
                        <a:t>2-1</a:t>
                      </a:r>
                      <a:r>
                        <a:rPr lang="zh-CN" altLang="en-US" baseline="0" dirty="0" smtClean="0"/>
                        <a:t>中的英文描述替换为中文描述；第</a:t>
                      </a:r>
                      <a:r>
                        <a:rPr lang="en-US" altLang="zh-CN" baseline="0" dirty="0" smtClean="0"/>
                        <a:t>24</a:t>
                      </a:r>
                      <a:r>
                        <a:rPr lang="zh-CN" altLang="en-US" baseline="0" dirty="0" smtClean="0"/>
                        <a:t>页，图</a:t>
                      </a:r>
                      <a:r>
                        <a:rPr lang="en-US" altLang="zh-CN" baseline="0" dirty="0" smtClean="0"/>
                        <a:t>3-1</a:t>
                      </a:r>
                      <a:r>
                        <a:rPr lang="zh-CN" altLang="en-US" baseline="0" dirty="0" smtClean="0"/>
                        <a:t>，图中标识边框与其他部分重叠。</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30000"/>
                        </a:lnSpc>
                      </a:pPr>
                      <a:r>
                        <a:rPr lang="zh-CN" altLang="en-US" baseline="0" dirty="0" smtClean="0"/>
                        <a:t>已通读全文，对上述两种类型的图片格式问题进行了修正。</a:t>
                      </a:r>
                      <a:endParaRPr lang="zh-CN" altLang="en-US" baseline="0" dirty="0">
                        <a:latin typeface="Times New Roman" panose="02020603050405020304" pitchFamily="18" charset="0"/>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59938"/>
                  </a:ext>
                </a:extLst>
              </a:tr>
              <a:tr h="370840">
                <a:tc>
                  <a:txBody>
                    <a:bodyPr/>
                    <a:lstStyle/>
                    <a:p>
                      <a:pPr algn="just">
                        <a:lnSpc>
                          <a:spcPct val="130000"/>
                        </a:lnSpc>
                      </a:pPr>
                      <a:r>
                        <a:rPr lang="zh-CN" altLang="en-US" sz="1800" kern="1200" dirty="0" smtClean="0">
                          <a:solidFill>
                            <a:schemeClr val="dk1"/>
                          </a:solidFill>
                          <a:effectLst/>
                          <a:latin typeface="+mn-lt"/>
                          <a:ea typeface="+mn-ea"/>
                          <a:cs typeface="+mn-cs"/>
                        </a:rPr>
                        <a:t>第</a:t>
                      </a:r>
                      <a:r>
                        <a:rPr lang="en-US" altLang="zh-CN" sz="1800" kern="1200" dirty="0" smtClean="0">
                          <a:solidFill>
                            <a:schemeClr val="dk1"/>
                          </a:solidFill>
                          <a:effectLst/>
                          <a:latin typeface="+mn-lt"/>
                          <a:ea typeface="+mn-ea"/>
                          <a:cs typeface="+mn-cs"/>
                        </a:rPr>
                        <a:t>38</a:t>
                      </a:r>
                      <a:r>
                        <a:rPr lang="zh-CN" altLang="en-US" sz="1800" kern="1200" dirty="0" smtClean="0">
                          <a:solidFill>
                            <a:schemeClr val="dk1"/>
                          </a:solidFill>
                          <a:effectLst/>
                          <a:latin typeface="+mn-lt"/>
                          <a:ea typeface="+mn-ea"/>
                          <a:cs typeface="+mn-cs"/>
                        </a:rPr>
                        <a:t>页，图</a:t>
                      </a:r>
                      <a:r>
                        <a:rPr lang="en-US" altLang="zh-CN" sz="1800" kern="1200" dirty="0" smtClean="0">
                          <a:solidFill>
                            <a:schemeClr val="dk1"/>
                          </a:solidFill>
                          <a:effectLst/>
                          <a:latin typeface="+mn-lt"/>
                          <a:ea typeface="+mn-ea"/>
                          <a:cs typeface="+mn-cs"/>
                        </a:rPr>
                        <a:t>4-1(b)</a:t>
                      </a:r>
                      <a:r>
                        <a:rPr lang="zh-CN" altLang="en-US" sz="1800" kern="1200" dirty="0" smtClean="0">
                          <a:solidFill>
                            <a:schemeClr val="dk1"/>
                          </a:solidFill>
                          <a:effectLst/>
                          <a:latin typeface="+mn-lt"/>
                          <a:ea typeface="+mn-ea"/>
                          <a:cs typeface="+mn-cs"/>
                        </a:rPr>
                        <a:t>中：平均接入时延会随着数据包块长度的增长先上升后下降然后再次上升。在正文中，并未发现关于此现象产生的原因，可否进行补充？</a:t>
                      </a:r>
                      <a:endParaRPr lang="zh-CN" altLang="en-US"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just">
                        <a:lnSpc>
                          <a:spcPct val="130000"/>
                        </a:lnSpc>
                        <a:buFont typeface="+mj-lt"/>
                        <a:buNone/>
                      </a:pPr>
                      <a:r>
                        <a:rPr lang="zh-CN" altLang="en-US" sz="1400" kern="1200" smtClean="0">
                          <a:solidFill>
                            <a:schemeClr val="dk1"/>
                          </a:solidFill>
                          <a:effectLst/>
                          <a:latin typeface="+mn-lt"/>
                          <a:ea typeface="+mn-ea"/>
                          <a:cs typeface="+mn-cs"/>
                        </a:rPr>
                        <a:t>修改后答辩稿第</a:t>
                      </a:r>
                      <a:r>
                        <a:rPr lang="en-US" altLang="zh-CN" sz="1400" kern="1200" smtClean="0">
                          <a:solidFill>
                            <a:schemeClr val="dk1"/>
                          </a:solidFill>
                          <a:effectLst/>
                          <a:latin typeface="+mn-lt"/>
                          <a:ea typeface="+mn-ea"/>
                          <a:cs typeface="+mn-cs"/>
                        </a:rPr>
                        <a:t>37</a:t>
                      </a:r>
                      <a:r>
                        <a:rPr lang="zh-CN" altLang="en-US" sz="1400" kern="1200" smtClean="0">
                          <a:solidFill>
                            <a:schemeClr val="dk1"/>
                          </a:solidFill>
                          <a:effectLst/>
                          <a:latin typeface="+mn-lt"/>
                          <a:ea typeface="+mn-ea"/>
                          <a:cs typeface="+mn-cs"/>
                        </a:rPr>
                        <a:t>页</a:t>
                      </a:r>
                      <a:r>
                        <a:rPr lang="en-US" altLang="zh-CN" sz="1400" kern="1200" smtClean="0">
                          <a:solidFill>
                            <a:schemeClr val="dk1"/>
                          </a:solidFill>
                          <a:effectLst/>
                          <a:latin typeface="+mn-lt"/>
                          <a:ea typeface="+mn-ea"/>
                          <a:cs typeface="+mn-cs"/>
                        </a:rPr>
                        <a:t>4.2</a:t>
                      </a:r>
                      <a:r>
                        <a:rPr lang="zh-CN" altLang="en-US" sz="1400" kern="1200" smtClean="0">
                          <a:solidFill>
                            <a:schemeClr val="dk1"/>
                          </a:solidFill>
                          <a:effectLst/>
                          <a:latin typeface="+mn-lt"/>
                          <a:ea typeface="+mn-ea"/>
                          <a:cs typeface="+mn-cs"/>
                        </a:rPr>
                        <a:t>节，修改为：“对于给定的</a:t>
                      </a:r>
                      <a:r>
                        <a:rPr lang="en-US" altLang="zh-CN" sz="1400" kern="1200" smtClean="0">
                          <a:solidFill>
                            <a:schemeClr val="dk1"/>
                          </a:solidFill>
                          <a:effectLst/>
                          <a:latin typeface="+mn-lt"/>
                          <a:ea typeface="+mn-ea"/>
                          <a:cs typeface="+mn-cs"/>
                        </a:rPr>
                        <a:t>q_0</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1</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2</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 </a:t>
                      </a:r>
                      <a:r>
                        <a:rPr lang="en-US" altLang="zh-CN" sz="1400" kern="1200" smtClean="0">
                          <a:solidFill>
                            <a:schemeClr val="dk1"/>
                          </a:solidFill>
                          <a:effectLst/>
                          <a:latin typeface="+mn-lt"/>
                          <a:ea typeface="+mn-ea"/>
                          <a:cs typeface="+mn-cs"/>
                        </a:rPr>
                        <a:t>3</a:t>
                      </a:r>
                      <a:r>
                        <a:rPr lang="zh-CN" altLang="en-US" sz="1400" kern="1200" smtClean="0">
                          <a:solidFill>
                            <a:schemeClr val="dk1"/>
                          </a:solidFill>
                          <a:effectLst/>
                          <a:latin typeface="+mn-lt"/>
                          <a:ea typeface="+mn-ea"/>
                          <a:cs typeface="+mn-cs"/>
                        </a:rPr>
                        <a:t>）</a:t>
                      </a:r>
                      <a:r>
                        <a:rPr lang="en-US" altLang="zh-CN" sz="1400" kern="1200" smtClean="0">
                          <a:solidFill>
                            <a:schemeClr val="dk1"/>
                          </a:solidFill>
                          <a:effectLst/>
                          <a:latin typeface="+mn-lt"/>
                          <a:ea typeface="+mn-ea"/>
                          <a:cs typeface="+mn-cs"/>
                        </a:rPr>
                        <a:t>……</a:t>
                      </a:r>
                      <a:r>
                        <a:rPr lang="zh-CN" altLang="en-US" sz="1400" kern="1200" smtClean="0">
                          <a:solidFill>
                            <a:schemeClr val="dk1"/>
                          </a:solidFill>
                          <a:effectLst/>
                          <a:latin typeface="+mn-lt"/>
                          <a:ea typeface="+mn-ea"/>
                          <a:cs typeface="+mn-cs"/>
                        </a:rPr>
                        <a:t>。最终表现为图</a:t>
                      </a:r>
                      <a:r>
                        <a:rPr lang="en-US" altLang="zh-CN" sz="1400" kern="1200" smtClean="0">
                          <a:solidFill>
                            <a:schemeClr val="dk1"/>
                          </a:solidFill>
                          <a:effectLst/>
                          <a:latin typeface="+mn-lt"/>
                          <a:ea typeface="+mn-ea"/>
                          <a:cs typeface="+mn-cs"/>
                        </a:rPr>
                        <a:t>4-1b</a:t>
                      </a:r>
                      <a:r>
                        <a:rPr lang="zh-CN" altLang="en-US" sz="1400" kern="1200" smtClean="0">
                          <a:solidFill>
                            <a:schemeClr val="dk1"/>
                          </a:solidFill>
                          <a:effectLst/>
                          <a:latin typeface="+mn-lt"/>
                          <a:ea typeface="+mn-ea"/>
                          <a:cs typeface="+mn-cs"/>
                        </a:rPr>
                        <a:t>所示的时延指标 </a:t>
                      </a:r>
                      <a:r>
                        <a:rPr lang="en-US" altLang="zh-CN" sz="1400" kern="1200" smtClean="0">
                          <a:solidFill>
                            <a:schemeClr val="dk1"/>
                          </a:solidFill>
                          <a:effectLst/>
                          <a:latin typeface="+mn-lt"/>
                          <a:ea typeface="+mn-ea"/>
                          <a:cs typeface="+mn-cs"/>
                        </a:rPr>
                        <a:t>ED </a:t>
                      </a:r>
                      <a:r>
                        <a:rPr lang="zh-CN" altLang="en-US" sz="1400" kern="1200" smtClean="0">
                          <a:solidFill>
                            <a:schemeClr val="dk1"/>
                          </a:solidFill>
                          <a:effectLst/>
                          <a:latin typeface="+mn-lt"/>
                          <a:ea typeface="+mn-ea"/>
                          <a:cs typeface="+mn-cs"/>
                        </a:rPr>
                        <a:t>随块长度 </a:t>
                      </a:r>
                      <a:r>
                        <a:rPr lang="en-US" altLang="zh-CN" sz="1400" kern="1200" smtClean="0">
                          <a:solidFill>
                            <a:schemeClr val="dk1"/>
                          </a:solidFill>
                          <a:effectLst/>
                          <a:latin typeface="+mn-lt"/>
                          <a:ea typeface="+mn-ea"/>
                          <a:cs typeface="+mn-cs"/>
                        </a:rPr>
                        <a:t>N </a:t>
                      </a:r>
                      <a:r>
                        <a:rPr lang="zh-CN" altLang="en-US" sz="1400" kern="1200" smtClean="0">
                          <a:solidFill>
                            <a:schemeClr val="dk1"/>
                          </a:solidFill>
                          <a:effectLst/>
                          <a:latin typeface="+mn-lt"/>
                          <a:ea typeface="+mn-ea"/>
                          <a:cs typeface="+mn-cs"/>
                        </a:rPr>
                        <a:t>的增加，呈现先增长再降低后重新增长的效果。”</a:t>
                      </a:r>
                      <a:endParaRPr lang="zh-CN" altLang="en-US" sz="140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488819"/>
                  </a:ext>
                </a:extLst>
              </a:tr>
              <a:tr h="370840">
                <a:tc>
                  <a:txBody>
                    <a:bodyPr/>
                    <a:lstStyle/>
                    <a:p>
                      <a:pPr algn="just">
                        <a:lnSpc>
                          <a:spcPct val="130000"/>
                        </a:lnSpc>
                      </a:pPr>
                      <a:r>
                        <a:rPr lang="zh-CN" altLang="zh-CN" sz="1800" kern="1200" dirty="0" smtClean="0">
                          <a:solidFill>
                            <a:schemeClr val="dk1"/>
                          </a:solidFill>
                          <a:effectLst/>
                          <a:latin typeface="+mn-lt"/>
                          <a:ea typeface="+mn-ea"/>
                          <a:cs typeface="+mn-cs"/>
                        </a:rPr>
                        <a:t>论文所完成的工作是以文献</a:t>
                      </a:r>
                      <a:r>
                        <a:rPr lang="en-US" altLang="zh-CN" sz="1800" kern="1200" dirty="0" smtClean="0">
                          <a:solidFill>
                            <a:schemeClr val="dk1"/>
                          </a:solidFill>
                          <a:effectLst/>
                          <a:latin typeface="+mn-lt"/>
                          <a:ea typeface="+mn-ea"/>
                          <a:cs typeface="+mn-cs"/>
                        </a:rPr>
                        <a:t>[89]</a:t>
                      </a:r>
                      <a:r>
                        <a:rPr lang="zh-CN" altLang="zh-CN" sz="1800" kern="1200" dirty="0" smtClean="0">
                          <a:solidFill>
                            <a:schemeClr val="dk1"/>
                          </a:solidFill>
                          <a:effectLst/>
                          <a:latin typeface="+mn-lt"/>
                          <a:ea typeface="+mn-ea"/>
                          <a:cs typeface="+mn-cs"/>
                        </a:rPr>
                        <a:t>所给出的</a:t>
                      </a:r>
                      <a:r>
                        <a:rPr lang="en-US" altLang="zh-CN" sz="1800" kern="1200" dirty="0" smtClean="0">
                          <a:solidFill>
                            <a:schemeClr val="dk1"/>
                          </a:solidFill>
                          <a:effectLst/>
                          <a:latin typeface="+mn-lt"/>
                          <a:ea typeface="+mn-ea"/>
                          <a:cs typeface="+mn-cs"/>
                        </a:rPr>
                        <a:t>Aloha</a:t>
                      </a:r>
                      <a:r>
                        <a:rPr lang="zh-CN" altLang="zh-CN" sz="1800" kern="1200" dirty="0" smtClean="0">
                          <a:solidFill>
                            <a:schemeClr val="dk1"/>
                          </a:solidFill>
                          <a:effectLst/>
                          <a:latin typeface="+mn-lt"/>
                          <a:ea typeface="+mn-ea"/>
                          <a:cs typeface="+mn-cs"/>
                        </a:rPr>
                        <a:t>网络解析框架为基础的。请简要说明，在考虑丢包的情况下，将文献</a:t>
                      </a:r>
                      <a:r>
                        <a:rPr lang="en-US" altLang="zh-CN" sz="1800" kern="1200" dirty="0" smtClean="0">
                          <a:solidFill>
                            <a:schemeClr val="dk1"/>
                          </a:solidFill>
                          <a:effectLst/>
                          <a:latin typeface="+mn-lt"/>
                          <a:ea typeface="+mn-ea"/>
                          <a:cs typeface="+mn-cs"/>
                        </a:rPr>
                        <a:t>[89]</a:t>
                      </a:r>
                      <a:r>
                        <a:rPr lang="zh-CN" altLang="zh-CN" sz="1800" kern="1200" dirty="0" smtClean="0">
                          <a:solidFill>
                            <a:schemeClr val="dk1"/>
                          </a:solidFill>
                          <a:effectLst/>
                          <a:latin typeface="+mn-lt"/>
                          <a:ea typeface="+mn-ea"/>
                          <a:cs typeface="+mn-cs"/>
                        </a:rPr>
                        <a:t>的理论框架推广到有限码长情况的主要难点是什么，以及解决这一困难的关键点是什么。</a:t>
                      </a:r>
                      <a:endParaRPr lang="zh-CN" altLang="en-US"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nSpc>
                          <a:spcPct val="130000"/>
                        </a:lnSpc>
                      </a:pPr>
                      <a:r>
                        <a:rPr lang="zh-CN" altLang="en-US" sz="1400" kern="1200" dirty="0" smtClean="0">
                          <a:solidFill>
                            <a:schemeClr val="dk1"/>
                          </a:solidFill>
                          <a:effectLst/>
                          <a:latin typeface="+mn-lt"/>
                          <a:ea typeface="+mn-ea"/>
                          <a:cs typeface="+mn-cs"/>
                        </a:rPr>
                        <a:t>修改后答辩稿第</a:t>
                      </a:r>
                      <a:r>
                        <a:rPr lang="en-US" altLang="zh-CN" sz="1400" kern="1200" dirty="0" smtClean="0">
                          <a:solidFill>
                            <a:schemeClr val="dk1"/>
                          </a:solidFill>
                          <a:effectLst/>
                          <a:latin typeface="+mn-lt"/>
                          <a:ea typeface="+mn-ea"/>
                          <a:cs typeface="+mn-cs"/>
                        </a:rPr>
                        <a:t>11</a:t>
                      </a:r>
                      <a:r>
                        <a:rPr lang="zh-CN" altLang="en-US" sz="1400" kern="1200" dirty="0" smtClean="0">
                          <a:solidFill>
                            <a:schemeClr val="dk1"/>
                          </a:solidFill>
                          <a:effectLst/>
                          <a:latin typeface="+mn-lt"/>
                          <a:ea typeface="+mn-ea"/>
                          <a:cs typeface="+mn-cs"/>
                        </a:rPr>
                        <a:t>页 </a:t>
                      </a:r>
                      <a:r>
                        <a:rPr lang="en-US" altLang="zh-CN" sz="1400" kern="1200" dirty="0" smtClean="0">
                          <a:solidFill>
                            <a:schemeClr val="dk1"/>
                          </a:solidFill>
                          <a:effectLst/>
                          <a:latin typeface="+mn-lt"/>
                          <a:ea typeface="+mn-ea"/>
                          <a:cs typeface="+mn-cs"/>
                        </a:rPr>
                        <a:t>1.2.5</a:t>
                      </a:r>
                      <a:r>
                        <a:rPr lang="zh-CN" altLang="en-US" sz="1400" kern="1200" dirty="0" smtClean="0">
                          <a:solidFill>
                            <a:schemeClr val="dk1"/>
                          </a:solidFill>
                          <a:effectLst/>
                          <a:latin typeface="+mn-lt"/>
                          <a:ea typeface="+mn-ea"/>
                          <a:cs typeface="+mn-cs"/>
                        </a:rPr>
                        <a:t>小节创新点第</a:t>
                      </a:r>
                      <a:r>
                        <a:rPr lang="en-US" altLang="zh-CN" sz="1400" kern="1200" dirty="0" smtClean="0">
                          <a:solidFill>
                            <a:schemeClr val="dk1"/>
                          </a:solidFill>
                          <a:effectLst/>
                          <a:latin typeface="+mn-lt"/>
                          <a:ea typeface="+mn-ea"/>
                          <a:cs typeface="+mn-cs"/>
                        </a:rPr>
                        <a:t>1</a:t>
                      </a:r>
                      <a:r>
                        <a:rPr lang="zh-CN" altLang="en-US" sz="1400" kern="1200" dirty="0" smtClean="0">
                          <a:solidFill>
                            <a:schemeClr val="dk1"/>
                          </a:solidFill>
                          <a:effectLst/>
                          <a:latin typeface="+mn-lt"/>
                          <a:ea typeface="+mn-ea"/>
                          <a:cs typeface="+mn-cs"/>
                        </a:rPr>
                        <a:t>点：“其中的难点在</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。围绕这个关键点，本文创新性地指出：</a:t>
                      </a:r>
                      <a:r>
                        <a:rPr lang="en-US" altLang="zh-CN" sz="1400" kern="1200" dirty="0" smtClean="0">
                          <a:solidFill>
                            <a:schemeClr val="dk1"/>
                          </a:solidFill>
                          <a:effectLst/>
                          <a:latin typeface="+mn-lt"/>
                          <a:ea typeface="+mn-ea"/>
                          <a:cs typeface="+mn-cs"/>
                        </a:rPr>
                        <a:t>1</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2</a:t>
                      </a:r>
                      <a:r>
                        <a:rPr lang="zh-CN" altLang="en-US" sz="1400" kern="1200" dirty="0" smtClean="0">
                          <a:solidFill>
                            <a:schemeClr val="dk1"/>
                          </a:solidFill>
                          <a:effectLst/>
                          <a:latin typeface="+mn-lt"/>
                          <a:ea typeface="+mn-ea"/>
                          <a:cs typeface="+mn-cs"/>
                        </a:rPr>
                        <a:t>） </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 为海量机器类通信随机接入分析提出了一个新的短包免授权随机接入分析框架。”</a:t>
                      </a:r>
                      <a:endParaRPr lang="zh-CN" altLang="en-US" sz="140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967335"/>
                  </a:ext>
                </a:extLst>
              </a:tr>
            </a:tbl>
          </a:graphicData>
        </a:graphic>
      </p:graphicFrame>
    </p:spTree>
    <p:extLst>
      <p:ext uri="{BB962C8B-B14F-4D97-AF65-F5344CB8AC3E}">
        <p14:creationId xmlns:p14="http://schemas.microsoft.com/office/powerpoint/2010/main" val="903724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攻读硕士学位期间</a:t>
            </a:r>
            <a:r>
              <a:rPr lang="zh-CN" altLang="en-US" sz="3200" b="1" dirty="0" smtClean="0">
                <a:latin typeface="黑体" panose="02010609060101010101" pitchFamily="49" charset="-122"/>
                <a:ea typeface="黑体" panose="02010609060101010101" pitchFamily="49" charset="-122"/>
                <a:cs typeface="+mn-ea"/>
                <a:sym typeface="+mn-lt"/>
              </a:rPr>
              <a:t>取得研究</a:t>
            </a:r>
            <a:r>
              <a:rPr lang="zh-CN" altLang="en-US" sz="3200" b="1" dirty="0">
                <a:latin typeface="黑体" panose="02010609060101010101" pitchFamily="49" charset="-122"/>
                <a:ea typeface="黑体" panose="02010609060101010101" pitchFamily="49" charset="-122"/>
                <a:cs typeface="+mn-ea"/>
                <a:sym typeface="+mn-lt"/>
              </a:rPr>
              <a:t>成果</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39</a:t>
            </a:fld>
            <a:endParaRPr lang="zh-CN" altLang="en-US" dirty="0"/>
          </a:p>
        </p:txBody>
      </p:sp>
      <p:sp>
        <p:nvSpPr>
          <p:cNvPr id="6" name="矩形 5"/>
          <p:cNvSpPr/>
          <p:nvPr/>
        </p:nvSpPr>
        <p:spPr>
          <a:xfrm>
            <a:off x="628657" y="1201772"/>
            <a:ext cx="7886693" cy="4726935"/>
          </a:xfrm>
          <a:prstGeom prst="rect">
            <a:avLst/>
          </a:prstGeom>
        </p:spPr>
        <p:txBody>
          <a:bodyPr wrap="square">
            <a:spAutoFit/>
          </a:bodyPr>
          <a:lstStyle/>
          <a:p>
            <a:pPr marL="355600" indent="-342900">
              <a:lnSpc>
                <a:spcPct val="150000"/>
              </a:lnSpc>
              <a:spcBef>
                <a:spcPts val="1100"/>
              </a:spcBef>
              <a:buFont typeface="Wingdings" panose="05000000000000000000" pitchFamily="2" charset="2"/>
              <a:buChar char="n"/>
            </a:pPr>
            <a:r>
              <a:rPr lang="zh-CN" altLang="en-US" sz="2400" b="1" spc="10" dirty="0">
                <a:latin typeface="SimHei" panose="02010609060101010101" pitchFamily="49" charset="-122"/>
                <a:ea typeface="SimHei" panose="02010609060101010101" pitchFamily="49" charset="-122"/>
                <a:cs typeface="Times New Roman" panose="02020603050405020304" pitchFamily="18" charset="0"/>
              </a:rPr>
              <a:t>发表</a:t>
            </a:r>
            <a:r>
              <a:rPr lang="zh-CN" altLang="en-US" sz="2400" b="1" spc="10" dirty="0" smtClean="0">
                <a:latin typeface="SimHei" panose="02010609060101010101" pitchFamily="49" charset="-122"/>
                <a:ea typeface="SimHei" panose="02010609060101010101" pitchFamily="49" charset="-122"/>
                <a:cs typeface="Times New Roman" panose="02020603050405020304" pitchFamily="18" charset="0"/>
              </a:rPr>
              <a:t>论文</a:t>
            </a:r>
            <a:endParaRPr lang="en-US" altLang="zh-CN" sz="2400" b="1" spc="10" dirty="0" smtClean="0">
              <a:latin typeface="SimHei" panose="02010609060101010101" pitchFamily="49" charset="-122"/>
              <a:ea typeface="SimHei" panose="02010609060101010101" pitchFamily="49" charset="-122"/>
              <a:cs typeface="Times New Roman" panose="02020603050405020304" pitchFamily="18" charset="0"/>
            </a:endParaRPr>
          </a:p>
          <a:p>
            <a:pPr marL="469900">
              <a:lnSpc>
                <a:spcPct val="150000"/>
              </a:lnSpc>
              <a:spcBef>
                <a:spcPts val="1100"/>
              </a:spcBef>
              <a:tabLst>
                <a:tab pos="927100" algn="l"/>
              </a:tabLst>
            </a:pPr>
            <a:r>
              <a:rPr lang="en-US" altLang="zh-CN" sz="1600" b="1" dirty="0" smtClean="0">
                <a:latin typeface="Times New Roman" panose="02020603050405020304" pitchFamily="18" charset="0"/>
                <a:ea typeface="SimHei" panose="02010609060101010101" pitchFamily="49" charset="-122"/>
                <a:cs typeface="Times New Roman" panose="02020603050405020304" pitchFamily="18" charset="0"/>
              </a:rPr>
              <a:t>Liu </a:t>
            </a:r>
            <a:r>
              <a:rPr lang="en-US" altLang="zh-CN" sz="1600" b="1" dirty="0">
                <a:latin typeface="Times New Roman" panose="02020603050405020304" pitchFamily="18" charset="0"/>
                <a:ea typeface="SimHei" panose="02010609060101010101" pitchFamily="49" charset="-122"/>
                <a:cs typeface="Times New Roman" panose="02020603050405020304" pitchFamily="18" charset="0"/>
              </a:rPr>
              <a:t>W</a:t>
            </a: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 Sun X, Zhan W, et al. Maximum Sum Rate of Slotted Aloha for </a:t>
            </a:r>
            <a:r>
              <a:rPr lang="en-US" altLang="zh-CN" sz="1600" dirty="0" err="1">
                <a:latin typeface="Times New Roman" panose="02020603050405020304" pitchFamily="18" charset="0"/>
                <a:ea typeface="SimHei" panose="02010609060101010101" pitchFamily="49" charset="-122"/>
                <a:cs typeface="Times New Roman" panose="02020603050405020304" pitchFamily="18" charset="0"/>
              </a:rPr>
              <a:t>mMTC</a:t>
            </a: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 with</a:t>
            </a:r>
          </a:p>
          <a:p>
            <a:pPr marL="469900">
              <a:lnSpc>
                <a:spcPct val="150000"/>
              </a:lnSpc>
              <a:spcBef>
                <a:spcPts val="1100"/>
              </a:spcBef>
              <a:tabLst>
                <a:tab pos="927100" algn="l"/>
              </a:tabLst>
            </a:pP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Short Packet[C]// 2020 IEEE/CIC International Conference on Communications in</a:t>
            </a:r>
          </a:p>
          <a:p>
            <a:pPr marL="469900">
              <a:lnSpc>
                <a:spcPct val="150000"/>
              </a:lnSpc>
              <a:spcBef>
                <a:spcPts val="1100"/>
              </a:spcBef>
              <a:tabLst>
                <a:tab pos="927100" algn="l"/>
              </a:tabLst>
            </a:pP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China (ICCC). IEEE, 2020: 1068-1073.</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a:t>
            </a:r>
            <a:r>
              <a:rPr lang="en-US" altLang="zh-CN" sz="1600" dirty="0">
                <a:latin typeface="Times New Roman" panose="02020603050405020304" pitchFamily="18" charset="0"/>
                <a:ea typeface="SimHei" panose="02010609060101010101" pitchFamily="49" charset="-122"/>
                <a:cs typeface="Times New Roman" panose="02020603050405020304" pitchFamily="18" charset="0"/>
              </a:rPr>
              <a:t>EI </a:t>
            </a:r>
            <a:r>
              <a:rPr lang="zh-CN" altLang="en-US" sz="1600" dirty="0">
                <a:latin typeface="Times New Roman" panose="02020603050405020304" pitchFamily="18" charset="0"/>
                <a:ea typeface="SimHei" panose="02010609060101010101" pitchFamily="49" charset="-122"/>
                <a:cs typeface="Times New Roman" panose="02020603050405020304" pitchFamily="18" charset="0"/>
              </a:rPr>
              <a:t>收录，与论文第二、三章内容有关</a:t>
            </a:r>
            <a:r>
              <a:rPr lang="zh-CN" altLang="en-US" sz="1600" dirty="0" smtClean="0">
                <a:latin typeface="Times New Roman" panose="02020603050405020304" pitchFamily="18" charset="0"/>
                <a:ea typeface="SimHei" panose="02010609060101010101" pitchFamily="49" charset="-122"/>
                <a:cs typeface="Times New Roman" panose="02020603050405020304" pitchFamily="18" charset="0"/>
              </a:rPr>
              <a:t>）</a:t>
            </a:r>
            <a:endPar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endParaRPr>
          </a:p>
          <a:p>
            <a:pPr marL="355600" indent="-342900">
              <a:lnSpc>
                <a:spcPct val="150000"/>
              </a:lnSpc>
              <a:spcBef>
                <a:spcPts val="1100"/>
              </a:spcBef>
              <a:buFont typeface="Wingdings" panose="05000000000000000000" pitchFamily="2" charset="2"/>
              <a:buChar char="n"/>
            </a:pPr>
            <a:r>
              <a:rPr lang="zh-CN" altLang="en-US" sz="2400" b="1" spc="10" dirty="0" smtClean="0">
                <a:latin typeface="SimHei" panose="02010609060101010101" pitchFamily="49" charset="-122"/>
                <a:ea typeface="SimHei" panose="02010609060101010101" pitchFamily="49" charset="-122"/>
                <a:cs typeface="Times New Roman" panose="02020603050405020304" pitchFamily="18" charset="0"/>
              </a:rPr>
              <a:t>发明专利</a:t>
            </a:r>
            <a:endParaRPr lang="en-US" altLang="zh-CN" sz="2400" b="1" spc="10" dirty="0" smtClean="0">
              <a:latin typeface="SimHei" panose="02010609060101010101" pitchFamily="49" charset="-122"/>
              <a:ea typeface="SimHei" panose="02010609060101010101" pitchFamily="49" charset="-122"/>
              <a:cs typeface="Times New Roman" panose="02020603050405020304" pitchFamily="18" charset="0"/>
            </a:endParaRPr>
          </a:p>
          <a:p>
            <a:pPr marL="469900" lvl="1">
              <a:lnSpc>
                <a:spcPct val="150000"/>
              </a:lnSpc>
              <a:spcBef>
                <a:spcPts val="1100"/>
              </a:spcBef>
            </a:pPr>
            <a:r>
              <a:rPr lang="zh-CN" altLang="en-US" sz="1600" spc="10" dirty="0" smtClean="0">
                <a:latin typeface="SimHei" panose="02010609060101010101" pitchFamily="49" charset="-122"/>
                <a:ea typeface="SimHei" panose="02010609060101010101" pitchFamily="49" charset="-122"/>
                <a:cs typeface="Times New Roman" panose="02020603050405020304" pitchFamily="18" charset="0"/>
              </a:rPr>
              <a:t>孙</a:t>
            </a:r>
            <a:r>
              <a:rPr lang="zh-CN" altLang="en-US" sz="1600" spc="10" dirty="0">
                <a:latin typeface="SimHei" panose="02010609060101010101" pitchFamily="49" charset="-122"/>
                <a:ea typeface="SimHei" panose="02010609060101010101" pitchFamily="49" charset="-122"/>
                <a:cs typeface="Times New Roman" panose="02020603050405020304" pitchFamily="18" charset="0"/>
              </a:rPr>
              <a:t>兴华，</a:t>
            </a:r>
            <a:r>
              <a:rPr lang="zh-CN" altLang="en-US" sz="1600" b="1" spc="10" dirty="0">
                <a:latin typeface="SimHei" panose="02010609060101010101" pitchFamily="49" charset="-122"/>
                <a:ea typeface="SimHei" panose="02010609060101010101" pitchFamily="49" charset="-122"/>
                <a:cs typeface="Times New Roman" panose="02020603050405020304" pitchFamily="18" charset="0"/>
              </a:rPr>
              <a:t>刘伟华</a:t>
            </a:r>
            <a:r>
              <a:rPr lang="zh-CN" altLang="en-US" sz="1600" spc="10" dirty="0">
                <a:latin typeface="SimHei" panose="02010609060101010101" pitchFamily="49" charset="-122"/>
                <a:ea typeface="SimHei" panose="02010609060101010101" pitchFamily="49" charset="-122"/>
                <a:cs typeface="Times New Roman" panose="02020603050405020304" pitchFamily="18" charset="0"/>
              </a:rPr>
              <a:t>，詹文，等。一种机器类通信网络短包随机接入的分布式能</a:t>
            </a:r>
          </a:p>
          <a:p>
            <a:pPr marL="469900" lvl="1">
              <a:lnSpc>
                <a:spcPct val="150000"/>
              </a:lnSpc>
              <a:spcBef>
                <a:spcPts val="1100"/>
              </a:spcBef>
            </a:pPr>
            <a:r>
              <a:rPr lang="zh-CN" altLang="en-US" sz="1600" spc="10" dirty="0">
                <a:latin typeface="SimHei" panose="02010609060101010101" pitchFamily="49" charset="-122"/>
                <a:ea typeface="SimHei" panose="02010609060101010101" pitchFamily="49" charset="-122"/>
                <a:cs typeface="Times New Roman" panose="02020603050405020304" pitchFamily="18" charset="0"/>
              </a:rPr>
              <a:t>效优化方法：中国，</a:t>
            </a:r>
            <a:r>
              <a:rPr lang="en-US" altLang="zh-CN" sz="1600" spc="10" dirty="0">
                <a:latin typeface="SimHei" panose="02010609060101010101" pitchFamily="49" charset="-122"/>
                <a:ea typeface="SimHei" panose="02010609060101010101" pitchFamily="49" charset="-122"/>
                <a:cs typeface="Times New Roman" panose="02020603050405020304" pitchFamily="18" charset="0"/>
              </a:rPr>
              <a:t>202110342511.1[P]</a:t>
            </a:r>
            <a:r>
              <a:rPr lang="zh-CN" altLang="en-US" sz="1600" spc="10" dirty="0">
                <a:latin typeface="SimHei" panose="02010609060101010101" pitchFamily="49" charset="-122"/>
                <a:ea typeface="SimHei" panose="02010609060101010101" pitchFamily="49" charset="-122"/>
                <a:cs typeface="Times New Roman" panose="02020603050405020304" pitchFamily="18" charset="0"/>
              </a:rPr>
              <a:t>。</a:t>
            </a:r>
            <a:r>
              <a:rPr lang="en-US" altLang="zh-CN" sz="1600" spc="10" dirty="0">
                <a:latin typeface="SimHei" panose="02010609060101010101" pitchFamily="49" charset="-122"/>
                <a:ea typeface="SimHei" panose="02010609060101010101" pitchFamily="49" charset="-122"/>
                <a:cs typeface="Times New Roman" panose="02020603050405020304" pitchFamily="18" charset="0"/>
              </a:rPr>
              <a:t>2021-03-31.</a:t>
            </a:r>
            <a:r>
              <a:rPr lang="zh-CN" altLang="en-US" sz="1600" spc="10" dirty="0" smtClean="0">
                <a:latin typeface="SimHei" panose="02010609060101010101" pitchFamily="49" charset="-122"/>
                <a:ea typeface="SimHei" panose="02010609060101010101" pitchFamily="49" charset="-122"/>
                <a:cs typeface="Times New Roman" panose="02020603050405020304" pitchFamily="18" charset="0"/>
              </a:rPr>
              <a:t>（受理，与</a:t>
            </a:r>
            <a:r>
              <a:rPr lang="zh-CN" altLang="en-US" sz="1600" spc="10" dirty="0">
                <a:latin typeface="SimHei" panose="02010609060101010101" pitchFamily="49" charset="-122"/>
                <a:ea typeface="SimHei" panose="02010609060101010101" pitchFamily="49" charset="-122"/>
                <a:cs typeface="Times New Roman" panose="02020603050405020304" pitchFamily="18" charset="0"/>
              </a:rPr>
              <a:t>论文第五章内容</a:t>
            </a:r>
            <a:r>
              <a:rPr lang="zh-CN" altLang="en-US" sz="1600" spc="10" dirty="0" smtClean="0">
                <a:latin typeface="SimHei" panose="02010609060101010101" pitchFamily="49" charset="-122"/>
                <a:ea typeface="SimHei" panose="02010609060101010101" pitchFamily="49" charset="-122"/>
                <a:cs typeface="Times New Roman" panose="02020603050405020304" pitchFamily="18" charset="0"/>
              </a:rPr>
              <a:t>有关）</a:t>
            </a:r>
            <a:endParaRPr lang="en-US" altLang="zh-CN" sz="1600" spc="10" dirty="0" smtClean="0">
              <a:latin typeface="SimHei" panose="02010609060101010101" pitchFamily="49" charset="-122"/>
              <a:ea typeface="SimHei" panose="02010609060101010101" pitchFamily="49" charset="-122"/>
              <a:cs typeface="Times New Roman" panose="02020603050405020304" pitchFamily="18" charset="0"/>
            </a:endParaRPr>
          </a:p>
          <a:p>
            <a:pPr marL="469900" lvl="1">
              <a:lnSpc>
                <a:spcPct val="150000"/>
              </a:lnSpc>
              <a:spcBef>
                <a:spcPts val="1100"/>
              </a:spcBef>
            </a:pPr>
            <a:endParaRPr lang="zh-CN" altLang="en-US" sz="1400" spc="10" dirty="0" smtClean="0">
              <a:latin typeface="SimHei" panose="02010609060101010101" pitchFamily="49" charset="-122"/>
              <a:ea typeface="SimHe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005542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8463" y="1979112"/>
            <a:ext cx="6858000" cy="2383337"/>
          </a:xfrm>
        </p:spPr>
        <p:txBody>
          <a:bodyPr>
            <a:normAutofit/>
          </a:bodyPr>
          <a:lstStyle/>
          <a:p>
            <a:r>
              <a:rPr lang="en-US" altLang="zh-CN" b="1" dirty="0">
                <a:solidFill>
                  <a:srgbClr val="005825"/>
                </a:solidFill>
                <a:latin typeface="宋体" panose="02010600030101010101" pitchFamily="2" charset="-122"/>
                <a:ea typeface="宋体" panose="02010600030101010101" pitchFamily="2" charset="-122"/>
                <a:cs typeface="+mn-ea"/>
                <a:sym typeface="+mn-lt"/>
              </a:rPr>
              <a:t/>
            </a:r>
            <a:br>
              <a:rPr lang="en-US" altLang="zh-CN" b="1" dirty="0">
                <a:solidFill>
                  <a:srgbClr val="005825"/>
                </a:solidFill>
                <a:latin typeface="宋体" panose="02010600030101010101" pitchFamily="2" charset="-122"/>
                <a:ea typeface="宋体" panose="02010600030101010101" pitchFamily="2" charset="-122"/>
                <a:cs typeface="+mn-ea"/>
                <a:sym typeface="+mn-lt"/>
              </a:rPr>
            </a:br>
            <a:r>
              <a:rPr lang="zh-CN" altLang="en-US" b="1" dirty="0">
                <a:solidFill>
                  <a:srgbClr val="005825"/>
                </a:solidFill>
                <a:latin typeface="宋体" panose="02010600030101010101" pitchFamily="2" charset="-122"/>
                <a:ea typeface="宋体" panose="02010600030101010101" pitchFamily="2" charset="-122"/>
                <a:cs typeface="+mn-ea"/>
                <a:sym typeface="+mn-lt"/>
              </a:rPr>
              <a:t>感谢聆听！</a:t>
            </a:r>
          </a:p>
        </p:txBody>
      </p:sp>
    </p:spTree>
    <p:extLst>
      <p:ext uri="{BB962C8B-B14F-4D97-AF65-F5344CB8AC3E}">
        <p14:creationId xmlns:p14="http://schemas.microsoft.com/office/powerpoint/2010/main" val="16311646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8463" y="1979112"/>
            <a:ext cx="6858000" cy="2383337"/>
          </a:xfrm>
        </p:spPr>
        <p:txBody>
          <a:bodyPr>
            <a:normAutofit/>
          </a:bodyPr>
          <a:lstStyle/>
          <a:p>
            <a:r>
              <a:rPr lang="zh-CN" altLang="en-US" b="1" dirty="0">
                <a:solidFill>
                  <a:srgbClr val="005825"/>
                </a:solidFill>
                <a:latin typeface="宋体" panose="02010600030101010101" pitchFamily="2" charset="-122"/>
                <a:ea typeface="宋体" panose="02010600030101010101" pitchFamily="2" charset="-122"/>
                <a:cs typeface="+mn-ea"/>
                <a:sym typeface="+mn-lt"/>
              </a:rPr>
              <a:t>答辩环节</a:t>
            </a:r>
          </a:p>
        </p:txBody>
      </p:sp>
    </p:spTree>
    <p:extLst>
      <p:ext uri="{BB962C8B-B14F-4D97-AF65-F5344CB8AC3E}">
        <p14:creationId xmlns:p14="http://schemas.microsoft.com/office/powerpoint/2010/main" val="29461816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系统建模</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42</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628657" y="1190479"/>
                <a:ext cx="6834589" cy="3308598"/>
              </a:xfrm>
              <a:prstGeom prst="rect">
                <a:avLst/>
              </a:prstGeom>
              <a:ln>
                <a:noFill/>
              </a:ln>
            </p:spPr>
            <p:txBody>
              <a:bodyPr wrap="square">
                <a:spAutoFit/>
              </a:bodyPr>
              <a:lstStyle/>
              <a:p>
                <a:pPr marL="12700">
                  <a:lnSpc>
                    <a:spcPct val="100000"/>
                  </a:lnSpc>
                </a:pP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建模</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队列头包成功传输概率</a:t>
                </a:r>
                <a14:m>
                  <m:oMath xmlns:m="http://schemas.openxmlformats.org/officeDocument/2006/math">
                    <m:r>
                      <a:rPr lang="en-US" altLang="zh-CN" sz="2400" b="1" i="1" spc="10" smtClean="0">
                        <a:solidFill>
                          <a:srgbClr val="0070C0"/>
                        </a:solidFill>
                        <a:latin typeface="Cambria Math" panose="02040503050406030204" pitchFamily="18" charset="0"/>
                        <a:ea typeface="SimHei" panose="02010609060101010101" pitchFamily="49" charset="-122"/>
                        <a:cs typeface="Times New Roman" panose="02020603050405020304" pitchFamily="18" charset="0"/>
                      </a:rPr>
                      <m:t>𝒑</m:t>
                    </m:r>
                  </m:oMath>
                </a14:m>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解包错误概率与成功传输概率随 </a:t>
                </a:r>
                <a:r>
                  <a:rPr lang="en-US" altLang="zh-CN" b="1" dirty="0" smtClean="0">
                    <a:latin typeface="Times New Roman" panose="02020603050405020304" pitchFamily="18" charset="0"/>
                    <a:ea typeface="SimHei" panose="02010609060101010101" pitchFamily="49" charset="-122"/>
                    <a:cs typeface="Times New Roman" panose="02020603050405020304" pitchFamily="18" charset="0"/>
                  </a:rPr>
                  <a:t>N </a:t>
                </a:r>
                <a:r>
                  <a:rPr lang="zh-CN" altLang="en-US" b="1" dirty="0" smtClean="0">
                    <a:latin typeface="Times New Roman" panose="02020603050405020304" pitchFamily="18" charset="0"/>
                    <a:ea typeface="SimHei" panose="02010609060101010101" pitchFamily="49" charset="-122"/>
                    <a:cs typeface="Times New Roman" panose="02020603050405020304" pitchFamily="18" charset="0"/>
                  </a:rPr>
                  <a:t>的变化</a:t>
                </a: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812800" indent="-342900">
                  <a:lnSpc>
                    <a:spcPts val="2500"/>
                  </a:lnSpc>
                  <a:spcBef>
                    <a:spcPts val="1245"/>
                  </a:spcBef>
                  <a:buFont typeface="Wingdings" panose="05000000000000000000" pitchFamily="2" charset="2"/>
                  <a:buChar char="Ø"/>
                  <a:tabLst>
                    <a:tab pos="927100" algn="l"/>
                  </a:tabLst>
                </a:pPr>
                <a:endParaRPr lang="en-US" altLang="zh-CN" sz="1200" b="1" dirty="0">
                  <a:latin typeface="Times New Roman" panose="02020603050405020304" pitchFamily="18" charset="0"/>
                  <a:ea typeface="SimHei" panose="02010609060101010101" pitchFamily="49" charset="-122"/>
                  <a:cs typeface="Times New Roman" panose="02020603050405020304" pitchFamily="18" charset="0"/>
                </a:endParaRPr>
              </a:p>
              <a:p>
                <a:pPr marL="469900">
                  <a:lnSpc>
                    <a:spcPts val="2500"/>
                  </a:lnSpc>
                  <a:spcBef>
                    <a:spcPts val="1245"/>
                  </a:spcBef>
                  <a:tabLst>
                    <a:tab pos="927100" algn="l"/>
                  </a:tabLst>
                </a:pPr>
                <a:endParaRPr lang="en-US" altLang="zh-CN" b="1" dirty="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628657" y="1190479"/>
                <a:ext cx="6834589" cy="3308598"/>
              </a:xfrm>
              <a:prstGeom prst="rect">
                <a:avLst/>
              </a:prstGeom>
              <a:blipFill>
                <a:blip r:embed="rId3"/>
                <a:stretch>
                  <a:fillRect l="-1160" t="-2026"/>
                </a:stretch>
              </a:blipFill>
              <a:ln>
                <a:noFill/>
              </a:ln>
            </p:spPr>
            <p:txBody>
              <a:bodyPr/>
              <a:lstStyle/>
              <a:p>
                <a:r>
                  <a:rPr lang="zh-CN" altLang="en-US">
                    <a:noFill/>
                  </a:rPr>
                  <a:t> </a:t>
                </a:r>
              </a:p>
            </p:txBody>
          </p:sp>
        </mc:Fallback>
      </mc:AlternateContent>
      <p:pic>
        <p:nvPicPr>
          <p:cNvPr id="5" name="图片 4"/>
          <p:cNvPicPr>
            <a:picLocks noChangeAspect="1"/>
          </p:cNvPicPr>
          <p:nvPr/>
        </p:nvPicPr>
        <p:blipFill>
          <a:blip r:embed="rId4"/>
          <a:stretch>
            <a:fillRect/>
          </a:stretch>
        </p:blipFill>
        <p:spPr>
          <a:xfrm>
            <a:off x="123207" y="2183821"/>
            <a:ext cx="8897592" cy="4172532"/>
          </a:xfrm>
          <a:prstGeom prst="rect">
            <a:avLst/>
          </a:prstGeom>
        </p:spPr>
      </p:pic>
    </p:spTree>
    <p:extLst>
      <p:ext uri="{BB962C8B-B14F-4D97-AF65-F5344CB8AC3E}">
        <p14:creationId xmlns:p14="http://schemas.microsoft.com/office/powerpoint/2010/main" val="21708823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7" y="469254"/>
            <a:ext cx="7886693" cy="575775"/>
          </a:xfrm>
        </p:spPr>
        <p:txBody>
          <a:bodyPr>
            <a:noAutofit/>
          </a:bodyPr>
          <a:lstStyle/>
          <a:p>
            <a:r>
              <a:rPr lang="zh-CN" altLang="en-US" sz="3200" b="1" dirty="0">
                <a:latin typeface="黑体" panose="02010609060101010101" pitchFamily="49" charset="-122"/>
                <a:ea typeface="黑体" panose="02010609060101010101" pitchFamily="49" charset="-122"/>
                <a:cs typeface="+mn-ea"/>
                <a:sym typeface="+mn-lt"/>
              </a:rPr>
              <a:t>性能分析与优化（第三章）</a:t>
            </a:r>
          </a:p>
        </p:txBody>
      </p:sp>
      <p:sp>
        <p:nvSpPr>
          <p:cNvPr id="4" name="灯片编号占位符 3"/>
          <p:cNvSpPr>
            <a:spLocks noGrp="1"/>
          </p:cNvSpPr>
          <p:nvPr>
            <p:ph type="sldNum" sz="quarter" idx="12"/>
          </p:nvPr>
        </p:nvSpPr>
        <p:spPr/>
        <p:txBody>
          <a:bodyPr/>
          <a:lstStyle/>
          <a:p>
            <a:fld id="{C0B10EDF-B687-4851-88EF-036A594B1DDE}" type="slidenum">
              <a:rPr lang="zh-CN" altLang="en-US" smtClean="0"/>
              <a:t>43</a:t>
            </a:fld>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332565" y="1201772"/>
                <a:ext cx="4468035" cy="4739759"/>
              </a:xfrm>
              <a:prstGeom prst="rect">
                <a:avLst/>
              </a:prstGeom>
            </p:spPr>
            <p:txBody>
              <a:bodyPr wrap="square">
                <a:spAutoFit/>
              </a:bodyPr>
              <a:lstStyle/>
              <a:p>
                <a:pPr marL="12700"/>
                <a:r>
                  <a:rPr lang="zh-CN" altLang="en-US"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事件驱动仿真</a:t>
                </a:r>
                <a:r>
                  <a:rPr lang="en-US" altLang="zh-CN" sz="2400" b="1" spc="10" dirty="0">
                    <a:solidFill>
                      <a:srgbClr val="0070C0"/>
                    </a:solidFill>
                    <a:latin typeface="SimHei" panose="02010609060101010101" pitchFamily="49" charset="-122"/>
                    <a:ea typeface="SimHei" panose="02010609060101010101" pitchFamily="49" charset="-122"/>
                    <a:cs typeface="Times New Roman" panose="02020603050405020304" pitchFamily="18" charset="0"/>
                  </a:rPr>
                  <a:t>-</a:t>
                </a:r>
                <a:r>
                  <a:rPr lang="zh-CN" altLang="en-US"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rPr>
                  <a:t>伪代码</a:t>
                </a:r>
                <a:endParaRPr lang="en-US" altLang="zh-CN" sz="2400" b="1" spc="10" dirty="0" smtClean="0">
                  <a:solidFill>
                    <a:srgbClr val="0070C0"/>
                  </a:solidFill>
                  <a:latin typeface="SimHei" panose="02010609060101010101" pitchFamily="49" charset="-122"/>
                  <a:ea typeface="SimHei" panose="02010609060101010101" pitchFamily="49" charset="-122"/>
                  <a:cs typeface="Times New Roman" panose="02020603050405020304" pitchFamily="18" charset="0"/>
                </a:endParaRPr>
              </a:p>
              <a:p>
                <a:pPr marL="12700"/>
                <a:r>
                  <a:rPr lang="en-US" altLang="zh-CN" sz="2400" b="1" dirty="0" smtClean="0">
                    <a:latin typeface="Times New Roman" panose="02020603050405020304" pitchFamily="18" charset="0"/>
                    <a:ea typeface="SimHei"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buFont typeface="Wingdings" panose="05000000000000000000" pitchFamily="2" charset="2"/>
                  <a:buChar char="Ø"/>
                </a:pPr>
                <a:r>
                  <a:rPr lang="zh-CN" altLang="en-US" dirty="0" smtClean="0">
                    <a:latin typeface="Times New Roman" panose="02020603050405020304" pitchFamily="18" charset="0"/>
                    <a:ea typeface="SimHei" panose="02010609060101010101" pitchFamily="49" charset="-122"/>
                    <a:cs typeface="Times New Roman" panose="02020603050405020304" pitchFamily="18" charset="0"/>
                  </a:rPr>
                  <a:t>输入输出</a:t>
                </a:r>
                <a:endParaRPr lang="en-US" altLang="zh-CN" dirty="0" smtClean="0">
                  <a:latin typeface="Times New Roman" panose="02020603050405020304" pitchFamily="18" charset="0"/>
                  <a:ea typeface="SimHei" panose="02010609060101010101" pitchFamily="49" charset="-122"/>
                  <a:cs typeface="Times New Roman" panose="02020603050405020304" pitchFamily="18" charset="0"/>
                </a:endParaRPr>
              </a:p>
              <a:p>
                <a:pPr marL="298450" indent="-285750">
                  <a:buFont typeface="Wingdings" panose="05000000000000000000" pitchFamily="2" charset="2"/>
                  <a:buChar char="Ø"/>
                </a:pPr>
                <a:endParaRPr lang="en-US" altLang="zh-CN" dirty="0">
                  <a:latin typeface="Times New Roman" panose="02020603050405020304" pitchFamily="18" charset="0"/>
                  <a:ea typeface="SimHei" panose="02010609060101010101" pitchFamily="49" charset="-122"/>
                  <a:cs typeface="Times New Roman" panose="02020603050405020304" pitchFamily="18" charset="0"/>
                </a:endParaRPr>
              </a:p>
              <a:p>
                <a:pPr marL="0" lvl="1" indent="-285750">
                  <a:buFont typeface="Arial" panose="020B0604020202020204" pitchFamily="34" charset="0"/>
                  <a:buChar char="•"/>
                </a:pPr>
                <a:r>
                  <a:rPr lang="zh-CN" altLang="en-US" sz="16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输入</a:t>
                </a:r>
                <a:r>
                  <a:rPr lang="zh-CN" altLang="en-US" sz="16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6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marL="0" lvl="1"/>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网络</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、每数据包信息比特数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k</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、块长</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、信噪比</a:t>
                </a:r>
                <a14:m>
                  <m:oMath xmlns:m="http://schemas.openxmlformats.org/officeDocument/2006/math">
                    <m:r>
                      <a:rPr lang="zh-CN" altLang="en-US" sz="1400" i="1" smtClean="0">
                        <a:latin typeface="Cambria Math" panose="02040503050406030204" pitchFamily="18" charset="0"/>
                        <a:ea typeface="SimHei" panose="02010609060101010101" pitchFamily="49" charset="-122"/>
                        <a:cs typeface="Times New Roman" panose="02020603050405020304" pitchFamily="18" charset="0"/>
                      </a:rPr>
                      <m:t>𝜌</m:t>
                    </m:r>
                  </m:oMath>
                </a14:m>
                <a:r>
                  <a:rPr lang="zh-CN" altLang="en-US" sz="1400" i="0" dirty="0">
                    <a:latin typeface="+mj-lt"/>
                    <a:ea typeface="SimHei" panose="02010609060101010101" pitchFamily="49" charset="-122"/>
                    <a:cs typeface="Times New Roman" panose="02020603050405020304" pitchFamily="18" charset="0"/>
                  </a:rPr>
                  <a:t>、初始传输概率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𝑞</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重传限制</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M</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、节点初始能量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、生命周期门限</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T</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0</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、传输功率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𝑇</m:t>
                        </m:r>
                      </m:sub>
                    </m:sSub>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、等待功率</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𝑃</m:t>
                        </m:r>
                      </m:e>
                      <m:sub>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𝑊</m:t>
                        </m:r>
                      </m:sub>
                    </m:sSub>
                  </m:oMath>
                </a14:m>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indent="-285750">
                  <a:spcBef>
                    <a:spcPts val="1245"/>
                  </a:spcBef>
                  <a:buFont typeface="Arial" panose="020B0604020202020204" pitchFamily="34" charset="0"/>
                  <a:buChar char="•"/>
                  <a:tabLst>
                    <a:tab pos="927100" algn="l"/>
                  </a:tabLst>
                </a:pP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输出</a:t>
                </a:r>
                <a:r>
                  <a:rPr lang="zh-CN" altLang="en-US"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成功</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传输概率</a:t>
                </a:r>
                <a14:m>
                  <m:oMath xmlns:m="http://schemas.openxmlformats.org/officeDocument/2006/math">
                    <m:r>
                      <a:rPr lang="en-US" altLang="zh-CN" sz="1400" b="0" i="1" smtClean="0">
                        <a:latin typeface="Cambria Math" panose="02040503050406030204" pitchFamily="18" charset="0"/>
                        <a:ea typeface="SimHei" panose="02010609060101010101" pitchFamily="49" charset="-122"/>
                        <a:cs typeface="Times New Roman" panose="02020603050405020304" pitchFamily="18" charset="0"/>
                      </a:rPr>
                      <m:t>𝑝</m:t>
                    </m:r>
                    <m:r>
                      <a:rPr lang="zh-CN" altLang="en-US" sz="1400" i="1">
                        <a:latin typeface="Cambria Math" panose="02040503050406030204" pitchFamily="18" charset="0"/>
                        <a:ea typeface="SimHei" panose="02010609060101010101" pitchFamily="49" charset="-122"/>
                        <a:cs typeface="Times New Roman" panose="02020603050405020304" pitchFamily="18" charset="0"/>
                      </a:rPr>
                      <m:t>、</m:t>
                    </m:r>
                  </m:oMath>
                </a14:m>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平均接入时延</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acdelays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、网络吞吐量</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lambda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、网络和速率</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outprate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、可靠性指标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eta</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、生命周期内成功发送数据包总数平均值</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numberofsucc</a:t>
                </a:r>
                <a:endParaRPr lang="en-US" altLang="zh-CN" sz="1400" dirty="0">
                  <a:latin typeface="Times New Roman" panose="02020603050405020304" pitchFamily="18" charset="0"/>
                  <a:ea typeface="SimHei" panose="02010609060101010101" pitchFamily="49" charset="-122"/>
                  <a:cs typeface="Times New Roman" panose="02020603050405020304" pitchFamily="18" charset="0"/>
                </a:endParaRPr>
              </a:p>
              <a:p>
                <a:pPr indent="-285750">
                  <a:spcBef>
                    <a:spcPts val="1245"/>
                  </a:spcBef>
                  <a:buFont typeface="Arial" panose="020B0604020202020204" pitchFamily="34" charset="0"/>
                  <a:buChar char="•"/>
                  <a:tabLst>
                    <a:tab pos="927100" algn="l"/>
                  </a:tabLst>
                </a:pPr>
                <a:r>
                  <a:rPr lang="zh-CN" altLang="en-US" sz="1400" dirty="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初始化</a:t>
                </a:r>
                <a:r>
                  <a:rPr lang="zh-CN" altLang="en-US"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rPr>
                  <a:t>：</a:t>
                </a:r>
                <a:endParaRPr lang="en-US" altLang="zh-CN" sz="1400" dirty="0" smtClean="0">
                  <a:solidFill>
                    <a:srgbClr val="0070C0"/>
                  </a:solidFill>
                  <a:latin typeface="Times New Roman" panose="02020603050405020304" pitchFamily="18" charset="0"/>
                  <a:ea typeface="SimHei" panose="02010609060101010101" pitchFamily="49" charset="-122"/>
                  <a:cs typeface="Times New Roman" panose="02020603050405020304" pitchFamily="18" charset="0"/>
                </a:endParaRPr>
              </a:p>
              <a:p>
                <a:pPr>
                  <a:tabLst>
                    <a:tab pos="927100" algn="l"/>
                  </a:tabLst>
                </a:pP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解</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包错误概率</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epsilon</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、节点队列长度</a:t>
                </a:r>
                <a14:m>
                  <m:oMath xmlns:m="http://schemas.openxmlformats.org/officeDocument/2006/math">
                    <m:sSub>
                      <m:sSubPr>
                        <m:ctrlPr>
                          <a:rPr lang="en-US" altLang="zh-CN" sz="1400" i="1" smtClean="0">
                            <a:latin typeface="Cambria Math" panose="02040503050406030204" pitchFamily="18" charset="0"/>
                            <a:ea typeface="SimHei" panose="02010609060101010101" pitchFamily="49" charset="-122"/>
                            <a:cs typeface="Times New Roman" panose="02020603050405020304" pitchFamily="18" charset="0"/>
                          </a:rPr>
                        </m:ctrlPr>
                      </m:sSubPr>
                      <m:e>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q</m:t>
                        </m:r>
                      </m:e>
                      <m:sub>
                        <m:r>
                          <m:rPr>
                            <m:sty m:val="p"/>
                          </m:rPr>
                          <a:rPr lang="en-US" altLang="zh-CN" sz="1400" i="1">
                            <a:latin typeface="Cambria Math" panose="02040503050406030204" pitchFamily="18" charset="0"/>
                            <a:ea typeface="SimHei" panose="02010609060101010101" pitchFamily="49" charset="-122"/>
                            <a:cs typeface="Times New Roman" panose="02020603050405020304" pitchFamily="18" charset="0"/>
                          </a:rPr>
                          <m:t>l</m:t>
                        </m:r>
                      </m:sub>
                    </m:sSub>
                  </m:oMath>
                </a14:m>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rPr>
                  <a:t>   </a:t>
                </a:r>
                <a:r>
                  <a:rPr lang="zh-CN" altLang="en-US" sz="1400" dirty="0" smtClean="0">
                    <a:latin typeface="Times New Roman" panose="02020603050405020304" pitchFamily="18" charset="0"/>
                    <a:ea typeface="SimHei" panose="02010609060101010101" pitchFamily="49" charset="-122"/>
                    <a:cs typeface="Times New Roman" panose="02020603050405020304" pitchFamily="18" charset="0"/>
                  </a:rPr>
                  <a:t>节点</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退避状态</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HOLS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、各节点成功发送数据包个数</a:t>
                </a:r>
                <a:r>
                  <a:rPr lang="en-US" altLang="zh-CN" sz="1400" dirty="0">
                    <a:latin typeface="Times New Roman" panose="02020603050405020304" pitchFamily="18" charset="0"/>
                    <a:ea typeface="SimHei" panose="02010609060101010101" pitchFamily="49" charset="-122"/>
                    <a:cs typeface="Times New Roman" panose="02020603050405020304" pitchFamily="18" charset="0"/>
                  </a:rPr>
                  <a:t>ns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、节点发射计数器</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nre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、头包时间戳</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ToH</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、新鲜表示</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frH</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、传输标志位</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tfflags</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、入队数据包总数</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inp</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、各节点剩余能量计数器</a:t>
                </a:r>
                <a:r>
                  <a:rPr lang="en-US" altLang="zh-CN" sz="1400" dirty="0" err="1">
                    <a:latin typeface="Times New Roman" panose="02020603050405020304" pitchFamily="18" charset="0"/>
                    <a:ea typeface="SimHei" panose="02010609060101010101" pitchFamily="49" charset="-122"/>
                    <a:cs typeface="Times New Roman" panose="02020603050405020304" pitchFamily="18" charset="0"/>
                  </a:rPr>
                  <a:t>nodeE</a:t>
                </a:r>
                <a:r>
                  <a:rPr lang="zh-CN" altLang="en-US" sz="1400" dirty="0">
                    <a:latin typeface="Times New Roman" panose="02020603050405020304" pitchFamily="18" charset="0"/>
                    <a:ea typeface="SimHei" panose="02010609060101010101" pitchFamily="49" charset="-122"/>
                    <a:cs typeface="Times New Roman" panose="02020603050405020304" pitchFamily="18" charset="0"/>
                  </a:rPr>
                  <a:t>、各节点工作时隙数</a:t>
                </a:r>
                <a:r>
                  <a:rPr lang="en-US" altLang="zh-CN" sz="1400" dirty="0" err="1" smtClean="0">
                    <a:latin typeface="Times New Roman" panose="02020603050405020304" pitchFamily="18" charset="0"/>
                    <a:ea typeface="SimHei" panose="02010609060101010101" pitchFamily="49" charset="-122"/>
                    <a:cs typeface="Times New Roman" panose="02020603050405020304" pitchFamily="18" charset="0"/>
                  </a:rPr>
                  <a:t>noderunslot</a:t>
                </a:r>
                <a:endParaRPr lang="en-US" altLang="zh-CN" sz="1400" dirty="0" smtClean="0">
                  <a:latin typeface="Times New Roman" panose="02020603050405020304" pitchFamily="18" charset="0"/>
                  <a:ea typeface="SimHei" panose="02010609060101010101" pitchFamily="49"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32565" y="1201772"/>
                <a:ext cx="4468035" cy="4739759"/>
              </a:xfrm>
              <a:prstGeom prst="rect">
                <a:avLst/>
              </a:prstGeom>
              <a:blipFill>
                <a:blip r:embed="rId2"/>
                <a:stretch>
                  <a:fillRect l="-1910" t="-1028" r="-409" b="-514"/>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5084744" y="1045029"/>
            <a:ext cx="4059256" cy="5311324"/>
          </a:xfrm>
          <a:prstGeom prst="rect">
            <a:avLst/>
          </a:prstGeom>
        </p:spPr>
      </p:pic>
    </p:spTree>
    <p:extLst>
      <p:ext uri="{BB962C8B-B14F-4D97-AF65-F5344CB8AC3E}">
        <p14:creationId xmlns:p14="http://schemas.microsoft.com/office/powerpoint/2010/main" val="16946899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20735</TotalTime>
  <Words>2979</Words>
  <Application>Microsoft Office PowerPoint</Application>
  <PresentationFormat>全屏显示(4:3)</PresentationFormat>
  <Paragraphs>480</Paragraphs>
  <Slides>43</Slides>
  <Notes>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8" baseType="lpstr">
      <vt:lpstr>Microsoft JhengHei</vt:lpstr>
      <vt:lpstr>等线</vt:lpstr>
      <vt:lpstr>等线 Light</vt:lpstr>
      <vt:lpstr>SimHei</vt:lpstr>
      <vt:lpstr>SimHei</vt:lpstr>
      <vt:lpstr>宋体</vt:lpstr>
      <vt:lpstr>微软雅黑</vt:lpstr>
      <vt:lpstr>Arial</vt:lpstr>
      <vt:lpstr>Calibri</vt:lpstr>
      <vt:lpstr>Calibri Light</vt:lpstr>
      <vt:lpstr>Cambria Math</vt:lpstr>
      <vt:lpstr>Times New Roman</vt:lpstr>
      <vt:lpstr>Wingdings</vt:lpstr>
      <vt:lpstr>Office 主题​​</vt:lpstr>
      <vt:lpstr>Visio</vt:lpstr>
      <vt:lpstr>面向海量机器类通信的 短包Aloha网络建模与分析</vt:lpstr>
      <vt:lpstr>PowerPoint 演示文稿</vt:lpstr>
      <vt:lpstr>研究背景与动机</vt:lpstr>
      <vt:lpstr>研究背景与动机</vt:lpstr>
      <vt:lpstr>研究背景与动机</vt:lpstr>
      <vt:lpstr>研究背景与动机</vt:lpstr>
      <vt:lpstr>PowerPoint 演示文稿</vt:lpstr>
      <vt:lpstr>系统建模</vt:lpstr>
      <vt:lpstr>系统建模</vt:lpstr>
      <vt:lpstr>系统建模</vt:lpstr>
      <vt:lpstr>系统建模</vt:lpstr>
      <vt:lpstr>系统建模</vt:lpstr>
      <vt:lpstr>系统建模</vt:lpstr>
      <vt:lpstr>PowerPoint 演示文稿</vt:lpstr>
      <vt:lpstr>性能分析与优化（第三章）</vt:lpstr>
      <vt:lpstr>性能分析与优化（第三章）</vt:lpstr>
      <vt:lpstr>性能分析与优化（第三章）</vt:lpstr>
      <vt:lpstr>性能分析与优化（第三章）</vt:lpstr>
      <vt:lpstr>性能分析与优化（第三章）</vt:lpstr>
      <vt:lpstr>性能分析与优化（第三章）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性能分析与优化（第四章）</vt:lpstr>
      <vt:lpstr>性能分析与优化（第五章）</vt:lpstr>
      <vt:lpstr>性能分析与优化（第五章）</vt:lpstr>
      <vt:lpstr>性能分析与优化（第五章）</vt:lpstr>
      <vt:lpstr>性能分析与优化（第五章）</vt:lpstr>
      <vt:lpstr>性能分析与优化（第五章）</vt:lpstr>
      <vt:lpstr>PowerPoint 演示文稿</vt:lpstr>
      <vt:lpstr>总结与展望</vt:lpstr>
      <vt:lpstr>总结与展望</vt:lpstr>
      <vt:lpstr>评审意见及修改</vt:lpstr>
      <vt:lpstr>攻读硕士学位期间取得研究成果</vt:lpstr>
      <vt:lpstr> 感谢聆听！</vt:lpstr>
      <vt:lpstr>答辩环节</vt:lpstr>
      <vt:lpstr>系统建模</vt:lpstr>
      <vt:lpstr>性能分析与优化（第三章）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分享内容：连续小波变换（CWT）</dc:title>
  <dc:creator>林立;胡纪元</dc:creator>
  <cp:lastModifiedBy>liu weihua</cp:lastModifiedBy>
  <cp:revision>954</cp:revision>
  <cp:lastPrinted>2018-12-18T01:52:38Z</cp:lastPrinted>
  <dcterms:created xsi:type="dcterms:W3CDTF">2018-11-22T15:17:00Z</dcterms:created>
  <dcterms:modified xsi:type="dcterms:W3CDTF">2021-05-27T13:18:00Z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2052-11.1.0.8183</vt:lpwstr>
  </property>
</Properties>
</file>