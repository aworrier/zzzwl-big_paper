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2"/>
  </p:notesMasterIdLst>
  <p:handoutMasterIdLst>
    <p:handoutMasterId r:id="rId43"/>
  </p:handoutMasterIdLst>
  <p:sldIdLst>
    <p:sldId id="257" r:id="rId2"/>
    <p:sldId id="256" r:id="rId3"/>
    <p:sldId id="259" r:id="rId4"/>
    <p:sldId id="258" r:id="rId5"/>
    <p:sldId id="307" r:id="rId6"/>
    <p:sldId id="261" r:id="rId7"/>
    <p:sldId id="262" r:id="rId8"/>
    <p:sldId id="304" r:id="rId9"/>
    <p:sldId id="273" r:id="rId10"/>
    <p:sldId id="305" r:id="rId11"/>
    <p:sldId id="275" r:id="rId12"/>
    <p:sldId id="264" r:id="rId13"/>
    <p:sldId id="263" r:id="rId14"/>
    <p:sldId id="276" r:id="rId15"/>
    <p:sldId id="277" r:id="rId16"/>
    <p:sldId id="278" r:id="rId17"/>
    <p:sldId id="279" r:id="rId18"/>
    <p:sldId id="280" r:id="rId19"/>
    <p:sldId id="265" r:id="rId20"/>
    <p:sldId id="297" r:id="rId21"/>
    <p:sldId id="281" r:id="rId22"/>
    <p:sldId id="283" r:id="rId23"/>
    <p:sldId id="301" r:id="rId24"/>
    <p:sldId id="302" r:id="rId25"/>
    <p:sldId id="298" r:id="rId26"/>
    <p:sldId id="287" r:id="rId27"/>
    <p:sldId id="267" r:id="rId28"/>
    <p:sldId id="268" r:id="rId29"/>
    <p:sldId id="299" r:id="rId30"/>
    <p:sldId id="269" r:id="rId31"/>
    <p:sldId id="289" r:id="rId32"/>
    <p:sldId id="290" r:id="rId33"/>
    <p:sldId id="292" r:id="rId34"/>
    <p:sldId id="288" r:id="rId35"/>
    <p:sldId id="294" r:id="rId36"/>
    <p:sldId id="296" r:id="rId37"/>
    <p:sldId id="291" r:id="rId38"/>
    <p:sldId id="293" r:id="rId39"/>
    <p:sldId id="306" r:id="rId40"/>
    <p:sldId id="300" r:id="rId4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16EFA5F-A06B-4989-A2FD-43D3811D9059}">
          <p14:sldIdLst>
            <p14:sldId id="257"/>
            <p14:sldId id="256"/>
            <p14:sldId id="259"/>
            <p14:sldId id="258"/>
            <p14:sldId id="307"/>
            <p14:sldId id="261"/>
            <p14:sldId id="262"/>
            <p14:sldId id="304"/>
            <p14:sldId id="273"/>
            <p14:sldId id="305"/>
            <p14:sldId id="275"/>
            <p14:sldId id="264"/>
            <p14:sldId id="263"/>
            <p14:sldId id="276"/>
            <p14:sldId id="277"/>
            <p14:sldId id="278"/>
            <p14:sldId id="279"/>
            <p14:sldId id="280"/>
            <p14:sldId id="265"/>
            <p14:sldId id="297"/>
            <p14:sldId id="281"/>
            <p14:sldId id="283"/>
            <p14:sldId id="301"/>
            <p14:sldId id="302"/>
            <p14:sldId id="298"/>
            <p14:sldId id="287"/>
            <p14:sldId id="267"/>
            <p14:sldId id="268"/>
            <p14:sldId id="299"/>
            <p14:sldId id="269"/>
          </p14:sldIdLst>
        </p14:section>
        <p14:section name="备用页" id="{61DA1BA1-16C8-4256-B08C-14DC535BBA1B}">
          <p14:sldIdLst>
            <p14:sldId id="289"/>
            <p14:sldId id="290"/>
            <p14:sldId id="292"/>
            <p14:sldId id="288"/>
            <p14:sldId id="294"/>
            <p14:sldId id="296"/>
            <p14:sldId id="291"/>
            <p14:sldId id="293"/>
            <p14:sldId id="306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000000"/>
    <a:srgbClr val="1771BC"/>
    <a:srgbClr val="3A6F56"/>
    <a:srgbClr val="2F2FFF"/>
    <a:srgbClr val="995335"/>
    <a:srgbClr val="40458C"/>
    <a:srgbClr val="7030A0"/>
    <a:srgbClr val="3D849E"/>
    <a:srgbClr val="3355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79" autoAdjust="0"/>
  </p:normalViewPr>
  <p:slideViewPr>
    <p:cSldViewPr snapToGrid="0">
      <p:cViewPr>
        <p:scale>
          <a:sx n="100" d="100"/>
          <a:sy n="100" d="100"/>
        </p:scale>
        <p:origin x="1914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image" Target="../media/image24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12" Type="http://schemas.openxmlformats.org/officeDocument/2006/relationships/image" Target="../media/image23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11" Type="http://schemas.openxmlformats.org/officeDocument/2006/relationships/image" Target="../media/image22.wmf"/><Relationship Id="rId5" Type="http://schemas.openxmlformats.org/officeDocument/2006/relationships/image" Target="../media/image16.wmf"/><Relationship Id="rId10" Type="http://schemas.openxmlformats.org/officeDocument/2006/relationships/image" Target="../media/image21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68.wmf"/><Relationship Id="rId7" Type="http://schemas.openxmlformats.org/officeDocument/2006/relationships/image" Target="../media/image72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9" Type="http://schemas.openxmlformats.org/officeDocument/2006/relationships/image" Target="../media/image7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4" Type="http://schemas.openxmlformats.org/officeDocument/2006/relationships/image" Target="../media/image7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2D4861B-D9E6-43E6-97CD-F9F59565C7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46419F-2DAE-48A4-9528-1BA9DFEEB0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5AB9F-6DB6-4BA0-AD28-15F7CF0077D5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069343-B597-443B-BD8A-81D199B0F8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D8D1A3-D103-46A3-B2FB-5D6CC97353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0B7EC-407A-4F13-B968-D209060CB0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198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D01088-DC79-4CBE-8DF0-CD8FEA85F2D9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EE922-3DE0-4430-A9F1-0DA66CDFD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024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EE922-3DE0-4430-A9F1-0DA66CDFD3D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695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EE922-3DE0-4430-A9F1-0DA66CDFD3D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824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EE922-3DE0-4430-A9F1-0DA66CDFD3D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116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EE922-3DE0-4430-A9F1-0DA66CDFD3D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800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EE922-3DE0-4430-A9F1-0DA66CDFD3D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148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EE922-3DE0-4430-A9F1-0DA66CDFD3D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502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1" name="Rectangle 1091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GB" altLang="zh-CN"/>
          </a:p>
        </p:txBody>
      </p:sp>
      <p:sp>
        <p:nvSpPr>
          <p:cNvPr id="11332" name="Rectangle 1092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en-GB" altLang="zh-CN"/>
          </a:p>
        </p:txBody>
      </p:sp>
      <p:sp>
        <p:nvSpPr>
          <p:cNvPr id="4" name="Rectangle 1093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itchFamily="2" charset="2"/>
              <a:buNone/>
              <a:defRPr kumimoji="1" sz="1400" b="0">
                <a:solidFill>
                  <a:srgbClr val="40458C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A2153B89-7627-42D6-8C42-02A45539733F}" type="datetime1">
              <a:rPr lang="zh-CN" altLang="en-US"/>
              <a:pPr>
                <a:defRPr/>
              </a:pPr>
              <a:t>2021/5/24</a:t>
            </a:fld>
            <a:endParaRPr lang="en-US" altLang="zh-CN"/>
          </a:p>
        </p:txBody>
      </p:sp>
      <p:sp>
        <p:nvSpPr>
          <p:cNvPr id="5" name="Rectangle 109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9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DCFCA-6ABC-4F3D-A6DE-48155F91D4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7768356"/>
      </p:ext>
    </p:extLst>
  </p:cSld>
  <p:clrMapOvr>
    <a:masterClrMapping/>
  </p:clrMapOvr>
  <p:transition advTm="12468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itchFamily="18" charset="0"/>
                <a:ea typeface="黑体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itchFamily="18" charset="0"/>
                <a:ea typeface="黑体" pitchFamily="49" charset="-122"/>
              </a:defRPr>
            </a:lvl1pPr>
            <a:lvl2pPr>
              <a:defRPr baseline="0">
                <a:latin typeface="Times New Roman" pitchFamily="18" charset="0"/>
                <a:ea typeface="黑体" pitchFamily="49" charset="-122"/>
              </a:defRPr>
            </a:lvl2pPr>
            <a:lvl3pPr>
              <a:defRPr baseline="0">
                <a:latin typeface="Times New Roman" pitchFamily="18" charset="0"/>
                <a:ea typeface="黑体" pitchFamily="49" charset="-122"/>
              </a:defRPr>
            </a:lvl3pPr>
            <a:lvl4pPr>
              <a:defRPr baseline="0">
                <a:latin typeface="Times New Roman" pitchFamily="18" charset="0"/>
                <a:ea typeface="黑体" pitchFamily="49" charset="-122"/>
              </a:defRPr>
            </a:lvl4pPr>
            <a:lvl5pPr>
              <a:defRPr baseline="0">
                <a:latin typeface="Times New Roman" pitchFamily="18" charset="0"/>
                <a:ea typeface="黑体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0243D9-8DD8-41E4-AD23-6FC2B115A0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162776"/>
      </p:ext>
    </p:extLst>
  </p:cSld>
  <p:clrMapOvr>
    <a:masterClrMapping/>
  </p:clrMapOvr>
  <p:transition advTm="12468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725038-919A-41B3-B8A8-F8034F82FF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5785081"/>
      </p:ext>
    </p:extLst>
  </p:cSld>
  <p:clrMapOvr>
    <a:masterClrMapping/>
  </p:clrMapOvr>
  <p:transition advTm="12468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45DDC-F447-45A5-A8E6-EBB30F3C9A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208075"/>
      </p:ext>
    </p:extLst>
  </p:cSld>
  <p:clrMapOvr>
    <a:masterClrMapping/>
  </p:clrMapOvr>
  <p:transition advTm="12468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8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F5936-8E9B-4536-A537-A6471F982B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7511428"/>
      </p:ext>
    </p:extLst>
  </p:cSld>
  <p:clrMapOvr>
    <a:masterClrMapping/>
  </p:clrMapOvr>
  <p:transition advTm="12468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2"/>
          <p:cNvGrpSpPr/>
          <p:nvPr userDrawn="1"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67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74" name="Group 4"/>
              <p:cNvGrpSpPr/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5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6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7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8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9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10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11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12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13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14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15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16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17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18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19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20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21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22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23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24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25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26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</p:grpSp>
          <p:grpSp>
            <p:nvGrpSpPr>
              <p:cNvPr id="75" name="Group 27"/>
              <p:cNvGrpSpPr/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76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77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78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79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80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81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82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83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84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85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86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87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88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89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90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91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92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93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94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95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96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97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98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99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0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1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3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4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</p:grpSp>
        </p:grpSp>
        <p:sp>
          <p:nvSpPr>
            <p:cNvPr id="68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9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endParaRPr>
            </a:p>
          </p:txBody>
        </p:sp>
        <p:grpSp>
          <p:nvGrpSpPr>
            <p:cNvPr id="70" name="Group 59"/>
            <p:cNvGrpSpPr/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71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72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73" name="Arc 62"/>
              <p:cNvSpPr/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C1A8B-BF9C-45BA-894C-C4B3C6C0D1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27" name="图片 126">
            <a:extLst>
              <a:ext uri="{FF2B5EF4-FFF2-40B4-BE49-F238E27FC236}">
                <a16:creationId xmlns:a16="http://schemas.microsoft.com/office/drawing/2014/main" id="{58533D07-A72C-43D2-AC88-BF98B9A060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4" y="55608"/>
            <a:ext cx="2646324" cy="31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37873"/>
      </p:ext>
    </p:extLst>
  </p:cSld>
  <p:clrMapOvr>
    <a:masterClrMapping/>
  </p:clrMapOvr>
  <p:transition advTm="12468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7EBDAA-416C-4078-A2B4-9C4DE3692D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8533D07-A72C-43D2-AC88-BF98B9A060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4" y="55608"/>
            <a:ext cx="2646324" cy="31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322734"/>
      </p:ext>
    </p:extLst>
  </p:cSld>
  <p:clrMapOvr>
    <a:masterClrMapping/>
  </p:clrMapOvr>
  <p:transition advTm="12468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80FBC-57C5-4679-A5A9-0960251B49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6158611"/>
      </p:ext>
    </p:extLst>
  </p:cSld>
  <p:clrMapOvr>
    <a:masterClrMapping/>
  </p:clrMapOvr>
  <p:transition advTm="12468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892CB-876B-4D86-852A-17FA2132D8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3731799"/>
      </p:ext>
    </p:extLst>
  </p:cSld>
  <p:clrMapOvr>
    <a:masterClrMapping/>
  </p:clrMapOvr>
  <p:transition advTm="12468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99D30-8359-4688-A05A-CE841A8F44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2945089"/>
      </p:ext>
    </p:extLst>
  </p:cSld>
  <p:clrMapOvr>
    <a:masterClrMapping/>
  </p:clrMapOvr>
  <p:transition advTm="12468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325629-67B1-42AB-8045-ECCE61A562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9381337"/>
      </p:ext>
    </p:extLst>
  </p:cSld>
  <p:clrMapOvr>
    <a:masterClrMapping/>
  </p:clrMapOvr>
  <p:transition advTm="12468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EF1F0-0B80-4404-ADFC-439594EB8844}" type="slidenum">
              <a:rPr lang="zh-CN" altLang="en-GB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65850605"/>
      </p:ext>
    </p:extLst>
  </p:cSld>
  <p:clrMapOvr>
    <a:masterClrMapping/>
  </p:clrMapOvr>
  <p:transition advTm="12468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04800"/>
            <a:ext cx="8001000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A934D-1E07-4AC1-8E3A-482933DE3A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1059333"/>
      </p:ext>
    </p:extLst>
  </p:cSld>
  <p:clrMapOvr>
    <a:masterClrMapping/>
  </p:clrMapOvr>
  <p:transition advTm="12468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8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ED8DC1-8C6C-4401-BBDA-427A775238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1199463"/>
      </p:ext>
    </p:extLst>
  </p:cSld>
  <p:clrMapOvr>
    <a:masterClrMapping/>
  </p:clrMapOvr>
  <p:transition advTm="12468"/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3A1392-2054-4917-B9C9-A2D839D9EF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7569245"/>
      </p:ext>
    </p:extLst>
  </p:cSld>
  <p:clrMapOvr>
    <a:masterClrMapping/>
  </p:clrMapOvr>
  <p:transition advTm="12468"/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789F0-F703-4D23-A0D0-4F54A16BE9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369664"/>
      </p:ext>
    </p:extLst>
  </p:cSld>
  <p:clrMapOvr>
    <a:masterClrMapping/>
  </p:clrMapOvr>
  <p:transition advTm="12468"/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77724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4038600"/>
            <a:ext cx="77724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9B1A0-72B3-4CDD-9EB9-266E63CA2E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6153987"/>
      </p:ext>
    </p:extLst>
  </p:cSld>
  <p:clrMapOvr>
    <a:masterClrMapping/>
  </p:clrMapOvr>
  <p:transition advTm="12468"/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E92DA3-F140-480D-A9C9-E7656E463C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3534796"/>
      </p:ext>
    </p:extLst>
  </p:cSld>
  <p:clrMapOvr>
    <a:masterClrMapping/>
  </p:clrMapOvr>
  <p:transition advTm="12468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205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2062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245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46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48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49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51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52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53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4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5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56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57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58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59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60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61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62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63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64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65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66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2063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268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69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70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71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72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73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74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75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76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77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78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79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80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81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82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83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84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85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86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87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88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89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90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91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92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93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94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95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10296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10297" name="Rectangle 57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rgbClr val="E6ECFE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buClr>
                  <a:schemeClr val="hlink"/>
                </a:buClr>
                <a:buSzPct val="110000"/>
                <a:buFont typeface="Wingdings" pitchFamily="2" charset="2"/>
                <a:buNone/>
                <a:defRPr/>
              </a:pPr>
              <a:endParaRPr kumimoji="1" lang="zh-CN" altLang="en-US" sz="2400">
                <a:solidFill>
                  <a:srgbClr val="40458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298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rgbClr val="E6ECFE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buClr>
                  <a:schemeClr val="hlink"/>
                </a:buClr>
                <a:buSzPct val="110000"/>
                <a:buFont typeface="Wingdings" pitchFamily="2" charset="2"/>
                <a:buNone/>
                <a:defRPr/>
              </a:pPr>
              <a:endParaRPr kumimoji="1" lang="zh-CN" altLang="en-US" sz="2400">
                <a:solidFill>
                  <a:srgbClr val="4045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grpSp>
          <p:nvGrpSpPr>
            <p:cNvPr id="2058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00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rgbClr val="E6ECFE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buClr>
                    <a:schemeClr val="hlink"/>
                  </a:buClr>
                  <a:buSzPct val="110000"/>
                  <a:buFont typeface="Wingdings" pitchFamily="2" charset="2"/>
                  <a:buNone/>
                  <a:defRPr/>
                </a:pPr>
                <a:endParaRPr kumimoji="1" lang="zh-CN" altLang="en-US" sz="2400">
                  <a:solidFill>
                    <a:srgbClr val="40458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10301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rgbClr val="E6ECFE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buClr>
                    <a:schemeClr val="hlink"/>
                  </a:buClr>
                  <a:buSzPct val="110000"/>
                  <a:buFont typeface="Wingdings" pitchFamily="2" charset="2"/>
                  <a:buNone/>
                  <a:defRPr/>
                </a:pPr>
                <a:endParaRPr kumimoji="1" lang="zh-CN" altLang="en-US" sz="2400">
                  <a:solidFill>
                    <a:srgbClr val="40458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10302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E6ECFE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buClr>
                    <a:schemeClr val="hlink"/>
                  </a:buClr>
                  <a:buSzPct val="110000"/>
                  <a:buFont typeface="Wingdings" pitchFamily="2" charset="2"/>
                  <a:buNone/>
                  <a:defRPr/>
                </a:pPr>
                <a:endParaRPr kumimoji="1" lang="zh-CN" altLang="en-US" sz="2400">
                  <a:solidFill>
                    <a:srgbClr val="40458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</p:grpSp>
      </p:grpSp>
      <p:sp>
        <p:nvSpPr>
          <p:cNvPr id="2051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GB" altLang="zh-CN"/>
          </a:p>
        </p:txBody>
      </p:sp>
      <p:sp>
        <p:nvSpPr>
          <p:cNvPr id="2052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 altLang="zh-CN"/>
          </a:p>
        </p:txBody>
      </p:sp>
      <p:sp>
        <p:nvSpPr>
          <p:cNvPr id="10306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itchFamily="2" charset="2"/>
              <a:buNone/>
              <a:defRPr kumimoji="1" sz="1400" b="0">
                <a:solidFill>
                  <a:srgbClr val="40458C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0307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4388" y="63563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rgbClr val="40458C"/>
                </a:solidFill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1DA5B1C0-E3E5-4FCE-AFFF-FC12396816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514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ransition advTm="12468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itchFamily="2" charset="-122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itchFamily="2" charset="-122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itchFamily="2" charset="-122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itchFamily="2" charset="-122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itchFamily="2" charset="-122"/>
          <a:ea typeface="黑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20"/>
        </a:buBlip>
        <a:defRPr sz="3200" b="1">
          <a:solidFill>
            <a:schemeClr val="tx1"/>
          </a:solidFill>
          <a:latin typeface="黑体" pitchFamily="2" charset="-122"/>
          <a:ea typeface="黑体" pitchFamily="2" charset="-122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 b="1">
          <a:solidFill>
            <a:schemeClr val="tx1"/>
          </a:solidFill>
          <a:latin typeface="黑体" pitchFamily="2" charset="-122"/>
          <a:ea typeface="黑体" pitchFamily="2" charset="-122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 b="1">
          <a:solidFill>
            <a:schemeClr val="tx1"/>
          </a:solidFill>
          <a:latin typeface="黑体" pitchFamily="2" charset="-122"/>
          <a:ea typeface="黑体" pitchFamily="2" charset="-122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黑体" pitchFamily="2" charset="-122"/>
          <a:ea typeface="黑体" pitchFamily="2" charset="-122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 b="1">
          <a:solidFill>
            <a:schemeClr val="tx1"/>
          </a:solidFill>
          <a:latin typeface="黑体" pitchFamily="2" charset="-122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9.wmf"/><Relationship Id="rId26" Type="http://schemas.openxmlformats.org/officeDocument/2006/relationships/image" Target="../media/image2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8.wmf"/><Relationship Id="rId20" Type="http://schemas.openxmlformats.org/officeDocument/2006/relationships/image" Target="../media/image2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2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24.wmf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7.wmf"/><Relationship Id="rId22" Type="http://schemas.openxmlformats.org/officeDocument/2006/relationships/image" Target="../media/image21.wmf"/><Relationship Id="rId27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8.jpg"/><Relationship Id="rId5" Type="http://schemas.openxmlformats.org/officeDocument/2006/relationships/image" Target="../media/image25.wmf"/><Relationship Id="rId10" Type="http://schemas.openxmlformats.org/officeDocument/2006/relationships/image" Target="../media/image27.wmf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1.png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17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2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70.wmf"/><Relationship Id="rId18" Type="http://schemas.openxmlformats.org/officeDocument/2006/relationships/oleObject" Target="../embeddings/oleObject31.bin"/><Relationship Id="rId3" Type="http://schemas.openxmlformats.org/officeDocument/2006/relationships/image" Target="../media/image75.png"/><Relationship Id="rId21" Type="http://schemas.openxmlformats.org/officeDocument/2006/relationships/oleObject" Target="../embeddings/oleObject33.bin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7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.bin"/><Relationship Id="rId20" Type="http://schemas.openxmlformats.org/officeDocument/2006/relationships/image" Target="../media/image73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10" Type="http://schemas.openxmlformats.org/officeDocument/2006/relationships/oleObject" Target="../embeddings/oleObject27.bin"/><Relationship Id="rId19" Type="http://schemas.openxmlformats.org/officeDocument/2006/relationships/oleObject" Target="../embeddings/oleObject32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29.bin"/><Relationship Id="rId22" Type="http://schemas.openxmlformats.org/officeDocument/2006/relationships/image" Target="../media/image7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37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41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91.png"/><Relationship Id="rId7" Type="http://schemas.openxmlformats.org/officeDocument/2006/relationships/image" Target="../media/image9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7921" y="1301253"/>
            <a:ext cx="8623299" cy="93871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kumimoji="1" lang="zh-CN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itchFamily="2" charset="-122"/>
              </a:rPr>
              <a:t>面向无线联邦学习的通信方案设计</a:t>
            </a:r>
            <a:endParaRPr kumimoji="1" lang="en-US" altLang="zh-CN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2DF03B-0D27-49A7-979F-A1BC438E6096}"/>
              </a:ext>
            </a:extLst>
          </p:cNvPr>
          <p:cNvSpPr/>
          <p:nvPr/>
        </p:nvSpPr>
        <p:spPr>
          <a:xfrm>
            <a:off x="214542" y="2239972"/>
            <a:ext cx="8650057" cy="1222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Wireless Federated Learning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Oriented Communication Scheme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Design</a:t>
            </a:r>
            <a:endParaRPr lang="zh-CN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0EC46EFA-D52E-4A0F-B612-D49650939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8162" y="4132376"/>
            <a:ext cx="4155281" cy="1791260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/>
        </p:spPr>
        <p:txBody>
          <a:bodyPr wrap="square">
            <a:spAutoFit/>
          </a:bodyPr>
          <a:lstStyle>
            <a:lvl1pPr algn="l" eaLnBrk="0" hangingPunct="0">
              <a:defRPr sz="4000" b="1">
                <a:solidFill>
                  <a:schemeClr val="bg1"/>
                </a:solidFill>
                <a:latin typeface="黑体" pitchFamily="2" charset="-122"/>
                <a:ea typeface="宋体" pitchFamily="2" charset="-122"/>
              </a:defRPr>
            </a:lvl1pPr>
            <a:lvl2pPr marL="742950" indent="-285750" algn="l" eaLnBrk="0" hangingPunct="0">
              <a:defRPr sz="4000" b="1">
                <a:solidFill>
                  <a:schemeClr val="bg1"/>
                </a:solidFill>
                <a:latin typeface="黑体" pitchFamily="2" charset="-122"/>
                <a:ea typeface="宋体" pitchFamily="2" charset="-122"/>
              </a:defRPr>
            </a:lvl2pPr>
            <a:lvl3pPr marL="1143000" indent="-228600" algn="l" eaLnBrk="0" hangingPunct="0">
              <a:defRPr sz="4000" b="1">
                <a:solidFill>
                  <a:schemeClr val="bg1"/>
                </a:solidFill>
                <a:latin typeface="黑体" pitchFamily="2" charset="-122"/>
                <a:ea typeface="宋体" pitchFamily="2" charset="-122"/>
              </a:defRPr>
            </a:lvl3pPr>
            <a:lvl4pPr marL="1600200" indent="-228600" algn="l" eaLnBrk="0" hangingPunct="0">
              <a:defRPr sz="4000" b="1">
                <a:solidFill>
                  <a:schemeClr val="bg1"/>
                </a:solidFill>
                <a:latin typeface="黑体" pitchFamily="2" charset="-122"/>
                <a:ea typeface="宋体" pitchFamily="2" charset="-122"/>
              </a:defRPr>
            </a:lvl4pPr>
            <a:lvl5pPr marL="2057400" indent="-228600" algn="l" eaLnBrk="0" hangingPunct="0">
              <a:defRPr sz="4000" b="1">
                <a:solidFill>
                  <a:schemeClr val="bg1"/>
                </a:solidFill>
                <a:latin typeface="黑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黑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黑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黑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黑体" pitchFamily="2" charset="-122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zh-CN" altLang="en-US" sz="2400" b="0" dirty="0">
                <a:solidFill>
                  <a:schemeClr val="accent4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答辩人：郑斯</a:t>
            </a:r>
            <a:r>
              <a:rPr lang="zh-CN" altLang="en-US" sz="2400" b="0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辉（</a:t>
            </a:r>
            <a:r>
              <a:rPr lang="en-US" altLang="zh-CN" sz="2400" b="0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18215280</a:t>
            </a:r>
            <a:r>
              <a:rPr lang="zh-CN" altLang="en-US" sz="2400" b="0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400" b="0" dirty="0">
              <a:solidFill>
                <a:schemeClr val="accent4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zh-CN" altLang="en-US" sz="2400" b="0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专    业</a:t>
            </a:r>
            <a:r>
              <a:rPr lang="zh-CN" altLang="en-US" sz="2400" b="0" dirty="0">
                <a:solidFill>
                  <a:schemeClr val="accent4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：信息与通信工程</a:t>
            </a:r>
            <a:endParaRPr lang="en-US" altLang="zh-CN" sz="2400" b="0" dirty="0">
              <a:solidFill>
                <a:schemeClr val="accent4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zh-CN" altLang="en-US" sz="2400" b="0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日    期：</a:t>
            </a:r>
            <a:fld id="{66AF814D-FAEE-46F4-B3F6-B60AEEBCCAC2}" type="datetime2">
              <a:rPr lang="zh-CN" altLang="en-US" sz="2400" b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2021年5月24日</a:t>
            </a:fld>
            <a:endParaRPr lang="zh-CN" altLang="en-US" sz="2400" b="0" dirty="0">
              <a:solidFill>
                <a:schemeClr val="accent4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394631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672064" y="930414"/>
            <a:ext cx="1236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目  录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5311" y="1422400"/>
            <a:ext cx="7571303" cy="4905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研究背景与动机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系统模型与框架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主要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研究内容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914400" lvl="1" indent="-4572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无线联邦学习上行链路量化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方案设计</a:t>
            </a:r>
            <a:endParaRPr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914400" lvl="1" indent="-4572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无线联邦学习下行链路量化方案设计</a:t>
            </a:r>
            <a:endParaRPr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914400" lvl="1" indent="-4572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基于非等差错保护的无线联邦学习传输方案设计</a:t>
            </a:r>
            <a:endParaRPr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总结与展望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3380841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研究背景：人工智能面临的难题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2420" y="1397856"/>
            <a:ext cx="4381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人工智能 </a:t>
            </a:r>
            <a:r>
              <a:rPr lang="en-US" altLang="zh-CN" sz="24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(AI) </a:t>
            </a:r>
            <a:r>
              <a:rPr lang="zh-CN" altLang="en-US" sz="24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发展的三要素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588" y="1896044"/>
            <a:ext cx="1358662" cy="2143343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2506824" y="3416951"/>
            <a:ext cx="5865145" cy="400110"/>
            <a:chOff x="2506824" y="3622224"/>
            <a:chExt cx="5865145" cy="400110"/>
          </a:xfrm>
        </p:grpSpPr>
        <p:cxnSp>
          <p:nvCxnSpPr>
            <p:cNvPr id="4" name="直接连接符 3"/>
            <p:cNvCxnSpPr/>
            <p:nvPr/>
          </p:nvCxnSpPr>
          <p:spPr bwMode="auto">
            <a:xfrm>
              <a:off x="2506824" y="3806890"/>
              <a:ext cx="1163217" cy="0"/>
            </a:xfrm>
            <a:prstGeom prst="line">
              <a:avLst/>
            </a:prstGeom>
            <a:solidFill>
              <a:schemeClr val="tx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文本框 8"/>
            <p:cNvSpPr txBox="1"/>
            <p:nvPr/>
          </p:nvSpPr>
          <p:spPr>
            <a:xfrm>
              <a:off x="3670041" y="3622224"/>
              <a:ext cx="47019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 </a:t>
              </a:r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算料</a:t>
              </a:r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 </a:t>
              </a:r>
              <a:r>
                <a:rPr lang="zh-CN" altLang="en-US" sz="16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大规模的训练数据集 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提高泛化能力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947121" y="2023579"/>
            <a:ext cx="6448894" cy="400110"/>
            <a:chOff x="1947121" y="2228852"/>
            <a:chExt cx="6448894" cy="400110"/>
          </a:xfrm>
        </p:grpSpPr>
        <p:cxnSp>
          <p:nvCxnSpPr>
            <p:cNvPr id="11" name="直接连接符 10"/>
            <p:cNvCxnSpPr/>
            <p:nvPr/>
          </p:nvCxnSpPr>
          <p:spPr bwMode="auto">
            <a:xfrm>
              <a:off x="1947121" y="2413518"/>
              <a:ext cx="1679377" cy="0"/>
            </a:xfrm>
            <a:prstGeom prst="line">
              <a:avLst/>
            </a:prstGeom>
            <a:solidFill>
              <a:schemeClr val="tx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文本框 14"/>
            <p:cNvSpPr txBox="1"/>
            <p:nvPr/>
          </p:nvSpPr>
          <p:spPr>
            <a:xfrm>
              <a:off x="3670041" y="2228852"/>
              <a:ext cx="47259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神经网络模型和相关工程技术 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突破精度瓶颈</a:t>
              </a:r>
              <a:endPara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177143" y="2720265"/>
            <a:ext cx="6363476" cy="400110"/>
            <a:chOff x="2177143" y="2931364"/>
            <a:chExt cx="6216973" cy="400110"/>
          </a:xfrm>
        </p:grpSpPr>
        <p:cxnSp>
          <p:nvCxnSpPr>
            <p:cNvPr id="16" name="直接连接符 15"/>
            <p:cNvCxnSpPr/>
            <p:nvPr/>
          </p:nvCxnSpPr>
          <p:spPr bwMode="auto">
            <a:xfrm>
              <a:off x="2177143" y="3113713"/>
              <a:ext cx="1449355" cy="0"/>
            </a:xfrm>
            <a:prstGeom prst="line">
              <a:avLst/>
            </a:prstGeom>
            <a:solidFill>
              <a:schemeClr val="tx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文本框 17"/>
            <p:cNvSpPr txBox="1"/>
            <p:nvPr/>
          </p:nvSpPr>
          <p:spPr>
            <a:xfrm>
              <a:off x="3670040" y="2931364"/>
              <a:ext cx="47240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算力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高集成和强运算的 </a:t>
              </a:r>
              <a:r>
                <a:rPr lang="en-US" altLang="zh-CN" sz="16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CPU/GPU 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提高训练效率</a:t>
              </a:r>
              <a:endPara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圆角矩形 24"/>
          <p:cNvSpPr/>
          <p:nvPr/>
        </p:nvSpPr>
        <p:spPr bwMode="auto">
          <a:xfrm>
            <a:off x="1216588" y="3353183"/>
            <a:ext cx="7179427" cy="509691"/>
          </a:xfrm>
          <a:prstGeom prst="roundRect">
            <a:avLst/>
          </a:prstGeom>
          <a:noFill/>
          <a:ln w="28575">
            <a:solidFill>
              <a:srgbClr val="0033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22420" y="3949029"/>
            <a:ext cx="4552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数据采集存在诸多约束和困难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1067299" y="4621009"/>
            <a:ext cx="2086450" cy="2171690"/>
            <a:chOff x="1067299" y="4621009"/>
            <a:chExt cx="2086450" cy="2171690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7299" y="4621009"/>
              <a:ext cx="2086450" cy="1487912"/>
            </a:xfrm>
            <a:prstGeom prst="rect">
              <a:avLst/>
            </a:prstGeom>
            <a:ln w="28575">
              <a:noFill/>
            </a:ln>
            <a:effectLst>
              <a:softEdge rad="31750"/>
            </a:effectLst>
          </p:spPr>
        </p:pic>
        <p:sp>
          <p:nvSpPr>
            <p:cNvPr id="28" name="矩形 27"/>
            <p:cNvSpPr/>
            <p:nvPr/>
          </p:nvSpPr>
          <p:spPr>
            <a:xfrm>
              <a:off x="1138143" y="6085287"/>
              <a:ext cx="194476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spc="100" dirty="0">
                  <a:solidFill>
                    <a:srgbClr val="C00000"/>
                  </a:solidFill>
                  <a:latin typeface="微软雅黑" panose="020B0503020204020204" pitchFamily="34" charset="-122"/>
                  <a:ea typeface="黑体" pitchFamily="49" charset="-122"/>
                </a:rPr>
                <a:t>商业</a:t>
              </a:r>
              <a:r>
                <a:rPr lang="zh-CN" altLang="en-US" sz="2000" b="1" spc="1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黑体" pitchFamily="49" charset="-122"/>
                </a:rPr>
                <a:t>竞争</a:t>
              </a:r>
              <a:r>
                <a:rPr lang="en-US" altLang="zh-CN" sz="2000" b="1" spc="1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黑体" pitchFamily="49" charset="-122"/>
                </a:rPr>
                <a:t>/</a:t>
              </a:r>
              <a:r>
                <a:rPr lang="zh-CN" altLang="en-US" sz="2000" b="1" spc="1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黑体" pitchFamily="49" charset="-122"/>
                </a:rPr>
                <a:t>壁垒</a:t>
              </a:r>
              <a:endParaRPr lang="en-US" altLang="zh-CN" sz="2000" b="1" spc="100" dirty="0">
                <a:solidFill>
                  <a:srgbClr val="C00000"/>
                </a:solidFill>
                <a:latin typeface="微软雅黑" panose="020B0503020204020204" pitchFamily="34" charset="-122"/>
                <a:ea typeface="黑体" pitchFamily="49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1402638" y="6377201"/>
              <a:ext cx="1415772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黑体" pitchFamily="49" charset="-122"/>
                </a:rPr>
                <a:t>“数据孤岛”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黑体" pitchFamily="49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626688" y="4621009"/>
            <a:ext cx="2196212" cy="2217857"/>
            <a:chOff x="3824793" y="4621009"/>
            <a:chExt cx="2196212" cy="2217857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24793" y="4621009"/>
              <a:ext cx="2196212" cy="1486800"/>
            </a:xfrm>
            <a:prstGeom prst="rect">
              <a:avLst/>
            </a:prstGeom>
            <a:ln w="28575">
              <a:noFill/>
            </a:ln>
            <a:effectLst>
              <a:softEdge rad="31750"/>
            </a:effectLst>
          </p:spPr>
        </p:pic>
        <p:sp>
          <p:nvSpPr>
            <p:cNvPr id="31" name="矩形 30"/>
            <p:cNvSpPr/>
            <p:nvPr/>
          </p:nvSpPr>
          <p:spPr>
            <a:xfrm>
              <a:off x="3950518" y="6085287"/>
              <a:ext cx="194476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spc="1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黑体" pitchFamily="49" charset="-122"/>
                </a:rPr>
                <a:t>保护条例</a:t>
              </a:r>
              <a:r>
                <a:rPr lang="en-US" altLang="zh-CN" sz="2000" b="1" spc="1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黑体" pitchFamily="49" charset="-122"/>
                </a:rPr>
                <a:t>/</a:t>
              </a:r>
              <a:r>
                <a:rPr lang="zh-CN" altLang="en-US" sz="2000" b="1" spc="1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黑体" pitchFamily="49" charset="-122"/>
                </a:rPr>
                <a:t>法规</a:t>
              </a:r>
              <a:endParaRPr lang="en-US" altLang="zh-CN" sz="2000" b="1" spc="100" dirty="0">
                <a:solidFill>
                  <a:srgbClr val="C00000"/>
                </a:solidFill>
                <a:latin typeface="微软雅黑" panose="020B0503020204020204" pitchFamily="34" charset="-122"/>
                <a:ea typeface="黑体" pitchFamily="49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4227035" y="6377201"/>
              <a:ext cx="139172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黑体" pitchFamily="49" charset="-122"/>
                </a:rPr>
                <a:t>欧盟 </a:t>
              </a:r>
              <a:r>
                <a:rPr lang="en-US" altLang="zh-CN" sz="16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黑体" pitchFamily="49" charset="-122"/>
                </a:rPr>
                <a:t>GDPR…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黑体" pitchFamily="49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295840" y="4621009"/>
            <a:ext cx="2244779" cy="2171690"/>
            <a:chOff x="6428596" y="4621009"/>
            <a:chExt cx="2244779" cy="2171690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28596" y="4621009"/>
              <a:ext cx="2244779" cy="1486800"/>
            </a:xfrm>
            <a:prstGeom prst="rect">
              <a:avLst/>
            </a:prstGeom>
            <a:ln w="28575">
              <a:noFill/>
            </a:ln>
            <a:effectLst>
              <a:softEdge rad="31750"/>
            </a:effectLst>
          </p:spPr>
        </p:pic>
        <p:sp>
          <p:nvSpPr>
            <p:cNvPr id="34" name="矩形 33"/>
            <p:cNvSpPr/>
            <p:nvPr/>
          </p:nvSpPr>
          <p:spPr>
            <a:xfrm>
              <a:off x="6645930" y="6085287"/>
              <a:ext cx="18101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spc="1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黑体" pitchFamily="49" charset="-122"/>
                </a:rPr>
                <a:t>用户重视隐私</a:t>
              </a:r>
              <a:endParaRPr lang="en-US" altLang="zh-CN" sz="2000" b="1" spc="100" dirty="0">
                <a:solidFill>
                  <a:srgbClr val="C00000"/>
                </a:solidFill>
                <a:latin typeface="微软雅黑" panose="020B0503020204020204" pitchFamily="34" charset="-122"/>
                <a:ea typeface="黑体" pitchFamily="49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7025841" y="6377201"/>
              <a:ext cx="1050288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黑体" pitchFamily="49" charset="-122"/>
                </a:rPr>
                <a:t>APP </a:t>
              </a:r>
              <a:r>
                <a:rPr lang="zh-CN" altLang="en-US" sz="16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黑体" pitchFamily="49" charset="-122"/>
                </a:rPr>
                <a:t>授权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2957918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85491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新的模式：联邦</a:t>
            </a:r>
            <a:r>
              <a:rPr lang="en-US" altLang="zh-CN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联盟学习 </a:t>
            </a:r>
            <a:r>
              <a:rPr lang="en-US" altLang="zh-CN" sz="2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(Federated Learning, FL)</a:t>
            </a:r>
            <a:endParaRPr lang="en-US" altLang="zh-CN" sz="2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44" y="2623190"/>
            <a:ext cx="7604221" cy="375901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2420" y="1444146"/>
            <a:ext cx="458330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一</a:t>
            </a:r>
            <a:r>
              <a:rPr lang="zh-CN" altLang="en-US" sz="24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种分布式的机器学习架构</a:t>
            </a:r>
            <a:endParaRPr lang="en-US" altLang="zh-CN" sz="2400" b="1" dirty="0" smtClean="0">
              <a:solidFill>
                <a:schemeClr val="accent4"/>
              </a:solidFill>
              <a:latin typeface="微软雅黑" panose="020B0503020204020204" pitchFamily="34" charset="-122"/>
              <a:ea typeface="黑体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黑体" pitchFamily="49" charset="-122"/>
              </a:rPr>
              <a:t>目标：兼顾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黑体" pitchFamily="49" charset="-122"/>
              </a:rPr>
              <a:t>人工智能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黑体" pitchFamily="49" charset="-122"/>
              </a:rPr>
              <a:t>和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黑体" pitchFamily="49" charset="-122"/>
              </a:rPr>
              <a:t>隐私保护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黑体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40823" y="5128404"/>
            <a:ext cx="1708135" cy="681038"/>
            <a:chOff x="4440823" y="5128404"/>
            <a:chExt cx="1708135" cy="681038"/>
          </a:xfrm>
        </p:grpSpPr>
        <p:cxnSp>
          <p:nvCxnSpPr>
            <p:cNvPr id="8" name="直接箭头连接符 7"/>
            <p:cNvCxnSpPr/>
            <p:nvPr/>
          </p:nvCxnSpPr>
          <p:spPr bwMode="auto">
            <a:xfrm flipH="1">
              <a:off x="4440823" y="5128404"/>
              <a:ext cx="1624012" cy="681038"/>
            </a:xfrm>
            <a:prstGeom prst="straightConnector1">
              <a:avLst/>
            </a:prstGeom>
            <a:solidFill>
              <a:schemeClr val="tx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sp>
          <p:nvSpPr>
            <p:cNvPr id="13" name="文本框 12"/>
            <p:cNvSpPr txBox="1"/>
            <p:nvPr/>
          </p:nvSpPr>
          <p:spPr>
            <a:xfrm rot="20226068">
              <a:off x="4607510" y="5500281"/>
              <a:ext cx="154144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① 广播全局模型</a:t>
              </a:r>
              <a:endPara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605399" y="5128404"/>
            <a:ext cx="1934423" cy="334918"/>
            <a:chOff x="1605399" y="5128404"/>
            <a:chExt cx="1934423" cy="334918"/>
          </a:xfrm>
        </p:grpSpPr>
        <p:sp>
          <p:nvSpPr>
            <p:cNvPr id="14" name="文本框 13"/>
            <p:cNvSpPr txBox="1"/>
            <p:nvPr/>
          </p:nvSpPr>
          <p:spPr>
            <a:xfrm>
              <a:off x="2007223" y="5128404"/>
              <a:ext cx="1532599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② 本地迭代训练</a:t>
              </a:r>
              <a:endPara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弧形 14"/>
            <p:cNvSpPr/>
            <p:nvPr/>
          </p:nvSpPr>
          <p:spPr bwMode="auto">
            <a:xfrm>
              <a:off x="1605399" y="5128404"/>
              <a:ext cx="345317" cy="334918"/>
            </a:xfrm>
            <a:prstGeom prst="arc">
              <a:avLst>
                <a:gd name="adj1" fmla="val 16200000"/>
                <a:gd name="adj2" fmla="val 14669771"/>
              </a:avLst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stealth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393198" y="3006710"/>
            <a:ext cx="1688306" cy="764382"/>
            <a:chOff x="4393198" y="3006710"/>
            <a:chExt cx="1688306" cy="764382"/>
          </a:xfrm>
        </p:grpSpPr>
        <p:cxnSp>
          <p:nvCxnSpPr>
            <p:cNvPr id="16" name="直接箭头连接符 15"/>
            <p:cNvCxnSpPr/>
            <p:nvPr/>
          </p:nvCxnSpPr>
          <p:spPr bwMode="auto">
            <a:xfrm>
              <a:off x="4393198" y="3006710"/>
              <a:ext cx="1688306" cy="764382"/>
            </a:xfrm>
            <a:prstGeom prst="straightConnector1">
              <a:avLst/>
            </a:prstGeom>
            <a:solidFill>
              <a:schemeClr val="tx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sp>
          <p:nvSpPr>
            <p:cNvPr id="24" name="文本框 23"/>
            <p:cNvSpPr txBox="1"/>
            <p:nvPr/>
          </p:nvSpPr>
          <p:spPr>
            <a:xfrm rot="1475053">
              <a:off x="4529233" y="3044519"/>
              <a:ext cx="154144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③</a:t>
              </a:r>
              <a:r>
                <a:rPr lang="zh-CN" altLang="en-US" sz="14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回传本地模型</a:t>
              </a:r>
              <a:endPara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7105178" y="3235012"/>
            <a:ext cx="149432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全局聚合更新</a:t>
            </a:r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255382" y="2552142"/>
            <a:ext cx="2087622" cy="3780300"/>
            <a:chOff x="3981450" y="1795811"/>
            <a:chExt cx="2089150" cy="3665189"/>
          </a:xfrm>
        </p:grpSpPr>
        <p:sp>
          <p:nvSpPr>
            <p:cNvPr id="27" name="圆角矩形 26"/>
            <p:cNvSpPr/>
            <p:nvPr/>
          </p:nvSpPr>
          <p:spPr bwMode="auto">
            <a:xfrm>
              <a:off x="3981450" y="1795811"/>
              <a:ext cx="2089150" cy="366518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93000"/>
              </a:schemeClr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32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158809" y="2908300"/>
              <a:ext cx="1734436" cy="984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黑体" pitchFamily="49" charset="-122"/>
                </a:rPr>
                <a:t>占用</a:t>
              </a:r>
              <a:r>
                <a:rPr lang="zh-CN" altLang="en-US" sz="20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黑体" pitchFamily="49" charset="-122"/>
                </a:rPr>
                <a:t>大量</a:t>
              </a:r>
              <a:endPara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黑体" pitchFamily="49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黑体" pitchFamily="49" charset="-122"/>
                </a:rPr>
                <a:t>无线通信带宽</a:t>
              </a:r>
            </a:p>
          </p:txBody>
        </p:sp>
      </p:grpSp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581455"/>
              </p:ext>
            </p:extLst>
          </p:nvPr>
        </p:nvGraphicFramePr>
        <p:xfrm>
          <a:off x="373225" y="2273632"/>
          <a:ext cx="8521958" cy="382219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79510">
                  <a:extLst>
                    <a:ext uri="{9D8B030D-6E8A-4147-A177-3AD203B41FA5}">
                      <a16:colId xmlns:a16="http://schemas.microsoft.com/office/drawing/2014/main" val="3421674588"/>
                    </a:ext>
                  </a:extLst>
                </a:gridCol>
                <a:gridCol w="1679510">
                  <a:extLst>
                    <a:ext uri="{9D8B030D-6E8A-4147-A177-3AD203B41FA5}">
                      <a16:colId xmlns:a16="http://schemas.microsoft.com/office/drawing/2014/main" val="113579463"/>
                    </a:ext>
                  </a:extLst>
                </a:gridCol>
                <a:gridCol w="2581469">
                  <a:extLst>
                    <a:ext uri="{9D8B030D-6E8A-4147-A177-3AD203B41FA5}">
                      <a16:colId xmlns:a16="http://schemas.microsoft.com/office/drawing/2014/main" val="3460136558"/>
                    </a:ext>
                  </a:extLst>
                </a:gridCol>
                <a:gridCol w="2581469">
                  <a:extLst>
                    <a:ext uri="{9D8B030D-6E8A-4147-A177-3AD203B41FA5}">
                      <a16:colId xmlns:a16="http://schemas.microsoft.com/office/drawing/2014/main" val="3017592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zh-CN" altLang="en-US" dirty="0" smtClean="0"/>
                        <a:t>网络模型大小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zh-CN" altLang="en-US" dirty="0" smtClean="0"/>
                        <a:t>数据集大小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zh-CN" altLang="en-US" dirty="0" smtClean="0"/>
                        <a:t>集中式训练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zh-CN" altLang="en-US" dirty="0" smtClean="0"/>
                        <a:t>联邦学习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50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CNN</a:t>
                      </a:r>
                    </a:p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[2.22 MB]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MNIST</a:t>
                      </a:r>
                    </a:p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 [45 MB]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zh-CN" altLang="en-US" dirty="0" smtClean="0">
                          <a:solidFill>
                            <a:srgbClr val="000000"/>
                          </a:solidFill>
                        </a:rPr>
                        <a:t>仅上行：</a:t>
                      </a:r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45 MB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上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下行：各 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21.68 GB</a:t>
                      </a:r>
                    </a:p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[1000 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个回合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]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898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CNN</a:t>
                      </a:r>
                    </a:p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[4.08 MB]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CIFAR-10</a:t>
                      </a:r>
                      <a:endParaRPr lang="en-US" altLang="zh-CN" baseline="0" dirty="0" smtClean="0">
                        <a:solidFill>
                          <a:srgbClr val="000000"/>
                        </a:solidFill>
                      </a:endParaRPr>
                    </a:p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en-US" altLang="zh-CN" baseline="0" dirty="0" smtClean="0">
                          <a:solidFill>
                            <a:srgbClr val="000000"/>
                          </a:solidFill>
                        </a:rPr>
                        <a:t>[147 MB]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zh-CN" altLang="en-US" dirty="0" smtClean="0">
                          <a:solidFill>
                            <a:srgbClr val="000000"/>
                          </a:solidFill>
                        </a:rPr>
                        <a:t>仅上行：</a:t>
                      </a:r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147 MB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上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下行：各 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19.90 GB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[500 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个回合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]</a:t>
                      </a:r>
                      <a:endParaRPr lang="zh-CN" alt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441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LSTM</a:t>
                      </a:r>
                    </a:p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[3.13 MB]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Shakespeare</a:t>
                      </a:r>
                      <a:r>
                        <a:rPr lang="en-US" altLang="zh-CN" baseline="0" dirty="0" smtClean="0">
                          <a:solidFill>
                            <a:srgbClr val="000000"/>
                          </a:solidFill>
                        </a:rPr>
                        <a:t> [61.38 MB]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zh-CN" altLang="en-US" dirty="0" smtClean="0">
                          <a:solidFill>
                            <a:srgbClr val="000000"/>
                          </a:solidFill>
                        </a:rPr>
                        <a:t>仅上行：</a:t>
                      </a:r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61.38 MB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上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下行：各 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15.30 GB</a:t>
                      </a:r>
                      <a:endParaRPr lang="zh-CN" altLang="en-US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[500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个回合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]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966858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 bwMode="auto">
          <a:xfrm>
            <a:off x="1345140" y="6084791"/>
            <a:ext cx="7467917" cy="58826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lvl="0" algn="ctr">
              <a:defRPr/>
            </a:pPr>
            <a:r>
              <a:rPr lang="zh-CN" altLang="en-US" b="1" kern="0" dirty="0">
                <a:solidFill>
                  <a:schemeClr val="tx2"/>
                </a:solidFill>
              </a:rPr>
              <a:t>主要原因：</a:t>
            </a:r>
            <a:r>
              <a:rPr lang="en-US" altLang="zh-CN" b="1" kern="0" dirty="0">
                <a:solidFill>
                  <a:schemeClr val="tx2"/>
                </a:solidFill>
              </a:rPr>
              <a:t>DNN </a:t>
            </a:r>
            <a:r>
              <a:rPr lang="zh-CN" altLang="en-US" b="1" kern="0" dirty="0">
                <a:solidFill>
                  <a:schemeClr val="tx2"/>
                </a:solidFill>
              </a:rPr>
              <a:t>模型的规模庞大、</a:t>
            </a:r>
            <a:r>
              <a:rPr lang="en-US" altLang="zh-CN" b="1" kern="0" dirty="0">
                <a:solidFill>
                  <a:schemeClr val="tx2"/>
                </a:solidFill>
              </a:rPr>
              <a:t>ML </a:t>
            </a:r>
            <a:r>
              <a:rPr lang="zh-CN" altLang="en-US" b="1" kern="0" dirty="0">
                <a:solidFill>
                  <a:schemeClr val="tx2"/>
                </a:solidFill>
              </a:rPr>
              <a:t>训练的迭代</a:t>
            </a:r>
            <a:r>
              <a:rPr lang="zh-CN" altLang="en-US" b="1" kern="0" dirty="0" smtClean="0">
                <a:solidFill>
                  <a:schemeClr val="tx2"/>
                </a:solidFill>
              </a:rPr>
              <a:t>特性</a:t>
            </a:r>
            <a:endParaRPr lang="zh-CN" altLang="en-US" b="1" kern="0" dirty="0">
              <a:solidFill>
                <a:schemeClr val="tx2"/>
              </a:solidFill>
            </a:endParaRPr>
          </a:p>
        </p:txBody>
      </p:sp>
      <p:cxnSp>
        <p:nvCxnSpPr>
          <p:cNvPr id="52" name="直接连接符 51"/>
          <p:cNvCxnSpPr>
            <a:stCxn id="29" idx="1"/>
          </p:cNvCxnSpPr>
          <p:nvPr/>
        </p:nvCxnSpPr>
        <p:spPr bwMode="auto">
          <a:xfrm flipH="1">
            <a:off x="5079098" y="4480842"/>
            <a:ext cx="1355393" cy="1603949"/>
          </a:xfrm>
          <a:prstGeom prst="line">
            <a:avLst/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2" name="组合 41"/>
          <p:cNvGrpSpPr/>
          <p:nvPr/>
        </p:nvGrpSpPr>
        <p:grpSpPr>
          <a:xfrm>
            <a:off x="4369395" y="3730039"/>
            <a:ext cx="1419409" cy="1694783"/>
            <a:chOff x="4369395" y="3730039"/>
            <a:chExt cx="1419409" cy="1694783"/>
          </a:xfrm>
        </p:grpSpPr>
        <p:sp>
          <p:nvSpPr>
            <p:cNvPr id="11" name="矩形 10"/>
            <p:cNvSpPr/>
            <p:nvPr/>
          </p:nvSpPr>
          <p:spPr bwMode="auto">
            <a:xfrm>
              <a:off x="4419049" y="3730039"/>
              <a:ext cx="1320100" cy="1694783"/>
            </a:xfrm>
            <a:prstGeom prst="rect">
              <a:avLst/>
            </a:prstGeom>
            <a:solidFill>
              <a:schemeClr val="bg1">
                <a:alpha val="98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1604" y="3735294"/>
              <a:ext cx="1274990" cy="1274990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4369395" y="4878588"/>
              <a:ext cx="14194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>
                  <a:solidFill>
                    <a:srgbClr val="4045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100+ MB</a:t>
              </a:r>
              <a:endParaRPr lang="zh-CN" altLang="en-US" b="1" dirty="0">
                <a:solidFill>
                  <a:srgbClr val="40458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434491" y="3006711"/>
            <a:ext cx="2364987" cy="2969520"/>
            <a:chOff x="6434491" y="3006711"/>
            <a:chExt cx="2364987" cy="2969520"/>
          </a:xfrm>
        </p:grpSpPr>
        <p:sp>
          <p:nvSpPr>
            <p:cNvPr id="29" name="矩形 28"/>
            <p:cNvSpPr/>
            <p:nvPr/>
          </p:nvSpPr>
          <p:spPr bwMode="auto">
            <a:xfrm>
              <a:off x="6434491" y="3006711"/>
              <a:ext cx="2364987" cy="2948262"/>
            </a:xfrm>
            <a:prstGeom prst="rect">
              <a:avLst/>
            </a:prstGeom>
            <a:solidFill>
              <a:schemeClr val="bg1">
                <a:alpha val="98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6710870" y="3088107"/>
              <a:ext cx="1858794" cy="1966537"/>
              <a:chOff x="6710870" y="3056473"/>
              <a:chExt cx="1858794" cy="1966537"/>
            </a:xfrm>
          </p:grpSpPr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10870" y="3056473"/>
                <a:ext cx="602518" cy="602518"/>
              </a:xfrm>
              <a:prstGeom prst="rect">
                <a:avLst/>
              </a:prstGeom>
            </p:spPr>
          </p:pic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67146" y="3239922"/>
                <a:ext cx="602518" cy="602518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10870" y="3906291"/>
                <a:ext cx="602518" cy="602518"/>
              </a:xfrm>
              <a:prstGeom prst="rect">
                <a:avLst/>
              </a:prstGeom>
            </p:spPr>
          </p:pic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34833" y="4102966"/>
                <a:ext cx="602518" cy="602518"/>
              </a:xfrm>
              <a:prstGeom prst="rect">
                <a:avLst/>
              </a:prstGeom>
            </p:spPr>
          </p:pic>
          <p:cxnSp>
            <p:nvCxnSpPr>
              <p:cNvPr id="21" name="直接箭头连接符 20"/>
              <p:cNvCxnSpPr/>
              <p:nvPr/>
            </p:nvCxnSpPr>
            <p:spPr bwMode="auto">
              <a:xfrm>
                <a:off x="7384835" y="3388900"/>
                <a:ext cx="499816" cy="152281"/>
              </a:xfrm>
              <a:prstGeom prst="straightConnector1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3" name="直接箭头连接符 22"/>
              <p:cNvCxnSpPr/>
              <p:nvPr/>
            </p:nvCxnSpPr>
            <p:spPr bwMode="auto">
              <a:xfrm flipH="1">
                <a:off x="7313388" y="3730039"/>
                <a:ext cx="519317" cy="372927"/>
              </a:xfrm>
              <a:prstGeom prst="straightConnector1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40" name="直接箭头连接符 39"/>
              <p:cNvCxnSpPr/>
              <p:nvPr/>
            </p:nvCxnSpPr>
            <p:spPr bwMode="auto">
              <a:xfrm>
                <a:off x="7352522" y="4298768"/>
                <a:ext cx="499816" cy="152281"/>
              </a:xfrm>
              <a:prstGeom prst="straightConnector1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41" name="直接箭头连接符 40"/>
              <p:cNvCxnSpPr/>
              <p:nvPr/>
            </p:nvCxnSpPr>
            <p:spPr bwMode="auto">
              <a:xfrm flipH="1">
                <a:off x="7281075" y="4569645"/>
                <a:ext cx="519317" cy="372927"/>
              </a:xfrm>
              <a:prstGeom prst="straightConnector1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43" name="文本框 42"/>
              <p:cNvSpPr txBox="1"/>
              <p:nvPr/>
            </p:nvSpPr>
            <p:spPr>
              <a:xfrm>
                <a:off x="6721004" y="4715233"/>
                <a:ext cx="530915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CN" altLang="en-US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5" name="文本框 44"/>
            <p:cNvSpPr txBox="1"/>
            <p:nvPr/>
          </p:nvSpPr>
          <p:spPr>
            <a:xfrm>
              <a:off x="6737031" y="5145234"/>
              <a:ext cx="18789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10~20 GB</a:t>
              </a:r>
            </a:p>
            <a:p>
              <a:pPr algn="ctr"/>
              <a:r>
                <a:rPr lang="en-US" altLang="zh-CN" sz="24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x100</a:t>
              </a:r>
              <a:endPara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9" name="直接连接符 48"/>
          <p:cNvCxnSpPr>
            <a:stCxn id="11" idx="2"/>
            <a:endCxn id="10" idx="0"/>
          </p:cNvCxnSpPr>
          <p:nvPr/>
        </p:nvCxnSpPr>
        <p:spPr bwMode="auto">
          <a:xfrm>
            <a:off x="5079099" y="5424822"/>
            <a:ext cx="0" cy="659969"/>
          </a:xfrm>
          <a:prstGeom prst="line">
            <a:avLst/>
          </a:prstGeom>
          <a:solidFill>
            <a:schemeClr val="tx1"/>
          </a:solidFill>
          <a:ln w="19050" cap="flat" cmpd="sng" algn="ctr">
            <a:solidFill>
              <a:srgbClr val="40458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586450025"/>
      </p:ext>
    </p:extLst>
  </p:cSld>
  <p:clrMapOvr>
    <a:masterClrMapping/>
  </p:clrMapOvr>
  <p:transition advTm="124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58368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系统框架：无线通信</a:t>
            </a:r>
            <a:r>
              <a:rPr lang="en-US" altLang="zh-CN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+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联邦学习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2420" y="1444146"/>
            <a:ext cx="76466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核心目标：设计面向无线联邦学习的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黑体" pitchFamily="49" charset="-122"/>
              </a:rPr>
              <a:t>高效率</a:t>
            </a:r>
            <a:r>
              <a:rPr lang="zh-CN" altLang="en-US" sz="24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通信方案</a:t>
            </a:r>
            <a:endParaRPr lang="en-US" altLang="zh-CN" sz="2400" b="1" dirty="0" smtClean="0">
              <a:solidFill>
                <a:schemeClr val="accent4"/>
              </a:solidFill>
              <a:latin typeface="微软雅黑" panose="020B0503020204020204" pitchFamily="34" charset="-122"/>
              <a:ea typeface="黑体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黑体" pitchFamily="49" charset="-122"/>
              </a:rPr>
              <a:t>量化：</a:t>
            </a:r>
            <a:r>
              <a:rPr lang="en-US" altLang="zh-CN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黑体" pitchFamily="49" charset="-122"/>
              </a:rPr>
              <a:t>[</a:t>
            </a:r>
            <a:r>
              <a:rPr lang="zh-CN" alt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黑体" pitchFamily="49" charset="-122"/>
              </a:rPr>
              <a:t>理想传输时</a:t>
            </a:r>
            <a:r>
              <a:rPr lang="en-US" altLang="zh-CN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黑体" pitchFamily="49" charset="-122"/>
              </a:rPr>
              <a:t>]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黑体" pitchFamily="49" charset="-122"/>
              </a:rPr>
              <a:t>减少传输模型的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黑体" pitchFamily="49" charset="-122"/>
              </a:rPr>
              <a:t>通信开销</a:t>
            </a:r>
            <a:endParaRPr lang="en-US" altLang="zh-CN" sz="2000" dirty="0" smtClean="0">
              <a:solidFill>
                <a:srgbClr val="C00000"/>
              </a:solidFill>
              <a:latin typeface="微软雅黑" panose="020B0503020204020204" pitchFamily="34" charset="-122"/>
              <a:ea typeface="黑体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黑体" pitchFamily="49" charset="-122"/>
              </a:rPr>
              <a:t>传输：</a:t>
            </a:r>
            <a:r>
              <a:rPr lang="en-US" altLang="zh-CN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黑体" pitchFamily="49" charset="-122"/>
              </a:rPr>
              <a:t>[</a:t>
            </a:r>
            <a:r>
              <a:rPr lang="zh-CN" alt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黑体" pitchFamily="49" charset="-122"/>
              </a:rPr>
              <a:t>信道有噪时</a:t>
            </a:r>
            <a:r>
              <a:rPr lang="en-US" altLang="zh-CN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黑体" pitchFamily="49" charset="-122"/>
              </a:rPr>
              <a:t>]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黑体" pitchFamily="49" charset="-122"/>
              </a:rPr>
              <a:t>降低对抗噪声的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黑体" pitchFamily="49" charset="-122"/>
              </a:rPr>
              <a:t>冗余保护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176" y="3072109"/>
            <a:ext cx="974599" cy="120363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 bwMode="auto">
          <a:xfrm>
            <a:off x="550970" y="4823136"/>
            <a:ext cx="1330316" cy="44164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algn="ctr"/>
            <a:r>
              <a:rPr lang="zh-CN" altLang="en-US" b="1" dirty="0" smtClean="0">
                <a:solidFill>
                  <a:srgbClr val="800080"/>
                </a:solidFill>
                <a:latin typeface="黑体" pitchFamily="2" charset="-122"/>
                <a:ea typeface="黑体" pitchFamily="2" charset="-122"/>
              </a:rPr>
              <a:t>编码</a:t>
            </a:r>
            <a:r>
              <a:rPr lang="en-US" altLang="zh-CN" b="1" dirty="0" smtClean="0">
                <a:solidFill>
                  <a:srgbClr val="800080"/>
                </a:solidFill>
                <a:latin typeface="黑体" pitchFamily="2" charset="-122"/>
                <a:ea typeface="黑体" pitchFamily="2" charset="-122"/>
              </a:rPr>
              <a:t>&amp;</a:t>
            </a:r>
            <a:r>
              <a:rPr lang="zh-CN" altLang="en-US" b="1" dirty="0" smtClean="0">
                <a:solidFill>
                  <a:srgbClr val="800080"/>
                </a:solidFill>
                <a:latin typeface="黑体" pitchFamily="2" charset="-122"/>
                <a:ea typeface="黑体" pitchFamily="2" charset="-122"/>
              </a:rPr>
              <a:t>调制</a:t>
            </a:r>
          </a:p>
        </p:txBody>
      </p:sp>
      <p:sp>
        <p:nvSpPr>
          <p:cNvPr id="8" name="圆角矩形 7"/>
          <p:cNvSpPr/>
          <p:nvPr/>
        </p:nvSpPr>
        <p:spPr bwMode="auto">
          <a:xfrm>
            <a:off x="781126" y="5507359"/>
            <a:ext cx="870004" cy="44164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algn="ctr"/>
            <a:r>
              <a:rPr lang="zh-CN" altLang="en-US" b="1" dirty="0" smtClean="0">
                <a:solidFill>
                  <a:srgbClr val="800080"/>
                </a:solidFill>
                <a:latin typeface="黑体" pitchFamily="2" charset="-122"/>
                <a:ea typeface="黑体" pitchFamily="2" charset="-122"/>
              </a:rPr>
              <a:t>量化</a:t>
            </a:r>
          </a:p>
        </p:txBody>
      </p:sp>
      <p:cxnSp>
        <p:nvCxnSpPr>
          <p:cNvPr id="10" name="直接连接符 9"/>
          <p:cNvCxnSpPr/>
          <p:nvPr/>
        </p:nvCxnSpPr>
        <p:spPr bwMode="auto">
          <a:xfrm flipV="1">
            <a:off x="1534222" y="4042473"/>
            <a:ext cx="1244082" cy="715347"/>
          </a:xfrm>
          <a:prstGeom prst="line">
            <a:avLst/>
          </a:prstGeom>
          <a:solidFill>
            <a:schemeClr val="tx1"/>
          </a:solidFill>
          <a:ln w="19050" cap="flat" cmpd="sng" algn="ctr">
            <a:solidFill>
              <a:srgbClr val="6600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/>
          <p:cNvCxnSpPr/>
          <p:nvPr/>
        </p:nvCxnSpPr>
        <p:spPr bwMode="auto">
          <a:xfrm flipV="1">
            <a:off x="1005728" y="4048694"/>
            <a:ext cx="1244082" cy="715347"/>
          </a:xfrm>
          <a:prstGeom prst="line">
            <a:avLst/>
          </a:prstGeom>
          <a:solidFill>
            <a:schemeClr val="tx1"/>
          </a:solidFill>
          <a:ln w="19050" cap="flat" cmpd="sng" algn="ctr">
            <a:solidFill>
              <a:srgbClr val="6600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/>
          <p:cNvCxnSpPr/>
          <p:nvPr/>
        </p:nvCxnSpPr>
        <p:spPr bwMode="auto">
          <a:xfrm flipV="1">
            <a:off x="725142" y="4042473"/>
            <a:ext cx="1244082" cy="715347"/>
          </a:xfrm>
          <a:prstGeom prst="line">
            <a:avLst/>
          </a:prstGeom>
          <a:solidFill>
            <a:schemeClr val="tx1"/>
          </a:solidFill>
          <a:ln w="19050" cap="flat" cmpd="sng" algn="ctr">
            <a:solidFill>
              <a:srgbClr val="6600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文本框 14"/>
          <p:cNvSpPr txBox="1"/>
          <p:nvPr/>
        </p:nvSpPr>
        <p:spPr>
          <a:xfrm>
            <a:off x="1778164" y="4235441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···</a:t>
            </a:r>
            <a:endParaRPr lang="zh-CN" altLang="en-US" sz="1400" dirty="0">
              <a:solidFill>
                <a:srgbClr val="66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/>
          <p:cNvCxnSpPr>
            <a:stCxn id="8" idx="0"/>
            <a:endCxn id="7" idx="2"/>
          </p:cNvCxnSpPr>
          <p:nvPr/>
        </p:nvCxnSpPr>
        <p:spPr bwMode="auto">
          <a:xfrm flipV="1">
            <a:off x="1216128" y="5264785"/>
            <a:ext cx="0" cy="242574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660066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圆角矩形 29"/>
          <p:cNvSpPr/>
          <p:nvPr/>
        </p:nvSpPr>
        <p:spPr bwMode="auto">
          <a:xfrm>
            <a:off x="885147" y="6249027"/>
            <a:ext cx="655885" cy="33592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algn="ctr"/>
            <a:r>
              <a:rPr lang="zh-CN" altLang="en-US" sz="1600" dirty="0" smtClean="0">
                <a:solidFill>
                  <a:schemeClr val="bg1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训练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19126" y="3702038"/>
            <a:ext cx="1635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上行信道 </a:t>
            </a:r>
            <a:r>
              <a:rPr lang="en-US" altLang="zh-CN" sz="1400" b="1" dirty="0" smtClean="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dirty="0" smtClean="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点对点</a:t>
            </a:r>
            <a:r>
              <a:rPr lang="en-US" altLang="zh-CN" sz="1400" b="1" dirty="0" smtClean="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b="1" dirty="0">
              <a:solidFill>
                <a:srgbClr val="66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圆角矩形 34"/>
          <p:cNvSpPr/>
          <p:nvPr/>
        </p:nvSpPr>
        <p:spPr bwMode="auto">
          <a:xfrm>
            <a:off x="4468729" y="4823136"/>
            <a:ext cx="1330316" cy="44164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algn="ctr"/>
            <a:r>
              <a:rPr lang="zh-CN" altLang="en-US" b="1" dirty="0" smtClean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编码</a:t>
            </a:r>
            <a:r>
              <a:rPr lang="en-US" altLang="zh-CN" b="1" dirty="0" smtClean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&amp;</a:t>
            </a:r>
            <a:r>
              <a:rPr lang="zh-CN" altLang="en-US" b="1" dirty="0" smtClean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调制</a:t>
            </a:r>
          </a:p>
        </p:txBody>
      </p:sp>
      <p:sp>
        <p:nvSpPr>
          <p:cNvPr id="38" name="圆角矩形 37"/>
          <p:cNvSpPr/>
          <p:nvPr/>
        </p:nvSpPr>
        <p:spPr bwMode="auto">
          <a:xfrm>
            <a:off x="4698885" y="4205947"/>
            <a:ext cx="870004" cy="44164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algn="ctr"/>
            <a:r>
              <a:rPr lang="zh-CN" altLang="en-US" b="1" dirty="0" smtClean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量化</a:t>
            </a:r>
          </a:p>
        </p:txBody>
      </p:sp>
      <p:sp>
        <p:nvSpPr>
          <p:cNvPr id="40" name="圆角矩形 39"/>
          <p:cNvSpPr/>
          <p:nvPr/>
        </p:nvSpPr>
        <p:spPr bwMode="auto">
          <a:xfrm>
            <a:off x="4810656" y="3474859"/>
            <a:ext cx="655885" cy="33592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algn="ctr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聚合</a:t>
            </a:r>
            <a:endParaRPr lang="zh-CN" altLang="en-US" sz="1600" dirty="0" smtClean="0">
              <a:solidFill>
                <a:schemeClr val="bg1">
                  <a:lumMod val="75000"/>
                </a:schemeClr>
              </a:solidFill>
              <a:latin typeface="黑体" pitchFamily="2" charset="-122"/>
              <a:ea typeface="黑体" pitchFamily="2" charset="-122"/>
            </a:endParaRPr>
          </a:p>
        </p:txBody>
      </p:sp>
      <p:cxnSp>
        <p:nvCxnSpPr>
          <p:cNvPr id="42" name="直接箭头连接符 41"/>
          <p:cNvCxnSpPr>
            <a:endCxn id="40" idx="1"/>
          </p:cNvCxnSpPr>
          <p:nvPr/>
        </p:nvCxnSpPr>
        <p:spPr bwMode="auto">
          <a:xfrm>
            <a:off x="3593655" y="3642821"/>
            <a:ext cx="1217001" cy="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直接箭头连接符 44"/>
          <p:cNvCxnSpPr>
            <a:stCxn id="40" idx="2"/>
            <a:endCxn id="38" idx="0"/>
          </p:cNvCxnSpPr>
          <p:nvPr/>
        </p:nvCxnSpPr>
        <p:spPr bwMode="auto">
          <a:xfrm flipH="1">
            <a:off x="5133887" y="3810782"/>
            <a:ext cx="4712" cy="395165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9" name="直接箭头连接符 48"/>
          <p:cNvCxnSpPr>
            <a:stCxn id="38" idx="2"/>
            <a:endCxn id="35" idx="0"/>
          </p:cNvCxnSpPr>
          <p:nvPr/>
        </p:nvCxnSpPr>
        <p:spPr bwMode="auto">
          <a:xfrm>
            <a:off x="5133887" y="4647596"/>
            <a:ext cx="0" cy="17554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50" name="图片 4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792" y="5790690"/>
            <a:ext cx="690594" cy="690594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571" y="5977668"/>
            <a:ext cx="690594" cy="690594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216" y="6011053"/>
            <a:ext cx="690594" cy="690594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5643833" y="6173798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···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5" name="直接连接符 54"/>
          <p:cNvCxnSpPr>
            <a:stCxn id="35" idx="2"/>
            <a:endCxn id="52" idx="0"/>
          </p:cNvCxnSpPr>
          <p:nvPr/>
        </p:nvCxnSpPr>
        <p:spPr bwMode="auto">
          <a:xfrm flipH="1">
            <a:off x="5017513" y="5264785"/>
            <a:ext cx="116374" cy="746268"/>
          </a:xfrm>
          <a:prstGeom prst="line">
            <a:avLst/>
          </a:prstGeom>
          <a:solidFill>
            <a:schemeClr val="tx1"/>
          </a:solidFill>
          <a:ln w="19050" cap="flat" cmpd="sng" algn="ctr">
            <a:solidFill>
              <a:schemeClr val="accent5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直接连接符 56"/>
          <p:cNvCxnSpPr>
            <a:stCxn id="35" idx="2"/>
            <a:endCxn id="50" idx="0"/>
          </p:cNvCxnSpPr>
          <p:nvPr/>
        </p:nvCxnSpPr>
        <p:spPr bwMode="auto">
          <a:xfrm>
            <a:off x="5133887" y="5264785"/>
            <a:ext cx="293202" cy="525905"/>
          </a:xfrm>
          <a:prstGeom prst="line">
            <a:avLst/>
          </a:prstGeom>
          <a:solidFill>
            <a:schemeClr val="tx1"/>
          </a:solidFill>
          <a:ln w="19050" cap="flat" cmpd="sng" algn="ctr">
            <a:solidFill>
              <a:schemeClr val="accent5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直接连接符 58"/>
          <p:cNvCxnSpPr>
            <a:stCxn id="35" idx="2"/>
            <a:endCxn id="51" idx="0"/>
          </p:cNvCxnSpPr>
          <p:nvPr/>
        </p:nvCxnSpPr>
        <p:spPr bwMode="auto">
          <a:xfrm>
            <a:off x="5133887" y="5264785"/>
            <a:ext cx="922981" cy="712883"/>
          </a:xfrm>
          <a:prstGeom prst="line">
            <a:avLst/>
          </a:prstGeom>
          <a:solidFill>
            <a:schemeClr val="tx1"/>
          </a:solidFill>
          <a:ln w="19050" cap="flat" cmpd="sng" algn="ctr">
            <a:solidFill>
              <a:schemeClr val="accent5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文本框 59"/>
          <p:cNvSpPr txBox="1"/>
          <p:nvPr/>
        </p:nvSpPr>
        <p:spPr>
          <a:xfrm>
            <a:off x="3636282" y="5473068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下行信道 </a:t>
            </a:r>
            <a:r>
              <a:rPr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广播</a:t>
            </a:r>
            <a:r>
              <a:rPr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右箭头 61"/>
          <p:cNvSpPr/>
          <p:nvPr/>
        </p:nvSpPr>
        <p:spPr bwMode="auto">
          <a:xfrm>
            <a:off x="1678333" y="5606576"/>
            <a:ext cx="318094" cy="219913"/>
          </a:xfrm>
          <a:prstGeom prst="rightArrow">
            <a:avLst/>
          </a:prstGeom>
          <a:solidFill>
            <a:schemeClr val="tx2"/>
          </a:solidFill>
          <a:ln w="38100">
            <a:noFill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2060706" y="5562643"/>
            <a:ext cx="1484702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</a:t>
            </a:r>
            <a:r>
              <a:rPr lang="zh-CN" altLang="en-US" sz="1400" dirty="0" smtClean="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400" dirty="0" smtClean="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400" dirty="0" smtClean="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上行量化</a:t>
            </a:r>
            <a:endParaRPr lang="zh-CN" altLang="en-US" sz="1400" dirty="0">
              <a:solidFill>
                <a:srgbClr val="66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808515" y="4260572"/>
            <a:ext cx="1484702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lang="en-US" altLang="zh-CN" sz="1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下行量化</a:t>
            </a:r>
            <a:endParaRPr lang="zh-CN" altLang="en-US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右箭头 64"/>
          <p:cNvSpPr/>
          <p:nvPr/>
        </p:nvSpPr>
        <p:spPr bwMode="auto">
          <a:xfrm flipH="1">
            <a:off x="4317822" y="4318843"/>
            <a:ext cx="318094" cy="219913"/>
          </a:xfrm>
          <a:prstGeom prst="rightArrow">
            <a:avLst/>
          </a:prstGeom>
          <a:solidFill>
            <a:srgbClr val="0070C0"/>
          </a:solidFill>
          <a:ln w="38100">
            <a:noFill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cxnSp>
        <p:nvCxnSpPr>
          <p:cNvPr id="68" name="直接箭头连接符 67"/>
          <p:cNvCxnSpPr>
            <a:stCxn id="30" idx="0"/>
            <a:endCxn id="8" idx="2"/>
          </p:cNvCxnSpPr>
          <p:nvPr/>
        </p:nvCxnSpPr>
        <p:spPr bwMode="auto">
          <a:xfrm flipV="1">
            <a:off x="1213090" y="5949008"/>
            <a:ext cx="3038" cy="300019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9" name="文本框 68"/>
          <p:cNvSpPr txBox="1"/>
          <p:nvPr/>
        </p:nvSpPr>
        <p:spPr>
          <a:xfrm>
            <a:off x="2092674" y="4877531"/>
            <a:ext cx="2202847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非等差错保护传输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右箭头 73"/>
          <p:cNvSpPr/>
          <p:nvPr/>
        </p:nvSpPr>
        <p:spPr bwMode="auto">
          <a:xfrm flipH="1">
            <a:off x="4229276" y="4921462"/>
            <a:ext cx="213876" cy="219913"/>
          </a:xfrm>
          <a:prstGeom prst="rightArrow">
            <a:avLst/>
          </a:prstGeom>
          <a:solidFill>
            <a:srgbClr val="0070C0"/>
          </a:solidFill>
          <a:ln w="38100">
            <a:noFill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5" name="右箭头 74"/>
          <p:cNvSpPr/>
          <p:nvPr/>
        </p:nvSpPr>
        <p:spPr bwMode="auto">
          <a:xfrm>
            <a:off x="1919466" y="4915242"/>
            <a:ext cx="213876" cy="219913"/>
          </a:xfrm>
          <a:prstGeom prst="rightArrow">
            <a:avLst/>
          </a:prstGeom>
          <a:solidFill>
            <a:schemeClr val="tx2"/>
          </a:solidFill>
          <a:ln w="38100">
            <a:noFill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594638" y="3419637"/>
            <a:ext cx="2180034" cy="2749834"/>
            <a:chOff x="6594638" y="3419637"/>
            <a:chExt cx="2180034" cy="2749834"/>
          </a:xfrm>
        </p:grpSpPr>
        <p:cxnSp>
          <p:nvCxnSpPr>
            <p:cNvPr id="84" name="直接连接符 83"/>
            <p:cNvCxnSpPr>
              <a:stCxn id="81" idx="3"/>
              <a:endCxn id="82" idx="1"/>
            </p:cNvCxnSpPr>
            <p:nvPr/>
          </p:nvCxnSpPr>
          <p:spPr bwMode="auto">
            <a:xfrm>
              <a:off x="7507031" y="4823136"/>
              <a:ext cx="377414" cy="0"/>
            </a:xfrm>
            <a:prstGeom prst="line">
              <a:avLst/>
            </a:prstGeom>
            <a:solidFill>
              <a:schemeClr val="tx1"/>
            </a:solidFill>
            <a:ln w="28575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连接符 92"/>
            <p:cNvCxnSpPr>
              <a:stCxn id="81" idx="2"/>
              <a:endCxn id="91" idx="0"/>
            </p:cNvCxnSpPr>
            <p:nvPr/>
          </p:nvCxnSpPr>
          <p:spPr bwMode="auto">
            <a:xfrm>
              <a:off x="7050835" y="5225547"/>
              <a:ext cx="644903" cy="412372"/>
            </a:xfrm>
            <a:prstGeom prst="line">
              <a:avLst/>
            </a:prstGeom>
            <a:solidFill>
              <a:schemeClr val="tx1"/>
            </a:solidFill>
            <a:ln w="19050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直接连接符 94"/>
            <p:cNvCxnSpPr>
              <a:stCxn id="82" idx="2"/>
              <a:endCxn id="91" idx="0"/>
            </p:cNvCxnSpPr>
            <p:nvPr/>
          </p:nvCxnSpPr>
          <p:spPr bwMode="auto">
            <a:xfrm flipH="1">
              <a:off x="7695738" y="5225547"/>
              <a:ext cx="622738" cy="412372"/>
            </a:xfrm>
            <a:prstGeom prst="line">
              <a:avLst/>
            </a:prstGeom>
            <a:solidFill>
              <a:schemeClr val="tx1"/>
            </a:solidFill>
            <a:ln w="19050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>
              <a:stCxn id="80" idx="2"/>
              <a:endCxn id="81" idx="0"/>
            </p:cNvCxnSpPr>
            <p:nvPr/>
          </p:nvCxnSpPr>
          <p:spPr bwMode="auto">
            <a:xfrm flipH="1">
              <a:off x="7050835" y="3951189"/>
              <a:ext cx="622738" cy="469535"/>
            </a:xfrm>
            <a:prstGeom prst="line">
              <a:avLst/>
            </a:prstGeom>
            <a:solidFill>
              <a:schemeClr val="tx1"/>
            </a:solidFill>
            <a:ln w="28575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/>
            <p:cNvCxnSpPr>
              <a:stCxn id="80" idx="2"/>
              <a:endCxn id="82" idx="0"/>
            </p:cNvCxnSpPr>
            <p:nvPr/>
          </p:nvCxnSpPr>
          <p:spPr bwMode="auto">
            <a:xfrm>
              <a:off x="7673573" y="3951189"/>
              <a:ext cx="644903" cy="469535"/>
            </a:xfrm>
            <a:prstGeom prst="line">
              <a:avLst/>
            </a:prstGeom>
            <a:solidFill>
              <a:schemeClr val="tx1"/>
            </a:solidFill>
            <a:ln w="28575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0" name="矩形 79"/>
            <p:cNvSpPr/>
            <p:nvPr/>
          </p:nvSpPr>
          <p:spPr bwMode="auto">
            <a:xfrm>
              <a:off x="6594638" y="3419637"/>
              <a:ext cx="2157869" cy="53155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/>
              <a:r>
                <a:rPr lang="zh-CN" altLang="en-US" sz="2400" dirty="0" smtClean="0">
                  <a:solidFill>
                    <a:srgbClr val="660066"/>
                  </a:solidFill>
                  <a:latin typeface="黑体" pitchFamily="2" charset="-122"/>
                  <a:ea typeface="黑体" pitchFamily="2" charset="-122"/>
                </a:rPr>
                <a:t>框架</a:t>
              </a:r>
            </a:p>
          </p:txBody>
        </p:sp>
        <p:sp>
          <p:nvSpPr>
            <p:cNvPr id="81" name="矩形 80"/>
            <p:cNvSpPr/>
            <p:nvPr/>
          </p:nvSpPr>
          <p:spPr bwMode="auto">
            <a:xfrm>
              <a:off x="6594639" y="4420724"/>
              <a:ext cx="912392" cy="80482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/>
              <a:r>
                <a:rPr lang="zh-CN" altLang="en-US" sz="2400" dirty="0" smtClean="0">
                  <a:solidFill>
                    <a:srgbClr val="C00000"/>
                  </a:solidFill>
                  <a:latin typeface="黑体" pitchFamily="2" charset="-122"/>
                  <a:ea typeface="黑体" pitchFamily="2" charset="-122"/>
                </a:rPr>
                <a:t>方案设计</a:t>
              </a:r>
            </a:p>
          </p:txBody>
        </p:sp>
        <p:sp>
          <p:nvSpPr>
            <p:cNvPr id="82" name="矩形 81"/>
            <p:cNvSpPr/>
            <p:nvPr/>
          </p:nvSpPr>
          <p:spPr bwMode="auto">
            <a:xfrm>
              <a:off x="7884445" y="4420724"/>
              <a:ext cx="868062" cy="80482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B0F0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/>
              <a:r>
                <a:rPr lang="zh-CN" altLang="en-US" sz="2400" dirty="0" smtClean="0">
                  <a:solidFill>
                    <a:srgbClr val="00B0F0"/>
                  </a:solidFill>
                  <a:latin typeface="黑体" pitchFamily="2" charset="-122"/>
                  <a:ea typeface="黑体" pitchFamily="2" charset="-122"/>
                </a:rPr>
                <a:t>理论分析</a:t>
              </a:r>
            </a:p>
          </p:txBody>
        </p:sp>
        <p:sp>
          <p:nvSpPr>
            <p:cNvPr id="91" name="矩形 90"/>
            <p:cNvSpPr/>
            <p:nvPr/>
          </p:nvSpPr>
          <p:spPr bwMode="auto">
            <a:xfrm>
              <a:off x="6616803" y="5637919"/>
              <a:ext cx="2157869" cy="53155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/>
              <a:r>
                <a:rPr lang="zh-CN" altLang="en-US" sz="2400" dirty="0" smtClean="0">
                  <a:solidFill>
                    <a:srgbClr val="660066"/>
                  </a:solidFill>
                  <a:latin typeface="黑体" pitchFamily="2" charset="-122"/>
                  <a:ea typeface="黑体" pitchFamily="2" charset="-122"/>
                </a:rPr>
                <a:t>仿真实验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0358125"/>
      </p:ext>
    </p:extLst>
  </p:cSld>
  <p:clrMapOvr>
    <a:masterClrMapping/>
  </p:clrMapOvr>
  <p:transition advTm="124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  <p:bldP spid="65" grpId="0" animBg="1"/>
      <p:bldP spid="69" grpId="0" animBg="1"/>
      <p:bldP spid="74" grpId="0" animBg="1"/>
      <p:bldP spid="7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672064" y="930414"/>
            <a:ext cx="26564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主要研究内容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6411" y="1800939"/>
            <a:ext cx="714330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3399"/>
                </a:solidFill>
                <a:latin typeface="Times New Roman" panose="02020603050405020304" pitchFamily="18" charset="0"/>
                <a:ea typeface="黑体" pitchFamily="49" charset="-122"/>
              </a:rPr>
              <a:t>无线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  <a:ea typeface="黑体" pitchFamily="49" charset="-122"/>
              </a:rPr>
              <a:t>联邦学习上行链路量化</a:t>
            </a:r>
            <a:r>
              <a:rPr lang="zh-CN" altLang="en-US" sz="2400" b="1" dirty="0" smtClean="0">
                <a:solidFill>
                  <a:srgbClr val="003399"/>
                </a:solidFill>
                <a:latin typeface="Times New Roman" panose="02020603050405020304" pitchFamily="18" charset="0"/>
                <a:ea typeface="黑体" pitchFamily="49" charset="-122"/>
              </a:rPr>
              <a:t>方案设计</a:t>
            </a:r>
            <a:endParaRPr lang="en-US" altLang="zh-CN" sz="2400" b="1" dirty="0">
              <a:solidFill>
                <a:srgbClr val="003399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无线联邦学习下行链路量化方案设计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基于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非等差错保护的无线联邦学习传输</a:t>
            </a: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方案设计</a:t>
            </a:r>
            <a:endParaRPr lang="en-US" altLang="zh-CN" sz="2400" b="1" dirty="0" smtClean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4668976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组合 193"/>
          <p:cNvGrpSpPr/>
          <p:nvPr/>
        </p:nvGrpSpPr>
        <p:grpSpPr>
          <a:xfrm>
            <a:off x="555702" y="4196774"/>
            <a:ext cx="5772861" cy="2470158"/>
            <a:chOff x="555702" y="4196774"/>
            <a:chExt cx="5772861" cy="2470158"/>
          </a:xfrm>
        </p:grpSpPr>
        <p:grpSp>
          <p:nvGrpSpPr>
            <p:cNvPr id="56" name="组合 55"/>
            <p:cNvGrpSpPr/>
            <p:nvPr/>
          </p:nvGrpSpPr>
          <p:grpSpPr>
            <a:xfrm>
              <a:off x="1236753" y="5691129"/>
              <a:ext cx="626176" cy="632508"/>
              <a:chOff x="1047565" y="1957771"/>
              <a:chExt cx="1383992" cy="1397987"/>
            </a:xfrm>
          </p:grpSpPr>
          <p:sp>
            <p:nvSpPr>
              <p:cNvPr id="57" name="椭圆 56"/>
              <p:cNvSpPr/>
              <p:nvPr/>
            </p:nvSpPr>
            <p:spPr bwMode="auto">
              <a:xfrm>
                <a:off x="1047565" y="2192784"/>
                <a:ext cx="221942" cy="221942"/>
              </a:xfrm>
              <a:prstGeom prst="ellipse">
                <a:avLst/>
              </a:prstGeom>
              <a:solidFill>
                <a:srgbClr val="000000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 bwMode="auto">
              <a:xfrm>
                <a:off x="1047565" y="2911874"/>
                <a:ext cx="221942" cy="221942"/>
              </a:xfrm>
              <a:prstGeom prst="ellipse">
                <a:avLst/>
              </a:prstGeom>
              <a:solidFill>
                <a:srgbClr val="000000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 bwMode="auto">
              <a:xfrm>
                <a:off x="1047565" y="2552329"/>
                <a:ext cx="221942" cy="2219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 bwMode="auto">
              <a:xfrm>
                <a:off x="1600015" y="2741801"/>
                <a:ext cx="221942" cy="2219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 bwMode="auto">
              <a:xfrm>
                <a:off x="1600015" y="1957771"/>
                <a:ext cx="221942" cy="2219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 bwMode="auto">
              <a:xfrm>
                <a:off x="1600015" y="2349786"/>
                <a:ext cx="221942" cy="2219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 bwMode="auto">
              <a:xfrm>
                <a:off x="1600015" y="3133816"/>
                <a:ext cx="221942" cy="2219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 bwMode="auto">
              <a:xfrm>
                <a:off x="2209615" y="2552329"/>
                <a:ext cx="221942" cy="2219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cxnSp>
            <p:nvCxnSpPr>
              <p:cNvPr id="65" name="直接连接符 64"/>
              <p:cNvCxnSpPr>
                <a:stCxn id="57" idx="6"/>
                <a:endCxn id="61" idx="2"/>
              </p:cNvCxnSpPr>
              <p:nvPr/>
            </p:nvCxnSpPr>
            <p:spPr bwMode="auto">
              <a:xfrm flipV="1">
                <a:off x="1269507" y="2068742"/>
                <a:ext cx="330508" cy="235013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直接连接符 65"/>
              <p:cNvCxnSpPr>
                <a:stCxn id="57" idx="6"/>
                <a:endCxn id="62" idx="2"/>
              </p:cNvCxnSpPr>
              <p:nvPr/>
            </p:nvCxnSpPr>
            <p:spPr bwMode="auto">
              <a:xfrm>
                <a:off x="1269507" y="2303755"/>
                <a:ext cx="330508" cy="157002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" name="直接连接符 66"/>
              <p:cNvCxnSpPr>
                <a:stCxn id="57" idx="6"/>
                <a:endCxn id="60" idx="2"/>
              </p:cNvCxnSpPr>
              <p:nvPr/>
            </p:nvCxnSpPr>
            <p:spPr bwMode="auto">
              <a:xfrm>
                <a:off x="1269507" y="2303755"/>
                <a:ext cx="330508" cy="549017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直接连接符 67"/>
              <p:cNvCxnSpPr>
                <a:endCxn id="63" idx="2"/>
              </p:cNvCxnSpPr>
              <p:nvPr/>
            </p:nvCxnSpPr>
            <p:spPr bwMode="auto">
              <a:xfrm>
                <a:off x="1269507" y="2317316"/>
                <a:ext cx="330508" cy="927471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直接连接符 68"/>
              <p:cNvCxnSpPr>
                <a:stCxn id="59" idx="6"/>
                <a:endCxn id="61" idx="2"/>
              </p:cNvCxnSpPr>
              <p:nvPr/>
            </p:nvCxnSpPr>
            <p:spPr bwMode="auto">
              <a:xfrm flipV="1">
                <a:off x="1269507" y="2068742"/>
                <a:ext cx="330508" cy="594558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0" name="直接连接符 69"/>
              <p:cNvCxnSpPr>
                <a:stCxn id="59" idx="6"/>
                <a:endCxn id="62" idx="2"/>
              </p:cNvCxnSpPr>
              <p:nvPr/>
            </p:nvCxnSpPr>
            <p:spPr bwMode="auto">
              <a:xfrm flipV="1">
                <a:off x="1269507" y="2460757"/>
                <a:ext cx="330508" cy="202543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直接连接符 70"/>
              <p:cNvCxnSpPr>
                <a:stCxn id="59" idx="6"/>
                <a:endCxn id="60" idx="2"/>
              </p:cNvCxnSpPr>
              <p:nvPr/>
            </p:nvCxnSpPr>
            <p:spPr bwMode="auto">
              <a:xfrm>
                <a:off x="1269507" y="2663300"/>
                <a:ext cx="330508" cy="189472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2" name="直接连接符 71"/>
              <p:cNvCxnSpPr>
                <a:stCxn id="59" idx="6"/>
                <a:endCxn id="63" idx="2"/>
              </p:cNvCxnSpPr>
              <p:nvPr/>
            </p:nvCxnSpPr>
            <p:spPr bwMode="auto">
              <a:xfrm>
                <a:off x="1269507" y="2663300"/>
                <a:ext cx="330508" cy="581487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3" name="直接连接符 72"/>
              <p:cNvCxnSpPr>
                <a:stCxn id="58" idx="6"/>
                <a:endCxn id="62" idx="2"/>
              </p:cNvCxnSpPr>
              <p:nvPr/>
            </p:nvCxnSpPr>
            <p:spPr bwMode="auto">
              <a:xfrm flipV="1">
                <a:off x="1269507" y="2460757"/>
                <a:ext cx="330508" cy="562088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4" name="直接连接符 73"/>
              <p:cNvCxnSpPr>
                <a:stCxn id="58" idx="6"/>
                <a:endCxn id="60" idx="2"/>
              </p:cNvCxnSpPr>
              <p:nvPr/>
            </p:nvCxnSpPr>
            <p:spPr bwMode="auto">
              <a:xfrm flipV="1">
                <a:off x="1269507" y="2852772"/>
                <a:ext cx="330508" cy="170073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5" name="直接连接符 74"/>
              <p:cNvCxnSpPr>
                <a:stCxn id="58" idx="6"/>
                <a:endCxn id="61" idx="2"/>
              </p:cNvCxnSpPr>
              <p:nvPr/>
            </p:nvCxnSpPr>
            <p:spPr bwMode="auto">
              <a:xfrm flipV="1">
                <a:off x="1269507" y="2068742"/>
                <a:ext cx="330508" cy="954103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6" name="直接连接符 75"/>
              <p:cNvCxnSpPr>
                <a:stCxn id="58" idx="6"/>
                <a:endCxn id="63" idx="2"/>
              </p:cNvCxnSpPr>
              <p:nvPr/>
            </p:nvCxnSpPr>
            <p:spPr bwMode="auto">
              <a:xfrm>
                <a:off x="1269507" y="3022845"/>
                <a:ext cx="330508" cy="221942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7" name="直接连接符 76"/>
              <p:cNvCxnSpPr>
                <a:stCxn id="61" idx="6"/>
                <a:endCxn id="64" idx="2"/>
              </p:cNvCxnSpPr>
              <p:nvPr/>
            </p:nvCxnSpPr>
            <p:spPr bwMode="auto">
              <a:xfrm>
                <a:off x="1821957" y="2068742"/>
                <a:ext cx="387658" cy="594558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8" name="直接连接符 77"/>
              <p:cNvCxnSpPr>
                <a:stCxn id="62" idx="6"/>
                <a:endCxn id="64" idx="2"/>
              </p:cNvCxnSpPr>
              <p:nvPr/>
            </p:nvCxnSpPr>
            <p:spPr bwMode="auto">
              <a:xfrm>
                <a:off x="1821957" y="2460757"/>
                <a:ext cx="387658" cy="202543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9" name="直接连接符 78"/>
              <p:cNvCxnSpPr>
                <a:stCxn id="60" idx="6"/>
                <a:endCxn id="64" idx="2"/>
              </p:cNvCxnSpPr>
              <p:nvPr/>
            </p:nvCxnSpPr>
            <p:spPr bwMode="auto">
              <a:xfrm flipV="1">
                <a:off x="1821957" y="2663300"/>
                <a:ext cx="387658" cy="189472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0" name="直接连接符 79"/>
              <p:cNvCxnSpPr>
                <a:stCxn id="63" idx="6"/>
                <a:endCxn id="64" idx="2"/>
              </p:cNvCxnSpPr>
              <p:nvPr/>
            </p:nvCxnSpPr>
            <p:spPr bwMode="auto">
              <a:xfrm flipV="1">
                <a:off x="1821957" y="2663300"/>
                <a:ext cx="387658" cy="581487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81" name="圆角矩形 80"/>
            <p:cNvSpPr/>
            <p:nvPr/>
          </p:nvSpPr>
          <p:spPr bwMode="auto">
            <a:xfrm>
              <a:off x="2376314" y="5349832"/>
              <a:ext cx="790003" cy="34129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/>
              <a:r>
                <a:rPr lang="zh-CN" altLang="en-US" sz="12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用户 </a:t>
              </a:r>
              <a:r>
                <a:rPr lang="en-US" altLang="zh-CN" sz="12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1</a:t>
              </a:r>
              <a:endParaRPr lang="zh-CN" altLang="en-US" sz="1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82" name="圆角矩形 81"/>
            <p:cNvSpPr/>
            <p:nvPr/>
          </p:nvSpPr>
          <p:spPr bwMode="auto">
            <a:xfrm>
              <a:off x="2376314" y="6236441"/>
              <a:ext cx="790003" cy="34129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/>
              <a:r>
                <a:rPr lang="zh-CN" altLang="en-US" sz="12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用户 </a:t>
              </a:r>
              <a:r>
                <a:rPr lang="en-US" altLang="zh-CN" sz="12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K</a:t>
              </a:r>
              <a:endParaRPr lang="zh-CN" altLang="en-US" sz="1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2611500" y="5812461"/>
              <a:ext cx="319631" cy="3635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···</a:t>
              </a:r>
              <a:endPara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4" name="直接箭头连接符 83"/>
            <p:cNvCxnSpPr>
              <a:stCxn id="64" idx="6"/>
              <a:endCxn id="81" idx="1"/>
            </p:cNvCxnSpPr>
            <p:nvPr/>
          </p:nvCxnSpPr>
          <p:spPr bwMode="auto">
            <a:xfrm flipV="1">
              <a:off x="1862929" y="5520481"/>
              <a:ext cx="513385" cy="489860"/>
            </a:xfrm>
            <a:prstGeom prst="straightConnector1">
              <a:avLst/>
            </a:prstGeom>
            <a:solidFill>
              <a:schemeClr val="tx1"/>
            </a:solidFill>
            <a:ln w="19050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5" name="直接箭头连接符 84"/>
            <p:cNvCxnSpPr>
              <a:stCxn id="64" idx="6"/>
              <a:endCxn id="82" idx="1"/>
            </p:cNvCxnSpPr>
            <p:nvPr/>
          </p:nvCxnSpPr>
          <p:spPr bwMode="auto">
            <a:xfrm>
              <a:off x="1862929" y="6010340"/>
              <a:ext cx="513385" cy="396750"/>
            </a:xfrm>
            <a:prstGeom prst="straightConnector1">
              <a:avLst/>
            </a:prstGeom>
            <a:solidFill>
              <a:schemeClr val="tx1"/>
            </a:solidFill>
            <a:ln w="19050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6" name="直接箭头连接符 85"/>
            <p:cNvCxnSpPr>
              <a:stCxn id="64" idx="6"/>
            </p:cNvCxnSpPr>
            <p:nvPr/>
          </p:nvCxnSpPr>
          <p:spPr bwMode="auto">
            <a:xfrm>
              <a:off x="1862929" y="6010340"/>
              <a:ext cx="513385" cy="0"/>
            </a:xfrm>
            <a:prstGeom prst="straightConnector1">
              <a:avLst/>
            </a:prstGeom>
            <a:solidFill>
              <a:schemeClr val="tx1"/>
            </a:solidFill>
            <a:ln w="19050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7" name="圆角矩形 86"/>
            <p:cNvSpPr/>
            <p:nvPr/>
          </p:nvSpPr>
          <p:spPr bwMode="auto">
            <a:xfrm>
              <a:off x="3936846" y="5820664"/>
              <a:ext cx="859915" cy="34129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/>
              <a:r>
                <a:rPr lang="zh-CN" altLang="en-US" sz="12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全局聚合</a:t>
              </a:r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5561867" y="5675059"/>
              <a:ext cx="626176" cy="632508"/>
              <a:chOff x="1047565" y="1957771"/>
              <a:chExt cx="1383992" cy="1397987"/>
            </a:xfrm>
          </p:grpSpPr>
          <p:sp>
            <p:nvSpPr>
              <p:cNvPr id="89" name="椭圆 88"/>
              <p:cNvSpPr/>
              <p:nvPr/>
            </p:nvSpPr>
            <p:spPr bwMode="auto">
              <a:xfrm>
                <a:off x="1047565" y="2192784"/>
                <a:ext cx="221942" cy="221942"/>
              </a:xfrm>
              <a:prstGeom prst="ellipse">
                <a:avLst/>
              </a:prstGeom>
              <a:solidFill>
                <a:srgbClr val="000000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 bwMode="auto">
              <a:xfrm>
                <a:off x="1047565" y="2911874"/>
                <a:ext cx="221942" cy="221942"/>
              </a:xfrm>
              <a:prstGeom prst="ellipse">
                <a:avLst/>
              </a:prstGeom>
              <a:solidFill>
                <a:srgbClr val="000000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1" name="椭圆 90"/>
              <p:cNvSpPr/>
              <p:nvPr/>
            </p:nvSpPr>
            <p:spPr bwMode="auto">
              <a:xfrm>
                <a:off x="1047565" y="2552329"/>
                <a:ext cx="221942" cy="2219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 bwMode="auto">
              <a:xfrm>
                <a:off x="1600015" y="2741801"/>
                <a:ext cx="221942" cy="2219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 bwMode="auto">
              <a:xfrm>
                <a:off x="1600015" y="1957771"/>
                <a:ext cx="221942" cy="2219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 bwMode="auto">
              <a:xfrm>
                <a:off x="1600015" y="2349786"/>
                <a:ext cx="221942" cy="2219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 bwMode="auto">
              <a:xfrm>
                <a:off x="1600015" y="3133816"/>
                <a:ext cx="221942" cy="2219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 bwMode="auto">
              <a:xfrm>
                <a:off x="2209615" y="2552329"/>
                <a:ext cx="221942" cy="22194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cxnSp>
            <p:nvCxnSpPr>
              <p:cNvPr id="97" name="直接连接符 96"/>
              <p:cNvCxnSpPr>
                <a:stCxn id="89" idx="6"/>
                <a:endCxn id="93" idx="2"/>
              </p:cNvCxnSpPr>
              <p:nvPr/>
            </p:nvCxnSpPr>
            <p:spPr bwMode="auto">
              <a:xfrm flipV="1">
                <a:off x="1269507" y="2068742"/>
                <a:ext cx="330508" cy="235013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8" name="直接连接符 97"/>
              <p:cNvCxnSpPr>
                <a:stCxn id="89" idx="6"/>
                <a:endCxn id="94" idx="2"/>
              </p:cNvCxnSpPr>
              <p:nvPr/>
            </p:nvCxnSpPr>
            <p:spPr bwMode="auto">
              <a:xfrm>
                <a:off x="1269507" y="2303755"/>
                <a:ext cx="330508" cy="157002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9" name="直接连接符 98"/>
              <p:cNvCxnSpPr>
                <a:stCxn id="89" idx="6"/>
                <a:endCxn id="92" idx="2"/>
              </p:cNvCxnSpPr>
              <p:nvPr/>
            </p:nvCxnSpPr>
            <p:spPr bwMode="auto">
              <a:xfrm>
                <a:off x="1269507" y="2303755"/>
                <a:ext cx="330508" cy="549017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0" name="直接连接符 99"/>
              <p:cNvCxnSpPr>
                <a:endCxn id="95" idx="2"/>
              </p:cNvCxnSpPr>
              <p:nvPr/>
            </p:nvCxnSpPr>
            <p:spPr bwMode="auto">
              <a:xfrm>
                <a:off x="1269507" y="2317316"/>
                <a:ext cx="330508" cy="927471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1" name="直接连接符 100"/>
              <p:cNvCxnSpPr>
                <a:stCxn id="91" idx="6"/>
                <a:endCxn id="93" idx="2"/>
              </p:cNvCxnSpPr>
              <p:nvPr/>
            </p:nvCxnSpPr>
            <p:spPr bwMode="auto">
              <a:xfrm flipV="1">
                <a:off x="1269507" y="2068742"/>
                <a:ext cx="330508" cy="594558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2" name="直接连接符 101"/>
              <p:cNvCxnSpPr>
                <a:stCxn id="91" idx="6"/>
                <a:endCxn id="94" idx="2"/>
              </p:cNvCxnSpPr>
              <p:nvPr/>
            </p:nvCxnSpPr>
            <p:spPr bwMode="auto">
              <a:xfrm flipV="1">
                <a:off x="1269507" y="2460757"/>
                <a:ext cx="330508" cy="202543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3" name="直接连接符 102"/>
              <p:cNvCxnSpPr>
                <a:stCxn id="91" idx="6"/>
                <a:endCxn id="92" idx="2"/>
              </p:cNvCxnSpPr>
              <p:nvPr/>
            </p:nvCxnSpPr>
            <p:spPr bwMode="auto">
              <a:xfrm>
                <a:off x="1269507" y="2663300"/>
                <a:ext cx="330508" cy="189472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4" name="直接连接符 103"/>
              <p:cNvCxnSpPr>
                <a:stCxn id="91" idx="6"/>
                <a:endCxn id="95" idx="2"/>
              </p:cNvCxnSpPr>
              <p:nvPr/>
            </p:nvCxnSpPr>
            <p:spPr bwMode="auto">
              <a:xfrm>
                <a:off x="1269507" y="2663300"/>
                <a:ext cx="330508" cy="581487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5" name="直接连接符 104"/>
              <p:cNvCxnSpPr>
                <a:stCxn id="90" idx="6"/>
                <a:endCxn id="94" idx="2"/>
              </p:cNvCxnSpPr>
              <p:nvPr/>
            </p:nvCxnSpPr>
            <p:spPr bwMode="auto">
              <a:xfrm flipV="1">
                <a:off x="1269507" y="2460757"/>
                <a:ext cx="330508" cy="562088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6" name="直接连接符 105"/>
              <p:cNvCxnSpPr>
                <a:stCxn id="90" idx="6"/>
                <a:endCxn id="92" idx="2"/>
              </p:cNvCxnSpPr>
              <p:nvPr/>
            </p:nvCxnSpPr>
            <p:spPr bwMode="auto">
              <a:xfrm flipV="1">
                <a:off x="1269507" y="2852772"/>
                <a:ext cx="330508" cy="170073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7" name="直接连接符 106"/>
              <p:cNvCxnSpPr>
                <a:stCxn id="90" idx="6"/>
                <a:endCxn id="93" idx="2"/>
              </p:cNvCxnSpPr>
              <p:nvPr/>
            </p:nvCxnSpPr>
            <p:spPr bwMode="auto">
              <a:xfrm flipV="1">
                <a:off x="1269507" y="2068742"/>
                <a:ext cx="330508" cy="954103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8" name="直接连接符 107"/>
              <p:cNvCxnSpPr>
                <a:stCxn id="90" idx="6"/>
                <a:endCxn id="95" idx="2"/>
              </p:cNvCxnSpPr>
              <p:nvPr/>
            </p:nvCxnSpPr>
            <p:spPr bwMode="auto">
              <a:xfrm>
                <a:off x="1269507" y="3022845"/>
                <a:ext cx="330508" cy="221942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9" name="直接连接符 108"/>
              <p:cNvCxnSpPr>
                <a:stCxn id="93" idx="6"/>
                <a:endCxn id="96" idx="2"/>
              </p:cNvCxnSpPr>
              <p:nvPr/>
            </p:nvCxnSpPr>
            <p:spPr bwMode="auto">
              <a:xfrm>
                <a:off x="1821957" y="2068742"/>
                <a:ext cx="387658" cy="594558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0" name="直接连接符 109"/>
              <p:cNvCxnSpPr>
                <a:stCxn id="94" idx="6"/>
                <a:endCxn id="96" idx="2"/>
              </p:cNvCxnSpPr>
              <p:nvPr/>
            </p:nvCxnSpPr>
            <p:spPr bwMode="auto">
              <a:xfrm>
                <a:off x="1821957" y="2460757"/>
                <a:ext cx="387658" cy="202543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1" name="直接连接符 110"/>
              <p:cNvCxnSpPr>
                <a:stCxn id="92" idx="6"/>
                <a:endCxn id="96" idx="2"/>
              </p:cNvCxnSpPr>
              <p:nvPr/>
            </p:nvCxnSpPr>
            <p:spPr bwMode="auto">
              <a:xfrm flipV="1">
                <a:off x="1821957" y="2663300"/>
                <a:ext cx="387658" cy="189472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2" name="直接连接符 111"/>
              <p:cNvCxnSpPr>
                <a:stCxn id="95" idx="6"/>
                <a:endCxn id="96" idx="2"/>
              </p:cNvCxnSpPr>
              <p:nvPr/>
            </p:nvCxnSpPr>
            <p:spPr bwMode="auto">
              <a:xfrm flipV="1">
                <a:off x="1821957" y="2663300"/>
                <a:ext cx="387658" cy="581487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113" name="直接箭头连接符 112"/>
            <p:cNvCxnSpPr>
              <a:stCxn id="81" idx="3"/>
            </p:cNvCxnSpPr>
            <p:nvPr/>
          </p:nvCxnSpPr>
          <p:spPr bwMode="auto">
            <a:xfrm>
              <a:off x="3166317" y="5520481"/>
              <a:ext cx="434679" cy="355358"/>
            </a:xfrm>
            <a:prstGeom prst="straightConnector1">
              <a:avLst/>
            </a:prstGeom>
            <a:solidFill>
              <a:schemeClr val="tx1"/>
            </a:solidFill>
            <a:ln w="19050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4" name="直接箭头连接符 113"/>
            <p:cNvCxnSpPr>
              <a:stCxn id="82" idx="3"/>
            </p:cNvCxnSpPr>
            <p:nvPr/>
          </p:nvCxnSpPr>
          <p:spPr bwMode="auto">
            <a:xfrm flipV="1">
              <a:off x="3166317" y="6096065"/>
              <a:ext cx="434679" cy="311025"/>
            </a:xfrm>
            <a:prstGeom prst="straightConnector1">
              <a:avLst/>
            </a:prstGeom>
            <a:solidFill>
              <a:schemeClr val="tx1"/>
            </a:solidFill>
            <a:ln w="19050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5" name="直接箭头连接符 114"/>
            <p:cNvCxnSpPr>
              <a:endCxn id="87" idx="1"/>
            </p:cNvCxnSpPr>
            <p:nvPr/>
          </p:nvCxnSpPr>
          <p:spPr bwMode="auto">
            <a:xfrm>
              <a:off x="3600996" y="5991314"/>
              <a:ext cx="335850" cy="0"/>
            </a:xfrm>
            <a:prstGeom prst="straightConnector1">
              <a:avLst/>
            </a:prstGeom>
            <a:solidFill>
              <a:schemeClr val="tx1"/>
            </a:solidFill>
            <a:ln w="19050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115"/>
            <p:cNvCxnSpPr>
              <a:stCxn id="87" idx="3"/>
              <a:endCxn id="91" idx="2"/>
            </p:cNvCxnSpPr>
            <p:nvPr/>
          </p:nvCxnSpPr>
          <p:spPr bwMode="auto">
            <a:xfrm>
              <a:off x="4796762" y="5991314"/>
              <a:ext cx="765106" cy="2956"/>
            </a:xfrm>
            <a:prstGeom prst="straightConnector1">
              <a:avLst/>
            </a:prstGeom>
            <a:solidFill>
              <a:schemeClr val="tx1"/>
            </a:solidFill>
            <a:ln w="19050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117" name="组合 116"/>
            <p:cNvGrpSpPr/>
            <p:nvPr/>
          </p:nvGrpSpPr>
          <p:grpSpPr>
            <a:xfrm>
              <a:off x="1671483" y="4266425"/>
              <a:ext cx="2966910" cy="456546"/>
              <a:chOff x="1434336" y="2761535"/>
              <a:chExt cx="3767499" cy="579740"/>
            </a:xfrm>
          </p:grpSpPr>
          <p:grpSp>
            <p:nvGrpSpPr>
              <p:cNvPr id="118" name="组合 117"/>
              <p:cNvGrpSpPr/>
              <p:nvPr/>
            </p:nvGrpSpPr>
            <p:grpSpPr>
              <a:xfrm>
                <a:off x="1434336" y="2761535"/>
                <a:ext cx="573936" cy="579740"/>
                <a:chOff x="1047565" y="1957771"/>
                <a:chExt cx="1383992" cy="1397987"/>
              </a:xfrm>
            </p:grpSpPr>
            <p:sp>
              <p:nvSpPr>
                <p:cNvPr id="147" name="椭圆 146"/>
                <p:cNvSpPr/>
                <p:nvPr/>
              </p:nvSpPr>
              <p:spPr bwMode="auto">
                <a:xfrm>
                  <a:off x="1047565" y="2192784"/>
                  <a:ext cx="221942" cy="221942"/>
                </a:xfrm>
                <a:prstGeom prst="ellipse">
                  <a:avLst/>
                </a:prstGeom>
                <a:solidFill>
                  <a:srgbClr val="000000"/>
                </a:solidFill>
                <a:ln w="38100">
                  <a:noFill/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48" name="椭圆 147"/>
                <p:cNvSpPr/>
                <p:nvPr/>
              </p:nvSpPr>
              <p:spPr bwMode="auto">
                <a:xfrm>
                  <a:off x="1047565" y="2911874"/>
                  <a:ext cx="221942" cy="221942"/>
                </a:xfrm>
                <a:prstGeom prst="ellipse">
                  <a:avLst/>
                </a:prstGeom>
                <a:solidFill>
                  <a:srgbClr val="000000"/>
                </a:solidFill>
                <a:ln w="38100">
                  <a:noFill/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49" name="椭圆 148"/>
                <p:cNvSpPr/>
                <p:nvPr/>
              </p:nvSpPr>
              <p:spPr bwMode="auto">
                <a:xfrm>
                  <a:off x="1047565" y="2552329"/>
                  <a:ext cx="221942" cy="221942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50" name="椭圆 149"/>
                <p:cNvSpPr/>
                <p:nvPr/>
              </p:nvSpPr>
              <p:spPr bwMode="auto">
                <a:xfrm>
                  <a:off x="1600015" y="2741801"/>
                  <a:ext cx="221942" cy="221942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51" name="椭圆 150"/>
                <p:cNvSpPr/>
                <p:nvPr/>
              </p:nvSpPr>
              <p:spPr bwMode="auto">
                <a:xfrm>
                  <a:off x="1600015" y="1957771"/>
                  <a:ext cx="221942" cy="221942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52" name="椭圆 151"/>
                <p:cNvSpPr/>
                <p:nvPr/>
              </p:nvSpPr>
              <p:spPr bwMode="auto">
                <a:xfrm>
                  <a:off x="1600015" y="2349786"/>
                  <a:ext cx="221942" cy="221942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53" name="椭圆 152"/>
                <p:cNvSpPr/>
                <p:nvPr/>
              </p:nvSpPr>
              <p:spPr bwMode="auto">
                <a:xfrm>
                  <a:off x="1600015" y="3133816"/>
                  <a:ext cx="221942" cy="221942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54" name="椭圆 153"/>
                <p:cNvSpPr/>
                <p:nvPr/>
              </p:nvSpPr>
              <p:spPr bwMode="auto">
                <a:xfrm>
                  <a:off x="2209615" y="2552329"/>
                  <a:ext cx="221942" cy="221942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cxnSp>
              <p:nvCxnSpPr>
                <p:cNvPr id="155" name="直接连接符 154"/>
                <p:cNvCxnSpPr>
                  <a:stCxn id="147" idx="6"/>
                  <a:endCxn id="151" idx="2"/>
                </p:cNvCxnSpPr>
                <p:nvPr/>
              </p:nvCxnSpPr>
              <p:spPr bwMode="auto">
                <a:xfrm flipV="1">
                  <a:off x="1269507" y="2068742"/>
                  <a:ext cx="330508" cy="235013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6" name="直接连接符 155"/>
                <p:cNvCxnSpPr>
                  <a:stCxn id="147" idx="6"/>
                  <a:endCxn id="152" idx="2"/>
                </p:cNvCxnSpPr>
                <p:nvPr/>
              </p:nvCxnSpPr>
              <p:spPr bwMode="auto">
                <a:xfrm>
                  <a:off x="1269507" y="2303755"/>
                  <a:ext cx="330508" cy="157002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7" name="直接连接符 156"/>
                <p:cNvCxnSpPr>
                  <a:stCxn id="147" idx="6"/>
                  <a:endCxn id="150" idx="2"/>
                </p:cNvCxnSpPr>
                <p:nvPr/>
              </p:nvCxnSpPr>
              <p:spPr bwMode="auto">
                <a:xfrm>
                  <a:off x="1269507" y="2303755"/>
                  <a:ext cx="330508" cy="549017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8" name="直接连接符 157"/>
                <p:cNvCxnSpPr>
                  <a:endCxn id="153" idx="2"/>
                </p:cNvCxnSpPr>
                <p:nvPr/>
              </p:nvCxnSpPr>
              <p:spPr bwMode="auto">
                <a:xfrm>
                  <a:off x="1269507" y="2317316"/>
                  <a:ext cx="330508" cy="927471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9" name="直接连接符 158"/>
                <p:cNvCxnSpPr>
                  <a:stCxn id="149" idx="6"/>
                  <a:endCxn id="151" idx="2"/>
                </p:cNvCxnSpPr>
                <p:nvPr/>
              </p:nvCxnSpPr>
              <p:spPr bwMode="auto">
                <a:xfrm flipV="1">
                  <a:off x="1269507" y="2068742"/>
                  <a:ext cx="330508" cy="594558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0" name="直接连接符 159"/>
                <p:cNvCxnSpPr>
                  <a:stCxn id="149" idx="6"/>
                  <a:endCxn id="152" idx="2"/>
                </p:cNvCxnSpPr>
                <p:nvPr/>
              </p:nvCxnSpPr>
              <p:spPr bwMode="auto">
                <a:xfrm flipV="1">
                  <a:off x="1269507" y="2460757"/>
                  <a:ext cx="330508" cy="202543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1" name="直接连接符 160"/>
                <p:cNvCxnSpPr>
                  <a:stCxn id="149" idx="6"/>
                  <a:endCxn id="150" idx="2"/>
                </p:cNvCxnSpPr>
                <p:nvPr/>
              </p:nvCxnSpPr>
              <p:spPr bwMode="auto">
                <a:xfrm>
                  <a:off x="1269507" y="2663300"/>
                  <a:ext cx="330508" cy="189472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2" name="直接连接符 161"/>
                <p:cNvCxnSpPr>
                  <a:stCxn id="149" idx="6"/>
                  <a:endCxn id="153" idx="2"/>
                </p:cNvCxnSpPr>
                <p:nvPr/>
              </p:nvCxnSpPr>
              <p:spPr bwMode="auto">
                <a:xfrm>
                  <a:off x="1269507" y="2663300"/>
                  <a:ext cx="330508" cy="581487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3" name="直接连接符 162"/>
                <p:cNvCxnSpPr>
                  <a:stCxn id="148" idx="6"/>
                  <a:endCxn id="152" idx="2"/>
                </p:cNvCxnSpPr>
                <p:nvPr/>
              </p:nvCxnSpPr>
              <p:spPr bwMode="auto">
                <a:xfrm flipV="1">
                  <a:off x="1269507" y="2460757"/>
                  <a:ext cx="330508" cy="562088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4" name="直接连接符 163"/>
                <p:cNvCxnSpPr>
                  <a:stCxn id="148" idx="6"/>
                  <a:endCxn id="150" idx="2"/>
                </p:cNvCxnSpPr>
                <p:nvPr/>
              </p:nvCxnSpPr>
              <p:spPr bwMode="auto">
                <a:xfrm flipV="1">
                  <a:off x="1269507" y="2852772"/>
                  <a:ext cx="330508" cy="170073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5" name="直接连接符 164"/>
                <p:cNvCxnSpPr>
                  <a:stCxn id="148" idx="6"/>
                  <a:endCxn id="151" idx="2"/>
                </p:cNvCxnSpPr>
                <p:nvPr/>
              </p:nvCxnSpPr>
              <p:spPr bwMode="auto">
                <a:xfrm flipV="1">
                  <a:off x="1269507" y="2068742"/>
                  <a:ext cx="330508" cy="954103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6" name="直接连接符 165"/>
                <p:cNvCxnSpPr>
                  <a:stCxn id="148" idx="6"/>
                  <a:endCxn id="153" idx="2"/>
                </p:cNvCxnSpPr>
                <p:nvPr/>
              </p:nvCxnSpPr>
              <p:spPr bwMode="auto">
                <a:xfrm>
                  <a:off x="1269507" y="3022845"/>
                  <a:ext cx="330508" cy="221942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7" name="直接连接符 166"/>
                <p:cNvCxnSpPr>
                  <a:stCxn id="151" idx="6"/>
                  <a:endCxn id="154" idx="2"/>
                </p:cNvCxnSpPr>
                <p:nvPr/>
              </p:nvCxnSpPr>
              <p:spPr bwMode="auto">
                <a:xfrm>
                  <a:off x="1821957" y="2068742"/>
                  <a:ext cx="387658" cy="594558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8" name="直接连接符 167"/>
                <p:cNvCxnSpPr>
                  <a:stCxn id="152" idx="6"/>
                  <a:endCxn id="154" idx="2"/>
                </p:cNvCxnSpPr>
                <p:nvPr/>
              </p:nvCxnSpPr>
              <p:spPr bwMode="auto">
                <a:xfrm>
                  <a:off x="1821957" y="2460757"/>
                  <a:ext cx="387658" cy="202543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9" name="直接连接符 168"/>
                <p:cNvCxnSpPr>
                  <a:stCxn id="150" idx="6"/>
                  <a:endCxn id="154" idx="2"/>
                </p:cNvCxnSpPr>
                <p:nvPr/>
              </p:nvCxnSpPr>
              <p:spPr bwMode="auto">
                <a:xfrm flipV="1">
                  <a:off x="1821957" y="2663300"/>
                  <a:ext cx="387658" cy="189472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0" name="直接连接符 169"/>
                <p:cNvCxnSpPr>
                  <a:stCxn id="153" idx="6"/>
                  <a:endCxn id="154" idx="2"/>
                </p:cNvCxnSpPr>
                <p:nvPr/>
              </p:nvCxnSpPr>
              <p:spPr bwMode="auto">
                <a:xfrm flipV="1">
                  <a:off x="1821957" y="2663300"/>
                  <a:ext cx="387658" cy="581487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chemeClr val="accent5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19" name="圆角矩形 118"/>
              <p:cNvSpPr/>
              <p:nvPr/>
            </p:nvSpPr>
            <p:spPr bwMode="auto">
              <a:xfrm>
                <a:off x="2358267" y="2853574"/>
                <a:ext cx="1091954" cy="433393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/>
                <a:r>
                  <a:rPr lang="zh-CN" altLang="en-US" sz="12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本地训练</a:t>
                </a:r>
              </a:p>
            </p:txBody>
          </p:sp>
          <p:cxnSp>
            <p:nvCxnSpPr>
              <p:cNvPr id="120" name="直接箭头连接符 119"/>
              <p:cNvCxnSpPr>
                <a:stCxn id="154" idx="6"/>
              </p:cNvCxnSpPr>
              <p:nvPr/>
            </p:nvCxnSpPr>
            <p:spPr bwMode="auto">
              <a:xfrm flipV="1">
                <a:off x="2008272" y="3054115"/>
                <a:ext cx="367182" cy="1"/>
              </a:xfrm>
              <a:prstGeom prst="straightConnector1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grpSp>
            <p:nvGrpSpPr>
              <p:cNvPr id="121" name="组合 120"/>
              <p:cNvGrpSpPr/>
              <p:nvPr/>
            </p:nvGrpSpPr>
            <p:grpSpPr>
              <a:xfrm>
                <a:off x="4627899" y="2761535"/>
                <a:ext cx="573936" cy="579740"/>
                <a:chOff x="1047565" y="1957771"/>
                <a:chExt cx="1383992" cy="1397987"/>
              </a:xfrm>
            </p:grpSpPr>
            <p:sp>
              <p:nvSpPr>
                <p:cNvPr id="123" name="椭圆 122"/>
                <p:cNvSpPr/>
                <p:nvPr/>
              </p:nvSpPr>
              <p:spPr bwMode="auto">
                <a:xfrm>
                  <a:off x="1047565" y="2192784"/>
                  <a:ext cx="221942" cy="221942"/>
                </a:xfrm>
                <a:prstGeom prst="ellipse">
                  <a:avLst/>
                </a:prstGeom>
                <a:solidFill>
                  <a:srgbClr val="3D849E"/>
                </a:solidFill>
                <a:ln w="38100">
                  <a:noFill/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24" name="椭圆 123"/>
                <p:cNvSpPr/>
                <p:nvPr/>
              </p:nvSpPr>
              <p:spPr bwMode="auto">
                <a:xfrm>
                  <a:off x="1047565" y="2911874"/>
                  <a:ext cx="221942" cy="221942"/>
                </a:xfrm>
                <a:prstGeom prst="ellipse">
                  <a:avLst/>
                </a:prstGeom>
                <a:solidFill>
                  <a:srgbClr val="3D849E"/>
                </a:solidFill>
                <a:ln w="38100">
                  <a:noFill/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25" name="椭圆 124"/>
                <p:cNvSpPr/>
                <p:nvPr/>
              </p:nvSpPr>
              <p:spPr bwMode="auto">
                <a:xfrm>
                  <a:off x="1047565" y="2552329"/>
                  <a:ext cx="221942" cy="221942"/>
                </a:xfrm>
                <a:prstGeom prst="ellipse">
                  <a:avLst/>
                </a:prstGeom>
                <a:noFill/>
                <a:ln w="19050">
                  <a:solidFill>
                    <a:srgbClr val="3D849E"/>
                  </a:solidFill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26" name="椭圆 125"/>
                <p:cNvSpPr/>
                <p:nvPr/>
              </p:nvSpPr>
              <p:spPr bwMode="auto">
                <a:xfrm>
                  <a:off x="1600015" y="2741801"/>
                  <a:ext cx="221942" cy="221942"/>
                </a:xfrm>
                <a:prstGeom prst="ellipse">
                  <a:avLst/>
                </a:prstGeom>
                <a:noFill/>
                <a:ln w="19050">
                  <a:solidFill>
                    <a:srgbClr val="3D849E"/>
                  </a:solidFill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27" name="椭圆 126"/>
                <p:cNvSpPr/>
                <p:nvPr/>
              </p:nvSpPr>
              <p:spPr bwMode="auto">
                <a:xfrm>
                  <a:off x="1600015" y="1957771"/>
                  <a:ext cx="221942" cy="221942"/>
                </a:xfrm>
                <a:prstGeom prst="ellipse">
                  <a:avLst/>
                </a:prstGeom>
                <a:noFill/>
                <a:ln w="19050">
                  <a:solidFill>
                    <a:srgbClr val="3D849E"/>
                  </a:solidFill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28" name="椭圆 127"/>
                <p:cNvSpPr/>
                <p:nvPr/>
              </p:nvSpPr>
              <p:spPr bwMode="auto">
                <a:xfrm>
                  <a:off x="1600015" y="2349786"/>
                  <a:ext cx="221942" cy="221942"/>
                </a:xfrm>
                <a:prstGeom prst="ellipse">
                  <a:avLst/>
                </a:prstGeom>
                <a:noFill/>
                <a:ln w="19050">
                  <a:solidFill>
                    <a:srgbClr val="3D849E"/>
                  </a:solidFill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29" name="椭圆 128"/>
                <p:cNvSpPr/>
                <p:nvPr/>
              </p:nvSpPr>
              <p:spPr bwMode="auto">
                <a:xfrm>
                  <a:off x="1600015" y="3133816"/>
                  <a:ext cx="221942" cy="221942"/>
                </a:xfrm>
                <a:prstGeom prst="ellipse">
                  <a:avLst/>
                </a:prstGeom>
                <a:noFill/>
                <a:ln w="19050">
                  <a:solidFill>
                    <a:srgbClr val="3D849E"/>
                  </a:solidFill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30" name="椭圆 129"/>
                <p:cNvSpPr/>
                <p:nvPr/>
              </p:nvSpPr>
              <p:spPr bwMode="auto">
                <a:xfrm>
                  <a:off x="2209615" y="2552329"/>
                  <a:ext cx="221942" cy="221942"/>
                </a:xfrm>
                <a:prstGeom prst="ellipse">
                  <a:avLst/>
                </a:prstGeom>
                <a:noFill/>
                <a:ln w="19050">
                  <a:solidFill>
                    <a:srgbClr val="3D849E"/>
                  </a:solidFill>
                  <a:miter lim="800000"/>
                  <a:headEnd/>
                  <a:tailEnd/>
                </a:ln>
              </p:spPr>
              <p:txBody>
                <a:bodyPr lIns="9000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3200" dirty="0" smtClean="0">
                    <a:solidFill>
                      <a:srgbClr val="8000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itchFamily="2" charset="-122"/>
                    <a:ea typeface="黑体" pitchFamily="2" charset="-122"/>
                  </a:endParaRPr>
                </a:p>
              </p:txBody>
            </p:sp>
            <p:cxnSp>
              <p:nvCxnSpPr>
                <p:cNvPr id="131" name="直接连接符 130"/>
                <p:cNvCxnSpPr>
                  <a:stCxn id="123" idx="6"/>
                  <a:endCxn id="127" idx="2"/>
                </p:cNvCxnSpPr>
                <p:nvPr/>
              </p:nvCxnSpPr>
              <p:spPr bwMode="auto">
                <a:xfrm flipV="1">
                  <a:off x="1269507" y="2068742"/>
                  <a:ext cx="330508" cy="235013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2" name="直接连接符 131"/>
                <p:cNvCxnSpPr>
                  <a:stCxn id="123" idx="6"/>
                  <a:endCxn id="128" idx="2"/>
                </p:cNvCxnSpPr>
                <p:nvPr/>
              </p:nvCxnSpPr>
              <p:spPr bwMode="auto">
                <a:xfrm>
                  <a:off x="1269507" y="2303755"/>
                  <a:ext cx="330508" cy="157002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3" name="直接连接符 132"/>
                <p:cNvCxnSpPr>
                  <a:stCxn id="123" idx="6"/>
                  <a:endCxn id="126" idx="2"/>
                </p:cNvCxnSpPr>
                <p:nvPr/>
              </p:nvCxnSpPr>
              <p:spPr bwMode="auto">
                <a:xfrm>
                  <a:off x="1269507" y="2303755"/>
                  <a:ext cx="330508" cy="549017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4" name="直接连接符 133"/>
                <p:cNvCxnSpPr>
                  <a:endCxn id="129" idx="2"/>
                </p:cNvCxnSpPr>
                <p:nvPr/>
              </p:nvCxnSpPr>
              <p:spPr bwMode="auto">
                <a:xfrm>
                  <a:off x="1269507" y="2317316"/>
                  <a:ext cx="330508" cy="927471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5" name="直接连接符 134"/>
                <p:cNvCxnSpPr>
                  <a:stCxn id="125" idx="6"/>
                  <a:endCxn id="127" idx="2"/>
                </p:cNvCxnSpPr>
                <p:nvPr/>
              </p:nvCxnSpPr>
              <p:spPr bwMode="auto">
                <a:xfrm flipV="1">
                  <a:off x="1269507" y="2068742"/>
                  <a:ext cx="330508" cy="594558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6" name="直接连接符 135"/>
                <p:cNvCxnSpPr>
                  <a:stCxn id="125" idx="6"/>
                  <a:endCxn id="128" idx="2"/>
                </p:cNvCxnSpPr>
                <p:nvPr/>
              </p:nvCxnSpPr>
              <p:spPr bwMode="auto">
                <a:xfrm flipV="1">
                  <a:off x="1269507" y="2460757"/>
                  <a:ext cx="330508" cy="202543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7" name="直接连接符 136"/>
                <p:cNvCxnSpPr>
                  <a:stCxn id="125" idx="6"/>
                  <a:endCxn id="126" idx="2"/>
                </p:cNvCxnSpPr>
                <p:nvPr/>
              </p:nvCxnSpPr>
              <p:spPr bwMode="auto">
                <a:xfrm>
                  <a:off x="1269507" y="2663300"/>
                  <a:ext cx="330508" cy="189472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8" name="直接连接符 137"/>
                <p:cNvCxnSpPr>
                  <a:stCxn id="125" idx="6"/>
                  <a:endCxn id="129" idx="2"/>
                </p:cNvCxnSpPr>
                <p:nvPr/>
              </p:nvCxnSpPr>
              <p:spPr bwMode="auto">
                <a:xfrm>
                  <a:off x="1269507" y="2663300"/>
                  <a:ext cx="330508" cy="581487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9" name="直接连接符 138"/>
                <p:cNvCxnSpPr>
                  <a:stCxn id="124" idx="6"/>
                  <a:endCxn id="128" idx="2"/>
                </p:cNvCxnSpPr>
                <p:nvPr/>
              </p:nvCxnSpPr>
              <p:spPr bwMode="auto">
                <a:xfrm flipV="1">
                  <a:off x="1269507" y="2460757"/>
                  <a:ext cx="330508" cy="562088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0" name="直接连接符 139"/>
                <p:cNvCxnSpPr>
                  <a:stCxn id="124" idx="6"/>
                  <a:endCxn id="126" idx="2"/>
                </p:cNvCxnSpPr>
                <p:nvPr/>
              </p:nvCxnSpPr>
              <p:spPr bwMode="auto">
                <a:xfrm flipV="1">
                  <a:off x="1269507" y="2852772"/>
                  <a:ext cx="330508" cy="170073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1" name="直接连接符 140"/>
                <p:cNvCxnSpPr>
                  <a:stCxn id="124" idx="6"/>
                  <a:endCxn id="127" idx="2"/>
                </p:cNvCxnSpPr>
                <p:nvPr/>
              </p:nvCxnSpPr>
              <p:spPr bwMode="auto">
                <a:xfrm flipV="1">
                  <a:off x="1269507" y="2068742"/>
                  <a:ext cx="330508" cy="954103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2" name="直接连接符 141"/>
                <p:cNvCxnSpPr>
                  <a:stCxn id="124" idx="6"/>
                  <a:endCxn id="129" idx="2"/>
                </p:cNvCxnSpPr>
                <p:nvPr/>
              </p:nvCxnSpPr>
              <p:spPr bwMode="auto">
                <a:xfrm>
                  <a:off x="1269507" y="3022845"/>
                  <a:ext cx="330508" cy="221942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3" name="直接连接符 142"/>
                <p:cNvCxnSpPr>
                  <a:stCxn id="127" idx="6"/>
                  <a:endCxn id="130" idx="2"/>
                </p:cNvCxnSpPr>
                <p:nvPr/>
              </p:nvCxnSpPr>
              <p:spPr bwMode="auto">
                <a:xfrm>
                  <a:off x="1821957" y="2068742"/>
                  <a:ext cx="387658" cy="594558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4" name="直接连接符 143"/>
                <p:cNvCxnSpPr>
                  <a:stCxn id="128" idx="6"/>
                  <a:endCxn id="130" idx="2"/>
                </p:cNvCxnSpPr>
                <p:nvPr/>
              </p:nvCxnSpPr>
              <p:spPr bwMode="auto">
                <a:xfrm>
                  <a:off x="1821957" y="2460757"/>
                  <a:ext cx="387658" cy="202543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5" name="直接连接符 144"/>
                <p:cNvCxnSpPr>
                  <a:stCxn id="126" idx="6"/>
                  <a:endCxn id="130" idx="2"/>
                </p:cNvCxnSpPr>
                <p:nvPr/>
              </p:nvCxnSpPr>
              <p:spPr bwMode="auto">
                <a:xfrm flipV="1">
                  <a:off x="1821957" y="2663300"/>
                  <a:ext cx="387658" cy="189472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6" name="直接连接符 145"/>
                <p:cNvCxnSpPr>
                  <a:stCxn id="129" idx="6"/>
                  <a:endCxn id="130" idx="2"/>
                </p:cNvCxnSpPr>
                <p:nvPr/>
              </p:nvCxnSpPr>
              <p:spPr bwMode="auto">
                <a:xfrm flipV="1">
                  <a:off x="1821957" y="2663300"/>
                  <a:ext cx="387658" cy="581487"/>
                </a:xfrm>
                <a:prstGeom prst="line">
                  <a:avLst/>
                </a:prstGeom>
                <a:solidFill>
                  <a:schemeClr val="tx1"/>
                </a:solidFill>
                <a:ln w="19050" cap="flat" cmpd="sng" algn="ctr">
                  <a:solidFill>
                    <a:srgbClr val="3D849E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122" name="直接箭头连接符 121"/>
              <p:cNvCxnSpPr>
                <a:endCxn id="125" idx="2"/>
              </p:cNvCxnSpPr>
              <p:nvPr/>
            </p:nvCxnSpPr>
            <p:spPr bwMode="auto">
              <a:xfrm flipV="1">
                <a:off x="3433034" y="3054116"/>
                <a:ext cx="1194865" cy="2"/>
              </a:xfrm>
              <a:prstGeom prst="straightConnector1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sp>
          <p:nvSpPr>
            <p:cNvPr id="171" name="圆角矩形 170"/>
            <p:cNvSpPr/>
            <p:nvPr/>
          </p:nvSpPr>
          <p:spPr bwMode="auto">
            <a:xfrm>
              <a:off x="1355373" y="4196774"/>
              <a:ext cx="3823941" cy="804355"/>
            </a:xfrm>
            <a:prstGeom prst="roundRect">
              <a:avLst/>
            </a:prstGeom>
            <a:noFill/>
            <a:ln w="28575">
              <a:solidFill>
                <a:srgbClr val="000000"/>
              </a:solidFill>
              <a:prstDash val="sysDot"/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cxnSp>
          <p:nvCxnSpPr>
            <p:cNvPr id="172" name="直接连接符 171"/>
            <p:cNvCxnSpPr/>
            <p:nvPr/>
          </p:nvCxnSpPr>
          <p:spPr bwMode="auto">
            <a:xfrm flipH="1" flipV="1">
              <a:off x="1486704" y="5023450"/>
              <a:ext cx="889610" cy="39212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miter lim="800000"/>
              <a:headEnd/>
              <a:tailEnd/>
            </a:ln>
          </p:spPr>
        </p:cxnSp>
        <p:cxnSp>
          <p:nvCxnSpPr>
            <p:cNvPr id="173" name="直接连接符 172"/>
            <p:cNvCxnSpPr/>
            <p:nvPr/>
          </p:nvCxnSpPr>
          <p:spPr bwMode="auto">
            <a:xfrm flipV="1">
              <a:off x="3166317" y="4960638"/>
              <a:ext cx="2012996" cy="42734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miter lim="800000"/>
              <a:headEnd/>
              <a:tailEnd/>
            </a:ln>
          </p:spPr>
        </p:cxnSp>
        <p:sp>
          <p:nvSpPr>
            <p:cNvPr id="181" name="矩形 180"/>
            <p:cNvSpPr/>
            <p:nvPr/>
          </p:nvSpPr>
          <p:spPr>
            <a:xfrm>
              <a:off x="555702" y="6359155"/>
              <a:ext cx="90281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全局模型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矩形 181"/>
            <p:cNvSpPr/>
            <p:nvPr/>
          </p:nvSpPr>
          <p:spPr>
            <a:xfrm>
              <a:off x="5425752" y="6359155"/>
              <a:ext cx="90281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全局模型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83" name="对象 1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7894085"/>
                </p:ext>
              </p:extLst>
            </p:nvPr>
          </p:nvGraphicFramePr>
          <p:xfrm>
            <a:off x="3798303" y="5311276"/>
            <a:ext cx="1014732" cy="431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82" name="Equation" r:id="rId3" imgW="1015920" imgH="431640" progId="Equation.DSMT4">
                    <p:embed/>
                  </p:oleObj>
                </mc:Choice>
                <mc:Fallback>
                  <p:oleObj name="Equation" r:id="rId3" imgW="1015920" imgH="431640" progId="Equation.DSMT4">
                    <p:embed/>
                    <p:pic>
                      <p:nvPicPr>
                        <p:cNvPr id="216" name="对象 21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98303" y="5311276"/>
                          <a:ext cx="1014732" cy="43110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43043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上行链路量化方案设计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22420" y="1444146"/>
            <a:ext cx="490711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基本量化流程</a:t>
            </a:r>
            <a:r>
              <a:rPr lang="en-US" altLang="zh-CN" sz="24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——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黑体" pitchFamily="49" charset="-122"/>
              </a:rPr>
              <a:t>“怎么传？”</a:t>
            </a:r>
            <a:endParaRPr lang="zh-CN" altLang="en-US" sz="2000" dirty="0" smtClean="0">
              <a:solidFill>
                <a:srgbClr val="C00000"/>
              </a:solidFill>
              <a:latin typeface="微软雅黑" panose="020B0503020204020204" pitchFamily="34" charset="-122"/>
              <a:ea typeface="黑体" pitchFamily="49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294882" y="2035708"/>
            <a:ext cx="6554237" cy="1410623"/>
            <a:chOff x="711200" y="2103491"/>
            <a:chExt cx="7962900" cy="1713800"/>
          </a:xfrm>
        </p:grpSpPr>
        <p:sp>
          <p:nvSpPr>
            <p:cNvPr id="2" name="圆角矩形 1"/>
            <p:cNvSpPr/>
            <p:nvPr/>
          </p:nvSpPr>
          <p:spPr bwMode="auto">
            <a:xfrm>
              <a:off x="869950" y="2681968"/>
              <a:ext cx="1270000" cy="6223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/>
              <a:r>
                <a:rPr lang="zh-CN" altLang="en-US" sz="2000" dirty="0">
                  <a:ea typeface="黑体" pitchFamily="2" charset="-122"/>
                </a:rPr>
                <a:t>放大</a:t>
              </a:r>
              <a:endParaRPr lang="zh-CN" altLang="en-US" sz="2000" dirty="0" smtClean="0">
                <a:ea typeface="黑体" pitchFamily="2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 bwMode="auto">
            <a:xfrm>
              <a:off x="2865438" y="2681968"/>
              <a:ext cx="1270000" cy="6223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/>
              <a:r>
                <a:rPr lang="zh-CN" altLang="en-US" sz="2000" dirty="0" smtClean="0">
                  <a:ea typeface="黑体" pitchFamily="2" charset="-122"/>
                </a:rPr>
                <a:t>取整</a:t>
              </a:r>
            </a:p>
          </p:txBody>
        </p:sp>
        <p:sp>
          <p:nvSpPr>
            <p:cNvPr id="7" name="圆角矩形 6"/>
            <p:cNvSpPr/>
            <p:nvPr/>
          </p:nvSpPr>
          <p:spPr bwMode="auto">
            <a:xfrm>
              <a:off x="4860925" y="2681968"/>
              <a:ext cx="1270000" cy="6223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/>
              <a:r>
                <a:rPr lang="zh-CN" altLang="en-US" sz="2000" dirty="0">
                  <a:ea typeface="黑体" pitchFamily="2" charset="-122"/>
                </a:rPr>
                <a:t>限幅</a:t>
              </a:r>
              <a:endParaRPr lang="zh-CN" altLang="en-US" sz="2000" dirty="0" smtClean="0">
                <a:ea typeface="黑体" pitchFamily="2" charset="-122"/>
              </a:endParaRPr>
            </a:p>
          </p:txBody>
        </p:sp>
        <p:sp>
          <p:nvSpPr>
            <p:cNvPr id="8" name="圆角矩形 7"/>
            <p:cNvSpPr/>
            <p:nvPr/>
          </p:nvSpPr>
          <p:spPr bwMode="auto">
            <a:xfrm>
              <a:off x="7118350" y="2681968"/>
              <a:ext cx="1270000" cy="6223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8000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/>
              <a:r>
                <a:rPr lang="zh-CN" altLang="en-US" sz="2000" dirty="0" smtClean="0">
                  <a:solidFill>
                    <a:srgbClr val="008000"/>
                  </a:solidFill>
                  <a:ea typeface="黑体" pitchFamily="2" charset="-122"/>
                </a:rPr>
                <a:t>缩小</a:t>
              </a:r>
            </a:p>
          </p:txBody>
        </p:sp>
        <p:cxnSp>
          <p:nvCxnSpPr>
            <p:cNvPr id="10" name="直接箭头连接符 9"/>
            <p:cNvCxnSpPr>
              <a:stCxn id="2" idx="3"/>
              <a:endCxn id="6" idx="1"/>
            </p:cNvCxnSpPr>
            <p:nvPr/>
          </p:nvCxnSpPr>
          <p:spPr bwMode="auto">
            <a:xfrm>
              <a:off x="2139950" y="2993118"/>
              <a:ext cx="725488" cy="0"/>
            </a:xfrm>
            <a:prstGeom prst="straightConnector1">
              <a:avLst/>
            </a:prstGeom>
            <a:solidFill>
              <a:schemeClr val="tx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cxnSp>
          <p:nvCxnSpPr>
            <p:cNvPr id="11" name="直接箭头连接符 10"/>
            <p:cNvCxnSpPr>
              <a:stCxn id="6" idx="3"/>
            </p:cNvCxnSpPr>
            <p:nvPr/>
          </p:nvCxnSpPr>
          <p:spPr bwMode="auto">
            <a:xfrm>
              <a:off x="4135438" y="2993118"/>
              <a:ext cx="725488" cy="0"/>
            </a:xfrm>
            <a:prstGeom prst="straightConnector1">
              <a:avLst/>
            </a:prstGeom>
            <a:solidFill>
              <a:schemeClr val="tx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cxnSp>
          <p:nvCxnSpPr>
            <p:cNvPr id="12" name="直接箭头连接符 11"/>
            <p:cNvCxnSpPr>
              <a:stCxn id="7" idx="3"/>
              <a:endCxn id="8" idx="1"/>
            </p:cNvCxnSpPr>
            <p:nvPr/>
          </p:nvCxnSpPr>
          <p:spPr bwMode="auto">
            <a:xfrm>
              <a:off x="6130925" y="2993118"/>
              <a:ext cx="987425" cy="0"/>
            </a:xfrm>
            <a:prstGeom prst="straightConnector1">
              <a:avLst/>
            </a:prstGeom>
            <a:solidFill>
              <a:schemeClr val="tx1"/>
            </a:solidFill>
            <a:ln w="28575" cap="flat" cmpd="sng" algn="ctr">
              <a:solidFill>
                <a:schemeClr val="accent5">
                  <a:lumMod val="50000"/>
                </a:schemeClr>
              </a:solidFill>
              <a:prstDash val="sysDash"/>
              <a:round/>
              <a:headEnd type="none" w="med" len="med"/>
              <a:tailEnd type="stealth" w="lg" len="lg"/>
            </a:ln>
            <a:effectLst/>
          </p:spPr>
        </p:cxnSp>
        <p:sp>
          <p:nvSpPr>
            <p:cNvPr id="18" name="圆角矩形 17"/>
            <p:cNvSpPr/>
            <p:nvPr/>
          </p:nvSpPr>
          <p:spPr bwMode="auto">
            <a:xfrm>
              <a:off x="711200" y="2104118"/>
              <a:ext cx="5822950" cy="1713173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9" name="圆角矩形 18"/>
            <p:cNvSpPr/>
            <p:nvPr/>
          </p:nvSpPr>
          <p:spPr bwMode="auto">
            <a:xfrm>
              <a:off x="6856412" y="2104118"/>
              <a:ext cx="1817688" cy="1713173"/>
            </a:xfrm>
            <a:prstGeom prst="roundRect">
              <a:avLst/>
            </a:prstGeom>
            <a:noFill/>
            <a:ln w="19050">
              <a:solidFill>
                <a:srgbClr val="008000"/>
              </a:solidFill>
              <a:prstDash val="sysDot"/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840201"/>
                </p:ext>
              </p:extLst>
            </p:nvPr>
          </p:nvGraphicFramePr>
          <p:xfrm>
            <a:off x="989939" y="3362776"/>
            <a:ext cx="1030022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83" name="Equation" r:id="rId5" imgW="647640" imgH="228600" progId="Equation.DSMT4">
                    <p:embed/>
                  </p:oleObj>
                </mc:Choice>
                <mc:Fallback>
                  <p:oleObj name="Equation" r:id="rId5" imgW="647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89939" y="3362776"/>
                          <a:ext cx="1030022" cy="363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6305794"/>
                </p:ext>
              </p:extLst>
            </p:nvPr>
          </p:nvGraphicFramePr>
          <p:xfrm>
            <a:off x="2349501" y="2629580"/>
            <a:ext cx="303212" cy="363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84" name="Equation" r:id="rId7" imgW="190440" imgH="228600" progId="Equation.DSMT4">
                    <p:embed/>
                  </p:oleObj>
                </mc:Choice>
                <mc:Fallback>
                  <p:oleObj name="Equation" r:id="rId7" imgW="190440" imgH="228600" progId="Equation.DSMT4">
                    <p:embed/>
                    <p:pic>
                      <p:nvPicPr>
                        <p:cNvPr id="24" name="对象 2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49501" y="2629580"/>
                          <a:ext cx="303212" cy="3635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5187149"/>
                </p:ext>
              </p:extLst>
            </p:nvPr>
          </p:nvGraphicFramePr>
          <p:xfrm>
            <a:off x="2924969" y="3362776"/>
            <a:ext cx="1150938" cy="363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85" name="Equation" r:id="rId9" imgW="723600" imgH="228600" progId="Equation.DSMT4">
                    <p:embed/>
                  </p:oleObj>
                </mc:Choice>
                <mc:Fallback>
                  <p:oleObj name="Equation" r:id="rId9" imgW="723600" imgH="228600" progId="Equation.DSMT4">
                    <p:embed/>
                    <p:pic>
                      <p:nvPicPr>
                        <p:cNvPr id="24" name="对象 2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924969" y="3362776"/>
                          <a:ext cx="1150938" cy="3635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4079706"/>
                </p:ext>
              </p:extLst>
            </p:nvPr>
          </p:nvGraphicFramePr>
          <p:xfrm>
            <a:off x="4352133" y="2629580"/>
            <a:ext cx="303212" cy="363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86" name="Equation" r:id="rId11" imgW="190440" imgH="228600" progId="Equation.DSMT4">
                    <p:embed/>
                  </p:oleObj>
                </mc:Choice>
                <mc:Fallback>
                  <p:oleObj name="Equation" r:id="rId11" imgW="190440" imgH="228600" progId="Equation.DSMT4">
                    <p:embed/>
                    <p:pic>
                      <p:nvPicPr>
                        <p:cNvPr id="25" name="对象 2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352133" y="2629580"/>
                          <a:ext cx="303212" cy="3635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4031065"/>
                </p:ext>
              </p:extLst>
            </p:nvPr>
          </p:nvGraphicFramePr>
          <p:xfrm>
            <a:off x="4526756" y="3368692"/>
            <a:ext cx="1938338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87" name="Equation" r:id="rId13" imgW="1218960" imgH="241200" progId="Equation.DSMT4">
                    <p:embed/>
                  </p:oleObj>
                </mc:Choice>
                <mc:Fallback>
                  <p:oleObj name="Equation" r:id="rId13" imgW="1218960" imgH="241200" progId="Equation.DSMT4">
                    <p:embed/>
                    <p:pic>
                      <p:nvPicPr>
                        <p:cNvPr id="26" name="对象 2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526756" y="3368692"/>
                          <a:ext cx="1938338" cy="3841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4909370"/>
                </p:ext>
              </p:extLst>
            </p:nvPr>
          </p:nvGraphicFramePr>
          <p:xfrm>
            <a:off x="6566696" y="2629580"/>
            <a:ext cx="284163" cy="363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88" name="Equation" r:id="rId15" imgW="177480" imgH="228600" progId="Equation.DSMT4">
                    <p:embed/>
                  </p:oleObj>
                </mc:Choice>
                <mc:Fallback>
                  <p:oleObj name="Equation" r:id="rId15" imgW="177480" imgH="228600" progId="Equation.DSMT4">
                    <p:embed/>
                    <p:pic>
                      <p:nvPicPr>
                        <p:cNvPr id="27" name="对象 26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566696" y="2629580"/>
                          <a:ext cx="284163" cy="3635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1661139"/>
                </p:ext>
              </p:extLst>
            </p:nvPr>
          </p:nvGraphicFramePr>
          <p:xfrm>
            <a:off x="7231062" y="3362776"/>
            <a:ext cx="1068388" cy="363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89" name="Equation" r:id="rId17" imgW="672840" imgH="228600" progId="Equation.DSMT4">
                    <p:embed/>
                  </p:oleObj>
                </mc:Choice>
                <mc:Fallback>
                  <p:oleObj name="Equation" r:id="rId17" imgW="672840" imgH="228600" progId="Equation.DSMT4">
                    <p:embed/>
                    <p:pic>
                      <p:nvPicPr>
                        <p:cNvPr id="24" name="对象 2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231062" y="3362776"/>
                          <a:ext cx="1068388" cy="3635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文本框 30"/>
            <p:cNvSpPr txBox="1"/>
            <p:nvPr/>
          </p:nvSpPr>
          <p:spPr>
            <a:xfrm>
              <a:off x="3308050" y="2103491"/>
              <a:ext cx="11128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+mj-ea"/>
                  <a:ea typeface="+mj-ea"/>
                </a:rPr>
                <a:t>发射机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208853" y="2103491"/>
              <a:ext cx="11128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8000"/>
                  </a:solidFill>
                  <a:latin typeface="+mj-ea"/>
                  <a:ea typeface="+mj-ea"/>
                </a:rPr>
                <a:t>接收机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117975" y="2998141"/>
              <a:ext cx="6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08936" y="3321698"/>
            <a:ext cx="6716312" cy="797547"/>
            <a:chOff x="308936" y="3321698"/>
            <a:chExt cx="6716312" cy="797547"/>
          </a:xfrm>
        </p:grpSpPr>
        <p:sp>
          <p:nvSpPr>
            <p:cNvPr id="9" name="矩形 8"/>
            <p:cNvSpPr/>
            <p:nvPr/>
          </p:nvSpPr>
          <p:spPr>
            <a:xfrm>
              <a:off x="308936" y="3780691"/>
              <a:ext cx="347563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引入量化增益 </a:t>
              </a:r>
              <a:r>
                <a:rPr lang="en-US" altLang="zh-CN" sz="16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zh-CN" altLang="en-US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：方便适配参数范围</a:t>
              </a:r>
            </a:p>
          </p:txBody>
        </p:sp>
        <p:cxnSp>
          <p:nvCxnSpPr>
            <p:cNvPr id="14" name="直接连接符 13"/>
            <p:cNvCxnSpPr/>
            <p:nvPr/>
          </p:nvCxnSpPr>
          <p:spPr bwMode="auto">
            <a:xfrm flipH="1">
              <a:off x="1611086" y="3321698"/>
              <a:ext cx="337129" cy="458993"/>
            </a:xfrm>
            <a:prstGeom prst="line">
              <a:avLst/>
            </a:prstGeom>
            <a:solidFill>
              <a:schemeClr val="tx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 bwMode="auto">
            <a:xfrm flipH="1">
              <a:off x="1611086" y="3321698"/>
              <a:ext cx="5414162" cy="458993"/>
            </a:xfrm>
            <a:prstGeom prst="line">
              <a:avLst/>
            </a:prstGeom>
            <a:solidFill>
              <a:schemeClr val="tx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5" name="文本框 54"/>
          <p:cNvSpPr txBox="1"/>
          <p:nvPr/>
        </p:nvSpPr>
        <p:spPr>
          <a:xfrm>
            <a:off x="722420" y="3509644"/>
            <a:ext cx="490711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差分传输方案</a:t>
            </a:r>
            <a:r>
              <a:rPr lang="en-US" altLang="zh-CN" sz="24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——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黑体" pitchFamily="49" charset="-122"/>
              </a:rPr>
              <a:t>“传什么？”</a:t>
            </a:r>
            <a:endParaRPr lang="zh-CN" altLang="en-US" sz="2000" dirty="0" smtClean="0">
              <a:solidFill>
                <a:srgbClr val="C00000"/>
              </a:solidFill>
              <a:latin typeface="微软雅黑" panose="020B0503020204020204" pitchFamily="34" charset="-122"/>
              <a:ea typeface="黑体" pitchFamily="49" charset="-122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3612795" y="4361830"/>
            <a:ext cx="270003" cy="270003"/>
            <a:chOff x="6955113" y="2883875"/>
            <a:chExt cx="393986" cy="393986"/>
          </a:xfrm>
        </p:grpSpPr>
        <p:sp>
          <p:nvSpPr>
            <p:cNvPr id="175" name="椭圆 174"/>
            <p:cNvSpPr/>
            <p:nvPr/>
          </p:nvSpPr>
          <p:spPr bwMode="auto">
            <a:xfrm>
              <a:off x="6955113" y="2883875"/>
              <a:ext cx="393986" cy="39398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6" name="减号 175"/>
            <p:cNvSpPr/>
            <p:nvPr/>
          </p:nvSpPr>
          <p:spPr bwMode="auto">
            <a:xfrm>
              <a:off x="6992235" y="3013806"/>
              <a:ext cx="317398" cy="133018"/>
            </a:xfrm>
            <a:prstGeom prst="mathMinus">
              <a:avLst/>
            </a:prstGeom>
            <a:solidFill>
              <a:srgbClr val="FF0000"/>
            </a:solidFill>
            <a:ln w="38100">
              <a:noFill/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</p:grpSp>
      <p:cxnSp>
        <p:nvCxnSpPr>
          <p:cNvPr id="177" name="肘形连接符 176"/>
          <p:cNvCxnSpPr>
            <a:stCxn id="153" idx="4"/>
            <a:endCxn id="175" idx="4"/>
          </p:cNvCxnSpPr>
          <p:nvPr/>
        </p:nvCxnSpPr>
        <p:spPr bwMode="auto">
          <a:xfrm rot="5400000" flipH="1" flipV="1">
            <a:off x="2772399" y="3747573"/>
            <a:ext cx="91138" cy="1859658"/>
          </a:xfrm>
          <a:prstGeom prst="bentConnector3">
            <a:avLst>
              <a:gd name="adj1" fmla="val -197529"/>
            </a:avLst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178" name="对象 1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161742"/>
              </p:ext>
            </p:extLst>
          </p:nvPr>
        </p:nvGraphicFramePr>
        <p:xfrm>
          <a:off x="3855752" y="4709934"/>
          <a:ext cx="1075990" cy="29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90" name="Equation" r:id="rId19" imgW="876240" imgH="241200" progId="Equation.DSMT4">
                  <p:embed/>
                </p:oleObj>
              </mc:Choice>
              <mc:Fallback>
                <p:oleObj name="Equation" r:id="rId19" imgW="876240" imgH="241200" progId="Equation.DSMT4">
                  <p:embed/>
                  <p:pic>
                    <p:nvPicPr>
                      <p:cNvPr id="202" name="对象 20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55752" y="4709934"/>
                        <a:ext cx="1075990" cy="296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0" name="肘形连接符 179"/>
          <p:cNvCxnSpPr>
            <a:stCxn id="63" idx="4"/>
            <a:endCxn id="179" idx="4"/>
          </p:cNvCxnSpPr>
          <p:nvPr/>
        </p:nvCxnSpPr>
        <p:spPr bwMode="auto">
          <a:xfrm rot="5400000" flipH="1" flipV="1">
            <a:off x="3265629" y="4409954"/>
            <a:ext cx="184966" cy="3642402"/>
          </a:xfrm>
          <a:prstGeom prst="bentConnector3">
            <a:avLst>
              <a:gd name="adj1" fmla="val -222058"/>
            </a:avLst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3" name="矩形 192"/>
          <p:cNvSpPr/>
          <p:nvPr/>
        </p:nvSpPr>
        <p:spPr>
          <a:xfrm>
            <a:off x="6043469" y="4040675"/>
            <a:ext cx="2612796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优势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70C0"/>
                </a:solidFill>
                <a:latin typeface="Times New Roman" panose="02020603050405020304" pitchFamily="18" charset="0"/>
                <a:ea typeface="黑体" pitchFamily="49" charset="-122"/>
              </a:rPr>
              <a:t>有效降低参数动态范围</a:t>
            </a:r>
            <a:endParaRPr lang="en-US" altLang="zh-CN" sz="1600" dirty="0">
              <a:solidFill>
                <a:srgbClr val="0070C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70C0"/>
                </a:solidFill>
                <a:latin typeface="Times New Roman" panose="02020603050405020304" pitchFamily="18" charset="0"/>
                <a:ea typeface="黑体" pitchFamily="49" charset="-122"/>
              </a:rPr>
              <a:t>具有趋于收敛的特性</a:t>
            </a:r>
          </a:p>
        </p:txBody>
      </p:sp>
      <p:sp>
        <p:nvSpPr>
          <p:cNvPr id="179" name="椭圆 178"/>
          <p:cNvSpPr/>
          <p:nvPr/>
        </p:nvSpPr>
        <p:spPr bwMode="auto">
          <a:xfrm>
            <a:off x="5044312" y="5868668"/>
            <a:ext cx="270003" cy="270003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lIns="90000" tIns="0" rIns="72000" rtlCol="0" anchor="ctr"/>
          <a:lstStyle/>
          <a:p>
            <a:pPr algn="ctr"/>
            <a:r>
              <a:rPr lang="en-US" altLang="zh-CN" sz="32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+</a:t>
            </a:r>
            <a:endParaRPr lang="zh-CN" altLang="en-US" sz="3200" dirty="0" smtClean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84" name="对象 1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469052"/>
              </p:ext>
            </p:extLst>
          </p:nvPr>
        </p:nvGraphicFramePr>
        <p:xfrm>
          <a:off x="5241699" y="5283243"/>
          <a:ext cx="1306415" cy="431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91" name="Equation" r:id="rId21" imgW="1307880" imgH="431640" progId="Equation.DSMT4">
                  <p:embed/>
                </p:oleObj>
              </mc:Choice>
              <mc:Fallback>
                <p:oleObj name="Equation" r:id="rId21" imgW="1307880" imgH="431640" progId="Equation.DSMT4">
                  <p:embed/>
                  <p:pic>
                    <p:nvPicPr>
                      <p:cNvPr id="217" name="对象 21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241699" y="5283243"/>
                        <a:ext cx="1306415" cy="4313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" name="虚尾箭头 184"/>
          <p:cNvSpPr/>
          <p:nvPr/>
        </p:nvSpPr>
        <p:spPr bwMode="auto">
          <a:xfrm>
            <a:off x="4864847" y="5398986"/>
            <a:ext cx="325041" cy="196406"/>
          </a:xfrm>
          <a:prstGeom prst="stripedRightArrow">
            <a:avLst/>
          </a:prstGeom>
          <a:solidFill>
            <a:srgbClr val="FF0000"/>
          </a:solidFill>
          <a:ln w="6350">
            <a:noFill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064361" y="3321698"/>
            <a:ext cx="4820505" cy="3034652"/>
            <a:chOff x="4064361" y="3321698"/>
            <a:chExt cx="4820505" cy="3034652"/>
          </a:xfrm>
        </p:grpSpPr>
        <p:cxnSp>
          <p:nvCxnSpPr>
            <p:cNvPr id="34" name="直接连接符 33"/>
            <p:cNvCxnSpPr>
              <a:endCxn id="17" idx="0"/>
            </p:cNvCxnSpPr>
            <p:nvPr/>
          </p:nvCxnSpPr>
          <p:spPr bwMode="auto">
            <a:xfrm>
              <a:off x="4064361" y="3321698"/>
              <a:ext cx="2680883" cy="476887"/>
            </a:xfrm>
            <a:prstGeom prst="line">
              <a:avLst/>
            </a:prstGeom>
            <a:solidFill>
              <a:schemeClr val="tx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矩形 16"/>
            <p:cNvSpPr/>
            <p:nvPr/>
          </p:nvSpPr>
          <p:spPr bwMode="auto">
            <a:xfrm>
              <a:off x="4605622" y="3798585"/>
              <a:ext cx="4279244" cy="255776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graphicFrame>
          <p:nvGraphicFramePr>
            <p:cNvPr id="3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6412519"/>
                </p:ext>
              </p:extLst>
            </p:nvPr>
          </p:nvGraphicFramePr>
          <p:xfrm>
            <a:off x="5211009" y="4333425"/>
            <a:ext cx="2683327" cy="804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92" name="Equation" r:id="rId23" imgW="1828800" imgH="533160" progId="Equation.DSMT4">
                    <p:embed/>
                  </p:oleObj>
                </mc:Choice>
                <mc:Fallback>
                  <p:oleObj name="Equation" r:id="rId23" imgW="1828800" imgH="5331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211009" y="4333425"/>
                          <a:ext cx="2683327" cy="8046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2" name="组合 51"/>
            <p:cNvGrpSpPr/>
            <p:nvPr/>
          </p:nvGrpSpPr>
          <p:grpSpPr>
            <a:xfrm>
              <a:off x="4743220" y="5198774"/>
              <a:ext cx="3971760" cy="1157576"/>
              <a:chOff x="4766360" y="5338648"/>
              <a:chExt cx="3971760" cy="1125844"/>
            </a:xfrm>
          </p:grpSpPr>
          <p:cxnSp>
            <p:nvCxnSpPr>
              <p:cNvPr id="37" name="直接连接符 36"/>
              <p:cNvCxnSpPr/>
              <p:nvPr/>
            </p:nvCxnSpPr>
            <p:spPr bwMode="auto">
              <a:xfrm>
                <a:off x="4911593" y="5932402"/>
                <a:ext cx="3713583" cy="0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chemeClr val="accent5">
                    <a:lumMod val="10000"/>
                  </a:schemeClr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</p:cxnSp>
          <p:sp>
            <p:nvSpPr>
              <p:cNvPr id="38" name="椭圆 37"/>
              <p:cNvSpPr/>
              <p:nvPr/>
            </p:nvSpPr>
            <p:spPr bwMode="auto">
              <a:xfrm>
                <a:off x="4871160" y="5891969"/>
                <a:ext cx="80865" cy="80865"/>
              </a:xfrm>
              <a:prstGeom prst="ellipse">
                <a:avLst/>
              </a:prstGeom>
              <a:solidFill>
                <a:srgbClr val="000000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 bwMode="auto">
              <a:xfrm>
                <a:off x="5795879" y="5878070"/>
                <a:ext cx="108306" cy="108306"/>
              </a:xfrm>
              <a:prstGeom prst="ellipse">
                <a:avLst/>
              </a:prstGeom>
              <a:solidFill>
                <a:srgbClr val="000000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 bwMode="auto">
              <a:xfrm>
                <a:off x="6714231" y="5878070"/>
                <a:ext cx="108306" cy="108306"/>
              </a:xfrm>
              <a:prstGeom prst="ellipse">
                <a:avLst/>
              </a:prstGeom>
              <a:solidFill>
                <a:srgbClr val="000000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 bwMode="auto">
              <a:xfrm>
                <a:off x="7632583" y="5878070"/>
                <a:ext cx="108306" cy="108306"/>
              </a:xfrm>
              <a:prstGeom prst="ellipse">
                <a:avLst/>
              </a:prstGeom>
              <a:solidFill>
                <a:srgbClr val="000000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4766360" y="5497724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endParaRPr lang="zh-CN" alt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5705100" y="5497724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6609497" y="5497724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7542370" y="5497724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endParaRPr lang="zh-CN" alt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8450862" y="5497724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  <a:endParaRPr lang="zh-CN" alt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 bwMode="auto">
              <a:xfrm>
                <a:off x="6971095" y="5878070"/>
                <a:ext cx="108306" cy="108306"/>
              </a:xfrm>
              <a:prstGeom prst="ellipse">
                <a:avLst/>
              </a:prstGeom>
              <a:solidFill>
                <a:srgbClr val="FF0000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graphicFrame>
            <p:nvGraphicFramePr>
              <p:cNvPr id="48" name="对象 4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7164248"/>
                  </p:ext>
                </p:extLst>
              </p:nvPr>
            </p:nvGraphicFramePr>
            <p:xfrm>
              <a:off x="6328048" y="6210492"/>
              <a:ext cx="11176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393" name="Equation" r:id="rId25" imgW="1117440" imgH="253800" progId="Equation.DSMT4">
                      <p:embed/>
                    </p:oleObj>
                  </mc:Choice>
                  <mc:Fallback>
                    <p:oleObj name="Equation" r:id="rId25" imgW="1117440" imgH="253800" progId="Equation.DSMT4">
                      <p:embed/>
                      <p:pic>
                        <p:nvPicPr>
                          <p:cNvPr id="23" name="对象 22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6328048" y="6210492"/>
                            <a:ext cx="11176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" name="任意多边形 48"/>
              <p:cNvSpPr/>
              <p:nvPr/>
            </p:nvSpPr>
            <p:spPr bwMode="auto">
              <a:xfrm>
                <a:off x="7044803" y="5727225"/>
                <a:ext cx="581025" cy="142875"/>
              </a:xfrm>
              <a:custGeom>
                <a:avLst/>
                <a:gdLst>
                  <a:gd name="connsiteX0" fmla="*/ 0 w 609600"/>
                  <a:gd name="connsiteY0" fmla="*/ 186842 h 186842"/>
                  <a:gd name="connsiteX1" fmla="*/ 233363 w 609600"/>
                  <a:gd name="connsiteY1" fmla="*/ 15392 h 186842"/>
                  <a:gd name="connsiteX2" fmla="*/ 400050 w 609600"/>
                  <a:gd name="connsiteY2" fmla="*/ 24917 h 186842"/>
                  <a:gd name="connsiteX3" fmla="*/ 609600 w 609600"/>
                  <a:gd name="connsiteY3" fmla="*/ 163029 h 186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9600" h="186842">
                    <a:moveTo>
                      <a:pt x="0" y="186842"/>
                    </a:moveTo>
                    <a:cubicBezTo>
                      <a:pt x="83344" y="114610"/>
                      <a:pt x="166688" y="42379"/>
                      <a:pt x="233363" y="15392"/>
                    </a:cubicBezTo>
                    <a:cubicBezTo>
                      <a:pt x="300038" y="-11596"/>
                      <a:pt x="337344" y="311"/>
                      <a:pt x="400050" y="24917"/>
                    </a:cubicBezTo>
                    <a:cubicBezTo>
                      <a:pt x="462756" y="49523"/>
                      <a:pt x="597694" y="153504"/>
                      <a:pt x="609600" y="163029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 type="none" w="med" len="med"/>
                <a:tailEnd type="arrow" w="med" len="med"/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50" name="对象 4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79813908"/>
                  </p:ext>
                </p:extLst>
              </p:nvPr>
            </p:nvGraphicFramePr>
            <p:xfrm>
              <a:off x="6910388" y="5338648"/>
              <a:ext cx="11049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394" name="Equation" r:id="rId27" imgW="1104840" imgH="253800" progId="Equation.DSMT4">
                      <p:embed/>
                    </p:oleObj>
                  </mc:Choice>
                  <mc:Fallback>
                    <p:oleObj name="Equation" r:id="rId27" imgW="1104840" imgH="253800" progId="Equation.DSMT4">
                      <p:embed/>
                      <p:pic>
                        <p:nvPicPr>
                          <p:cNvPr id="26" name="对象 25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6910388" y="5338648"/>
                            <a:ext cx="11049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" name="任意多边形 50"/>
              <p:cNvSpPr/>
              <p:nvPr/>
            </p:nvSpPr>
            <p:spPr bwMode="auto">
              <a:xfrm>
                <a:off x="6768579" y="6041551"/>
                <a:ext cx="271463" cy="85842"/>
              </a:xfrm>
              <a:custGeom>
                <a:avLst/>
                <a:gdLst>
                  <a:gd name="connsiteX0" fmla="*/ 271463 w 271463"/>
                  <a:gd name="connsiteY0" fmla="*/ 0 h 85842"/>
                  <a:gd name="connsiteX1" fmla="*/ 166688 w 271463"/>
                  <a:gd name="connsiteY1" fmla="*/ 85725 h 85842"/>
                  <a:gd name="connsiteX2" fmla="*/ 0 w 271463"/>
                  <a:gd name="connsiteY2" fmla="*/ 19050 h 85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1463" h="85842">
                    <a:moveTo>
                      <a:pt x="271463" y="0"/>
                    </a:moveTo>
                    <a:cubicBezTo>
                      <a:pt x="241697" y="41275"/>
                      <a:pt x="211932" y="82550"/>
                      <a:pt x="166688" y="85725"/>
                    </a:cubicBezTo>
                    <a:cubicBezTo>
                      <a:pt x="121444" y="88900"/>
                      <a:pt x="20637" y="26988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 type="none" w="med" len="med"/>
                <a:tailEnd type="arrow" w="med" len="med"/>
              </a:ln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4928080" y="3832631"/>
              <a:ext cx="3634328" cy="3797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itchFamily="49" charset="-122"/>
                </a:rPr>
                <a:t>随机舍入 </a:t>
              </a:r>
              <a:r>
                <a: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itchFamily="49" charset="-122"/>
                </a:rPr>
                <a:t>(Stochastic Rounding, SR)</a:t>
              </a:r>
              <a:endParaRPr lang="zh-CN" altLang="en-US" dirty="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856046" y="5985083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无偏性</a:t>
              </a:r>
              <a:endPara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8396533"/>
      </p:ext>
    </p:extLst>
  </p:cSld>
  <p:clrMapOvr>
    <a:masterClrMapping/>
  </p:clrMapOvr>
  <p:transition advTm="124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93" grpId="0" animBg="1"/>
      <p:bldP spid="179" grpId="0" animBg="1"/>
      <p:bldP spid="18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65934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上行链路</a:t>
            </a: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引入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量化后的收敛性分析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766296"/>
              </p:ext>
            </p:extLst>
          </p:nvPr>
        </p:nvGraphicFramePr>
        <p:xfrm>
          <a:off x="1602201" y="1636330"/>
          <a:ext cx="5939598" cy="851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6" name="Equation" r:id="rId4" imgW="3187440" imgH="457200" progId="Equation.DSMT4">
                  <p:embed/>
                </p:oleObj>
              </mc:Choice>
              <mc:Fallback>
                <p:oleObj name="Equation" r:id="rId4" imgW="3187440" imgH="4572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02201" y="1636330"/>
                        <a:ext cx="5939598" cy="8518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5"/>
          <p:cNvSpPr/>
          <p:nvPr/>
        </p:nvSpPr>
        <p:spPr bwMode="auto">
          <a:xfrm>
            <a:off x="3458547" y="1593111"/>
            <a:ext cx="938331" cy="938331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29" y="2969309"/>
            <a:ext cx="2734718" cy="210032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557708" y="4738304"/>
            <a:ext cx="1250722" cy="331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99533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训练回合 </a:t>
            </a:r>
            <a:r>
              <a:rPr lang="en-US" altLang="zh-CN" sz="1400" i="1" dirty="0" smtClean="0">
                <a:solidFill>
                  <a:srgbClr val="99533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</a:t>
            </a:r>
            <a:endParaRPr lang="zh-CN" altLang="en-US" sz="1400" i="1" dirty="0">
              <a:solidFill>
                <a:srgbClr val="995335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 rot="16200000">
            <a:off x="598322" y="3680815"/>
            <a:ext cx="585345" cy="363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99533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误差</a:t>
            </a:r>
            <a:endParaRPr lang="zh-CN" altLang="en-US" sz="1400" i="1" dirty="0">
              <a:solidFill>
                <a:srgbClr val="995335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232619" y="5069632"/>
            <a:ext cx="1717137" cy="307777"/>
            <a:chOff x="5343331" y="3657600"/>
            <a:chExt cx="1612244" cy="285900"/>
          </a:xfrm>
        </p:grpSpPr>
        <p:sp>
          <p:nvSpPr>
            <p:cNvPr id="16" name="文本框 15"/>
            <p:cNvSpPr txBox="1"/>
            <p:nvPr/>
          </p:nvSpPr>
          <p:spPr>
            <a:xfrm>
              <a:off x="5343331" y="3657600"/>
              <a:ext cx="1612244" cy="2859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            速率收敛</a:t>
              </a:r>
              <a:endPara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3814654"/>
                </p:ext>
              </p:extLst>
            </p:nvPr>
          </p:nvGraphicFramePr>
          <p:xfrm>
            <a:off x="5637735" y="3716235"/>
            <a:ext cx="551927" cy="215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67" name="Equation" r:id="rId7" imgW="520560" imgH="203040" progId="Equation.DSMT4">
                    <p:embed/>
                  </p:oleObj>
                </mc:Choice>
                <mc:Fallback>
                  <p:oleObj name="Equation" r:id="rId7" imgW="520560" imgH="203040" progId="Equation.DSMT4">
                    <p:embed/>
                    <p:pic>
                      <p:nvPicPr>
                        <p:cNvPr id="25" name="对象 2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637735" y="3716235"/>
                          <a:ext cx="551927" cy="2153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9" name="直接连接符 18"/>
          <p:cNvCxnSpPr>
            <a:endCxn id="12" idx="0"/>
          </p:cNvCxnSpPr>
          <p:nvPr/>
        </p:nvCxnSpPr>
        <p:spPr bwMode="auto">
          <a:xfrm flipH="1">
            <a:off x="2091188" y="2219901"/>
            <a:ext cx="1382062" cy="749408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miter lim="800000"/>
            <a:headEnd/>
            <a:tailEnd/>
          </a:ln>
        </p:spPr>
      </p:cxnSp>
      <p:sp>
        <p:nvSpPr>
          <p:cNvPr id="25" name="圆角矩形 24"/>
          <p:cNvSpPr/>
          <p:nvPr/>
        </p:nvSpPr>
        <p:spPr bwMode="auto">
          <a:xfrm>
            <a:off x="3694923" y="2851649"/>
            <a:ext cx="4646645" cy="52656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lvl="0" algn="ctr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所提量化方案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保证收敛的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可靠性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虚尾箭头 25"/>
          <p:cNvSpPr/>
          <p:nvPr/>
        </p:nvSpPr>
        <p:spPr bwMode="auto">
          <a:xfrm rot="5400000">
            <a:off x="5798646" y="3549718"/>
            <a:ext cx="439196" cy="411051"/>
          </a:xfrm>
          <a:prstGeom prst="stripedRightArrow">
            <a:avLst/>
          </a:prstGeom>
          <a:solidFill>
            <a:schemeClr val="bg1"/>
          </a:solidFill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458547" y="4125140"/>
            <a:ext cx="5458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收敛条件：误差控制得足够小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SGD 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误差相当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虚尾箭头 27"/>
          <p:cNvSpPr/>
          <p:nvPr/>
        </p:nvSpPr>
        <p:spPr bwMode="auto">
          <a:xfrm rot="5400000">
            <a:off x="5798646" y="4576527"/>
            <a:ext cx="439196" cy="411051"/>
          </a:xfrm>
          <a:prstGeom prst="stripedRightArrow">
            <a:avLst/>
          </a:prstGeom>
          <a:solidFill>
            <a:schemeClr val="bg1"/>
          </a:solidFill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" name="圆角矩形 29"/>
          <p:cNvSpPr/>
          <p:nvPr/>
        </p:nvSpPr>
        <p:spPr bwMode="auto">
          <a:xfrm>
            <a:off x="3458545" y="5089884"/>
            <a:ext cx="5330891" cy="13731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不同方案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控制误差手段不同，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差分更有</a:t>
            </a:r>
            <a:r>
              <a:rPr lang="zh-CN" alt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优势</a:t>
            </a:r>
            <a:endParaRPr lang="en-US" altLang="zh-CN" sz="2000" dirty="0" smtClean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直接传输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: 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位宽需随时间递增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差分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传输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: 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保持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固定位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宽 </a:t>
            </a:r>
            <a:r>
              <a:rPr lang="en-US" altLang="zh-CN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B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 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即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可</a:t>
            </a:r>
            <a:endParaRPr lang="en-US" altLang="zh-CN" dirty="0" smtClean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817070"/>
              </p:ext>
            </p:extLst>
          </p:nvPr>
        </p:nvGraphicFramePr>
        <p:xfrm>
          <a:off x="6874261" y="5577118"/>
          <a:ext cx="1840040" cy="492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8" name="Equation" r:id="rId9" imgW="1612800" imgH="431640" progId="Equation.DSMT4">
                  <p:embed/>
                </p:oleObj>
              </mc:Choice>
              <mc:Fallback>
                <p:oleObj name="Equation" r:id="rId9" imgW="1612800" imgH="43164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74261" y="5577118"/>
                        <a:ext cx="1840040" cy="492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4296755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51283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上行链路量化仿真实验条件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6360" y="1444146"/>
            <a:ext cx="1459054" cy="576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数据集</a:t>
            </a:r>
            <a:endParaRPr lang="en-US" altLang="zh-CN" sz="2400" b="1" dirty="0">
              <a:solidFill>
                <a:srgbClr val="353A77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3F7A509-90CF-4B4B-B6D7-53389C3D94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60" t="9124" r="7524" b="8860"/>
          <a:stretch/>
        </p:blipFill>
        <p:spPr>
          <a:xfrm>
            <a:off x="1187164" y="2299452"/>
            <a:ext cx="2512402" cy="211665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60726" y="1973223"/>
            <a:ext cx="2073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MNIST [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手写数字识别</a:t>
            </a:r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894" y="2299452"/>
            <a:ext cx="2521118" cy="211665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605663" y="1923183"/>
            <a:ext cx="1927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CIFAR-10 [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物体识别</a:t>
            </a:r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Picture 2" descr="莎士比亚在中国，这些故事你应该知道">
            <a:extLst>
              <a:ext uri="{FF2B5EF4-FFF2-40B4-BE49-F238E27FC236}">
                <a16:creationId xmlns:a16="http://schemas.microsoft.com/office/drawing/2014/main" id="{845DBBB4-E6DD-40BE-9546-E4168C69E1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403"/>
          <a:stretch/>
        </p:blipFill>
        <p:spPr bwMode="auto">
          <a:xfrm>
            <a:off x="1183398" y="4848366"/>
            <a:ext cx="2497090" cy="194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1317952" y="4538298"/>
            <a:ext cx="2227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Shakespeare [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单词预测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Picture 2" descr="http://greg-cohen.com/datasets/emnist/feature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894" y="4846075"/>
            <a:ext cx="2572503" cy="192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/>
          <p:cNvSpPr txBox="1"/>
          <p:nvPr/>
        </p:nvSpPr>
        <p:spPr>
          <a:xfrm>
            <a:off x="5443448" y="4547512"/>
            <a:ext cx="2355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F-EMNIST [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字母数字识别</a:t>
            </a:r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712394" y="4111489"/>
            <a:ext cx="102143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 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859964" y="6466933"/>
            <a:ext cx="102143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CNN </a:t>
            </a:r>
            <a:r>
              <a:rPr lang="zh-CN" altLang="en-US" dirty="0"/>
              <a:t>模型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635449" y="6503973"/>
            <a:ext cx="1098378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LSTM </a:t>
            </a:r>
            <a:r>
              <a:rPr lang="zh-CN" altLang="en-US" dirty="0"/>
              <a:t>模型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768088" y="2993352"/>
            <a:ext cx="1540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独立同分布 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(IID)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075345" y="5502615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on-IID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859964" y="4102490"/>
            <a:ext cx="102143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CNN </a:t>
            </a:r>
            <a:r>
              <a:rPr lang="zh-CN" altLang="en-US" dirty="0"/>
              <a:t>模型</a:t>
            </a:r>
          </a:p>
        </p:txBody>
      </p:sp>
      <p:cxnSp>
        <p:nvCxnSpPr>
          <p:cNvPr id="8" name="直接箭头连接符 7"/>
          <p:cNvCxnSpPr>
            <a:stCxn id="6" idx="3"/>
            <a:endCxn id="9" idx="1"/>
          </p:cNvCxnSpPr>
          <p:nvPr/>
        </p:nvCxnSpPr>
        <p:spPr bwMode="auto">
          <a:xfrm>
            <a:off x="3699566" y="3357780"/>
            <a:ext cx="1609328" cy="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32" name="直接箭头连接符 31"/>
          <p:cNvCxnSpPr/>
          <p:nvPr/>
        </p:nvCxnSpPr>
        <p:spPr bwMode="auto">
          <a:xfrm>
            <a:off x="3699566" y="5810905"/>
            <a:ext cx="1609328" cy="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40905079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51074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上行链路量化仿真实验结果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22420" y="1511967"/>
            <a:ext cx="57038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取整函数的影响：</a:t>
            </a:r>
            <a:r>
              <a:rPr lang="zh-CN" altLang="en-US" sz="2000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四舍五入 </a:t>
            </a:r>
            <a:r>
              <a:rPr lang="en-US" altLang="zh-CN" sz="2000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vs. </a:t>
            </a:r>
            <a:r>
              <a:rPr lang="zh-CN" altLang="en-US" sz="2000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随机舍入 </a:t>
            </a:r>
            <a:r>
              <a:rPr lang="en-US" altLang="zh-CN" sz="2000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(SR)</a:t>
            </a:r>
            <a:endParaRPr lang="zh-CN" altLang="en-US" dirty="0" smtClean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687834" y="2214652"/>
            <a:ext cx="6034200" cy="4314080"/>
            <a:chOff x="1687834" y="2214652"/>
            <a:chExt cx="6034200" cy="431408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87834" y="2214652"/>
              <a:ext cx="5565162" cy="4314080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2857315" y="2382604"/>
              <a:ext cx="1526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基准线</a:t>
              </a:r>
              <a:r>
                <a:rPr lang="en-US" altLang="zh-CN" sz="16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zh-CN" altLang="en-US" sz="16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无量化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698556" y="3290784"/>
              <a:ext cx="22092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>
                  <a:solidFill>
                    <a:srgbClr val="3A6F5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随机舍入</a:t>
              </a:r>
              <a:r>
                <a:rPr lang="en-US" altLang="zh-CN" sz="1600" b="1" dirty="0" smtClean="0">
                  <a:solidFill>
                    <a:srgbClr val="3A6F5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3-</a:t>
              </a:r>
              <a:r>
                <a:rPr lang="zh-CN" altLang="en-US" sz="1600" b="1" dirty="0" smtClean="0">
                  <a:solidFill>
                    <a:srgbClr val="3A6F5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比特量化</a:t>
              </a:r>
              <a:endParaRPr lang="zh-CN" altLang="en-US" sz="1600" b="1" dirty="0">
                <a:solidFill>
                  <a:srgbClr val="3A6F5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698556" y="4571204"/>
              <a:ext cx="2162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>
                  <a:solidFill>
                    <a:srgbClr val="1771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四舍五入</a:t>
              </a:r>
              <a:r>
                <a:rPr lang="en-US" altLang="zh-CN" sz="1600" b="1" dirty="0" smtClean="0">
                  <a:solidFill>
                    <a:srgbClr val="1771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4-</a:t>
              </a:r>
              <a:r>
                <a:rPr lang="zh-CN" altLang="en-US" sz="1600" b="1" dirty="0" smtClean="0">
                  <a:solidFill>
                    <a:srgbClr val="1771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比特量化</a:t>
              </a:r>
              <a:endParaRPr lang="zh-CN" altLang="en-US" sz="1600" b="1" dirty="0">
                <a:solidFill>
                  <a:srgbClr val="1771B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 bwMode="auto">
            <a:xfrm flipV="1">
              <a:off x="6861328" y="3159967"/>
              <a:ext cx="0" cy="895739"/>
            </a:xfrm>
            <a:prstGeom prst="straightConnector1">
              <a:avLst/>
            </a:prstGeom>
            <a:solidFill>
              <a:schemeClr val="tx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ysDot"/>
              <a:round/>
              <a:headEnd type="arrow" w="med" len="med"/>
              <a:tailEnd type="arrow" w="med" len="med"/>
            </a:ln>
            <a:effectLst/>
          </p:spPr>
        </p:cxnSp>
        <p:sp>
          <p:nvSpPr>
            <p:cNvPr id="14" name="文本框 13"/>
            <p:cNvSpPr txBox="1"/>
            <p:nvPr/>
          </p:nvSpPr>
          <p:spPr>
            <a:xfrm>
              <a:off x="6860901" y="3433193"/>
              <a:ext cx="861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&gt;15%</a:t>
              </a:r>
              <a:endPara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925777" y="1969158"/>
            <a:ext cx="6796257" cy="4615792"/>
            <a:chOff x="985566" y="1969158"/>
            <a:chExt cx="6796257" cy="461579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5566" y="1969158"/>
              <a:ext cx="6796257" cy="4615792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4534233" y="4985975"/>
              <a:ext cx="2162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>
                  <a:solidFill>
                    <a:srgbClr val="1771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四舍五入</a:t>
              </a:r>
              <a:r>
                <a:rPr lang="en-US" altLang="zh-CN" sz="1600" b="1" dirty="0" smtClean="0">
                  <a:solidFill>
                    <a:srgbClr val="1771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4-</a:t>
              </a:r>
              <a:r>
                <a:rPr lang="zh-CN" altLang="en-US" sz="1600" b="1" dirty="0" smtClean="0">
                  <a:solidFill>
                    <a:srgbClr val="1771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比特量化</a:t>
              </a:r>
              <a:endParaRPr lang="zh-CN" altLang="en-US" sz="1600" b="1" dirty="0">
                <a:solidFill>
                  <a:srgbClr val="1771B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534233" y="3123267"/>
              <a:ext cx="22092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>
                  <a:solidFill>
                    <a:srgbClr val="3A6F5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随机舍入</a:t>
              </a:r>
              <a:r>
                <a:rPr lang="en-US" altLang="zh-CN" sz="1600" b="1" dirty="0" smtClean="0">
                  <a:solidFill>
                    <a:srgbClr val="3A6F5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3-</a:t>
              </a:r>
              <a:r>
                <a:rPr lang="zh-CN" altLang="en-US" sz="1600" b="1" dirty="0" smtClean="0">
                  <a:solidFill>
                    <a:srgbClr val="3A6F5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比特量化</a:t>
              </a:r>
              <a:endParaRPr lang="zh-CN" altLang="en-US" sz="1600" b="1" dirty="0">
                <a:solidFill>
                  <a:srgbClr val="3A6F5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5651972"/>
      </p:ext>
    </p:extLst>
  </p:cSld>
  <p:clrMapOvr>
    <a:masterClrMapping/>
  </p:clrMapOvr>
  <p:transition advTm="124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20" y="2594410"/>
            <a:ext cx="4243280" cy="3460539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9" y="2688455"/>
            <a:ext cx="4164930" cy="3272447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59266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上行链路量化仿真实验结果 </a:t>
            </a:r>
            <a:r>
              <a:rPr lang="en-US" altLang="zh-CN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续</a:t>
            </a:r>
            <a:r>
              <a:rPr lang="en-US" altLang="zh-CN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en-US" sz="32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90270" y="2314350"/>
            <a:ext cx="1670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MNIST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endParaRPr lang="zh-CN" altLang="en-US" b="1" dirty="0"/>
          </a:p>
        </p:txBody>
      </p:sp>
      <p:sp>
        <p:nvSpPr>
          <p:cNvPr id="21" name="矩形 20"/>
          <p:cNvSpPr/>
          <p:nvPr/>
        </p:nvSpPr>
        <p:spPr>
          <a:xfrm>
            <a:off x="5709882" y="2269562"/>
            <a:ext cx="2407006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CIFAR-10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2420" y="1465791"/>
            <a:ext cx="6740948" cy="657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差分传输</a:t>
            </a:r>
            <a:r>
              <a:rPr lang="en-US" altLang="zh-CN" sz="20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+</a:t>
            </a:r>
            <a:r>
              <a:rPr lang="zh-CN" altLang="en-US" sz="20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随机舍入：</a:t>
            </a:r>
            <a:r>
              <a:rPr lang="zh-CN" altLang="en-US" sz="2000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可压缩到极致的 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黑体" pitchFamily="49" charset="-122"/>
              </a:rPr>
              <a:t>1-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黑体" pitchFamily="49" charset="-122"/>
              </a:rPr>
              <a:t>比特量化</a:t>
            </a:r>
            <a:endParaRPr lang="zh-CN" altLang="en-US" sz="24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H="1" flipV="1">
            <a:off x="3790950" y="3158521"/>
            <a:ext cx="6350" cy="76200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椭圆 9"/>
          <p:cNvSpPr/>
          <p:nvPr/>
        </p:nvSpPr>
        <p:spPr bwMode="auto">
          <a:xfrm>
            <a:off x="8445500" y="2867832"/>
            <a:ext cx="95250" cy="412750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triangle"/>
          </a:ln>
          <a:effectLst/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477592" y="3666605"/>
            <a:ext cx="2156360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 0.5%↓</a:t>
            </a:r>
          </a:p>
        </p:txBody>
      </p:sp>
      <p:cxnSp>
        <p:nvCxnSpPr>
          <p:cNvPr id="13" name="直接箭头连接符 12"/>
          <p:cNvCxnSpPr>
            <a:stCxn id="10" idx="4"/>
          </p:cNvCxnSpPr>
          <p:nvPr/>
        </p:nvCxnSpPr>
        <p:spPr bwMode="auto">
          <a:xfrm flipH="1">
            <a:off x="7810500" y="3280582"/>
            <a:ext cx="682625" cy="46355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椭圆 19"/>
          <p:cNvSpPr/>
          <p:nvPr/>
        </p:nvSpPr>
        <p:spPr bwMode="auto">
          <a:xfrm>
            <a:off x="4303094" y="2890057"/>
            <a:ext cx="129206" cy="368300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triangle"/>
          </a:ln>
          <a:effectLst/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74212" y="2633972"/>
            <a:ext cx="2282997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 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0.17%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</a:p>
        </p:txBody>
      </p:sp>
      <p:cxnSp>
        <p:nvCxnSpPr>
          <p:cNvPr id="18" name="直接箭头连接符 17"/>
          <p:cNvCxnSpPr>
            <a:stCxn id="20" idx="2"/>
          </p:cNvCxnSpPr>
          <p:nvPr/>
        </p:nvCxnSpPr>
        <p:spPr bwMode="auto">
          <a:xfrm flipH="1" flipV="1">
            <a:off x="3206330" y="2867832"/>
            <a:ext cx="1096764" cy="206375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52069187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672064" y="930414"/>
            <a:ext cx="26564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主要研究内容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6411" y="1800939"/>
            <a:ext cx="714330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无线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联邦学习上行链路量化</a:t>
            </a: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方案设计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latin typeface="Times New Roman" panose="02020603050405020304" pitchFamily="18" charset="0"/>
                <a:ea typeface="黑体" pitchFamily="49" charset="-122"/>
              </a:rPr>
              <a:t>无线联邦学习下行链路量化方案设计</a:t>
            </a:r>
            <a:endParaRPr lang="en-US" altLang="zh-CN" sz="2400" b="1" dirty="0">
              <a:latin typeface="Times New Roman" panose="02020603050405020304" pitchFamily="18" charset="0"/>
              <a:ea typeface="黑体" pitchFamily="49" charset="-122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基于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非等差错保护的无线联邦学习传输</a:t>
            </a: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方案设计</a:t>
            </a:r>
            <a:endParaRPr lang="en-US" altLang="zh-CN" sz="2400" b="1" dirty="0" smtClean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7314762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51283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下行链路量化与上行的区别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2420" y="1444146"/>
            <a:ext cx="4730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353A77"/>
                </a:solidFill>
                <a:latin typeface="Times New Roman" panose="02020603050405020304" pitchFamily="18" charset="0"/>
                <a:ea typeface="黑体" pitchFamily="49" charset="-122"/>
              </a:rPr>
              <a:t>差分传输不适用于下行链路</a:t>
            </a:r>
            <a:r>
              <a:rPr lang="en-US" altLang="zh-CN" sz="2400" b="1" dirty="0" smtClean="0">
                <a:solidFill>
                  <a:srgbClr val="353A77"/>
                </a:solidFill>
                <a:latin typeface="Times New Roman" panose="02020603050405020304" pitchFamily="18" charset="0"/>
                <a:ea typeface="黑体" pitchFamily="49" charset="-122"/>
              </a:rPr>
              <a:t>…</a:t>
            </a:r>
            <a:endParaRPr lang="en-US" altLang="zh-CN" sz="2400" b="1" dirty="0">
              <a:solidFill>
                <a:srgbClr val="353A77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70" y="2619269"/>
            <a:ext cx="3866477" cy="23498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84975" y="2177724"/>
            <a:ext cx="2614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基于用户模型进行差分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3996" y="4969159"/>
            <a:ext cx="409278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存储大量中间模型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存在被反演隐患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无法通过广播方式下发全局模型</a:t>
            </a:r>
            <a:r>
              <a:rPr lang="en-US" altLang="zh-CN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增加开销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783" y="2805881"/>
            <a:ext cx="4247035" cy="202737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562891" y="2177724"/>
            <a:ext cx="2614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基于全局模型进行差分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01031" y="4969159"/>
            <a:ext cx="4243469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局限性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无法在只有部分用户的典型配置下使用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轮随机选取，无法确保用户拥有“基准”模型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4721903" y="2264229"/>
            <a:ext cx="0" cy="3766759"/>
          </a:xfrm>
          <a:prstGeom prst="line">
            <a:avLst/>
          </a:prstGeom>
          <a:solidFill>
            <a:schemeClr val="tx1"/>
          </a:solidFill>
          <a:ln w="19050" cap="flat" cmpd="sng" algn="ctr">
            <a:solidFill>
              <a:schemeClr val="accent4">
                <a:lumMod val="20000"/>
                <a:lumOff val="80000"/>
              </a:schemeClr>
            </a:solidFill>
            <a:prstDash val="dash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885353496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44614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下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行链路量化方案设计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22420" y="1444146"/>
            <a:ext cx="8222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353A77"/>
                </a:solidFill>
                <a:latin typeface="Times New Roman" panose="02020603050405020304" pitchFamily="18" charset="0"/>
                <a:ea typeface="黑体" pitchFamily="49" charset="-122"/>
              </a:rPr>
              <a:t>优化策略：</a:t>
            </a:r>
            <a:r>
              <a:rPr lang="zh-CN" altLang="en-US" sz="2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时变量化</a:t>
            </a:r>
            <a:r>
              <a:rPr lang="en-US" altLang="zh-CN" sz="2400" b="1" dirty="0" smtClean="0">
                <a:solidFill>
                  <a:srgbClr val="353A77"/>
                </a:solidFill>
                <a:latin typeface="Times New Roman" panose="02020603050405020304" pitchFamily="18" charset="0"/>
                <a:ea typeface="黑体" pitchFamily="49" charset="-122"/>
              </a:rPr>
              <a:t>——</a:t>
            </a:r>
            <a:r>
              <a:rPr lang="zh-CN" altLang="en-US" sz="2400" b="1" dirty="0" smtClean="0">
                <a:solidFill>
                  <a:srgbClr val="353A77"/>
                </a:solidFill>
                <a:latin typeface="Times New Roman" panose="02020603050405020304" pitchFamily="18" charset="0"/>
                <a:ea typeface="黑体" pitchFamily="49" charset="-122"/>
              </a:rPr>
              <a:t>量化资源在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时间维度</a:t>
            </a:r>
            <a:r>
              <a:rPr lang="zh-CN" altLang="en-US" sz="2400" b="1" dirty="0" smtClean="0">
                <a:solidFill>
                  <a:srgbClr val="353A77"/>
                </a:solidFill>
                <a:latin typeface="Times New Roman" panose="02020603050405020304" pitchFamily="18" charset="0"/>
                <a:ea typeface="黑体" pitchFamily="49" charset="-122"/>
              </a:rPr>
              <a:t>上的分配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441" y="2485878"/>
            <a:ext cx="3080662" cy="252193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97185" y="2173078"/>
            <a:ext cx="15231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SGD </a:t>
            </a: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的训练机理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38062" y="5500260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理论</a:t>
            </a:r>
            <a:r>
              <a:rPr lang="zh-CN" altLang="en-US" dirty="0"/>
              <a:t>分析的结果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040347" y="5849943"/>
            <a:ext cx="3158756" cy="735007"/>
            <a:chOff x="307419" y="5328446"/>
            <a:chExt cx="3158756" cy="735007"/>
          </a:xfrm>
        </p:grpSpPr>
        <p:sp>
          <p:nvSpPr>
            <p:cNvPr id="12" name="文本框 11"/>
            <p:cNvSpPr txBox="1"/>
            <p:nvPr/>
          </p:nvSpPr>
          <p:spPr>
            <a:xfrm>
              <a:off x="307419" y="5483050"/>
              <a:ext cx="1233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收敛</a:t>
              </a:r>
              <a:r>
                <a:rPr lang="zh-CN" altLang="en-US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</a:t>
              </a:r>
              <a:r>
                <a:rPr lang="en-US" altLang="zh-CN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endPara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4434510"/>
                </p:ext>
              </p:extLst>
            </p:nvPr>
          </p:nvGraphicFramePr>
          <p:xfrm>
            <a:off x="1418655" y="5328446"/>
            <a:ext cx="2047520" cy="7350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42" name="Equation" r:id="rId4" imgW="1485720" imgH="533160" progId="Equation.DSMT4">
                    <p:embed/>
                  </p:oleObj>
                </mc:Choice>
                <mc:Fallback>
                  <p:oleObj name="Equation" r:id="rId4" imgW="1485720" imgH="5331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418655" y="5328446"/>
                          <a:ext cx="2047520" cy="7350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文本框 21"/>
          <p:cNvSpPr txBox="1"/>
          <p:nvPr/>
        </p:nvSpPr>
        <p:spPr>
          <a:xfrm>
            <a:off x="5887610" y="2259706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对数递增的时变量化方案</a:t>
            </a:r>
            <a:endParaRPr lang="zh-CN" altLang="en-US" sz="16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342882"/>
              </p:ext>
            </p:extLst>
          </p:nvPr>
        </p:nvGraphicFramePr>
        <p:xfrm>
          <a:off x="5794135" y="2767489"/>
          <a:ext cx="2643492" cy="153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3" name="Equation" r:id="rId6" imgW="1600200" imgH="927000" progId="Equation.DSMT4">
                  <p:embed/>
                </p:oleObj>
              </mc:Choice>
              <mc:Fallback>
                <p:oleObj name="Equation" r:id="rId6" imgW="160020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94135" y="2767489"/>
                        <a:ext cx="2643492" cy="1531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8"/>
          <a:srcRect b="7655"/>
          <a:stretch/>
        </p:blipFill>
        <p:spPr>
          <a:xfrm>
            <a:off x="5359386" y="4257379"/>
            <a:ext cx="3181073" cy="2600621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5738457" y="5454870"/>
            <a:ext cx="687743" cy="698236"/>
            <a:chOff x="6025678" y="5689600"/>
            <a:chExt cx="562121" cy="577850"/>
          </a:xfrm>
        </p:grpSpPr>
        <p:sp>
          <p:nvSpPr>
            <p:cNvPr id="2" name="矩形 1"/>
            <p:cNvSpPr/>
            <p:nvPr/>
          </p:nvSpPr>
          <p:spPr bwMode="auto">
            <a:xfrm>
              <a:off x="6025678" y="5689600"/>
              <a:ext cx="562121" cy="577850"/>
            </a:xfrm>
            <a:prstGeom prst="rect">
              <a:avLst/>
            </a:prstGeom>
            <a:solidFill>
              <a:srgbClr val="FFC000">
                <a:alpha val="44000"/>
              </a:srgbClr>
            </a:solidFill>
            <a:ln w="38100">
              <a:noFill/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 bwMode="auto">
            <a:xfrm>
              <a:off x="6025678" y="5689600"/>
              <a:ext cx="562121" cy="0"/>
            </a:xfrm>
            <a:prstGeom prst="line">
              <a:avLst/>
            </a:prstGeom>
            <a:solidFill>
              <a:schemeClr val="tx1"/>
            </a:solidFill>
            <a:ln w="12700" cap="flat" cmpd="sng" algn="ctr">
              <a:solidFill>
                <a:srgbClr val="2F2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/>
          </p:nvCxnSpPr>
          <p:spPr bwMode="auto">
            <a:xfrm>
              <a:off x="6025678" y="6261100"/>
              <a:ext cx="562121" cy="0"/>
            </a:xfrm>
            <a:prstGeom prst="line">
              <a:avLst/>
            </a:prstGeom>
            <a:solidFill>
              <a:schemeClr val="tx1"/>
            </a:solidFill>
            <a:ln w="12700" cap="flat" cmpd="sng" algn="ctr">
              <a:solidFill>
                <a:srgbClr val="2F2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6" name="直接连接符 25"/>
          <p:cNvCxnSpPr/>
          <p:nvPr/>
        </p:nvCxnSpPr>
        <p:spPr bwMode="auto">
          <a:xfrm>
            <a:off x="1118441" y="5286640"/>
            <a:ext cx="3129709" cy="0"/>
          </a:xfrm>
          <a:prstGeom prst="line">
            <a:avLst/>
          </a:prstGeom>
          <a:solidFill>
            <a:schemeClr val="tx1"/>
          </a:solidFill>
          <a:ln w="19050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直接箭头连接符 27"/>
          <p:cNvCxnSpPr/>
          <p:nvPr/>
        </p:nvCxnSpPr>
        <p:spPr bwMode="auto">
          <a:xfrm flipV="1">
            <a:off x="4292600" y="2428983"/>
            <a:ext cx="1352550" cy="1254017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直接箭头连接符 28"/>
          <p:cNvCxnSpPr/>
          <p:nvPr/>
        </p:nvCxnSpPr>
        <p:spPr bwMode="auto">
          <a:xfrm flipV="1">
            <a:off x="4248150" y="2480855"/>
            <a:ext cx="1441260" cy="3342453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108186200"/>
      </p:ext>
    </p:extLst>
  </p:cSld>
  <p:clrMapOvr>
    <a:masterClrMapping/>
  </p:clrMapOvr>
  <p:transition advTm="124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3.7037E-6 L 0.2191 -0.09861 " pathEditMode="relative" rAng="0" ptsTypes="AA">
                                      <p:cBhvr>
                                        <p:cTn id="9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20" y="-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63" y="2642165"/>
            <a:ext cx="8216121" cy="3876952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22420" y="1444146"/>
            <a:ext cx="8255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353A77"/>
                </a:solidFill>
                <a:latin typeface="Times New Roman" panose="02020603050405020304" pitchFamily="18" charset="0"/>
                <a:ea typeface="黑体" pitchFamily="49" charset="-122"/>
              </a:rPr>
              <a:t>优化策略：</a:t>
            </a:r>
            <a:r>
              <a:rPr lang="zh-CN" alt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分层</a:t>
            </a:r>
            <a:r>
              <a:rPr lang="zh-CN" altLang="en-US" sz="2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量化</a:t>
            </a:r>
            <a:r>
              <a:rPr lang="en-US" altLang="zh-CN" sz="2400" b="1" dirty="0" smtClean="0">
                <a:solidFill>
                  <a:srgbClr val="353A77"/>
                </a:solidFill>
                <a:latin typeface="Times New Roman" panose="02020603050405020304" pitchFamily="18" charset="0"/>
                <a:ea typeface="黑体" pitchFamily="49" charset="-122"/>
              </a:rPr>
              <a:t>——</a:t>
            </a:r>
            <a:r>
              <a:rPr lang="zh-CN" altLang="en-US" sz="2400" b="1" dirty="0" smtClean="0">
                <a:solidFill>
                  <a:srgbClr val="353A77"/>
                </a:solidFill>
                <a:latin typeface="Times New Roman" panose="02020603050405020304" pitchFamily="18" charset="0"/>
                <a:ea typeface="黑体" pitchFamily="49" charset="-122"/>
              </a:rPr>
              <a:t>为每一层设置匹配的量化增益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5168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下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行链路量化方案设计</a:t>
            </a:r>
            <a:r>
              <a:rPr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续</a:t>
            </a:r>
            <a:r>
              <a:rPr lang="en-US" altLang="zh-CN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en-US" sz="32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84" y="2370628"/>
            <a:ext cx="8050955" cy="434604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85911" y="2245541"/>
            <a:ext cx="3322337" cy="2993209"/>
            <a:chOff x="688257" y="2245541"/>
            <a:chExt cx="3431458" cy="2993209"/>
          </a:xfrm>
        </p:grpSpPr>
        <p:sp>
          <p:nvSpPr>
            <p:cNvPr id="6" name="矩形 5"/>
            <p:cNvSpPr/>
            <p:nvPr/>
          </p:nvSpPr>
          <p:spPr bwMode="auto">
            <a:xfrm>
              <a:off x="688257" y="2245541"/>
              <a:ext cx="3431458" cy="2993209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03838" y="2263480"/>
              <a:ext cx="3391911" cy="30777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zh-CN" altLang="en-US" dirty="0"/>
                <a:t>① 确定各层动态范围和量化增益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413179" y="2466975"/>
            <a:ext cx="3390200" cy="1866900"/>
            <a:chOff x="4315525" y="2466975"/>
            <a:chExt cx="3390200" cy="1866900"/>
          </a:xfrm>
        </p:grpSpPr>
        <p:sp>
          <p:nvSpPr>
            <p:cNvPr id="13" name="矩形 12"/>
            <p:cNvSpPr/>
            <p:nvPr/>
          </p:nvSpPr>
          <p:spPr bwMode="auto">
            <a:xfrm>
              <a:off x="4315525" y="2466975"/>
              <a:ext cx="3390200" cy="18669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329660" y="2486394"/>
              <a:ext cx="2024913" cy="30777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② 分层进行</a:t>
              </a:r>
              <a:r>
                <a:rPr lang="zh-CN" altLang="en-US" dirty="0" smtClean="0"/>
                <a:t>量化 </a:t>
              </a:r>
              <a:r>
                <a:rPr lang="en-US" altLang="zh-CN" dirty="0" smtClean="0"/>
                <a:t>(</a:t>
              </a:r>
              <a:r>
                <a:rPr lang="zh-CN" altLang="en-US" dirty="0" smtClean="0"/>
                <a:t>复用</a:t>
              </a:r>
              <a:r>
                <a:rPr lang="en-US" altLang="zh-CN" dirty="0" smtClean="0"/>
                <a:t>)</a:t>
              </a:r>
              <a:endParaRPr lang="zh-CN" altLang="en-US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108248" y="4705350"/>
            <a:ext cx="4106294" cy="533400"/>
            <a:chOff x="4108248" y="4705350"/>
            <a:chExt cx="4106294" cy="533400"/>
          </a:xfrm>
        </p:grpSpPr>
        <p:sp>
          <p:nvSpPr>
            <p:cNvPr id="11" name="文本框 10"/>
            <p:cNvSpPr txBox="1"/>
            <p:nvPr/>
          </p:nvSpPr>
          <p:spPr>
            <a:xfrm>
              <a:off x="7438367" y="4792345"/>
              <a:ext cx="776175" cy="30777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 smtClean="0"/>
                <a:t>③ 组帧</a:t>
              </a:r>
              <a:endParaRPr lang="zh-CN" altLang="en-US" dirty="0"/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4108248" y="4705350"/>
              <a:ext cx="4106294" cy="5334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126978" y="5804662"/>
            <a:ext cx="2209801" cy="1011899"/>
            <a:chOff x="6126978" y="5804662"/>
            <a:chExt cx="2209801" cy="1011899"/>
          </a:xfrm>
        </p:grpSpPr>
        <p:sp>
          <p:nvSpPr>
            <p:cNvPr id="17" name="矩形 16"/>
            <p:cNvSpPr/>
            <p:nvPr/>
          </p:nvSpPr>
          <p:spPr bwMode="auto">
            <a:xfrm>
              <a:off x="6126978" y="5804662"/>
              <a:ext cx="2209801" cy="1011899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149205" y="6486979"/>
              <a:ext cx="2163761" cy="30777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zh-CN" altLang="en-US" dirty="0" smtClean="0"/>
                <a:t>④ 分层解量化 </a:t>
              </a:r>
              <a:r>
                <a:rPr lang="en-US" altLang="zh-CN" dirty="0" smtClean="0"/>
                <a:t>(</a:t>
              </a:r>
              <a:r>
                <a:rPr lang="zh-CN" altLang="en-US" dirty="0" smtClean="0"/>
                <a:t>复用</a:t>
              </a:r>
              <a:r>
                <a:rPr lang="en-US" altLang="zh-CN" dirty="0" smtClean="0"/>
                <a:t>)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47915793"/>
      </p:ext>
    </p:extLst>
  </p:cSld>
  <p:clrMapOvr>
    <a:masterClrMapping/>
  </p:clrMapOvr>
  <p:transition advTm="124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73036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下行链路量化仿真实验结果：时变量化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77" y="2050352"/>
            <a:ext cx="5766513" cy="4548105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 bwMode="auto">
          <a:xfrm>
            <a:off x="5233489" y="2590634"/>
            <a:ext cx="1749201" cy="873076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ash"/>
            <a:miter lim="800000"/>
            <a:headEnd/>
            <a:tailEnd/>
          </a:ln>
        </p:spPr>
        <p:txBody>
          <a:bodyPr rot="0" spcFirstLastPara="0" vertOverflow="overflow" horzOverflow="overflow" vert="horz" wrap="square" lIns="9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36479" y="1697246"/>
            <a:ext cx="339133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Shakespeare | 3-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 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1.35%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3474270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73036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下行链路量化仿真实验结果：分层量化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/>
          <a:srcRect r="50389"/>
          <a:stretch/>
        </p:blipFill>
        <p:spPr>
          <a:xfrm>
            <a:off x="1123005" y="1979916"/>
            <a:ext cx="6041383" cy="483363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834495" y="1617124"/>
            <a:ext cx="5097806" cy="362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F-EMNIS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 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3.06%	 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 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 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1.98%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 bwMode="auto">
          <a:xfrm flipH="1" flipV="1">
            <a:off x="6151418" y="3125261"/>
            <a:ext cx="12789" cy="512205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接箭头连接符 16"/>
          <p:cNvCxnSpPr/>
          <p:nvPr/>
        </p:nvCxnSpPr>
        <p:spPr bwMode="auto">
          <a:xfrm flipV="1">
            <a:off x="6571622" y="2762383"/>
            <a:ext cx="0" cy="286145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225318874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63642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上下行链路同时量化仿真实验结果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22420" y="1444146"/>
            <a:ext cx="815800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联邦</a:t>
            </a:r>
            <a:r>
              <a:rPr lang="zh-CN" altLang="en-US" sz="2400" b="1" dirty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学习的通信</a:t>
            </a:r>
            <a:r>
              <a:rPr lang="zh-CN" altLang="en-US" sz="24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效率得到</a:t>
            </a:r>
            <a:r>
              <a:rPr lang="zh-CN" altLang="en-US" sz="2400" b="1" dirty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有效</a:t>
            </a:r>
            <a:r>
              <a:rPr lang="zh-CN" altLang="en-US" sz="24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提高</a:t>
            </a:r>
            <a:endParaRPr lang="en-US" altLang="zh-CN" sz="2400" b="1" dirty="0" smtClean="0">
              <a:solidFill>
                <a:schemeClr val="accent4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控制准确率下降</a:t>
            </a:r>
            <a:r>
              <a:rPr lang="zh-CN" alt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不超过 </a:t>
            </a:r>
            <a:r>
              <a:rPr lang="en-US" altLang="zh-CN" sz="20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2%</a:t>
            </a: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，上</a:t>
            </a:r>
            <a:r>
              <a:rPr lang="en-US" altLang="zh-C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/</a:t>
            </a: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下行同时量化，</a:t>
            </a:r>
            <a:r>
              <a:rPr lang="zh-CN" alt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带宽节约超 </a:t>
            </a:r>
            <a:r>
              <a:rPr lang="en-US" altLang="zh-CN" sz="20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80%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03881"/>
              </p:ext>
            </p:extLst>
          </p:nvPr>
        </p:nvGraphicFramePr>
        <p:xfrm>
          <a:off x="635000" y="2629709"/>
          <a:ext cx="8115300" cy="37084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70050">
                  <a:extLst>
                    <a:ext uri="{9D8B030D-6E8A-4147-A177-3AD203B41FA5}">
                      <a16:colId xmlns:a16="http://schemas.microsoft.com/office/drawing/2014/main" val="3421674588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11357946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346013655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017592006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1467875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dirty="0" smtClean="0"/>
                        <a:t>数据集</a:t>
                      </a:r>
                      <a:endParaRPr lang="zh-CN" alt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dirty="0" smtClean="0"/>
                        <a:t>下行位宽</a:t>
                      </a:r>
                      <a:endParaRPr lang="zh-CN" alt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dirty="0" smtClean="0"/>
                        <a:t>上行位宽</a:t>
                      </a:r>
                      <a:endParaRPr lang="zh-CN" alt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dirty="0" smtClean="0"/>
                        <a:t>准确率</a:t>
                      </a:r>
                      <a:endParaRPr lang="zh-CN" alt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dirty="0" smtClean="0"/>
                        <a:t>性能百分比</a:t>
                      </a:r>
                      <a:endParaRPr lang="zh-CN" alt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250662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IID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898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MNIST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2-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2-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98.46% (99.11%)</a:t>
                      </a:r>
                      <a:endParaRPr lang="zh-CN" alt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99.34%</a:t>
                      </a:r>
                      <a:endParaRPr lang="zh-CN" alt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441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CIFAR-10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5-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2-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78.43% (79.93%)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98.12%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966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Shakespeare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5-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2-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56.17% (57.25%)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98.11%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860282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Non-IID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297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MNIST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2-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2-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97.41% (99.10%)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98.29%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48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CIFAR-10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6-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4-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61.67% (62.61%)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98.50%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476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Shakespeare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5-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3-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55.16% (56.16%)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98.22%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89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F-EMNIST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5-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dirty="0" smtClean="0"/>
                        <a:t>3-</a:t>
                      </a:r>
                      <a:r>
                        <a:rPr lang="zh-CN" altLang="en-US" dirty="0" smtClean="0"/>
                        <a:t>比特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80.24% (81.82%)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98.07%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101122"/>
                  </a:ext>
                </a:extLst>
              </a:tr>
            </a:tbl>
          </a:graphicData>
        </a:graphic>
      </p:graphicFrame>
      <p:sp>
        <p:nvSpPr>
          <p:cNvPr id="10" name="椭圆 9"/>
          <p:cNvSpPr/>
          <p:nvPr/>
        </p:nvSpPr>
        <p:spPr bwMode="auto">
          <a:xfrm>
            <a:off x="2349500" y="3340100"/>
            <a:ext cx="2616200" cy="438150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ash"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2349500" y="5194300"/>
            <a:ext cx="2616200" cy="438150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ash"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416550" y="3011876"/>
            <a:ext cx="1981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通信量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↓ 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93.75%</a:t>
            </a:r>
            <a:endParaRPr lang="zh-CN" altLang="en-US" dirty="0"/>
          </a:p>
        </p:txBody>
      </p:sp>
      <p:cxnSp>
        <p:nvCxnSpPr>
          <p:cNvPr id="16" name="直接箭头连接符 15"/>
          <p:cNvCxnSpPr/>
          <p:nvPr/>
        </p:nvCxnSpPr>
        <p:spPr bwMode="auto">
          <a:xfrm flipV="1">
            <a:off x="4814121" y="4719667"/>
            <a:ext cx="602429" cy="589984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直接箭头连接符 17"/>
          <p:cNvCxnSpPr>
            <a:stCxn id="10" idx="6"/>
          </p:cNvCxnSpPr>
          <p:nvPr/>
        </p:nvCxnSpPr>
        <p:spPr bwMode="auto">
          <a:xfrm flipV="1">
            <a:off x="4965700" y="3131716"/>
            <a:ext cx="450850" cy="427459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矩形 19"/>
          <p:cNvSpPr/>
          <p:nvPr/>
        </p:nvSpPr>
        <p:spPr>
          <a:xfrm>
            <a:off x="5416550" y="4483909"/>
            <a:ext cx="2941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通信量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↓ 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81.25%, 87.50%</a:t>
            </a:r>
            <a:endParaRPr lang="zh-CN" altLang="en-US" dirty="0"/>
          </a:p>
        </p:txBody>
      </p:sp>
      <p:sp>
        <p:nvSpPr>
          <p:cNvPr id="12" name="椭圆 11"/>
          <p:cNvSpPr/>
          <p:nvPr/>
        </p:nvSpPr>
        <p:spPr bwMode="auto">
          <a:xfrm>
            <a:off x="7371549" y="3340100"/>
            <a:ext cx="1266856" cy="438150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ash"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371549" y="5194300"/>
            <a:ext cx="1266856" cy="438150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ash"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5048967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672064" y="930414"/>
            <a:ext cx="26564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主要研究内容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6411" y="1800939"/>
            <a:ext cx="714330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无线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联邦学习上行链路量化</a:t>
            </a: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方案设计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itchFamily="49" charset="-122"/>
              </a:rPr>
              <a:t>无线联邦学习下行链路量化方案设计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latin typeface="Times New Roman" panose="02020603050405020304" pitchFamily="18" charset="0"/>
                <a:ea typeface="黑体" pitchFamily="49" charset="-122"/>
              </a:rPr>
              <a:t>基于非</a:t>
            </a:r>
            <a:r>
              <a:rPr lang="zh-CN" altLang="en-US" sz="2400" b="1" dirty="0">
                <a:latin typeface="Times New Roman" panose="02020603050405020304" pitchFamily="18" charset="0"/>
                <a:ea typeface="黑体" pitchFamily="49" charset="-122"/>
              </a:rPr>
              <a:t>等差错保护的无线联邦学习传输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itchFamily="49" charset="-122"/>
              </a:rPr>
              <a:t>方案设计</a:t>
            </a:r>
            <a:endParaRPr lang="en-US" altLang="zh-CN" sz="2400" b="1" dirty="0" smtClean="0">
              <a:latin typeface="Times New Roman" panose="02020603050405020304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1211589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6343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基于非</a:t>
            </a: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等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差错保护的传输方案设计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2420" y="1444146"/>
            <a:ext cx="782618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动机</a:t>
            </a:r>
            <a:r>
              <a:rPr lang="en-US" altLang="zh-CN" sz="24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: </a:t>
            </a:r>
            <a:r>
              <a:rPr lang="zh-CN" altLang="en-US" sz="24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能否将联邦学习的模型传输视为一种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特殊业务</a:t>
            </a:r>
            <a:r>
              <a:rPr lang="zh-CN" altLang="en-US" sz="24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？</a:t>
            </a:r>
            <a:endParaRPr lang="en-US" altLang="zh-CN" sz="2400" b="1" dirty="0" smtClean="0">
              <a:solidFill>
                <a:schemeClr val="accent4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现有的研究中，普遍将通信信道视为理想信道</a:t>
            </a:r>
            <a:endParaRPr lang="en-US" altLang="zh-CN" sz="2000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若能设计更匹配的传输方案，也能提高</a:t>
            </a:r>
            <a:r>
              <a:rPr lang="zh-CN" alt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通信效率</a:t>
            </a:r>
            <a:endParaRPr lang="en-US" altLang="zh-CN" sz="2000" dirty="0" smtClean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2420" y="3193160"/>
            <a:ext cx="751769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非等差错保护 </a:t>
            </a:r>
            <a:r>
              <a:rPr lang="en-US" altLang="zh-CN" sz="2400" b="1" dirty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(Unequal Error Protection, UEP) </a:t>
            </a:r>
            <a:r>
              <a:rPr lang="zh-CN" altLang="en-US" sz="24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概念</a:t>
            </a:r>
            <a:endParaRPr lang="en-US" altLang="zh-CN" sz="2400" b="1" dirty="0" smtClean="0">
              <a:solidFill>
                <a:schemeClr val="accent4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给予传输的数据中更</a:t>
            </a: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重要的部分以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更高程度的保护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 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3442116" y="4502628"/>
            <a:ext cx="2654300" cy="284062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载荷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(Payload)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56149" y="4466100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数据包：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775366" y="4502627"/>
            <a:ext cx="666750" cy="2840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帧头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495272" y="4485170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帧头 </a:t>
            </a:r>
            <a:r>
              <a:rPr lang="en-US" altLang="zh-CN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载荷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74583" y="5469596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数字图像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792027" y="4949256"/>
            <a:ext cx="3198070" cy="1136529"/>
            <a:chOff x="2449905" y="4315372"/>
            <a:chExt cx="3198070" cy="1136529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9905" y="4315372"/>
              <a:ext cx="650089" cy="1136529"/>
            </a:xfrm>
            <a:prstGeom prst="rect">
              <a:avLst/>
            </a:prstGeom>
          </p:spPr>
        </p:pic>
        <p:cxnSp>
          <p:nvCxnSpPr>
            <p:cNvPr id="14" name="直接连接符 13"/>
            <p:cNvCxnSpPr/>
            <p:nvPr/>
          </p:nvCxnSpPr>
          <p:spPr bwMode="auto">
            <a:xfrm>
              <a:off x="2978150" y="4502150"/>
              <a:ext cx="736600" cy="227598"/>
            </a:xfrm>
            <a:prstGeom prst="line">
              <a:avLst/>
            </a:prstGeom>
            <a:solidFill>
              <a:schemeClr val="tx1"/>
            </a:solidFill>
            <a:ln w="19050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矩形 14"/>
            <p:cNvSpPr/>
            <p:nvPr/>
          </p:nvSpPr>
          <p:spPr>
            <a:xfrm>
              <a:off x="4319728" y="4857249"/>
              <a:ext cx="10246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D50000"/>
                  </a:solidFill>
                </a:rPr>
                <a:t>(</a:t>
              </a:r>
              <a:r>
                <a:rPr lang="zh-CN" altLang="en-US" sz="1400" dirty="0" smtClean="0">
                  <a:solidFill>
                    <a:srgbClr val="D50000"/>
                  </a:solidFill>
                </a:rPr>
                <a:t>213</a:t>
              </a:r>
              <a:r>
                <a:rPr lang="en-US" altLang="zh-CN" sz="1400" dirty="0" smtClean="0">
                  <a:solidFill>
                    <a:srgbClr val="D50000"/>
                  </a:solidFill>
                </a:rPr>
                <a:t>, 0, 0)</a:t>
              </a:r>
              <a:endParaRPr lang="zh-CN" altLang="en-US" sz="1400" dirty="0">
                <a:solidFill>
                  <a:srgbClr val="D50000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3714750" y="4615949"/>
              <a:ext cx="241300" cy="241300"/>
            </a:xfrm>
            <a:prstGeom prst="rect">
              <a:avLst/>
            </a:prstGeom>
            <a:solidFill>
              <a:srgbClr val="D50000"/>
            </a:solidFill>
            <a:ln w="38100">
              <a:noFill/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028735" y="4633307"/>
              <a:ext cx="1619240" cy="202405"/>
              <a:chOff x="4028735" y="4633307"/>
              <a:chExt cx="1619240" cy="202405"/>
            </a:xfrm>
          </p:grpSpPr>
          <p:sp>
            <p:nvSpPr>
              <p:cNvPr id="18" name="矩形 17"/>
              <p:cNvSpPr/>
              <p:nvPr/>
            </p:nvSpPr>
            <p:spPr bwMode="auto">
              <a:xfrm>
                <a:off x="4028735" y="4633307"/>
                <a:ext cx="202405" cy="202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/>
                <a:r>
                  <a:rPr lang="en-US" altLang="zh-CN" sz="1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1</a:t>
                </a:r>
                <a:endParaRPr lang="zh-CN" altLang="en-US" sz="10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 bwMode="auto">
              <a:xfrm>
                <a:off x="4231140" y="4633307"/>
                <a:ext cx="202405" cy="202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/>
                <a:r>
                  <a:rPr lang="en-US" altLang="zh-CN" sz="1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1</a:t>
                </a:r>
                <a:endParaRPr lang="zh-CN" altLang="en-US" sz="10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 bwMode="auto">
              <a:xfrm>
                <a:off x="4433545" y="4633307"/>
                <a:ext cx="202405" cy="202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/>
                <a:r>
                  <a:rPr lang="en-US" altLang="zh-CN" sz="1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0</a:t>
                </a:r>
                <a:endParaRPr lang="zh-CN" altLang="en-US" sz="10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 bwMode="auto">
              <a:xfrm>
                <a:off x="4635950" y="4633307"/>
                <a:ext cx="202405" cy="202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/>
                <a:r>
                  <a:rPr lang="en-US" altLang="zh-CN" sz="1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1</a:t>
                </a:r>
                <a:endParaRPr lang="zh-CN" altLang="en-US" sz="10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 bwMode="auto">
              <a:xfrm>
                <a:off x="4838355" y="4633307"/>
                <a:ext cx="202405" cy="202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/>
                <a:r>
                  <a:rPr lang="en-US" altLang="zh-CN" sz="1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0</a:t>
                </a:r>
                <a:endParaRPr lang="zh-CN" altLang="en-US" sz="10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 bwMode="auto">
              <a:xfrm>
                <a:off x="5040760" y="4633307"/>
                <a:ext cx="202405" cy="202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/>
                <a:r>
                  <a:rPr lang="en-US" altLang="zh-CN" sz="1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1</a:t>
                </a:r>
                <a:endParaRPr lang="zh-CN" altLang="en-US" sz="10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 bwMode="auto">
              <a:xfrm>
                <a:off x="5243165" y="4633307"/>
                <a:ext cx="202405" cy="202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/>
                <a:r>
                  <a:rPr lang="en-US" altLang="zh-CN" sz="1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0</a:t>
                </a:r>
                <a:endParaRPr lang="zh-CN" altLang="en-US" sz="10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 bwMode="auto">
              <a:xfrm>
                <a:off x="5445570" y="4633307"/>
                <a:ext cx="202405" cy="202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/>
                <a:r>
                  <a:rPr lang="en-US" altLang="zh-CN" sz="1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1</a:t>
                </a:r>
                <a:endParaRPr lang="zh-CN" altLang="en-US" sz="10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6" name="文本框 25"/>
          <p:cNvSpPr txBox="1"/>
          <p:nvPr/>
        </p:nvSpPr>
        <p:spPr>
          <a:xfrm>
            <a:off x="6495272" y="5469596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高位 </a:t>
            </a:r>
            <a:r>
              <a:rPr lang="en-US" altLang="zh-CN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低位</a:t>
            </a:r>
          </a:p>
        </p:txBody>
      </p:sp>
      <p:sp>
        <p:nvSpPr>
          <p:cNvPr id="27" name="圆角矩形 26"/>
          <p:cNvSpPr/>
          <p:nvPr/>
        </p:nvSpPr>
        <p:spPr bwMode="auto">
          <a:xfrm>
            <a:off x="1131253" y="6043461"/>
            <a:ext cx="6881494" cy="57928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marL="0" lvl="1" algn="ctr"/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如何</a:t>
            </a:r>
            <a:r>
              <a:rPr lang="zh-CN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将 </a:t>
            </a:r>
            <a:r>
              <a:rPr lang="en-US" altLang="zh-C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UEP </a:t>
            </a:r>
            <a:r>
              <a:rPr lang="zh-CN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的思想与联邦学习模型传输有效结合？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444041"/>
      </p:ext>
    </p:extLst>
  </p:cSld>
  <p:clrMapOvr>
    <a:masterClrMapping/>
  </p:clrMapOvr>
  <p:transition advTm="124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22420" y="1444146"/>
            <a:ext cx="6465231" cy="576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删</a:t>
            </a:r>
            <a:r>
              <a:rPr lang="zh-CN" altLang="en-US" sz="24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余卷积码 </a:t>
            </a:r>
            <a:r>
              <a:rPr lang="en-US" altLang="zh-CN" sz="24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(RCPC codes) + </a:t>
            </a:r>
            <a:r>
              <a:rPr lang="zh-CN" altLang="en-US" sz="24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分层调制 </a:t>
            </a:r>
            <a:r>
              <a:rPr lang="en-US" altLang="zh-CN" sz="24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(HM)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40196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UEP 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编码和调制方案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83" y="2065224"/>
            <a:ext cx="7652717" cy="4519726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722420" y="2417275"/>
            <a:ext cx="6280563" cy="4101993"/>
            <a:chOff x="722420" y="2417275"/>
            <a:chExt cx="6280563" cy="4101993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2420" y="4337720"/>
              <a:ext cx="6280563" cy="2181548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</p:pic>
        <p:sp>
          <p:nvSpPr>
            <p:cNvPr id="10" name="文本框 9"/>
            <p:cNvSpPr txBox="1"/>
            <p:nvPr/>
          </p:nvSpPr>
          <p:spPr>
            <a:xfrm>
              <a:off x="764897" y="4379656"/>
              <a:ext cx="12939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 </a:t>
              </a:r>
              <a:r>
                <a:rPr lang="en-US" altLang="zh-CN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 </a:t>
              </a:r>
              <a:r>
                <a:rPr lang="zh-CN" altLang="en-US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种码率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 bwMode="auto">
            <a:xfrm flipH="1">
              <a:off x="2869949" y="2417275"/>
              <a:ext cx="796704" cy="1920445"/>
            </a:xfrm>
            <a:prstGeom prst="line">
              <a:avLst/>
            </a:prstGeom>
            <a:solidFill>
              <a:schemeClr val="tx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" name="组合 19"/>
          <p:cNvGrpSpPr/>
          <p:nvPr/>
        </p:nvGrpSpPr>
        <p:grpSpPr>
          <a:xfrm>
            <a:off x="4246891" y="3250194"/>
            <a:ext cx="4526969" cy="3269074"/>
            <a:chOff x="4246891" y="3250194"/>
            <a:chExt cx="4526969" cy="3269074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46891" y="3652806"/>
              <a:ext cx="4526969" cy="2866462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</p:pic>
        <p:sp>
          <p:nvSpPr>
            <p:cNvPr id="11" name="文本框 10"/>
            <p:cNvSpPr txBox="1"/>
            <p:nvPr/>
          </p:nvSpPr>
          <p:spPr>
            <a:xfrm>
              <a:off x="6766900" y="3737968"/>
              <a:ext cx="2006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16-HQAM/64-HQAM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 bwMode="auto">
            <a:xfrm flipH="1">
              <a:off x="7251826" y="3250194"/>
              <a:ext cx="518554" cy="402612"/>
            </a:xfrm>
            <a:prstGeom prst="line">
              <a:avLst/>
            </a:prstGeom>
            <a:solidFill>
              <a:schemeClr val="tx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149655258"/>
      </p:ext>
    </p:extLst>
  </p:cSld>
  <p:clrMapOvr>
    <a:masterClrMapping/>
  </p:clrMapOvr>
  <p:transition advTm="124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59731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用于联邦学习的多维度</a:t>
            </a:r>
            <a:r>
              <a:rPr lang="en-US" altLang="zh-CN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UEP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方案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974850" y="1983091"/>
            <a:ext cx="4910541" cy="3683441"/>
            <a:chOff x="1974850" y="1983091"/>
            <a:chExt cx="4910541" cy="3683441"/>
          </a:xfrm>
        </p:grpSpPr>
        <p:cxnSp>
          <p:nvCxnSpPr>
            <p:cNvPr id="11" name="直接箭头连接符 10"/>
            <p:cNvCxnSpPr/>
            <p:nvPr/>
          </p:nvCxnSpPr>
          <p:spPr bwMode="auto">
            <a:xfrm flipV="1">
              <a:off x="1974850" y="2751882"/>
              <a:ext cx="4549230" cy="2914650"/>
            </a:xfrm>
            <a:prstGeom prst="straightConnector1">
              <a:avLst/>
            </a:prstGeom>
            <a:solidFill>
              <a:schemeClr val="tx1"/>
            </a:solidFill>
            <a:ln w="28575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6496" y="1996128"/>
              <a:ext cx="3511436" cy="2987326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 rot="19631798">
              <a:off x="3327680" y="4183411"/>
              <a:ext cx="32438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网络维度 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基于动态范围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有效位宽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 rot="19665821">
              <a:off x="2550983" y="5064877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高保护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 rot="19665821">
              <a:off x="4332283" y="3952080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rgbClr val="C00000">
                      <a:alpha val="67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低保护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 rot="19665821">
              <a:off x="5793950" y="3029542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高保护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458780" y="2728818"/>
              <a:ext cx="13388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全连接层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546563" y="1983091"/>
              <a:ext cx="13388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全连接层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220530" y="3819141"/>
              <a:ext cx="1159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卷积层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499066" y="1848137"/>
            <a:ext cx="2139390" cy="3812819"/>
            <a:chOff x="1499066" y="1848137"/>
            <a:chExt cx="2139390" cy="3812819"/>
          </a:xfrm>
        </p:grpSpPr>
        <p:sp>
          <p:nvSpPr>
            <p:cNvPr id="37" name="文本框 36"/>
            <p:cNvSpPr txBox="1"/>
            <p:nvPr/>
          </p:nvSpPr>
          <p:spPr>
            <a:xfrm>
              <a:off x="2838237" y="2052185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高保护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838236" y="3010859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C00000">
                      <a:alpha val="67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低保护</a:t>
              </a:r>
              <a:endParaRPr lang="zh-CN" altLang="en-US" sz="1600" dirty="0">
                <a:solidFill>
                  <a:srgbClr val="C00000">
                    <a:alpha val="67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直接箭头连接符 23"/>
            <p:cNvCxnSpPr/>
            <p:nvPr/>
          </p:nvCxnSpPr>
          <p:spPr bwMode="auto">
            <a:xfrm flipV="1">
              <a:off x="1974850" y="1848137"/>
              <a:ext cx="0" cy="3812819"/>
            </a:xfrm>
            <a:prstGeom prst="straightConnector1">
              <a:avLst/>
            </a:prstGeom>
            <a:solidFill>
              <a:schemeClr val="tx1"/>
            </a:solidFill>
            <a:ln w="28575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" name="任意多边形 27"/>
            <p:cNvSpPr/>
            <p:nvPr/>
          </p:nvSpPr>
          <p:spPr bwMode="auto">
            <a:xfrm>
              <a:off x="2557463" y="3493475"/>
              <a:ext cx="446087" cy="795107"/>
            </a:xfrm>
            <a:custGeom>
              <a:avLst/>
              <a:gdLst>
                <a:gd name="connsiteX0" fmla="*/ 331014 w 331014"/>
                <a:gd name="connsiteY0" fmla="*/ 565150 h 565150"/>
                <a:gd name="connsiteX1" fmla="*/ 51614 w 331014"/>
                <a:gd name="connsiteY1" fmla="*/ 368300 h 565150"/>
                <a:gd name="connsiteX2" fmla="*/ 814 w 331014"/>
                <a:gd name="connsiteY2" fmla="*/ 0 h 56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1014" h="565150">
                  <a:moveTo>
                    <a:pt x="331014" y="565150"/>
                  </a:moveTo>
                  <a:cubicBezTo>
                    <a:pt x="218830" y="513820"/>
                    <a:pt x="106647" y="462491"/>
                    <a:pt x="51614" y="368300"/>
                  </a:cubicBezTo>
                  <a:cubicBezTo>
                    <a:pt x="-3419" y="274109"/>
                    <a:pt x="-1303" y="137054"/>
                    <a:pt x="814" y="0"/>
                  </a:cubicBezTo>
                </a:path>
              </a:pathLst>
            </a:custGeom>
            <a:noFill/>
            <a:ln w="19050">
              <a:solidFill>
                <a:srgbClr val="7030A0"/>
              </a:solidFill>
              <a:miter lim="800000"/>
              <a:headEnd type="none" w="med" len="med"/>
              <a:tailEnd type="arrow" w="med" len="med"/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2260819" y="2037637"/>
              <a:ext cx="590550" cy="1380068"/>
              <a:chOff x="939800" y="1803296"/>
              <a:chExt cx="590550" cy="1380068"/>
            </a:xfrm>
          </p:grpSpPr>
          <p:sp>
            <p:nvSpPr>
              <p:cNvPr id="29" name="矩形 28"/>
              <p:cNvSpPr/>
              <p:nvPr/>
            </p:nvSpPr>
            <p:spPr bwMode="auto">
              <a:xfrm>
                <a:off x="939800" y="1803296"/>
                <a:ext cx="590550" cy="381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7030A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/>
                <a:r>
                  <a:rPr lang="zh-CN" altLang="en-US" sz="1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符号位</a:t>
                </a:r>
                <a:endParaRPr lang="zh-CN" altLang="en-US" sz="1000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 bwMode="auto">
              <a:xfrm>
                <a:off x="939800" y="2686050"/>
                <a:ext cx="590550" cy="49731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7030A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/>
                <a:r>
                  <a:rPr lang="en-US" altLang="zh-CN" sz="1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LSB</a:t>
                </a:r>
                <a:endParaRPr lang="zh-CN" altLang="en-US" sz="1000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 bwMode="auto">
              <a:xfrm>
                <a:off x="939800" y="2186210"/>
                <a:ext cx="590550" cy="49731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7030A0"/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/>
                <a:r>
                  <a:rPr lang="en-US" altLang="zh-CN" sz="10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1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SB</a:t>
                </a:r>
                <a:endParaRPr lang="zh-CN" altLang="en-US" sz="1000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文本框 38"/>
            <p:cNvSpPr txBox="1"/>
            <p:nvPr/>
          </p:nvSpPr>
          <p:spPr>
            <a:xfrm rot="16200000">
              <a:off x="497349" y="3518074"/>
              <a:ext cx="23727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维度 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基于误码影响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638300" y="4288582"/>
            <a:ext cx="6464300" cy="1882636"/>
            <a:chOff x="1638300" y="4288582"/>
            <a:chExt cx="6464300" cy="1882636"/>
          </a:xfrm>
        </p:grpSpPr>
        <p:cxnSp>
          <p:nvCxnSpPr>
            <p:cNvPr id="6" name="直接箭头连接符 5"/>
            <p:cNvCxnSpPr/>
            <p:nvPr/>
          </p:nvCxnSpPr>
          <p:spPr bwMode="auto">
            <a:xfrm>
              <a:off x="1638300" y="5666532"/>
              <a:ext cx="6464300" cy="0"/>
            </a:xfrm>
            <a:prstGeom prst="straightConnector1">
              <a:avLst/>
            </a:prstGeom>
            <a:solidFill>
              <a:schemeClr val="tx1"/>
            </a:solidFill>
            <a:ln w="28575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文本框 6"/>
            <p:cNvSpPr txBox="1"/>
            <p:nvPr/>
          </p:nvSpPr>
          <p:spPr>
            <a:xfrm>
              <a:off x="1638646" y="5739208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C00000">
                      <a:alpha val="67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低保护</a:t>
              </a:r>
              <a:endParaRPr lang="zh-CN" altLang="en-US" sz="1600" dirty="0">
                <a:solidFill>
                  <a:srgbClr val="C00000">
                    <a:alpha val="67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302034" y="5739208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高保护</a:t>
              </a:r>
              <a:endPara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354650" y="5801886"/>
              <a:ext cx="30315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时间维度 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 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SGD 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的训练原理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68238" y="4288582"/>
              <a:ext cx="1654818" cy="13546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7695279"/>
      </p:ext>
    </p:extLst>
  </p:cSld>
  <p:clrMapOvr>
    <a:masterClrMapping/>
  </p:clrMapOvr>
  <p:transition advTm="124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75157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UEP 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传输仿真实验结果：分层调制 </a:t>
            </a:r>
            <a:r>
              <a:rPr lang="en-US" altLang="zh-CN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(HM)</a:t>
            </a:r>
            <a:endParaRPr lang="zh-CN" altLang="en-US" sz="32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020" y="2896104"/>
            <a:ext cx="4957666" cy="396189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63604" y="1444146"/>
            <a:ext cx="833215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分层调制 </a:t>
            </a:r>
            <a:r>
              <a:rPr lang="en-US" altLang="zh-CN" sz="20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(HM) </a:t>
            </a:r>
            <a:r>
              <a:rPr lang="zh-CN" altLang="en-US" sz="20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实验结果</a:t>
            </a:r>
            <a:r>
              <a:rPr lang="en-US" altLang="zh-CN" sz="20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——</a:t>
            </a:r>
            <a:r>
              <a:rPr lang="zh-CN" altLang="en-US" sz="20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参数维度</a:t>
            </a:r>
            <a:endParaRPr lang="en-US" altLang="zh-CN" sz="2000" b="1" dirty="0" smtClean="0">
              <a:solidFill>
                <a:schemeClr val="accent4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实验条件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: 8-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比特量化；符号位和高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三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位为 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HP 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比特、低四位为 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LP 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比特</a:t>
            </a:r>
            <a:endParaRPr lang="en-US" altLang="zh-CN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基本结论：在一定范围内，调制层面的 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UEP 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可以有效提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高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收敛的准确率</a:t>
            </a:r>
            <a:endParaRPr lang="en-US" altLang="zh-CN" sz="2000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80294" y="2789479"/>
            <a:ext cx="3528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CIFAR-10 | IID | 64-QAM | SNR=22dB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 flipV="1">
            <a:off x="5901265" y="3413916"/>
            <a:ext cx="0" cy="895739"/>
          </a:xfrm>
          <a:prstGeom prst="straightConnector1">
            <a:avLst/>
          </a:prstGeom>
          <a:solidFill>
            <a:schemeClr val="tx1"/>
          </a:soli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ysDot"/>
            <a:round/>
            <a:headEnd type="arrow" w="med" len="med"/>
            <a:tailEnd type="arrow" w="med" len="med"/>
          </a:ln>
          <a:effectLst/>
        </p:spPr>
      </p:cxnSp>
      <p:sp>
        <p:nvSpPr>
          <p:cNvPr id="11" name="文本框 10"/>
          <p:cNvSpPr txBox="1"/>
          <p:nvPr/>
        </p:nvSpPr>
        <p:spPr>
          <a:xfrm>
            <a:off x="5849527" y="3479037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~8%</a:t>
            </a:r>
            <a:endParaRPr lang="zh-CN" altLang="en-US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9077263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012906" y="3861904"/>
            <a:ext cx="3714175" cy="2916000"/>
            <a:chOff x="5012906" y="3861904"/>
            <a:chExt cx="3714175" cy="29160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12906" y="3861904"/>
              <a:ext cx="3714175" cy="2916000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7499120" y="6127100"/>
              <a:ext cx="228829" cy="146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95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EEP</a:t>
              </a:r>
              <a:endParaRPr lang="zh-CN" altLang="en-US" sz="95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69451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UEP 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传输仿真实验结果：</a:t>
            </a:r>
            <a:r>
              <a:rPr lang="en-US" altLang="zh-CN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RCPC </a:t>
            </a:r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编码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52" y="3861904"/>
            <a:ext cx="3704686" cy="291750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53644" y="1649423"/>
            <a:ext cx="3727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网络维度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UEP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CIFAR-10 | 6-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比特量化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469931" y="2162477"/>
          <a:ext cx="4294728" cy="143085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40796">
                  <a:extLst>
                    <a:ext uri="{9D8B030D-6E8A-4147-A177-3AD203B41FA5}">
                      <a16:colId xmlns:a16="http://schemas.microsoft.com/office/drawing/2014/main" val="3505281107"/>
                    </a:ext>
                  </a:extLst>
                </a:gridCol>
                <a:gridCol w="597160">
                  <a:extLst>
                    <a:ext uri="{9D8B030D-6E8A-4147-A177-3AD203B41FA5}">
                      <a16:colId xmlns:a16="http://schemas.microsoft.com/office/drawing/2014/main" val="1734195800"/>
                    </a:ext>
                  </a:extLst>
                </a:gridCol>
                <a:gridCol w="615820">
                  <a:extLst>
                    <a:ext uri="{9D8B030D-6E8A-4147-A177-3AD203B41FA5}">
                      <a16:colId xmlns:a16="http://schemas.microsoft.com/office/drawing/2014/main" val="2012558170"/>
                    </a:ext>
                  </a:extLst>
                </a:gridCol>
                <a:gridCol w="715347">
                  <a:extLst>
                    <a:ext uri="{9D8B030D-6E8A-4147-A177-3AD203B41FA5}">
                      <a16:colId xmlns:a16="http://schemas.microsoft.com/office/drawing/2014/main" val="3680983580"/>
                    </a:ext>
                  </a:extLst>
                </a:gridCol>
                <a:gridCol w="727788">
                  <a:extLst>
                    <a:ext uri="{9D8B030D-6E8A-4147-A177-3AD203B41FA5}">
                      <a16:colId xmlns:a16="http://schemas.microsoft.com/office/drawing/2014/main" val="1772489341"/>
                    </a:ext>
                  </a:extLst>
                </a:gridCol>
                <a:gridCol w="547396">
                  <a:extLst>
                    <a:ext uri="{9D8B030D-6E8A-4147-A177-3AD203B41FA5}">
                      <a16:colId xmlns:a16="http://schemas.microsoft.com/office/drawing/2014/main" val="1319102436"/>
                    </a:ext>
                  </a:extLst>
                </a:gridCol>
                <a:gridCol w="650421">
                  <a:extLst>
                    <a:ext uri="{9D8B030D-6E8A-4147-A177-3AD203B41FA5}">
                      <a16:colId xmlns:a16="http://schemas.microsoft.com/office/drawing/2014/main" val="1447551921"/>
                    </a:ext>
                  </a:extLst>
                </a:gridCol>
              </a:tblGrid>
              <a:tr h="278850"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卷积层</a:t>
                      </a:r>
                      <a:r>
                        <a:rPr lang="en-US" altLang="zh-CN" sz="900" dirty="0" smtClean="0"/>
                        <a:t>1</a:t>
                      </a:r>
                      <a:endParaRPr lang="zh-CN" altLang="en-US" sz="9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卷积层</a:t>
                      </a:r>
                      <a:r>
                        <a:rPr lang="en-US" altLang="zh-CN" sz="900" dirty="0" smtClean="0"/>
                        <a:t>2</a:t>
                      </a:r>
                      <a:endParaRPr lang="zh-CN" altLang="en-US" sz="9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全连接层</a:t>
                      </a:r>
                      <a:r>
                        <a:rPr lang="en-US" altLang="zh-CN" sz="900" dirty="0" smtClean="0"/>
                        <a:t>1</a:t>
                      </a:r>
                      <a:endParaRPr lang="zh-CN" altLang="en-US" sz="9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全连接层</a:t>
                      </a:r>
                      <a:r>
                        <a:rPr lang="en-US" altLang="zh-CN" sz="900" dirty="0" smtClean="0"/>
                        <a:t>2</a:t>
                      </a:r>
                      <a:endParaRPr lang="zh-CN" altLang="en-US" sz="9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输出层</a:t>
                      </a:r>
                      <a:endParaRPr lang="zh-CN" altLang="en-US" sz="9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平均码率</a:t>
                      </a:r>
                      <a:endParaRPr lang="zh-CN" altLang="en-US" sz="9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514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 smtClean="0">
                          <a:solidFill>
                            <a:srgbClr val="000000"/>
                          </a:solidFill>
                        </a:rPr>
                        <a:t>数量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</a:rPr>
                        <a:t>4,864</a:t>
                      </a:r>
                      <a:endParaRPr lang="zh-CN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</a:rPr>
                        <a:t>102,464</a:t>
                      </a:r>
                      <a:endParaRPr lang="zh-CN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 smtClean="0">
                          <a:solidFill>
                            <a:srgbClr val="FF0000"/>
                          </a:solidFill>
                        </a:rPr>
                        <a:t>885,120</a:t>
                      </a:r>
                      <a:endParaRPr lang="zh-CN" altLang="en-US" sz="9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</a:rPr>
                        <a:t>73,920</a:t>
                      </a:r>
                      <a:endParaRPr lang="zh-CN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</a:rPr>
                        <a:t>2,112</a:t>
                      </a:r>
                      <a:endParaRPr lang="zh-CN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zh-CN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9864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kern="1200" dirty="0" smtClean="0">
                          <a:solidFill>
                            <a:srgbClr val="000000"/>
                          </a:solidFill>
                        </a:rPr>
                        <a:t>范围</a:t>
                      </a:r>
                      <a:endParaRPr lang="zh-CN" altLang="en-US" sz="10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</a:rPr>
                        <a:t>5e-1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</a:rPr>
                        <a:t>1e-1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</a:rPr>
                        <a:t>5e-2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</a:rPr>
                        <a:t>1e-1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</a:rPr>
                        <a:t>1e-1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6373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 smtClean="0">
                          <a:solidFill>
                            <a:srgbClr val="000000"/>
                          </a:solidFill>
                        </a:rPr>
                        <a:t>EEP</a:t>
                      </a:r>
                      <a:endParaRPr lang="zh-CN" altLang="en-US" sz="10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</a:rPr>
                        <a:t>4/7</a:t>
                      </a:r>
                      <a:endParaRPr lang="zh-CN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</a:rPr>
                        <a:t>4/7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</a:rPr>
                        <a:t>4/7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</a:rPr>
                        <a:t>4/7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</a:rPr>
                        <a:t>4/7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 smtClean="0">
                          <a:solidFill>
                            <a:srgbClr val="000000"/>
                          </a:solidFill>
                        </a:rPr>
                        <a:t>0.5714</a:t>
                      </a:r>
                      <a:endParaRPr lang="zh-CN" altLang="en-US" sz="9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6262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 smtClean="0">
                          <a:solidFill>
                            <a:srgbClr val="000000"/>
                          </a:solidFill>
                        </a:rPr>
                        <a:t>UEP</a:t>
                      </a:r>
                      <a:endParaRPr lang="zh-CN" altLang="en-US" sz="10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</a:rPr>
                        <a:t>4/12</a:t>
                      </a:r>
                      <a:endParaRPr lang="zh-CN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</a:rPr>
                        <a:t>4/12</a:t>
                      </a:r>
                      <a:endParaRPr lang="zh-CN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</a:rPr>
                        <a:t>4/6</a:t>
                      </a:r>
                      <a:endParaRPr lang="zh-CN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</a:rPr>
                        <a:t>4/11</a:t>
                      </a:r>
                      <a:endParaRPr lang="zh-CN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</a:rPr>
                        <a:t>4/12</a:t>
                      </a:r>
                      <a:endParaRPr lang="zh-CN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 smtClean="0">
                          <a:solidFill>
                            <a:srgbClr val="000000"/>
                          </a:solidFill>
                        </a:rPr>
                        <a:t>0.5747</a:t>
                      </a:r>
                      <a:endParaRPr lang="zh-CN" altLang="en-US" sz="9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1483048"/>
                  </a:ext>
                </a:extLst>
              </a:tr>
            </a:tbl>
          </a:graphicData>
        </a:graphic>
      </p:graphicFrame>
      <p:sp>
        <p:nvSpPr>
          <p:cNvPr id="10" name="椭圆 9"/>
          <p:cNvSpPr/>
          <p:nvPr/>
        </p:nvSpPr>
        <p:spPr bwMode="auto">
          <a:xfrm>
            <a:off x="3309083" y="4180114"/>
            <a:ext cx="199054" cy="1139790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dash"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60398" y="4750009"/>
            <a:ext cx="1048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</a:t>
            </a:r>
            <a:r>
              <a:rPr lang="en-US" altLang="zh-CN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&gt;10%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06342" y="1649423"/>
            <a:ext cx="3727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时间维度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UEP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CIFAR-10 | 6-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比特量化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5140806" y="2162477"/>
          <a:ext cx="3458375" cy="98877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691675">
                  <a:extLst>
                    <a:ext uri="{9D8B030D-6E8A-4147-A177-3AD203B41FA5}">
                      <a16:colId xmlns:a16="http://schemas.microsoft.com/office/drawing/2014/main" val="3505281107"/>
                    </a:ext>
                  </a:extLst>
                </a:gridCol>
                <a:gridCol w="691675">
                  <a:extLst>
                    <a:ext uri="{9D8B030D-6E8A-4147-A177-3AD203B41FA5}">
                      <a16:colId xmlns:a16="http://schemas.microsoft.com/office/drawing/2014/main" val="1734195800"/>
                    </a:ext>
                  </a:extLst>
                </a:gridCol>
                <a:gridCol w="691675">
                  <a:extLst>
                    <a:ext uri="{9D8B030D-6E8A-4147-A177-3AD203B41FA5}">
                      <a16:colId xmlns:a16="http://schemas.microsoft.com/office/drawing/2014/main" val="2012558170"/>
                    </a:ext>
                  </a:extLst>
                </a:gridCol>
                <a:gridCol w="691675">
                  <a:extLst>
                    <a:ext uri="{9D8B030D-6E8A-4147-A177-3AD203B41FA5}">
                      <a16:colId xmlns:a16="http://schemas.microsoft.com/office/drawing/2014/main" val="3680983580"/>
                    </a:ext>
                  </a:extLst>
                </a:gridCol>
                <a:gridCol w="691675">
                  <a:extLst>
                    <a:ext uri="{9D8B030D-6E8A-4147-A177-3AD203B41FA5}">
                      <a16:colId xmlns:a16="http://schemas.microsoft.com/office/drawing/2014/main" val="1447551921"/>
                    </a:ext>
                  </a:extLst>
                </a:gridCol>
              </a:tblGrid>
              <a:tr h="412772"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前期</a:t>
                      </a:r>
                      <a:endParaRPr lang="en-US" altLang="zh-CN" sz="900" dirty="0" smtClean="0"/>
                    </a:p>
                    <a:p>
                      <a:pPr algn="ctr"/>
                      <a:r>
                        <a:rPr lang="en-US" altLang="zh-CN" sz="900" dirty="0" smtClean="0"/>
                        <a:t>1-250</a:t>
                      </a:r>
                      <a:endParaRPr lang="zh-CN" altLang="en-US" sz="9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中期</a:t>
                      </a:r>
                      <a:endParaRPr lang="en-US" altLang="zh-CN" sz="900" dirty="0" smtClean="0"/>
                    </a:p>
                    <a:p>
                      <a:pPr algn="ctr"/>
                      <a:r>
                        <a:rPr lang="en-US" altLang="zh-CN" sz="900" dirty="0" smtClean="0"/>
                        <a:t>251-500</a:t>
                      </a:r>
                      <a:endParaRPr lang="zh-CN" altLang="en-US" sz="9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后期</a:t>
                      </a:r>
                      <a:endParaRPr lang="en-US" altLang="zh-CN" sz="900" dirty="0" smtClean="0"/>
                    </a:p>
                    <a:p>
                      <a:pPr algn="ctr"/>
                      <a:r>
                        <a:rPr lang="en-US" altLang="zh-CN" sz="900" dirty="0" smtClean="0"/>
                        <a:t>501-750</a:t>
                      </a:r>
                      <a:endParaRPr lang="zh-CN" altLang="en-US" sz="9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平均码率</a:t>
                      </a:r>
                      <a:endParaRPr lang="zh-CN" altLang="en-US" sz="9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514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 smtClean="0">
                          <a:solidFill>
                            <a:srgbClr val="000000"/>
                          </a:solidFill>
                        </a:rPr>
                        <a:t>EEP</a:t>
                      </a:r>
                      <a:endParaRPr lang="zh-CN" altLang="en-US" sz="10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solidFill>
                            <a:srgbClr val="000000"/>
                          </a:solidFill>
                        </a:rPr>
                        <a:t>4/7</a:t>
                      </a:r>
                      <a:endParaRPr lang="zh-CN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</a:rPr>
                        <a:t>4/7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</a:rPr>
                        <a:t>4/7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 smtClean="0">
                          <a:solidFill>
                            <a:srgbClr val="000000"/>
                          </a:solidFill>
                        </a:rPr>
                        <a:t>4/7</a:t>
                      </a:r>
                      <a:endParaRPr lang="zh-CN" altLang="en-US" sz="9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6262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 smtClean="0">
                          <a:solidFill>
                            <a:srgbClr val="000000"/>
                          </a:solidFill>
                        </a:rPr>
                        <a:t>UEP</a:t>
                      </a:r>
                      <a:endParaRPr lang="zh-CN" altLang="en-US" sz="10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4/6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4/7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4/8</a:t>
                      </a:r>
                      <a:endParaRPr lang="zh-CN" altLang="en-US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 smtClean="0">
                          <a:solidFill>
                            <a:srgbClr val="000000"/>
                          </a:solidFill>
                        </a:rPr>
                        <a:t>4/7</a:t>
                      </a:r>
                      <a:endParaRPr lang="zh-CN" altLang="en-US" sz="9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1483048"/>
                  </a:ext>
                </a:extLst>
              </a:tr>
            </a:tbl>
          </a:graphicData>
        </a:graphic>
      </p:graphicFrame>
      <p:sp>
        <p:nvSpPr>
          <p:cNvPr id="14" name="椭圆 13"/>
          <p:cNvSpPr/>
          <p:nvPr/>
        </p:nvSpPr>
        <p:spPr bwMode="auto">
          <a:xfrm>
            <a:off x="8400127" y="4180114"/>
            <a:ext cx="199054" cy="877672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dash"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875784" y="5068219"/>
            <a:ext cx="1048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</a:t>
            </a:r>
            <a:r>
              <a:rPr lang="en-US" altLang="zh-CN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&gt;10%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 bwMode="auto">
          <a:xfrm>
            <a:off x="2705878" y="3373237"/>
            <a:ext cx="0" cy="16648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直接箭头连接符 21"/>
          <p:cNvCxnSpPr/>
          <p:nvPr/>
        </p:nvCxnSpPr>
        <p:spPr bwMode="auto">
          <a:xfrm>
            <a:off x="1396482" y="3343175"/>
            <a:ext cx="0" cy="16648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3" name="直接箭头连接符 22"/>
          <p:cNvCxnSpPr/>
          <p:nvPr/>
        </p:nvCxnSpPr>
        <p:spPr bwMode="auto">
          <a:xfrm>
            <a:off x="1440025" y="3343175"/>
            <a:ext cx="0" cy="16648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4" name="直接箭头连接符 23"/>
          <p:cNvCxnSpPr/>
          <p:nvPr/>
        </p:nvCxnSpPr>
        <p:spPr bwMode="auto">
          <a:xfrm>
            <a:off x="2012302" y="3343175"/>
            <a:ext cx="0" cy="16648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5" name="直接箭头连接符 24"/>
          <p:cNvCxnSpPr/>
          <p:nvPr/>
        </p:nvCxnSpPr>
        <p:spPr bwMode="auto">
          <a:xfrm>
            <a:off x="2055845" y="3343175"/>
            <a:ext cx="0" cy="16648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6" name="直接箭头连接符 25"/>
          <p:cNvCxnSpPr/>
          <p:nvPr/>
        </p:nvCxnSpPr>
        <p:spPr bwMode="auto">
          <a:xfrm>
            <a:off x="4014191" y="3343175"/>
            <a:ext cx="0" cy="16648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直接箭头连接符 26"/>
          <p:cNvCxnSpPr/>
          <p:nvPr/>
        </p:nvCxnSpPr>
        <p:spPr bwMode="auto">
          <a:xfrm>
            <a:off x="4057734" y="3343175"/>
            <a:ext cx="0" cy="16648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8" name="直接箭头连接符 27"/>
          <p:cNvCxnSpPr/>
          <p:nvPr/>
        </p:nvCxnSpPr>
        <p:spPr bwMode="auto">
          <a:xfrm>
            <a:off x="3416858" y="3343175"/>
            <a:ext cx="0" cy="16648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9" name="直接箭头连接符 28"/>
          <p:cNvCxnSpPr/>
          <p:nvPr/>
        </p:nvCxnSpPr>
        <p:spPr bwMode="auto">
          <a:xfrm>
            <a:off x="6379029" y="2922259"/>
            <a:ext cx="0" cy="16648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直接箭头连接符 29"/>
          <p:cNvCxnSpPr/>
          <p:nvPr/>
        </p:nvCxnSpPr>
        <p:spPr bwMode="auto">
          <a:xfrm>
            <a:off x="7765097" y="2922259"/>
            <a:ext cx="0" cy="16648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1" name="直接箭头连接符 30"/>
          <p:cNvCxnSpPr/>
          <p:nvPr/>
        </p:nvCxnSpPr>
        <p:spPr bwMode="auto">
          <a:xfrm>
            <a:off x="7808640" y="2922259"/>
            <a:ext cx="0" cy="16648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2" name="直接箭头连接符 31"/>
          <p:cNvCxnSpPr/>
          <p:nvPr/>
        </p:nvCxnSpPr>
        <p:spPr bwMode="auto">
          <a:xfrm>
            <a:off x="7111780" y="2922259"/>
            <a:ext cx="0" cy="166480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37516115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55402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动态链路下的自适应传输方案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016898" y="2382417"/>
            <a:ext cx="3645160" cy="223934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右箭头 5"/>
          <p:cNvSpPr/>
          <p:nvPr/>
        </p:nvSpPr>
        <p:spPr bwMode="auto">
          <a:xfrm>
            <a:off x="2438400" y="3352799"/>
            <a:ext cx="478972" cy="267478"/>
          </a:xfrm>
          <a:prstGeom prst="rightArrow">
            <a:avLst/>
          </a:prstGeom>
          <a:solidFill>
            <a:srgbClr val="7030A0"/>
          </a:solidFill>
          <a:ln w="38100">
            <a:noFill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3902" y="3136314"/>
            <a:ext cx="1880644" cy="7004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 smtClean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当前信噪比 </a:t>
            </a:r>
            <a:r>
              <a:rPr lang="en-US" altLang="zh-CN" sz="1400" i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snr</a:t>
            </a:r>
            <a:endParaRPr lang="en-US" altLang="zh-CN" sz="1400" dirty="0">
              <a:solidFill>
                <a:srgbClr val="7030A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 smtClean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最大允许误差 </a:t>
            </a:r>
            <a:r>
              <a:rPr lang="en-US" altLang="zh-CN" sz="1400" dirty="0" err="1" smtClean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MSE</a:t>
            </a:r>
            <a:r>
              <a:rPr lang="en-US" altLang="zh-CN" sz="1400" baseline="-25000" dirty="0" err="1" smtClean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endParaRPr lang="zh-CN" altLang="en-US" sz="1400" baseline="-25000" dirty="0">
              <a:solidFill>
                <a:srgbClr val="7030A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右箭头 8"/>
          <p:cNvSpPr/>
          <p:nvPr/>
        </p:nvSpPr>
        <p:spPr bwMode="auto">
          <a:xfrm>
            <a:off x="6811347" y="3352799"/>
            <a:ext cx="478972" cy="267478"/>
          </a:xfrm>
          <a:prstGeom prst="rightArrow">
            <a:avLst/>
          </a:prstGeom>
          <a:solidFill>
            <a:srgbClr val="7030A0"/>
          </a:solidFill>
          <a:ln w="38100">
            <a:noFill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43019" y="3136314"/>
            <a:ext cx="14414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满足误差</a:t>
            </a:r>
            <a:r>
              <a:rPr lang="zh-CN" altLang="en-US" dirty="0" smtClean="0"/>
              <a:t>要求、</a:t>
            </a:r>
            <a:endParaRPr lang="en-US" altLang="zh-CN" dirty="0"/>
          </a:p>
          <a:p>
            <a:r>
              <a:rPr lang="zh-CN" altLang="en-US" dirty="0"/>
              <a:t>效率最高的码型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3016898" y="1633363"/>
            <a:ext cx="926841" cy="559837"/>
            <a:chOff x="3495869" y="1633363"/>
            <a:chExt cx="926841" cy="559837"/>
          </a:xfrm>
        </p:grpSpPr>
        <p:grpSp>
          <p:nvGrpSpPr>
            <p:cNvPr id="44" name="组合 43"/>
            <p:cNvGrpSpPr/>
            <p:nvPr/>
          </p:nvGrpSpPr>
          <p:grpSpPr>
            <a:xfrm>
              <a:off x="3495869" y="1633363"/>
              <a:ext cx="926841" cy="559837"/>
              <a:chOff x="3495869" y="1633363"/>
              <a:chExt cx="926841" cy="559837"/>
            </a:xfrm>
          </p:grpSpPr>
          <p:sp>
            <p:nvSpPr>
              <p:cNvPr id="28" name="矩形 27"/>
              <p:cNvSpPr/>
              <p:nvPr/>
            </p:nvSpPr>
            <p:spPr bwMode="auto">
              <a:xfrm>
                <a:off x="3495869" y="1633363"/>
                <a:ext cx="926841" cy="5598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5">
                    <a:lumMod val="50000"/>
                  </a:schemeClr>
                </a:solidFill>
                <a:miter lim="800000"/>
                <a:headEnd/>
                <a:tailEnd/>
              </a:ln>
            </p:spPr>
            <p:txBody>
              <a:bodyPr lIns="9000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 dirty="0" smtClean="0">
                  <a:solidFill>
                    <a:srgbClr val="8000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 bwMode="auto">
              <a:xfrm>
                <a:off x="3508310" y="1772816"/>
                <a:ext cx="914400" cy="0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" name="直接连接符 30"/>
              <p:cNvCxnSpPr>
                <a:endCxn id="28" idx="3"/>
              </p:cNvCxnSpPr>
              <p:nvPr/>
            </p:nvCxnSpPr>
            <p:spPr bwMode="auto">
              <a:xfrm>
                <a:off x="3508310" y="1913281"/>
                <a:ext cx="914400" cy="1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2" name="直接连接符 31"/>
              <p:cNvCxnSpPr/>
              <p:nvPr/>
            </p:nvCxnSpPr>
            <p:spPr bwMode="auto">
              <a:xfrm>
                <a:off x="3508310" y="2056350"/>
                <a:ext cx="914400" cy="0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直接连接符 33"/>
              <p:cNvCxnSpPr/>
              <p:nvPr/>
            </p:nvCxnSpPr>
            <p:spPr bwMode="auto">
              <a:xfrm>
                <a:off x="3663820" y="1633363"/>
                <a:ext cx="0" cy="559837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直接连接符 34"/>
              <p:cNvCxnSpPr/>
              <p:nvPr/>
            </p:nvCxnSpPr>
            <p:spPr bwMode="auto">
              <a:xfrm>
                <a:off x="3837991" y="1633363"/>
                <a:ext cx="0" cy="559837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直接连接符 35"/>
              <p:cNvCxnSpPr/>
              <p:nvPr/>
            </p:nvCxnSpPr>
            <p:spPr bwMode="auto">
              <a:xfrm>
                <a:off x="4018383" y="1633363"/>
                <a:ext cx="0" cy="559837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直接连接符 36"/>
              <p:cNvCxnSpPr/>
              <p:nvPr/>
            </p:nvCxnSpPr>
            <p:spPr bwMode="auto">
              <a:xfrm>
                <a:off x="4229877" y="1633363"/>
                <a:ext cx="0" cy="559837"/>
              </a:xfrm>
              <a:prstGeom prst="line">
                <a:avLst/>
              </a:prstGeom>
              <a:solidFill>
                <a:schemeClr val="tx1"/>
              </a:solidFill>
              <a:ln w="19050" cap="flat" cmpd="sng" algn="ctr">
                <a:solidFill>
                  <a:schemeClr val="accent5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5" name="文本框 44"/>
            <p:cNvSpPr txBox="1"/>
            <p:nvPr/>
          </p:nvSpPr>
          <p:spPr>
            <a:xfrm>
              <a:off x="3519899" y="1752190"/>
              <a:ext cx="902811" cy="307777"/>
            </a:xfrm>
            <a:prstGeom prst="rect">
              <a:avLst/>
            </a:prstGeom>
            <a:solidFill>
              <a:schemeClr val="bg1"/>
            </a:solidFill>
            <a:effectLst>
              <a:softEdge rad="31750"/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误码率表</a:t>
              </a:r>
              <a:endParaRPr lang="zh-CN" altLang="en-US" sz="14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8" name="肘形连接符 47"/>
          <p:cNvCxnSpPr>
            <a:stCxn id="45" idx="3"/>
            <a:endCxn id="5" idx="0"/>
          </p:cNvCxnSpPr>
          <p:nvPr/>
        </p:nvCxnSpPr>
        <p:spPr bwMode="auto">
          <a:xfrm>
            <a:off x="3943739" y="1906079"/>
            <a:ext cx="895739" cy="476338"/>
          </a:xfrm>
          <a:prstGeom prst="bentConnector2">
            <a:avLst/>
          </a:prstGeom>
          <a:solidFill>
            <a:schemeClr val="tx1"/>
          </a:solidFill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2" name="组合 51"/>
          <p:cNvGrpSpPr/>
          <p:nvPr/>
        </p:nvGrpSpPr>
        <p:grpSpPr>
          <a:xfrm>
            <a:off x="3091543" y="2526423"/>
            <a:ext cx="3377681" cy="1315520"/>
            <a:chOff x="3091543" y="2526423"/>
            <a:chExt cx="3377681" cy="1315520"/>
          </a:xfrm>
        </p:grpSpPr>
        <p:sp>
          <p:nvSpPr>
            <p:cNvPr id="49" name="文本框 48"/>
            <p:cNvSpPr txBox="1"/>
            <p:nvPr/>
          </p:nvSpPr>
          <p:spPr>
            <a:xfrm>
              <a:off x="3091543" y="2526423"/>
              <a:ext cx="10615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EEP</a:t>
              </a:r>
              <a:r>
                <a:rPr lang="zh-CN" altLang="en-US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模式</a:t>
              </a:r>
              <a:endPara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3116423" y="2887836"/>
              <a:ext cx="33528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根据误码率表和</a:t>
              </a:r>
              <a:r>
                <a:rPr lang="en-US" altLang="zh-CN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MSE</a:t>
              </a:r>
              <a:r>
                <a:rPr lang="zh-CN" altLang="en-US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公式，得到各个码型在不同信噪比下的误差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即可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062193" y="2533300"/>
            <a:ext cx="3543881" cy="1739531"/>
            <a:chOff x="3062193" y="2533300"/>
            <a:chExt cx="3543881" cy="1739531"/>
          </a:xfrm>
        </p:grpSpPr>
        <p:sp>
          <p:nvSpPr>
            <p:cNvPr id="53" name="文本框 52"/>
            <p:cNvSpPr txBox="1"/>
            <p:nvPr/>
          </p:nvSpPr>
          <p:spPr>
            <a:xfrm>
              <a:off x="3062193" y="2533300"/>
              <a:ext cx="110959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UEP</a:t>
              </a:r>
              <a:r>
                <a:rPr lang="zh-CN" altLang="en-US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模式</a:t>
              </a:r>
              <a:endPara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086224" y="2887836"/>
              <a:ext cx="3519850" cy="138499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S1</a:t>
              </a:r>
              <a:r>
                <a:rPr lang="zh-CN" altLang="en-US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、确定目标码率           </a:t>
              </a:r>
              <a:endParaRPr lang="en-US" altLang="zh-CN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S2</a:t>
              </a:r>
              <a:r>
                <a:rPr lang="zh-CN" altLang="en-US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、挑选满足码率条件的位宽、码率组合</a:t>
              </a:r>
              <a:endParaRPr lang="en-US" altLang="zh-CN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S3</a:t>
              </a:r>
              <a:r>
                <a:rPr lang="zh-CN" altLang="en-US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、选择</a:t>
              </a:r>
              <a:r>
                <a:rPr lang="en-US" altLang="zh-CN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MSE</a:t>
              </a:r>
              <a:r>
                <a:rPr lang="zh-CN" altLang="en-US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最小的作为该码率最优编码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55" name="对象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6386449"/>
                </p:ext>
              </p:extLst>
            </p:nvPr>
          </p:nvGraphicFramePr>
          <p:xfrm>
            <a:off x="4710318" y="3049020"/>
            <a:ext cx="552503" cy="236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01" name="Equation" r:id="rId3" imgW="355320" imgH="152280" progId="Equation.DSMT4">
                    <p:embed/>
                  </p:oleObj>
                </mc:Choice>
                <mc:Fallback>
                  <p:oleObj name="Equation" r:id="rId3" imgW="355320" imgH="152280" progId="Equation.DSMT4">
                    <p:embed/>
                    <p:pic>
                      <p:nvPicPr>
                        <p:cNvPr id="89" name="对象 8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10318" y="3049020"/>
                          <a:ext cx="552503" cy="2367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" name="文本框 56"/>
          <p:cNvSpPr txBox="1"/>
          <p:nvPr/>
        </p:nvSpPr>
        <p:spPr>
          <a:xfrm>
            <a:off x="722420" y="4972268"/>
            <a:ext cx="4660250" cy="495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改进聚合表达式：考虑信噪比的影响</a:t>
            </a:r>
            <a:endParaRPr lang="en-US" altLang="zh-CN" sz="2000" b="1" dirty="0" smtClean="0">
              <a:solidFill>
                <a:schemeClr val="accent4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sp>
        <p:nvSpPr>
          <p:cNvPr id="58" name="燕尾形箭头 57"/>
          <p:cNvSpPr/>
          <p:nvPr/>
        </p:nvSpPr>
        <p:spPr bwMode="auto">
          <a:xfrm>
            <a:off x="4390895" y="5652941"/>
            <a:ext cx="613106" cy="327219"/>
          </a:xfrm>
          <a:prstGeom prst="notchedRightArrow">
            <a:avLst/>
          </a:prstGeom>
          <a:solidFill>
            <a:schemeClr val="bg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937050" y="5533311"/>
            <a:ext cx="3226484" cy="756778"/>
            <a:chOff x="937050" y="5533311"/>
            <a:chExt cx="3226484" cy="756778"/>
          </a:xfrm>
        </p:grpSpPr>
        <p:graphicFrame>
          <p:nvGraphicFramePr>
            <p:cNvPr id="60" name="对象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0074252"/>
                </p:ext>
              </p:extLst>
            </p:nvPr>
          </p:nvGraphicFramePr>
          <p:xfrm>
            <a:off x="937050" y="5600031"/>
            <a:ext cx="1762542" cy="623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02" name="Equation" r:id="rId5" imgW="1041120" imgH="368280" progId="Equation.DSMT4">
                    <p:embed/>
                  </p:oleObj>
                </mc:Choice>
                <mc:Fallback>
                  <p:oleObj name="Equation" r:id="rId5" imgW="1041120" imgH="368280" progId="Equation.DSMT4">
                    <p:embed/>
                    <p:pic>
                      <p:nvPicPr>
                        <p:cNvPr id="115" name="对象 11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37050" y="5600031"/>
                          <a:ext cx="1762542" cy="6233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对象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8524310"/>
                </p:ext>
              </p:extLst>
            </p:nvPr>
          </p:nvGraphicFramePr>
          <p:xfrm>
            <a:off x="3201055" y="5533311"/>
            <a:ext cx="962479" cy="7567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03" name="Equation" r:id="rId7" imgW="711000" imgH="558720" progId="Equation.DSMT4">
                    <p:embed/>
                  </p:oleObj>
                </mc:Choice>
                <mc:Fallback>
                  <p:oleObj name="Equation" r:id="rId7" imgW="711000" imgH="558720" progId="Equation.DSMT4">
                    <p:embed/>
                    <p:pic>
                      <p:nvPicPr>
                        <p:cNvPr id="118" name="对象 11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01055" y="5533311"/>
                          <a:ext cx="962479" cy="7567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2" name="直接箭头连接符 61"/>
            <p:cNvCxnSpPr/>
            <p:nvPr/>
          </p:nvCxnSpPr>
          <p:spPr bwMode="auto">
            <a:xfrm>
              <a:off x="2787564" y="5821624"/>
              <a:ext cx="387341" cy="0"/>
            </a:xfrm>
            <a:prstGeom prst="straightConnector1">
              <a:avLst/>
            </a:prstGeom>
            <a:solidFill>
              <a:schemeClr val="tx1"/>
            </a:solidFill>
            <a:ln w="19050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63" name="组合 62"/>
          <p:cNvGrpSpPr/>
          <p:nvPr/>
        </p:nvGrpSpPr>
        <p:grpSpPr>
          <a:xfrm>
            <a:off x="5231363" y="5486468"/>
            <a:ext cx="3788560" cy="789404"/>
            <a:chOff x="5231363" y="5486468"/>
            <a:chExt cx="3788560" cy="789404"/>
          </a:xfrm>
        </p:grpSpPr>
        <p:graphicFrame>
          <p:nvGraphicFramePr>
            <p:cNvPr id="64" name="对象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4063716"/>
                </p:ext>
              </p:extLst>
            </p:nvPr>
          </p:nvGraphicFramePr>
          <p:xfrm>
            <a:off x="5231363" y="5486468"/>
            <a:ext cx="1574928" cy="789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04" name="Equation" r:id="rId9" imgW="1117440" imgH="558720" progId="Equation.DSMT4">
                    <p:embed/>
                  </p:oleObj>
                </mc:Choice>
                <mc:Fallback>
                  <p:oleObj name="Equation" r:id="rId9" imgW="1117440" imgH="558720" progId="Equation.DSMT4">
                    <p:embed/>
                    <p:pic>
                      <p:nvPicPr>
                        <p:cNvPr id="121" name="对象 12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231363" y="5486468"/>
                          <a:ext cx="1574928" cy="7894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5" name="直接箭头连接符 64"/>
            <p:cNvCxnSpPr/>
            <p:nvPr/>
          </p:nvCxnSpPr>
          <p:spPr bwMode="auto">
            <a:xfrm>
              <a:off x="6857806" y="5821499"/>
              <a:ext cx="387341" cy="0"/>
            </a:xfrm>
            <a:prstGeom prst="straightConnector1">
              <a:avLst/>
            </a:prstGeom>
            <a:solidFill>
              <a:schemeClr val="tx1"/>
            </a:solidFill>
            <a:ln w="19050" cap="flat" cmpd="sng" algn="ctr">
              <a:solidFill>
                <a:schemeClr val="accent5">
                  <a:lumMod val="1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aphicFrame>
          <p:nvGraphicFramePr>
            <p:cNvPr id="66" name="对象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5283591"/>
                </p:ext>
              </p:extLst>
            </p:nvPr>
          </p:nvGraphicFramePr>
          <p:xfrm>
            <a:off x="7280023" y="5575837"/>
            <a:ext cx="1739900" cy="623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05" name="Equation" r:id="rId11" imgW="1028520" imgH="368280" progId="Equation.DSMT4">
                    <p:embed/>
                  </p:oleObj>
                </mc:Choice>
                <mc:Fallback>
                  <p:oleObj name="Equation" r:id="rId11" imgW="1028520" imgH="368280" progId="Equation.DSMT4">
                    <p:embed/>
                    <p:pic>
                      <p:nvPicPr>
                        <p:cNvPr id="128" name="对象 12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280023" y="5575837"/>
                          <a:ext cx="1739900" cy="6238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60789607"/>
      </p:ext>
    </p:extLst>
  </p:cSld>
  <p:clrMapOvr>
    <a:masterClrMapping/>
  </p:clrMapOvr>
  <p:transition advTm="124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55402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动态链路自适应传输实验结果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984" y="1510202"/>
            <a:ext cx="2911740" cy="23208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185" y="1479426"/>
            <a:ext cx="2904627" cy="2322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984" y="4074933"/>
            <a:ext cx="2955507" cy="23660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185" y="4075823"/>
            <a:ext cx="2982208" cy="23652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98755" y="2290138"/>
            <a:ext cx="1265090" cy="700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EEP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上行链路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6080" y="4907690"/>
            <a:ext cx="116570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UEP vs. EEP</a:t>
            </a:r>
          </a:p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下行链路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 rot="20977286">
            <a:off x="3492465" y="2272810"/>
            <a:ext cx="1455870" cy="391886"/>
          </a:xfrm>
          <a:prstGeom prst="ellips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prstDash val="dash"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 rot="20977286">
            <a:off x="3532651" y="1750699"/>
            <a:ext cx="1254778" cy="300432"/>
          </a:xfrm>
          <a:prstGeom prst="ellips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prstDash val="dash"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6778186" y="2726900"/>
            <a:ext cx="1108126" cy="662614"/>
          </a:xfrm>
          <a:prstGeom prst="ellips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prstDash val="dash"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 flipH="1" flipV="1">
            <a:off x="7164389" y="4464842"/>
            <a:ext cx="483320" cy="200592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chemeClr val="accent5">
                <a:lumMod val="1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文本框 14"/>
          <p:cNvSpPr txBox="1"/>
          <p:nvPr/>
        </p:nvSpPr>
        <p:spPr>
          <a:xfrm>
            <a:off x="6657266" y="4280457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EEP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 bwMode="auto">
          <a:xfrm>
            <a:off x="7993007" y="4665434"/>
            <a:ext cx="0" cy="435794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chemeClr val="accent5">
                <a:lumMod val="1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文本框 18"/>
          <p:cNvSpPr txBox="1"/>
          <p:nvPr/>
        </p:nvSpPr>
        <p:spPr>
          <a:xfrm>
            <a:off x="7728351" y="5101228"/>
            <a:ext cx="529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657266" y="647151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通信开销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186575" y="647151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测试准确率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57266" y="377746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训练误差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41814" y="3777466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测试准确率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1634329"/>
      </p:ext>
    </p:extLst>
  </p:cSld>
  <p:clrMapOvr>
    <a:masterClrMapping/>
  </p:clrMapOvr>
  <p:transition advTm="124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2244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总结与展望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2420" y="1444146"/>
            <a:ext cx="8122736" cy="4891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论文工作</a:t>
            </a:r>
            <a:endParaRPr lang="en-US" altLang="zh-CN" sz="2000" b="1" dirty="0" smtClean="0">
              <a:solidFill>
                <a:schemeClr val="accent4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800100" lvl="1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内容：一套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框架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、两路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量化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、一种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传输</a:t>
            </a:r>
            <a:endParaRPr lang="en-US" altLang="zh-CN" dirty="0" smtClean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800100" lvl="1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方法：方案设计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+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理论分析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+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仿真实验</a:t>
            </a:r>
            <a:endParaRPr lang="en-US" altLang="zh-CN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主要贡献</a:t>
            </a:r>
            <a:endParaRPr lang="en-US" altLang="zh-CN" sz="2000" b="1" dirty="0" smtClean="0">
              <a:solidFill>
                <a:schemeClr val="accent4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800100" lvl="1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上行链路量化：基于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SR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和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DT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的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量化方案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、不同方案的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收敛条件</a:t>
            </a:r>
            <a:endParaRPr lang="en-US" altLang="zh-CN" dirty="0" smtClean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800100" lvl="1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下行链路量化：扩展为资源分配，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时变量化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和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分层量化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两方面优化</a:t>
            </a:r>
            <a:endParaRPr lang="en-US" altLang="zh-CN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800100" lvl="1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传输方案设计：误差分析、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多维度</a:t>
            </a:r>
            <a:r>
              <a:rPr lang="en-US" altLang="zh-CN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UEP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编码调制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、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动态链路自适应传输</a:t>
            </a:r>
            <a:endParaRPr lang="en-US" altLang="zh-CN" dirty="0" smtClean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未来展望</a:t>
            </a:r>
            <a:endParaRPr lang="en-US" altLang="zh-CN" sz="2000" b="1" dirty="0">
              <a:solidFill>
                <a:schemeClr val="accent4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800100" lvl="1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针对下行链路量化的进一步优化和分析</a:t>
            </a:r>
            <a:endParaRPr lang="en-US" altLang="zh-CN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800100" lvl="1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进一步探索传输误差对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DNN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模型的影响，设计更先进的传输方案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2604805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1389879" y="557237"/>
            <a:ext cx="63642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攻读硕士学位期间取得的研究成果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6538" y="980281"/>
            <a:ext cx="8617902" cy="352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发表论文</a:t>
            </a:r>
            <a:endParaRPr lang="en-US" altLang="zh-CN" b="1" dirty="0" smtClean="0">
              <a:solidFill>
                <a:schemeClr val="accent4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540000" lvl="1" indent="-252000" algn="just">
              <a:lnSpc>
                <a:spcPct val="120000"/>
              </a:lnSpc>
              <a:spcAft>
                <a:spcPts val="600"/>
              </a:spcAft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[1] </a:t>
            </a:r>
            <a:r>
              <a:rPr lang="en-US" altLang="zh-CN" sz="1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Sihui Zheng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Cong Shen, and Xiang Chen, </a:t>
            </a:r>
            <a:r>
              <a:rPr lang="en-US" altLang="zh-CN" sz="1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“Design and Analysis of Uplink and Downlink Communications for Federated Learning”,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in IEEE Journal on Selected Areas in Communications (JSAC), Dec. 2020. (</a:t>
            </a:r>
            <a:r>
              <a:rPr lang="en-US" altLang="zh-CN" sz="1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SCI</a:t>
            </a: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一区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，本论文第二、三章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)</a:t>
            </a:r>
          </a:p>
          <a:p>
            <a:pPr marL="540000" lvl="1" indent="-252000" algn="just">
              <a:lnSpc>
                <a:spcPct val="120000"/>
              </a:lnSpc>
              <a:spcAft>
                <a:spcPts val="600"/>
              </a:spcAft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[2] Cong 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Shen, 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Jie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 Xu, 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Sihui Zheng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and Xiang Chen, </a:t>
            </a:r>
            <a:r>
              <a:rPr lang="en-US" altLang="zh-CN" sz="1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“Resource </a:t>
            </a: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Rationing for </a:t>
            </a:r>
            <a:r>
              <a:rPr lang="en-US" altLang="zh-CN" sz="1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Wire­less </a:t>
            </a: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Federated Learning: Concept, Benefits, and Challenges”,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accepted by 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IEEE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Communi­cations Magazine (</a:t>
            </a:r>
            <a:r>
              <a:rPr lang="en-US" altLang="zh-CN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ComMag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). (</a:t>
            </a:r>
            <a:r>
              <a:rPr lang="en-US" altLang="zh-CN" sz="1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SCI </a:t>
            </a: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一区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，本论文第四章相关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)</a:t>
            </a:r>
          </a:p>
          <a:p>
            <a:pPr marL="540000" lvl="1" indent="-252000" algn="just">
              <a:lnSpc>
                <a:spcPct val="120000"/>
              </a:lnSpc>
              <a:spcAft>
                <a:spcPts val="600"/>
              </a:spcAft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[3] </a:t>
            </a:r>
            <a:r>
              <a:rPr lang="en-US" altLang="zh-CN" sz="1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Sihui 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Zheng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Cong Shen, and Xiang Chen, </a:t>
            </a:r>
            <a:r>
              <a:rPr lang="en-US" altLang="zh-CN" sz="1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“Design </a:t>
            </a: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and Analysis of Uplink </a:t>
            </a:r>
            <a:r>
              <a:rPr lang="en-US" altLang="zh-CN" sz="1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and Downlink </a:t>
            </a: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Communications for Federated Learning”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in 2021 IEEE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International Conference 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on Communications (ICC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).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(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EI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索引，录用待发表，本论文第四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章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)</a:t>
            </a:r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540000" lvl="1" indent="-252000" algn="just">
              <a:lnSpc>
                <a:spcPct val="120000"/>
              </a:lnSpc>
              <a:spcAft>
                <a:spcPts val="600"/>
              </a:spcAft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[4] </a:t>
            </a:r>
            <a:r>
              <a:rPr lang="en-US" altLang="zh-CN" sz="1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Sihui 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Zheng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Shaohang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Xie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and Xiang Chen. </a:t>
            </a:r>
            <a:r>
              <a:rPr lang="en-US" altLang="zh-CN" sz="1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“Discovering </a:t>
            </a: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Urban Functional </a:t>
            </a:r>
            <a:r>
              <a:rPr lang="en-US" altLang="zh-CN" sz="1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Re­gions </a:t>
            </a: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with Call Detail Records and Points of Interest: A Case Study of </a:t>
            </a:r>
            <a:r>
              <a:rPr lang="en-US" altLang="zh-CN" sz="1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Guangzhou City”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</a:t>
            </a:r>
            <a:r>
              <a:rPr lang="en-US" altLang="zh-CN" sz="1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in 2019 11th International Conference on Wireless Communications and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Sig­nal 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Processing (WCSP), Xi’an, China, Oct. 2019, pp.1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­-6. (EI 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索引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)</a:t>
            </a:r>
          </a:p>
          <a:p>
            <a:pPr marL="540000" lvl="1" indent="-252000" algn="just">
              <a:lnSpc>
                <a:spcPct val="120000"/>
              </a:lnSpc>
              <a:spcAft>
                <a:spcPts val="600"/>
              </a:spcAft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[5] </a:t>
            </a:r>
            <a:r>
              <a:rPr lang="en-US" altLang="zh-CN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Senlin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Li, 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Sihui Zheng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Jingwen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 Zhang, Xiang Chen, and etc. </a:t>
            </a:r>
            <a:r>
              <a:rPr lang="en-US" altLang="zh-CN" sz="1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“Modified Iterative BP-­CNN </a:t>
            </a: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Decoder Under Correlated Noise with Symmetric </a:t>
            </a:r>
            <a:r>
              <a:rPr lang="el-GR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α­</a:t>
            </a: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stable Distributions</a:t>
            </a:r>
            <a:r>
              <a:rPr lang="en-US" altLang="zh-CN" sz="1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”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in 2019 IEEE International Conference on Signal, Information and Data Processing (ICSIDP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), Chongqing, China, Dec. 2019,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pp.1-­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6.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（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EI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索引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）</a:t>
            </a:r>
            <a:endParaRPr lang="en-US" altLang="zh-CN" sz="1200" dirty="0" smtClean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6538" y="4312907"/>
            <a:ext cx="8617902" cy="1382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发明</a:t>
            </a:r>
            <a:r>
              <a:rPr lang="zh-CN" altLang="en-US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专利</a:t>
            </a:r>
            <a:endParaRPr lang="en-US" altLang="zh-CN" b="1" dirty="0" smtClean="0">
              <a:solidFill>
                <a:schemeClr val="accent4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540000" lvl="1" indent="-252000"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[1]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陈翔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陈艳清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郑斯辉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邱继云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.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一种高动态载波组合环路跟踪方法及系统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.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专利申请号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: 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202011464036.7</a:t>
            </a:r>
          </a:p>
          <a:p>
            <a:pPr marL="540000" lvl="1" indent="-252000" algn="just" latinLnBrk="1">
              <a:lnSpc>
                <a:spcPct val="150000"/>
              </a:lnSpc>
              <a:spcAft>
                <a:spcPts val="600"/>
              </a:spcAft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[2] 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陈翔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高时汉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李森林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胡俊祥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郑斯辉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陈志浩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.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一种面向色噪声环境的深度学习迭代接收方法及系统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.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专利申请号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: 202110380621.7</a:t>
            </a:r>
          </a:p>
        </p:txBody>
      </p:sp>
      <p:sp>
        <p:nvSpPr>
          <p:cNvPr id="6" name="矩形 5"/>
          <p:cNvSpPr/>
          <p:nvPr/>
        </p:nvSpPr>
        <p:spPr>
          <a:xfrm>
            <a:off x="236538" y="5594207"/>
            <a:ext cx="8617902" cy="1103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软件著作权</a:t>
            </a:r>
            <a:endParaRPr lang="en-US" altLang="zh-CN" b="1" dirty="0" smtClean="0">
              <a:solidFill>
                <a:schemeClr val="accent4"/>
              </a:solidFill>
              <a:latin typeface="Times New Roman" panose="02020603050405020304" pitchFamily="18" charset="0"/>
              <a:ea typeface="黑体" pitchFamily="49" charset="-122"/>
            </a:endParaRPr>
          </a:p>
          <a:p>
            <a:pPr marL="540000" lvl="1" indent="-252000"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[1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] 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陈翔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高时汉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陈志浩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胡俊祥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郑斯辉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. 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宽带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直升机卫星通信的调制解调业务传输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控制软件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.</a:t>
            </a:r>
          </a:p>
          <a:p>
            <a:pPr marL="540000" lvl="1" indent="-252000"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[2] 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陈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翔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高时汉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陈志浩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胡俊祥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, 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郑斯辉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. 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宽带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卫星通信传输链路迭代接收</a:t>
            </a:r>
            <a:r>
              <a:rPr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仿真软件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</a:rPr>
              <a:t>.</a:t>
            </a:r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2046325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7EBDAA-416C-4078-A2B4-9C4DE3692DB2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3037766" y="507474"/>
            <a:ext cx="30684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评审意见及修改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641079"/>
              </p:ext>
            </p:extLst>
          </p:nvPr>
        </p:nvGraphicFramePr>
        <p:xfrm>
          <a:off x="447870" y="1446813"/>
          <a:ext cx="8515739" cy="475952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162938">
                  <a:extLst>
                    <a:ext uri="{9D8B030D-6E8A-4147-A177-3AD203B41FA5}">
                      <a16:colId xmlns:a16="http://schemas.microsoft.com/office/drawing/2014/main" val="2844294717"/>
                    </a:ext>
                  </a:extLst>
                </a:gridCol>
                <a:gridCol w="3352801">
                  <a:extLst>
                    <a:ext uri="{9D8B030D-6E8A-4147-A177-3AD203B41FA5}">
                      <a16:colId xmlns:a16="http://schemas.microsoft.com/office/drawing/2014/main" val="134448847"/>
                    </a:ext>
                  </a:extLst>
                </a:gridCol>
              </a:tblGrid>
              <a:tr h="562429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</a:pPr>
                      <a:r>
                        <a:rPr lang="zh-CN" altLang="en-US" baseline="0" dirty="0" smtClean="0"/>
                        <a:t>评审意见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zh-CN" altLang="en-US" baseline="0" dirty="0" smtClean="0"/>
                        <a:t>修改情况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8234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</a:pPr>
                      <a:r>
                        <a:rPr lang="zh-CN" altLang="en-US" baseline="0" dirty="0" smtClean="0"/>
                        <a:t>论文中个别地方存在笔误，例如第</a:t>
                      </a:r>
                      <a:r>
                        <a:rPr lang="en-US" altLang="zh-CN" baseline="0" dirty="0" smtClean="0"/>
                        <a:t>37</a:t>
                      </a:r>
                      <a:r>
                        <a:rPr lang="zh-CN" altLang="en-US" baseline="0" dirty="0" smtClean="0"/>
                        <a:t>页第</a:t>
                      </a:r>
                      <a:r>
                        <a:rPr lang="en-US" altLang="zh-CN" baseline="0" dirty="0" smtClean="0"/>
                        <a:t>2</a:t>
                      </a:r>
                      <a:r>
                        <a:rPr lang="zh-CN" altLang="en-US" baseline="0" dirty="0" smtClean="0"/>
                        <a:t>行“远远由于”，应为“远远优于”；图</a:t>
                      </a:r>
                      <a:r>
                        <a:rPr lang="en-US" altLang="zh-CN" baseline="0" dirty="0" smtClean="0"/>
                        <a:t>5-4</a:t>
                      </a:r>
                      <a:r>
                        <a:rPr lang="zh-CN" altLang="en-US" baseline="0" dirty="0" smtClean="0"/>
                        <a:t>中右下角标注应为“打孔图案</a:t>
                      </a:r>
                      <a:r>
                        <a:rPr lang="en-US" altLang="zh-CN" baseline="0" dirty="0" smtClean="0"/>
                        <a:t>2”</a:t>
                      </a:r>
                      <a:r>
                        <a:rPr lang="zh-CN" altLang="en-US" baseline="0" dirty="0" smtClean="0"/>
                        <a:t>，建议仔细检查全文。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</a:pPr>
                      <a:r>
                        <a:rPr lang="zh-CN" altLang="en-US" baseline="0" smtClean="0"/>
                        <a:t>已通读全文，对上述两个笔误以及其他书写问题完成修正。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59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</a:pP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论文排版存在一些小错误，如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P48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，假设和引理与第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3.4.1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??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小节基本一致。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、图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5-12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，图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5-13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和图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5-15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，图例中应该有些曲线的标注是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EEP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而不是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UEP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。建议统一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EEP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用虚线，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UEP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用实线，不同信噪比等用颜色区分。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30000"/>
                        </a:lnSpc>
                        <a:buFont typeface="+mj-lt"/>
                        <a:buNone/>
                      </a:pP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已对提到的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P48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页提到的引用问题完成修正；</a:t>
                      </a:r>
                      <a:endParaRPr lang="en-US" altLang="zh-C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just">
                        <a:lnSpc>
                          <a:spcPct val="130000"/>
                        </a:lnSpc>
                        <a:buFont typeface="+mj-lt"/>
                        <a:buNone/>
                      </a:pP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已对第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章的实验图存在的图例错误进行修正，并按建议对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UEP/EEP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的结果进行标识。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488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</a:pPr>
                      <a:r>
                        <a:rPr lang="zh-CN" altLang="en-US" baseline="0" dirty="0" smtClean="0"/>
                        <a:t>在第四章和第五章讨论实验结果部分，建议讨论每轮选择的用户数</a:t>
                      </a:r>
                      <a:r>
                        <a:rPr lang="en-US" altLang="zh-CN" baseline="0" dirty="0" smtClean="0"/>
                        <a:t>K</a:t>
                      </a:r>
                      <a:r>
                        <a:rPr lang="zh-CN" altLang="en-US" baseline="0" dirty="0" smtClean="0"/>
                        <a:t>对下行和采用</a:t>
                      </a:r>
                      <a:r>
                        <a:rPr lang="en-US" altLang="zh-CN" baseline="0" dirty="0" smtClean="0"/>
                        <a:t>UEP</a:t>
                      </a:r>
                      <a:r>
                        <a:rPr lang="zh-CN" altLang="en-US" baseline="0" dirty="0" smtClean="0"/>
                        <a:t>传输方案的系统性能影响。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30000"/>
                        </a:lnSpc>
                      </a:pP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已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分别在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第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4.5.3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小节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第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5.5.2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小节补充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改变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每回合用户数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的实验结果和相应的分析。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967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8562497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7EBDAA-416C-4078-A2B4-9C4DE3692DB2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478A06E-0B3D-4E72-939A-E91C0AAC7EED}"/>
              </a:ext>
            </a:extLst>
          </p:cNvPr>
          <p:cNvSpPr txBox="1">
            <a:spLocks/>
          </p:cNvSpPr>
          <p:nvPr/>
        </p:nvSpPr>
        <p:spPr>
          <a:xfrm>
            <a:off x="2794569" y="2747961"/>
            <a:ext cx="452221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00">
              <a:lnSpc>
                <a:spcPct val="100000"/>
              </a:lnSpc>
            </a:pPr>
            <a:r>
              <a:rPr lang="zh-CN" altLang="en-US" sz="10000" b="1" dirty="0">
                <a:solidFill>
                  <a:srgbClr val="003399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谢 </a:t>
            </a:r>
            <a:r>
              <a:rPr lang="zh-CN" altLang="en-US" sz="10000" b="1" dirty="0" smtClean="0">
                <a:solidFill>
                  <a:srgbClr val="003399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谢</a:t>
            </a:r>
            <a:r>
              <a:rPr lang="en-US" altLang="zh-CN" sz="10000" b="1" dirty="0">
                <a:solidFill>
                  <a:srgbClr val="003399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lang="zh-CN" altLang="en-US" sz="10000" b="1" dirty="0" smtClean="0">
                <a:solidFill>
                  <a:srgbClr val="003399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！</a:t>
            </a:r>
            <a:endParaRPr lang="zh-CN" altLang="en-US" sz="10000" b="1" dirty="0">
              <a:solidFill>
                <a:srgbClr val="003399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9478A06E-0B3D-4E72-939A-E91C0AAC7EED}"/>
              </a:ext>
            </a:extLst>
          </p:cNvPr>
          <p:cNvSpPr txBox="1">
            <a:spLocks/>
          </p:cNvSpPr>
          <p:nvPr/>
        </p:nvSpPr>
        <p:spPr>
          <a:xfrm>
            <a:off x="1612900" y="4073524"/>
            <a:ext cx="62611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00">
              <a:lnSpc>
                <a:spcPct val="100000"/>
              </a:lnSpc>
            </a:pPr>
            <a:r>
              <a:rPr lang="zh-CN" altLang="en-US" sz="3200" dirty="0" smtClean="0">
                <a:solidFill>
                  <a:srgbClr val="003399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恳请各位老师同学批评指正</a:t>
            </a:r>
            <a:endParaRPr lang="zh-CN" altLang="en-US" sz="3200" dirty="0">
              <a:solidFill>
                <a:srgbClr val="003399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8042" y="840381"/>
            <a:ext cx="5089855" cy="724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n"/>
              <a:defRPr/>
            </a:pPr>
            <a:r>
              <a:rPr kumimoji="1"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 </a:t>
            </a:r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辩 人</a:t>
            </a:r>
            <a:r>
              <a:rPr kumimoji="1"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1"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黑体" pitchFamily="2" charset="-122"/>
              </a:rPr>
              <a:t>郑斯</a:t>
            </a:r>
            <a:r>
              <a:rPr kumimoji="1" lang="zh-CN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黑体" pitchFamily="2" charset="-122"/>
              </a:rPr>
              <a:t>辉</a:t>
            </a:r>
            <a:endParaRPr kumimoji="1" lang="en-US" altLang="zh-CN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n"/>
              <a:defRPr/>
            </a:pPr>
            <a:r>
              <a:rPr kumimoji="1"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论文题目：</a:t>
            </a:r>
            <a:r>
              <a:rPr kumimoji="1"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黑体" pitchFamily="2" charset="-122"/>
              </a:rPr>
              <a:t>面向无线联邦学习的通信</a:t>
            </a:r>
            <a:r>
              <a:rPr kumimoji="1" lang="zh-CN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黑体" pitchFamily="2" charset="-122"/>
              </a:rPr>
              <a:t>方案设计</a:t>
            </a:r>
            <a:endParaRPr kumimoji="1" lang="en-US" altLang="zh-CN" dirty="0">
              <a:solidFill>
                <a:srgbClr val="000000"/>
              </a:solidFill>
              <a:latin typeface="Arial" panose="020B0604020202020204" pitchFamily="34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2618388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7EBDAA-416C-4078-A2B4-9C4DE3692DB2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142635" y="603522"/>
            <a:ext cx="285526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本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学位论文主要创新点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71500" y="1111353"/>
            <a:ext cx="8379217" cy="5124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 smtClean="0">
                <a:latin typeface="Times New Roman" panose="02020603050405020304" pitchFamily="18" charset="0"/>
                <a:ea typeface="+mj-ea"/>
              </a:rPr>
              <a:t>第 </a:t>
            </a:r>
            <a:r>
              <a:rPr lang="en-US" altLang="zh-CN" sz="1600" b="1" dirty="0" smtClean="0">
                <a:latin typeface="Times New Roman" panose="02020603050405020304" pitchFamily="18" charset="0"/>
                <a:ea typeface="+mj-ea"/>
              </a:rPr>
              <a:t>2 </a:t>
            </a:r>
            <a:r>
              <a:rPr lang="zh-CN" altLang="en-US" sz="1600" b="1" dirty="0" smtClean="0">
                <a:latin typeface="Times New Roman" panose="02020603050405020304" pitchFamily="18" charset="0"/>
                <a:ea typeface="+mj-ea"/>
              </a:rPr>
              <a:t>章</a:t>
            </a:r>
            <a:r>
              <a:rPr lang="en-US" altLang="zh-CN" sz="1600" b="1" dirty="0">
                <a:latin typeface="Times New Roman" panose="02020603050405020304" pitchFamily="18" charset="0"/>
                <a:ea typeface="+mj-ea"/>
              </a:rPr>
              <a:t> </a:t>
            </a:r>
            <a:r>
              <a:rPr lang="en-US" altLang="zh-CN" sz="1600" b="1" dirty="0" smtClean="0">
                <a:latin typeface="Times New Roman" panose="02020603050405020304" pitchFamily="18" charset="0"/>
                <a:ea typeface="+mj-ea"/>
              </a:rPr>
              <a:t> </a:t>
            </a:r>
            <a:r>
              <a:rPr lang="zh-CN" altLang="en-US" sz="1600" b="1" dirty="0" smtClean="0">
                <a:latin typeface="Times New Roman" panose="02020603050405020304" pitchFamily="18" charset="0"/>
                <a:ea typeface="+mj-ea"/>
              </a:rPr>
              <a:t>无线联邦学习框架及分析</a:t>
            </a:r>
            <a:r>
              <a:rPr lang="en-US" altLang="zh-CN" sz="1600" b="1" dirty="0" smtClean="0">
                <a:latin typeface="Times New Roman" panose="02020603050405020304" pitchFamily="18" charset="0"/>
                <a:ea typeface="+mj-ea"/>
              </a:rPr>
              <a:t> 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明确无线通信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+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联邦学习的具体框架，强调其中的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</a:rPr>
              <a:t>通信环节分析</a:t>
            </a:r>
            <a:endParaRPr lang="en-US" altLang="zh-CN" sz="1600" dirty="0" smtClean="0">
              <a:solidFill>
                <a:srgbClr val="000000"/>
              </a:solidFill>
              <a:latin typeface="Times New Roman" panose="02020603050405020304" pitchFamily="18" charset="0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 smtClean="0">
                <a:latin typeface="Times New Roman" panose="02020603050405020304" pitchFamily="18" charset="0"/>
                <a:ea typeface="+mj-ea"/>
              </a:rPr>
              <a:t>第 </a:t>
            </a:r>
            <a:r>
              <a:rPr lang="en-US" altLang="zh-CN" sz="1600" b="1" dirty="0" smtClean="0">
                <a:latin typeface="Times New Roman" panose="02020603050405020304" pitchFamily="18" charset="0"/>
                <a:ea typeface="+mj-ea"/>
              </a:rPr>
              <a:t>3 </a:t>
            </a:r>
            <a:r>
              <a:rPr lang="zh-CN" altLang="en-US" sz="1600" b="1" dirty="0" smtClean="0">
                <a:latin typeface="Times New Roman" panose="02020603050405020304" pitchFamily="18" charset="0"/>
                <a:ea typeface="+mj-ea"/>
              </a:rPr>
              <a:t>章  无线联邦学习上行链路量化方案设计</a:t>
            </a:r>
            <a:endParaRPr lang="en-US" altLang="zh-CN" sz="1600" b="1" dirty="0" smtClean="0">
              <a:latin typeface="Times New Roman" panose="02020603050405020304" pitchFamily="18" charset="0"/>
              <a:ea typeface="+mj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量化方案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</a:rPr>
              <a:t>计算复杂度较低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，可实现性更强，并集成了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SR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、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DT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等手段</a:t>
            </a:r>
            <a:endParaRPr lang="en-US" altLang="zh-CN" sz="1600" dirty="0" smtClean="0">
              <a:solidFill>
                <a:srgbClr val="000000"/>
              </a:solidFill>
              <a:latin typeface="Times New Roman" panose="02020603050405020304" pitchFamily="18" charset="0"/>
              <a:ea typeface="+mj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收敛性分析，尤其是得到了直接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/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差分传输各自的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</a:rPr>
              <a:t>收敛条件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，验证了差分传输的优势</a:t>
            </a:r>
            <a:endParaRPr lang="en-US" altLang="zh-CN" sz="1600" dirty="0" smtClean="0">
              <a:solidFill>
                <a:srgbClr val="000000"/>
              </a:solidFill>
              <a:latin typeface="Times New Roman" panose="02020603050405020304" pitchFamily="18" charset="0"/>
              <a:ea typeface="+mj-ea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充分的仿真实验，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</a:rPr>
              <a:t>层进式分析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了各个环节的影响以及优化手段的优势</a:t>
            </a:r>
            <a:endParaRPr lang="en-US" altLang="zh-CN" sz="1600" dirty="0" smtClean="0">
              <a:solidFill>
                <a:srgbClr val="000000"/>
              </a:solidFill>
              <a:latin typeface="Times New Roman" panose="02020603050405020304" pitchFamily="18" charset="0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latin typeface="Times New Roman" panose="02020603050405020304" pitchFamily="18" charset="0"/>
              </a:rPr>
              <a:t>第 </a:t>
            </a:r>
            <a:r>
              <a:rPr lang="en-US" altLang="zh-CN" sz="1600" b="1" dirty="0" smtClean="0">
                <a:latin typeface="Times New Roman" panose="02020603050405020304" pitchFamily="18" charset="0"/>
              </a:rPr>
              <a:t>4 </a:t>
            </a:r>
            <a:r>
              <a:rPr lang="zh-CN" altLang="en-US" sz="1600" b="1" dirty="0" smtClean="0">
                <a:latin typeface="Times New Roman" panose="02020603050405020304" pitchFamily="18" charset="0"/>
              </a:rPr>
              <a:t>章  </a:t>
            </a:r>
            <a:r>
              <a:rPr lang="zh-CN" altLang="en-US" sz="1600" b="1" dirty="0">
                <a:latin typeface="Times New Roman" panose="02020603050405020304" pitchFamily="18" charset="0"/>
              </a:rPr>
              <a:t>无线联邦</a:t>
            </a:r>
            <a:r>
              <a:rPr lang="zh-CN" altLang="en-US" sz="1600" b="1" dirty="0" smtClean="0">
                <a:latin typeface="Times New Roman" panose="02020603050405020304" pitchFamily="18" charset="0"/>
              </a:rPr>
              <a:t>学习</a:t>
            </a:r>
            <a:r>
              <a:rPr lang="zh-CN" altLang="en-US" sz="1600" b="1" dirty="0">
                <a:latin typeface="Times New Roman" panose="02020603050405020304" pitchFamily="18" charset="0"/>
              </a:rPr>
              <a:t>下</a:t>
            </a:r>
            <a:r>
              <a:rPr lang="zh-CN" altLang="en-US" sz="1600" b="1" dirty="0" smtClean="0">
                <a:latin typeface="Times New Roman" panose="02020603050405020304" pitchFamily="18" charset="0"/>
              </a:rPr>
              <a:t>行</a:t>
            </a:r>
            <a:r>
              <a:rPr lang="zh-CN" altLang="en-US" sz="1600" b="1" dirty="0">
                <a:latin typeface="Times New Roman" panose="02020603050405020304" pitchFamily="18" charset="0"/>
              </a:rPr>
              <a:t>链路量化方案设计</a:t>
            </a:r>
            <a:endParaRPr lang="en-US" altLang="zh-CN" sz="1600" b="1" dirty="0">
              <a:latin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明确了差分传输无法很好应用于下行链路</a:t>
            </a:r>
            <a:endParaRPr lang="en-US" altLang="zh-CN" sz="160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从资源分配角度提出两种新的优化手段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——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</a:rPr>
              <a:t>时变量化、分层量化</a:t>
            </a:r>
            <a:endParaRPr lang="en-US" altLang="zh-CN" sz="1600" dirty="0" smtClean="0">
              <a:solidFill>
                <a:srgbClr val="FF0000"/>
              </a:solidFill>
              <a:latin typeface="Times New Roman" panose="02020603050405020304" pitchFamily="18" charset="0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latin typeface="Times New Roman" panose="02020603050405020304" pitchFamily="18" charset="0"/>
              </a:rPr>
              <a:t>第 </a:t>
            </a:r>
            <a:r>
              <a:rPr lang="en-US" altLang="zh-CN" sz="1600" b="1" dirty="0" smtClean="0">
                <a:latin typeface="Times New Roman" panose="02020603050405020304" pitchFamily="18" charset="0"/>
              </a:rPr>
              <a:t>5 </a:t>
            </a:r>
            <a:r>
              <a:rPr lang="zh-CN" altLang="en-US" sz="1600" b="1" dirty="0">
                <a:latin typeface="Times New Roman" panose="02020603050405020304" pitchFamily="18" charset="0"/>
              </a:rPr>
              <a:t>章  </a:t>
            </a:r>
            <a:r>
              <a:rPr lang="zh-CN" altLang="en-US" sz="1600" b="1" dirty="0" smtClean="0">
                <a:latin typeface="Times New Roman" panose="02020603050405020304" pitchFamily="18" charset="0"/>
              </a:rPr>
              <a:t>基于非等差错保护的无线联邦学习传输方案设计</a:t>
            </a:r>
            <a:endParaRPr lang="en-US" altLang="zh-CN" sz="1600" b="1" dirty="0">
              <a:latin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确切地考虑、分析了有噪信道中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误码对模型传输的影响</a:t>
            </a:r>
            <a:endParaRPr lang="en-US" altLang="zh-CN" sz="1600" dirty="0" smtClean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将 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RCPC+HM 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的 </a:t>
            </a:r>
            <a:r>
              <a:rPr lang="en-US" altLang="zh-CN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</a:rPr>
              <a:t>UEP 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</a:rPr>
              <a:t>方案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从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</a:rPr>
              <a:t>三个维度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应用于 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FL 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的模型传输</a:t>
            </a:r>
            <a:endParaRPr lang="en-US" altLang="zh-CN" sz="1600" dirty="0" smtClean="0">
              <a:solidFill>
                <a:srgbClr val="000000"/>
              </a:solidFill>
              <a:latin typeface="Times New Roman" panose="02020603050405020304" pitchFamily="18" charset="0"/>
              <a:ea typeface="+mj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设计了动态链路下的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</a:rPr>
              <a:t>自适应传输方案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，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</a:rPr>
              <a:t>改进了全局聚合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的表达式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87474452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7EBDAA-416C-4078-A2B4-9C4DE3692DB2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42635" y="603522"/>
            <a:ext cx="285526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与现有量化方案的区别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2420" y="1111353"/>
            <a:ext cx="8430513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 smtClean="0">
                <a:latin typeface="Times New Roman" panose="02020603050405020304" pitchFamily="18" charset="0"/>
                <a:ea typeface="+mj-ea"/>
              </a:rPr>
              <a:t>层面</a:t>
            </a:r>
            <a:r>
              <a:rPr lang="en-US" altLang="zh-CN" sz="1600" b="1" dirty="0" smtClean="0">
                <a:latin typeface="Times New Roman" panose="02020603050405020304" pitchFamily="18" charset="0"/>
                <a:ea typeface="+mj-ea"/>
              </a:rPr>
              <a:t>1</a:t>
            </a:r>
            <a:r>
              <a:rPr lang="zh-CN" altLang="en-US" sz="1600" b="1" dirty="0" smtClean="0">
                <a:latin typeface="Times New Roman" panose="02020603050405020304" pitchFamily="18" charset="0"/>
                <a:ea typeface="+mj-ea"/>
              </a:rPr>
              <a:t>：和传统的 </a:t>
            </a:r>
            <a:r>
              <a:rPr lang="en-US" altLang="zh-CN" sz="1600" b="1" dirty="0" smtClean="0">
                <a:latin typeface="Times New Roman" panose="02020603050405020304" pitchFamily="18" charset="0"/>
                <a:ea typeface="+mj-ea"/>
              </a:rPr>
              <a:t>DNN </a:t>
            </a:r>
            <a:r>
              <a:rPr lang="zh-CN" altLang="en-US" sz="1600" b="1" dirty="0" smtClean="0">
                <a:latin typeface="Times New Roman" panose="02020603050405020304" pitchFamily="18" charset="0"/>
                <a:ea typeface="+mj-ea"/>
              </a:rPr>
              <a:t>模型量化对比 </a:t>
            </a:r>
            <a:r>
              <a:rPr lang="en-US" altLang="zh-CN" sz="1400" dirty="0" smtClean="0">
                <a:latin typeface="Times New Roman" panose="02020603050405020304" pitchFamily="18" charset="0"/>
                <a:ea typeface="+mj-ea"/>
              </a:rPr>
              <a:t>[Gupta et al., 2015; Lin et al. 2016; Han et al. 2015]</a:t>
            </a:r>
            <a:r>
              <a:rPr lang="en-US" altLang="zh-CN" sz="1600" b="1" dirty="0" smtClean="0">
                <a:latin typeface="Times New Roman" panose="02020603050405020304" pitchFamily="18" charset="0"/>
                <a:ea typeface="+mj-ea"/>
              </a:rPr>
              <a:t>	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动机不同</a:t>
            </a:r>
            <a:r>
              <a:rPr lang="en-US" altLang="zh-CN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: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 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只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对完成训练后的模型进行量化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，降低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模型的存储空间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或推断时的计算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量</a:t>
            </a:r>
            <a:endParaRPr lang="en-US" altLang="zh-CN" sz="1600" dirty="0" smtClean="0">
              <a:solidFill>
                <a:srgbClr val="000000"/>
              </a:solidFill>
              <a:latin typeface="Times New Roman" panose="02020603050405020304" pitchFamily="18" charset="0"/>
              <a:ea typeface="+mj-ea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影响不同</a:t>
            </a:r>
            <a:r>
              <a:rPr lang="en-US" altLang="zh-CN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: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 FL 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中的量化是多回合的量化，会对迭代产生影响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2420" y="2456578"/>
            <a:ext cx="8952323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 smtClean="0">
                <a:latin typeface="Times New Roman" panose="02020603050405020304" pitchFamily="18" charset="0"/>
                <a:ea typeface="+mj-ea"/>
              </a:rPr>
              <a:t>层面</a:t>
            </a:r>
            <a:r>
              <a:rPr lang="en-US" altLang="zh-CN" sz="1600" b="1" dirty="0" smtClean="0">
                <a:latin typeface="Times New Roman" panose="02020603050405020304" pitchFamily="18" charset="0"/>
                <a:ea typeface="+mj-ea"/>
              </a:rPr>
              <a:t>2</a:t>
            </a:r>
            <a:r>
              <a:rPr lang="zh-CN" altLang="en-US" sz="1600" b="1" dirty="0" smtClean="0">
                <a:latin typeface="Times New Roman" panose="02020603050405020304" pitchFamily="18" charset="0"/>
                <a:ea typeface="+mj-ea"/>
              </a:rPr>
              <a:t>：和用于</a:t>
            </a:r>
            <a:r>
              <a:rPr lang="en-US" altLang="zh-CN" sz="1600" b="1" dirty="0">
                <a:latin typeface="Times New Roman" panose="02020603050405020304" pitchFamily="18" charset="0"/>
                <a:ea typeface="+mj-ea"/>
              </a:rPr>
              <a:t> </a:t>
            </a:r>
            <a:r>
              <a:rPr lang="en-US" altLang="zh-CN" sz="1600" b="1" dirty="0" smtClean="0">
                <a:latin typeface="Times New Roman" panose="02020603050405020304" pitchFamily="18" charset="0"/>
                <a:ea typeface="+mj-ea"/>
              </a:rPr>
              <a:t>FL </a:t>
            </a:r>
            <a:r>
              <a:rPr lang="zh-CN" altLang="en-US" sz="1600" b="1" dirty="0" smtClean="0">
                <a:latin typeface="Times New Roman" panose="02020603050405020304" pitchFamily="18" charset="0"/>
                <a:ea typeface="+mj-ea"/>
              </a:rPr>
              <a:t>的量化方案对比</a:t>
            </a:r>
            <a:r>
              <a:rPr lang="en-US" altLang="zh-CN" sz="1600" b="1" dirty="0" smtClean="0">
                <a:latin typeface="Times New Roman" panose="02020603050405020304" pitchFamily="18" charset="0"/>
                <a:ea typeface="+mj-ea"/>
              </a:rPr>
              <a:t>	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实现层面</a:t>
            </a:r>
            <a:r>
              <a:rPr lang="en-US" altLang="zh-CN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: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 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基于范数，复杂度较高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[</a:t>
            </a:r>
            <a:r>
              <a:rPr lang="en-US" altLang="zh-CN" sz="1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Alistarh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 et al., 2017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; </a:t>
            </a:r>
            <a:r>
              <a:rPr lang="en-US" altLang="zh-CN" sz="1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Reisizadeh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 et al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., 2019; </a:t>
            </a:r>
            <a:r>
              <a:rPr lang="en-US" altLang="zh-CN" sz="1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Shlezinger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, et al. 2020]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一般性 </a:t>
            </a:r>
            <a:r>
              <a:rPr lang="en-US" altLang="zh-CN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(</a:t>
            </a:r>
            <a:r>
              <a:rPr lang="zh-CN" alt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上</a:t>
            </a:r>
            <a:r>
              <a:rPr lang="en-US" altLang="zh-CN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/</a:t>
            </a:r>
            <a:r>
              <a:rPr lang="zh-CN" alt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下行</a:t>
            </a:r>
            <a:r>
              <a:rPr lang="en-US" altLang="zh-CN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…):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 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纯分布式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[</a:t>
            </a:r>
            <a:r>
              <a:rPr lang="en-US" altLang="zh-CN" sz="1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Amiri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 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et al. 2006]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、全用户参与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[</a:t>
            </a:r>
            <a:r>
              <a:rPr lang="en-US" altLang="zh-CN" sz="1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Reisizadeh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 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</a:rPr>
              <a:t>et al. 2020]</a:t>
            </a:r>
            <a:endParaRPr lang="zh-CN" altLang="en-US" sz="1400" dirty="0">
              <a:solidFill>
                <a:srgbClr val="000000"/>
              </a:solidFill>
              <a:latin typeface="Times New Roman" panose="02020603050405020304" pitchFamily="18" charset="0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23306" y="6505773"/>
            <a:ext cx="3172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MNIST: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本文方案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vs. </a:t>
            </a:r>
            <a:r>
              <a:rPr lang="en-US" altLang="zh-CN" sz="1400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FedPAQ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上行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95" y="3685457"/>
            <a:ext cx="3850245" cy="286871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781" y="3685457"/>
            <a:ext cx="3693611" cy="282031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003191" y="6505773"/>
            <a:ext cx="3739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CIFAR-10: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本文方案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vs. </a:t>
            </a:r>
            <a:r>
              <a:rPr lang="en-US" altLang="zh-CN" sz="1400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FedPAQ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上行差分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0890784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7EBDAA-416C-4078-A2B4-9C4DE3692DB2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42635" y="603522"/>
            <a:ext cx="331052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与现有量化方案的区别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(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续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)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1960" y="1276664"/>
            <a:ext cx="8404860" cy="5003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600" indent="-324000" algn="just">
              <a:lnSpc>
                <a:spcPct val="120000"/>
              </a:lnSpc>
              <a:spcAft>
                <a:spcPts val="600"/>
              </a:spcAft>
            </a:pP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[1] Gupta S, Agrawal A, </a:t>
            </a:r>
            <a:r>
              <a:rPr lang="en-US" altLang="zh-CN" sz="1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Gopalakrishnan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K, et al. Deep learning with limited numerical precision[C]//International conference on machine learning. 2015: 1737–1746.</a:t>
            </a:r>
          </a:p>
          <a:p>
            <a:pPr marL="273600" indent="-324000" algn="just">
              <a:lnSpc>
                <a:spcPct val="120000"/>
              </a:lnSpc>
              <a:spcAft>
                <a:spcPts val="600"/>
              </a:spcAft>
            </a:pP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[2] Lin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D,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Talathi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S,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Annapureddy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S. Fixed point quantization of deep convolutional networks[C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]//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International conference on machine learning. 2016: 2849–2858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.</a:t>
            </a:r>
          </a:p>
          <a:p>
            <a:pPr marL="273600" indent="-324000" algn="just">
              <a:lnSpc>
                <a:spcPct val="120000"/>
              </a:lnSpc>
              <a:spcAft>
                <a:spcPts val="600"/>
              </a:spcAft>
            </a:pP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[3] Han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S, Mao H, Dally W J. Deep compression: Compressing deep neural networks with pruning, 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trained quantization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and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huffman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coding[J].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arXiv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preprint arXiv:1510.00149, 2015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.</a:t>
            </a:r>
          </a:p>
          <a:p>
            <a:pPr marL="273600" indent="-324000" algn="just">
              <a:lnSpc>
                <a:spcPct val="120000"/>
              </a:lnSpc>
              <a:spcAft>
                <a:spcPts val="600"/>
              </a:spcAft>
            </a:pP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[4] </a:t>
            </a:r>
            <a:r>
              <a:rPr lang="en-US" altLang="zh-CN" sz="1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Alistarh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D,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Grubic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D, Li J, et al. QSGD: 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Communication 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efficient SGD via gradient quantization 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and encoding[J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]. Advances in Neural Information Processing Systems, 2017, 30: 1709–1720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.</a:t>
            </a:r>
          </a:p>
          <a:p>
            <a:pPr marL="273600" indent="-324000" algn="just">
              <a:lnSpc>
                <a:spcPct val="12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[5] </a:t>
            </a:r>
            <a:r>
              <a:rPr lang="en-US" altLang="zh-CN" sz="1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Reisizadeh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A,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Mokhtari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A,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Hassani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H, et al. An exact quantized decentralized gradient descent 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algo­rithm[J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]. IEEE Transactions on Signal Processing, 2019, 67(19): 4934–4947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.</a:t>
            </a:r>
          </a:p>
          <a:p>
            <a:pPr marL="273600" indent="-324000" algn="just">
              <a:lnSpc>
                <a:spcPct val="120000"/>
              </a:lnSpc>
              <a:spcAft>
                <a:spcPts val="600"/>
              </a:spcAft>
            </a:pP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[6] </a:t>
            </a:r>
            <a:r>
              <a:rPr lang="en-US" altLang="zh-CN" sz="1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Shlezinger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N, Chen M,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Eldar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Y C, et al. Federated learning with quantization constraints[C] //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ICASSP 2020­2020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IEEE International Conference on Acoustics, Speech and Signal Processing (ICASSP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). 2020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: 8851–8855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.</a:t>
            </a:r>
          </a:p>
          <a:p>
            <a:pPr marL="273600" indent="-324000" algn="just">
              <a:lnSpc>
                <a:spcPct val="120000"/>
              </a:lnSpc>
              <a:spcAft>
                <a:spcPts val="600"/>
              </a:spcAft>
            </a:pP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[7] </a:t>
            </a:r>
            <a:r>
              <a:rPr lang="en-US" altLang="zh-CN" sz="1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Amiri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Gunduz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D, Kulkarni S R, et al. Federated learning with quantized global model updates[J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]. </a:t>
            </a:r>
            <a:r>
              <a:rPr lang="en-US" altLang="zh-CN" sz="1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arXiv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preprint arXiv:2006.10672, 2020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.</a:t>
            </a:r>
          </a:p>
          <a:p>
            <a:pPr marL="273600" indent="-324000" algn="just">
              <a:lnSpc>
                <a:spcPct val="120000"/>
              </a:lnSpc>
              <a:spcAft>
                <a:spcPts val="600"/>
              </a:spcAft>
            </a:pP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[8] </a:t>
            </a:r>
            <a:r>
              <a:rPr lang="en-US" altLang="zh-CN" sz="1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Reisizadeh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A,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Mokhtari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A,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Hassani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H, et al.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FedPAQ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: A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communication­efficient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federated 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learning method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with periodic averaging and quantization[C] //International Conference on Artificial </a:t>
            </a:r>
            <a:r>
              <a:rPr lang="en-US" altLang="zh-CN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Intelli­gence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and Statistics. 2020: 2021–2031.</a:t>
            </a:r>
            <a:endParaRPr lang="zh-CN" altLang="en-US" sz="1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2734529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 bwMode="auto">
          <a:xfrm>
            <a:off x="251460" y="4091940"/>
            <a:ext cx="2072640" cy="361464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ot"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7EBDAA-416C-4078-A2B4-9C4DE3692DB2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2" y="1194006"/>
            <a:ext cx="5197624" cy="257694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2635" y="603522"/>
            <a:ext cx="332174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(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无线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) 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联邦学习的流程细节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44200" y="1111353"/>
            <a:ext cx="321113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协同训练一个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个中心服务器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N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个用户终端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sz="1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对应本地数据集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数据集总大小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损失函数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本地目标函数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全局目标函数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25113"/>
              </p:ext>
            </p:extLst>
          </p:nvPr>
        </p:nvGraphicFramePr>
        <p:xfrm>
          <a:off x="7643267" y="2158682"/>
          <a:ext cx="824429" cy="279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3" name="Equation" r:id="rId4" imgW="711000" imgH="241200" progId="Equation.DSMT4">
                  <p:embed/>
                </p:oleObj>
              </mc:Choice>
              <mc:Fallback>
                <p:oleObj name="Equation" r:id="rId4" imgW="711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43267" y="2158682"/>
                        <a:ext cx="824429" cy="2797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702971"/>
              </p:ext>
            </p:extLst>
          </p:nvPr>
        </p:nvGraphicFramePr>
        <p:xfrm>
          <a:off x="6915151" y="2446019"/>
          <a:ext cx="95885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4" name="Equation" r:id="rId6" imgW="825480" imgH="291960" progId="Equation.DSMT4">
                  <p:embed/>
                </p:oleObj>
              </mc:Choice>
              <mc:Fallback>
                <p:oleObj name="Equation" r:id="rId6" imgW="825480" imgH="29196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15151" y="2446019"/>
                        <a:ext cx="958850" cy="33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496773"/>
              </p:ext>
            </p:extLst>
          </p:nvPr>
        </p:nvGraphicFramePr>
        <p:xfrm>
          <a:off x="6549767" y="2814320"/>
          <a:ext cx="13525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5" name="Equation" r:id="rId8" imgW="1117440" imgH="203040" progId="Equation.DSMT4">
                  <p:embed/>
                </p:oleObj>
              </mc:Choice>
              <mc:Fallback>
                <p:oleObj name="Equation" r:id="rId8" imgW="1117440" imgH="2030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549767" y="2814320"/>
                        <a:ext cx="1352550" cy="24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754051"/>
              </p:ext>
            </p:extLst>
          </p:nvPr>
        </p:nvGraphicFramePr>
        <p:xfrm>
          <a:off x="6915151" y="3087352"/>
          <a:ext cx="215423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6" name="Equation" r:id="rId10" imgW="1777680" imgH="279360" progId="Equation.DSMT4">
                  <p:embed/>
                </p:oleObj>
              </mc:Choice>
              <mc:Fallback>
                <p:oleObj name="Equation" r:id="rId10" imgW="1777680" imgH="27936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915151" y="3087352"/>
                        <a:ext cx="2154237" cy="336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7937925"/>
              </p:ext>
            </p:extLst>
          </p:nvPr>
        </p:nvGraphicFramePr>
        <p:xfrm>
          <a:off x="6907213" y="3418523"/>
          <a:ext cx="20939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7" name="Equation" r:id="rId12" imgW="1726920" imgH="291960" progId="Equation.DSMT4">
                  <p:embed/>
                </p:oleObj>
              </mc:Choice>
              <mc:Fallback>
                <p:oleObj name="Equation" r:id="rId12" imgW="1726920" imgH="29196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07213" y="3418523"/>
                        <a:ext cx="2093912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51460" y="4046220"/>
            <a:ext cx="871745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：模型下载 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服务器对全局模型     进行量化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调制，由下行信道广播。从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个用户中选择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个参与，组成集合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：本地训练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用户对模型进行相应解调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译码等，恢复    ，在此基础上进行 </a:t>
            </a:r>
            <a:r>
              <a:rPr lang="en-US" altLang="zh-CN" sz="1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epoch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：模型上传 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用户对本地训练后的模型也进行量化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调制，经由上行信道回传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：模型聚合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lvl="1">
              <a:lnSpc>
                <a:spcPct val="150000"/>
              </a:lnSpc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服务器对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个用户模型依次解调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译码，恢复      ，并进行全局更新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864791"/>
              </p:ext>
            </p:extLst>
          </p:nvPr>
        </p:nvGraphicFramePr>
        <p:xfrm>
          <a:off x="2225040" y="4443412"/>
          <a:ext cx="249766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8" name="Equation" r:id="rId14" imgW="203040" imgH="228600" progId="Equation.DSMT4">
                  <p:embed/>
                </p:oleObj>
              </mc:Choice>
              <mc:Fallback>
                <p:oleObj name="Equation" r:id="rId14" imgW="203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225040" y="4443412"/>
                        <a:ext cx="249766" cy="280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531465"/>
              </p:ext>
            </p:extLst>
          </p:nvPr>
        </p:nvGraphicFramePr>
        <p:xfrm>
          <a:off x="8796337" y="4468644"/>
          <a:ext cx="204788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9" name="Equation" r:id="rId16" imgW="164880" imgH="228600" progId="Equation.DSMT4">
                  <p:embed/>
                </p:oleObj>
              </mc:Choice>
              <mc:Fallback>
                <p:oleObj name="Equation" r:id="rId16" imgW="164880" imgH="2286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796337" y="4468644"/>
                        <a:ext cx="204788" cy="280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528778"/>
              </p:ext>
            </p:extLst>
          </p:nvPr>
        </p:nvGraphicFramePr>
        <p:xfrm>
          <a:off x="3901440" y="5084742"/>
          <a:ext cx="249766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50" name="Equation" r:id="rId18" imgW="203040" imgH="228600" progId="Equation.DSMT4">
                  <p:embed/>
                </p:oleObj>
              </mc:Choice>
              <mc:Fallback>
                <p:oleObj name="Equation" r:id="rId18" imgW="203040" imgH="2286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901440" y="5084742"/>
                        <a:ext cx="249766" cy="280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092357"/>
              </p:ext>
            </p:extLst>
          </p:nvPr>
        </p:nvGraphicFramePr>
        <p:xfrm>
          <a:off x="4289425" y="6338888"/>
          <a:ext cx="344488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51" name="Equation" r:id="rId19" imgW="279360" imgH="241200" progId="Equation.DSMT4">
                  <p:embed/>
                </p:oleObj>
              </mc:Choice>
              <mc:Fallback>
                <p:oleObj name="Equation" r:id="rId19" imgW="279360" imgH="24120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89425" y="6338888"/>
                        <a:ext cx="344488" cy="296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522136"/>
              </p:ext>
            </p:extLst>
          </p:nvPr>
        </p:nvGraphicFramePr>
        <p:xfrm>
          <a:off x="6076718" y="6221026"/>
          <a:ext cx="144938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52" name="Equation" r:id="rId21" imgW="1143000" imgH="431640" progId="Equation.DSMT4">
                  <p:embed/>
                </p:oleObj>
              </mc:Choice>
              <mc:Fallback>
                <p:oleObj name="Equation" r:id="rId21" imgW="1143000" imgH="431640" progId="Equation.DSMT4">
                  <p:embed/>
                  <p:pic>
                    <p:nvPicPr>
                      <p:cNvPr id="35" name="对象 3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76718" y="6221026"/>
                        <a:ext cx="1449387" cy="547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 bwMode="auto">
          <a:xfrm>
            <a:off x="251460" y="5377428"/>
            <a:ext cx="2072640" cy="361464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ot"/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1128931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7EBDAA-416C-4078-A2B4-9C4DE3692DB2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42635" y="603522"/>
            <a:ext cx="211788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1-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比特量化方案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5780" y="1151198"/>
            <a:ext cx="7962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在某些特定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的条件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下有可能将量化位宽压缩到极致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­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比特，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整体上的量化设计思想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没有方式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改变，但量化流程的描述有所不同：只需要保留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“取整”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、“缩小”两个环节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，对应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两种不同舍入方式的取整环节需修改如下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78180" y="2538226"/>
            <a:ext cx="3682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就近舍入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(Nearest Rounding, NR)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8180" y="4107946"/>
            <a:ext cx="38611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舍入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(Stochastic Rounding, SR)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90111"/>
              </p:ext>
            </p:extLst>
          </p:nvPr>
        </p:nvGraphicFramePr>
        <p:xfrm>
          <a:off x="3560552" y="3110944"/>
          <a:ext cx="2022897" cy="827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68" name="Equation" r:id="rId3" imgW="1117440" imgH="457200" progId="Equation.DSMT4">
                  <p:embed/>
                </p:oleObj>
              </mc:Choice>
              <mc:Fallback>
                <p:oleObj name="Equation" r:id="rId3" imgW="11174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0552" y="3110944"/>
                        <a:ext cx="2022897" cy="8275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854329"/>
              </p:ext>
            </p:extLst>
          </p:nvPr>
        </p:nvGraphicFramePr>
        <p:xfrm>
          <a:off x="3560552" y="4537940"/>
          <a:ext cx="2668270" cy="873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69" name="Equation" r:id="rId5" imgW="1549080" imgH="507960" progId="Equation.DSMT4">
                  <p:embed/>
                </p:oleObj>
              </mc:Choice>
              <mc:Fallback>
                <p:oleObj name="Equation" r:id="rId5" imgW="1549080" imgH="50796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60552" y="4537940"/>
                        <a:ext cx="2668270" cy="8738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678180" y="5422265"/>
            <a:ext cx="3385820" cy="561975"/>
            <a:chOff x="678180" y="5422265"/>
            <a:chExt cx="3385820" cy="561975"/>
          </a:xfrm>
        </p:grpSpPr>
        <p:sp>
          <p:nvSpPr>
            <p:cNvPr id="10" name="文本框 9"/>
            <p:cNvSpPr txBox="1"/>
            <p:nvPr/>
          </p:nvSpPr>
          <p:spPr>
            <a:xfrm>
              <a:off x="678180" y="5503208"/>
              <a:ext cx="11047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其中，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1725553"/>
                </p:ext>
              </p:extLst>
            </p:nvPr>
          </p:nvGraphicFramePr>
          <p:xfrm>
            <a:off x="1631950" y="5422265"/>
            <a:ext cx="2432050" cy="561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70" name="Equation" r:id="rId7" imgW="1866600" imgH="431640" progId="Equation.DSMT4">
                    <p:embed/>
                  </p:oleObj>
                </mc:Choice>
                <mc:Fallback>
                  <p:oleObj name="Equation" r:id="rId7" imgW="1866600" imgH="431640" progId="Equation.DSMT4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31950" y="5422265"/>
                          <a:ext cx="2432050" cy="5619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/>
          <p:nvPr/>
        </p:nvGrpSpPr>
        <p:grpSpPr>
          <a:xfrm>
            <a:off x="678180" y="6187073"/>
            <a:ext cx="4216507" cy="338554"/>
            <a:chOff x="678180" y="6187073"/>
            <a:chExt cx="4216507" cy="338554"/>
          </a:xfrm>
        </p:grpSpPr>
        <p:sp>
          <p:nvSpPr>
            <p:cNvPr id="14" name="文本框 13"/>
            <p:cNvSpPr txBox="1"/>
            <p:nvPr/>
          </p:nvSpPr>
          <p:spPr>
            <a:xfrm>
              <a:off x="678180" y="6187073"/>
              <a:ext cx="25539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p"/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缩小环节则只需要执行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0704930"/>
                </p:ext>
              </p:extLst>
            </p:nvPr>
          </p:nvGraphicFramePr>
          <p:xfrm>
            <a:off x="3141704" y="6191439"/>
            <a:ext cx="1752983" cy="334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71" name="Equation" r:id="rId9" imgW="1066680" imgH="203040" progId="Equation.DSMT4">
                    <p:embed/>
                  </p:oleObj>
                </mc:Choice>
                <mc:Fallback>
                  <p:oleObj name="Equation" r:id="rId9" imgW="1066680" imgH="203040" progId="Equation.DSMT4">
                    <p:embed/>
                    <p:pic>
                      <p:nvPicPr>
                        <p:cNvPr id="11" name="对象 1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41704" y="6191439"/>
                          <a:ext cx="1752983" cy="3341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07876577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34804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收敛性分析的假设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997987" y="2182139"/>
            <a:ext cx="7812832" cy="977066"/>
            <a:chOff x="1169437" y="3525747"/>
            <a:chExt cx="7812832" cy="977066"/>
          </a:xfrm>
        </p:grpSpPr>
        <p:sp>
          <p:nvSpPr>
            <p:cNvPr id="40" name="圆角矩形 39"/>
            <p:cNvSpPr/>
            <p:nvPr/>
          </p:nvSpPr>
          <p:spPr bwMode="auto">
            <a:xfrm>
              <a:off x="1169437" y="3525747"/>
              <a:ext cx="7812832" cy="95019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7030A0"/>
              </a:solidFill>
              <a:prstDash val="dash"/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marL="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假设</a:t>
              </a:r>
              <a:r>
                <a:rPr lang="en-US" altLang="zh-CN" sz="2000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1: </a:t>
              </a:r>
              <a:r>
                <a:rPr lang="zh-CN" altLang="en-US" sz="2000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本地函数 </a:t>
              </a:r>
              <a:r>
                <a:rPr lang="en-US" altLang="zh-CN" sz="2000" u="sng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L-</a:t>
              </a:r>
              <a:r>
                <a:rPr lang="zh-CN" altLang="en-US" sz="2000" u="sng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光滑</a:t>
              </a:r>
              <a:endParaRPr lang="en-US" altLang="zh-CN" sz="2000" u="sng" dirty="0">
                <a:solidFill>
                  <a:srgbClr val="7030A0"/>
                </a:solidFill>
                <a:latin typeface="Times New Roman" panose="02020603050405020304" pitchFamily="18" charset="0"/>
                <a:ea typeface="黑体" pitchFamily="49" charset="-122"/>
              </a:endParaRPr>
            </a:p>
            <a:p>
              <a:pPr marL="0" lvl="1" indent="-342900">
                <a:lnSpc>
                  <a:spcPct val="150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假设</a:t>
              </a:r>
              <a:r>
                <a:rPr lang="en-US" altLang="zh-CN" sz="2000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2: </a:t>
              </a:r>
              <a:r>
                <a:rPr lang="zh-CN" altLang="en-US" sz="2000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本地函数 </a:t>
              </a:r>
              <a:r>
                <a:rPr lang="en-US" altLang="zh-CN" sz="2000" u="sng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μ-</a:t>
              </a:r>
              <a:r>
                <a:rPr lang="zh-CN" altLang="en-US" sz="2000" u="sng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强凸</a:t>
              </a:r>
              <a:endParaRPr lang="en-US" altLang="zh-CN" sz="2000" u="sng" dirty="0">
                <a:solidFill>
                  <a:srgbClr val="7030A0"/>
                </a:solidFill>
                <a:latin typeface="Times New Roman" panose="02020603050405020304" pitchFamily="18" charset="0"/>
                <a:ea typeface="黑体" pitchFamily="49" charset="-122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/>
            </p:nvPr>
          </p:nvGraphicFramePr>
          <p:xfrm>
            <a:off x="4296007" y="3542351"/>
            <a:ext cx="4156083" cy="493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27" name="Equation" r:id="rId3" imgW="3314520" imgH="393480" progId="Equation.DSMT4">
                    <p:embed/>
                  </p:oleObj>
                </mc:Choice>
                <mc:Fallback>
                  <p:oleObj name="Equation" r:id="rId3" imgW="3314520" imgH="39348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96007" y="3542351"/>
                          <a:ext cx="4156083" cy="4936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/>
            </p:nvPr>
          </p:nvGraphicFramePr>
          <p:xfrm>
            <a:off x="4296007" y="4009613"/>
            <a:ext cx="4170372" cy="49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28" name="Equation" r:id="rId5" imgW="3327120" imgH="393480" progId="Equation.DSMT4">
                    <p:embed/>
                  </p:oleObj>
                </mc:Choice>
                <mc:Fallback>
                  <p:oleObj name="Equation" r:id="rId5" imgW="3327120" imgH="393480" progId="Equation.DSMT4">
                    <p:embed/>
                    <p:pic>
                      <p:nvPicPr>
                        <p:cNvPr id="8" name="对象 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96007" y="4009613"/>
                          <a:ext cx="4170372" cy="49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" name="组合 44"/>
          <p:cNvGrpSpPr/>
          <p:nvPr/>
        </p:nvGrpSpPr>
        <p:grpSpPr>
          <a:xfrm>
            <a:off x="997987" y="3412180"/>
            <a:ext cx="7812832" cy="950199"/>
            <a:chOff x="1169437" y="4690135"/>
            <a:chExt cx="7812832" cy="950199"/>
          </a:xfrm>
        </p:grpSpPr>
        <p:sp>
          <p:nvSpPr>
            <p:cNvPr id="43" name="圆角矩形 42"/>
            <p:cNvSpPr/>
            <p:nvPr/>
          </p:nvSpPr>
          <p:spPr bwMode="auto">
            <a:xfrm>
              <a:off x="1169437" y="4690135"/>
              <a:ext cx="7812832" cy="95019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7030A0"/>
              </a:solidFill>
              <a:prstDash val="dash"/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marL="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 smtClean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假设</a:t>
              </a:r>
              <a:r>
                <a:rPr lang="en-US" altLang="zh-CN" sz="2000" dirty="0" smtClean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3</a:t>
              </a:r>
              <a:r>
                <a:rPr lang="en-US" altLang="zh-CN" sz="2000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: SGD</a:t>
              </a:r>
              <a:r>
                <a:rPr lang="zh-CN" altLang="en-US" sz="2000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梯度估计方差有界</a:t>
              </a:r>
              <a:endParaRPr lang="en-US" altLang="zh-CN" sz="2000" u="sng" dirty="0">
                <a:solidFill>
                  <a:srgbClr val="7030A0"/>
                </a:solidFill>
                <a:latin typeface="Times New Roman" panose="02020603050405020304" pitchFamily="18" charset="0"/>
                <a:ea typeface="黑体" pitchFamily="49" charset="-122"/>
              </a:endParaRPr>
            </a:p>
            <a:p>
              <a:pPr marL="0" lvl="1" indent="-342900">
                <a:lnSpc>
                  <a:spcPct val="150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zh-CN" altLang="en-US" sz="2000" dirty="0" smtClean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假设</a:t>
              </a:r>
              <a:r>
                <a:rPr lang="en-US" altLang="zh-CN" sz="2000" dirty="0" smtClean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4</a:t>
              </a:r>
              <a:r>
                <a:rPr lang="en-US" altLang="zh-CN" sz="2000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: SGD</a:t>
              </a:r>
              <a:r>
                <a:rPr lang="zh-CN" altLang="en-US" sz="2000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itchFamily="49" charset="-122"/>
                </a:rPr>
                <a:t>梯度本身均匀有界</a:t>
              </a:r>
              <a:endParaRPr lang="en-US" altLang="zh-CN" sz="2000" u="sng" dirty="0">
                <a:solidFill>
                  <a:srgbClr val="7030A0"/>
                </a:solidFill>
                <a:latin typeface="Times New Roman" panose="02020603050405020304" pitchFamily="18" charset="0"/>
                <a:ea typeface="黑体" pitchFamily="49" charset="-122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/>
            </p:nvPr>
          </p:nvGraphicFramePr>
          <p:xfrm>
            <a:off x="5014622" y="5215264"/>
            <a:ext cx="3890962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29" name="Equation" r:id="rId7" imgW="3162240" imgH="304560" progId="Equation.DSMT4">
                    <p:embed/>
                  </p:oleObj>
                </mc:Choice>
                <mc:Fallback>
                  <p:oleObj name="Equation" r:id="rId7" imgW="3162240" imgH="304560" progId="Equation.DSMT4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014622" y="5215264"/>
                          <a:ext cx="3890962" cy="374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/>
            </p:nvPr>
          </p:nvGraphicFramePr>
          <p:xfrm>
            <a:off x="5014622" y="4777815"/>
            <a:ext cx="2970213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30" name="Equation" r:id="rId9" imgW="2412720" imgH="304560" progId="Equation.DSMT4">
                    <p:embed/>
                  </p:oleObj>
                </mc:Choice>
                <mc:Fallback>
                  <p:oleObj name="Equation" r:id="rId9" imgW="2412720" imgH="304560" progId="Equation.DSMT4">
                    <p:embed/>
                    <p:pic>
                      <p:nvPicPr>
                        <p:cNvPr id="10" name="对象 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14622" y="4777815"/>
                          <a:ext cx="2970213" cy="374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" name="组合 43"/>
          <p:cNvGrpSpPr/>
          <p:nvPr/>
        </p:nvGrpSpPr>
        <p:grpSpPr>
          <a:xfrm>
            <a:off x="997988" y="4615353"/>
            <a:ext cx="7812832" cy="424256"/>
            <a:chOff x="1169438" y="5924144"/>
            <a:chExt cx="7812832" cy="424256"/>
          </a:xfrm>
        </p:grpSpPr>
        <p:sp>
          <p:nvSpPr>
            <p:cNvPr id="42" name="圆角矩形 41"/>
            <p:cNvSpPr/>
            <p:nvPr/>
          </p:nvSpPr>
          <p:spPr bwMode="auto">
            <a:xfrm>
              <a:off x="1169438" y="5924144"/>
              <a:ext cx="7812832" cy="41630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  <a:prstDash val="dash"/>
              <a:miter lim="800000"/>
              <a:headEnd/>
              <a:tailEnd/>
            </a:ln>
          </p:spPr>
          <p:txBody>
            <a:bodyPr lIns="90000" rtlCol="0" anchor="ctr"/>
            <a:lstStyle/>
            <a:p>
              <a:pPr marL="0" lvl="1" indent="-342900"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zh-CN" altLang="en-US" sz="2000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黑体" pitchFamily="49" charset="-122"/>
                </a:rPr>
                <a:t>假设</a:t>
              </a:r>
              <a:r>
                <a:rPr lang="en-US" altLang="zh-CN" sz="2000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黑体" pitchFamily="49" charset="-122"/>
                </a:rPr>
                <a:t>5</a:t>
              </a:r>
              <a:r>
                <a:rPr lang="en-US" altLang="zh-CN" sz="2000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itchFamily="49" charset="-122"/>
                </a:rPr>
                <a:t>: 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黑体" pitchFamily="49" charset="-122"/>
                </a:rPr>
                <a:t>训练</a:t>
              </a:r>
              <a:r>
                <a:rPr lang="zh-CN" altLang="en-US" sz="2000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itchFamily="49" charset="-122"/>
                </a:rPr>
                <a:t>过程模型参数有界</a:t>
              </a:r>
              <a:endParaRPr lang="en-US" altLang="zh-CN" sz="2000" u="sng" dirty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/>
            </p:nvPr>
          </p:nvGraphicFramePr>
          <p:xfrm>
            <a:off x="5014622" y="5974000"/>
            <a:ext cx="3054572" cy="37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31" name="Equation" r:id="rId11" imgW="2387520" imgH="291960" progId="Equation.DSMT4">
                    <p:embed/>
                  </p:oleObj>
                </mc:Choice>
                <mc:Fallback>
                  <p:oleObj name="Equation" r:id="rId11" imgW="2387520" imgH="291960" progId="Equation.DSMT4">
                    <p:embed/>
                    <p:pic>
                      <p:nvPicPr>
                        <p:cNvPr id="11" name="对象 1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014622" y="5974000"/>
                          <a:ext cx="3054572" cy="374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550970" y="1552412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353A77"/>
                </a:solidFill>
                <a:latin typeface="Times New Roman" panose="02020603050405020304" pitchFamily="18" charset="0"/>
                <a:ea typeface="黑体" pitchFamily="49" charset="-122"/>
              </a:rPr>
              <a:t>一些假设</a:t>
            </a:r>
            <a:endParaRPr lang="en-US" altLang="zh-CN" sz="2400" b="1" dirty="0">
              <a:solidFill>
                <a:srgbClr val="353A77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5733104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7EBDAA-416C-4078-A2B4-9C4DE3692DB2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42635" y="603522"/>
            <a:ext cx="329930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完整收敛性分析结果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(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上行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)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038808" y="1179933"/>
            <a:ext cx="7249523" cy="3376256"/>
            <a:chOff x="1038808" y="1111353"/>
            <a:chExt cx="7249523" cy="337625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8808" y="1111353"/>
              <a:ext cx="7249523" cy="3376256"/>
            </a:xfrm>
            <a:prstGeom prst="rect">
              <a:avLst/>
            </a:prstGeom>
            <a:ln w="1270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文本框 6"/>
            <p:cNvSpPr txBox="1"/>
            <p:nvPr/>
          </p:nvSpPr>
          <p:spPr>
            <a:xfrm>
              <a:off x="7421880" y="2630204"/>
              <a:ext cx="425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(1)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038808" y="4637879"/>
            <a:ext cx="7250400" cy="2121085"/>
            <a:chOff x="1038808" y="4569299"/>
            <a:chExt cx="7250400" cy="2121085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8808" y="4569299"/>
              <a:ext cx="7250400" cy="2121085"/>
            </a:xfrm>
            <a:prstGeom prst="rect">
              <a:avLst/>
            </a:prstGeom>
            <a:ln w="1270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文本框 8"/>
            <p:cNvSpPr txBox="1"/>
            <p:nvPr/>
          </p:nvSpPr>
          <p:spPr>
            <a:xfrm>
              <a:off x="6202680" y="4923824"/>
              <a:ext cx="425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(1)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4714160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7EBDAA-416C-4078-A2B4-9C4DE3692DB2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42635" y="603522"/>
            <a:ext cx="336181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完整收敛性分析结果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(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下</a:t>
            </a:r>
            <a:r>
              <a:rPr lang="zh-C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行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)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86286" y="1429000"/>
            <a:ext cx="8571428" cy="4000000"/>
            <a:chOff x="286286" y="1429000"/>
            <a:chExt cx="8571428" cy="400000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86" y="1429000"/>
              <a:ext cx="8571428" cy="4000000"/>
            </a:xfrm>
            <a:prstGeom prst="rect">
              <a:avLst/>
            </a:prstGeom>
            <a:ln w="1270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文本框 4"/>
            <p:cNvSpPr txBox="1"/>
            <p:nvPr/>
          </p:nvSpPr>
          <p:spPr>
            <a:xfrm>
              <a:off x="3102197" y="3948464"/>
              <a:ext cx="425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(1)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1847609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51074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上行链路量化仿真实验结果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22420" y="1511967"/>
            <a:ext cx="57038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黑体" pitchFamily="49" charset="-122"/>
              </a:rPr>
              <a:t>取整函数的影响：</a:t>
            </a:r>
            <a:r>
              <a:rPr lang="zh-CN" altLang="en-US" sz="2000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四舍五入 </a:t>
            </a:r>
            <a:r>
              <a:rPr lang="en-US" altLang="zh-CN" sz="2000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vs. </a:t>
            </a:r>
            <a:r>
              <a:rPr lang="zh-CN" altLang="en-US" sz="2000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随机舍入 </a:t>
            </a:r>
            <a:r>
              <a:rPr lang="en-US" altLang="zh-CN" sz="2000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(SR)</a:t>
            </a:r>
            <a:endParaRPr lang="zh-CN" altLang="en-US" dirty="0" smtClean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69" y="2628685"/>
            <a:ext cx="8483941" cy="334423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06106" y="6431061"/>
            <a:ext cx="2111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CIFAR-10 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箭头连接符 21"/>
          <p:cNvCxnSpPr/>
          <p:nvPr/>
        </p:nvCxnSpPr>
        <p:spPr bwMode="auto">
          <a:xfrm>
            <a:off x="2486293" y="4136134"/>
            <a:ext cx="246978" cy="582335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chemeClr val="accent5">
                <a:lumMod val="1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文本框 22"/>
          <p:cNvSpPr txBox="1"/>
          <p:nvPr/>
        </p:nvSpPr>
        <p:spPr>
          <a:xfrm>
            <a:off x="1862408" y="3776671"/>
            <a:ext cx="1339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数增加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箭头连接符 25"/>
          <p:cNvCxnSpPr/>
          <p:nvPr/>
        </p:nvCxnSpPr>
        <p:spPr bwMode="auto">
          <a:xfrm flipH="1" flipV="1">
            <a:off x="6917658" y="2833578"/>
            <a:ext cx="493459" cy="943093"/>
          </a:xfrm>
          <a:prstGeom prst="straightConnector1">
            <a:avLst/>
          </a:prstGeom>
          <a:solidFill>
            <a:schemeClr val="tx1"/>
          </a:solidFill>
          <a:ln w="19050" cap="flat" cmpd="sng" algn="ctr">
            <a:solidFill>
              <a:schemeClr val="accent5">
                <a:lumMod val="1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文本框 29"/>
          <p:cNvSpPr txBox="1"/>
          <p:nvPr/>
        </p:nvSpPr>
        <p:spPr>
          <a:xfrm>
            <a:off x="5658458" y="2714873"/>
            <a:ext cx="1339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数增加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09405" y="2237637"/>
            <a:ext cx="2247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四舍五入，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比特量化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13111" y="2237637"/>
            <a:ext cx="2247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随机舍入，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比特量化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0975127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9C1A8B-BF9C-45BA-894C-C4B3C6C0D10E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020394"/>
            <a:ext cx="5831651" cy="140001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C8ABB15-97E5-48DE-816E-D0922A15A3E7}"/>
              </a:ext>
            </a:extLst>
          </p:cNvPr>
          <p:cNvSpPr/>
          <p:nvPr/>
        </p:nvSpPr>
        <p:spPr>
          <a:xfrm>
            <a:off x="550970" y="859371"/>
            <a:ext cx="43043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传输误差的建模和分析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2420" y="1444146"/>
            <a:ext cx="5171609" cy="576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accent4"/>
                </a:solidFill>
                <a:latin typeface="Times New Roman" panose="02020603050405020304" pitchFamily="18" charset="0"/>
                <a:ea typeface="黑体" pitchFamily="49" charset="-122"/>
              </a:rPr>
              <a:t>量化后的模型参数为一个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</a:rPr>
              <a:t>有符号数</a:t>
            </a:r>
            <a:endParaRPr lang="en-US" altLang="zh-CN" sz="2400" b="1" dirty="0" smtClean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/>
          </p:nvPr>
        </p:nvGraphicFramePr>
        <p:xfrm>
          <a:off x="1016610" y="2938463"/>
          <a:ext cx="9572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04" name="Equation" r:id="rId4" imgW="609480" imgH="228600" progId="Equation.DSMT4">
                  <p:embed/>
                </p:oleObj>
              </mc:Choice>
              <mc:Fallback>
                <p:oleObj name="Equation" r:id="rId4" imgW="609480" imgH="2286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6610" y="2938463"/>
                        <a:ext cx="957262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2082865" y="3438921"/>
          <a:ext cx="6411913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05" name="Equation" r:id="rId6" imgW="4457520" imgH="431640" progId="Equation.DSMT4">
                  <p:embed/>
                </p:oleObj>
              </mc:Choice>
              <mc:Fallback>
                <p:oleObj name="Equation" r:id="rId6" imgW="4457520" imgH="43164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82865" y="3438921"/>
                        <a:ext cx="6411913" cy="620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左弧形箭头 11"/>
          <p:cNvSpPr/>
          <p:nvPr/>
        </p:nvSpPr>
        <p:spPr bwMode="auto">
          <a:xfrm>
            <a:off x="844550" y="2605169"/>
            <a:ext cx="1129322" cy="1167385"/>
          </a:xfrm>
          <a:prstGeom prst="curvedRightArrow">
            <a:avLst>
              <a:gd name="adj1" fmla="val 10896"/>
              <a:gd name="adj2" fmla="val 27562"/>
              <a:gd name="adj3" fmla="val 35153"/>
            </a:avLst>
          </a:prstGeom>
          <a:solidFill>
            <a:schemeClr val="bg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lIns="90000"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 smtClean="0">
              <a:solidFill>
                <a:srgbClr val="800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610" y="4041552"/>
            <a:ext cx="3595142" cy="2816448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3451" y="4106376"/>
            <a:ext cx="3511550" cy="275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399957"/>
      </p:ext>
    </p:extLst>
  </p:cSld>
  <p:clrMapOvr>
    <a:masterClrMapping/>
  </p:clrMapOvr>
  <p:transition advTm="12468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8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自定义 2">
      <a:majorFont>
        <a:latin typeface="微软雅黑"/>
        <a:ea typeface="黑体"/>
        <a:cs typeface=""/>
      </a:majorFont>
      <a:minorFont>
        <a:latin typeface="微软雅黑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38100">
          <a:solidFill>
            <a:schemeClr val="tx2"/>
          </a:solidFill>
          <a:miter lim="800000"/>
          <a:headEnd/>
          <a:tailEnd/>
        </a:ln>
      </a:spPr>
      <a:bodyPr lIns="90000" rtlCol="0" anchor="ctr"/>
      <a:lstStyle>
        <a:defPPr algn="ctr">
          <a:lnSpc>
            <a:spcPct val="120000"/>
          </a:lnSpc>
          <a:defRPr sz="3200" dirty="0" smtClean="0">
            <a:solidFill>
              <a:srgbClr val="80008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黑体" pitchFamily="2" charset="-122"/>
            <a:ea typeface="黑体" pitchFamily="2" charset="-122"/>
          </a:defRPr>
        </a:defPPr>
      </a:lstStyle>
    </a:spDef>
    <a:lnDef>
      <a:spPr bwMode="auto">
        <a:solidFill>
          <a:schemeClr val="tx1"/>
        </a:solidFill>
        <a:ln w="19050" cap="flat" cmpd="sng" algn="ctr">
          <a:solidFill>
            <a:schemeClr val="accent5">
              <a:lumMod val="1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400" dirty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9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0D38F1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10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DF6AF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11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748DF8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1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0A2FCC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13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3E61F4"/>
        </a:hlink>
        <a:folHlink>
          <a:srgbClr val="DF6AF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14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000066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9557</TotalTime>
  <Words>3397</Words>
  <Application>Microsoft Office PowerPoint</Application>
  <PresentationFormat>全屏显示(4:3)</PresentationFormat>
  <Paragraphs>520</Paragraphs>
  <Slides>40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0" baseType="lpstr">
      <vt:lpstr>等线</vt:lpstr>
      <vt:lpstr>黑体</vt:lpstr>
      <vt:lpstr>宋体</vt:lpstr>
      <vt:lpstr>微软雅黑</vt:lpstr>
      <vt:lpstr>Arial</vt:lpstr>
      <vt:lpstr>Tahoma</vt:lpstr>
      <vt:lpstr>Times New Roman</vt:lpstr>
      <vt:lpstr>Wingdings</vt:lpstr>
      <vt:lpstr>8_Blueprint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Zheng Sihui</dc:creator>
  <cp:lastModifiedBy>liu weihua</cp:lastModifiedBy>
  <cp:revision>1461</cp:revision>
  <dcterms:created xsi:type="dcterms:W3CDTF">2019-03-26T12:31:04Z</dcterms:created>
  <dcterms:modified xsi:type="dcterms:W3CDTF">2021-05-24T15:00:28Z</dcterms:modified>
</cp:coreProperties>
</file>