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32"/>
  </p:notesMasterIdLst>
  <p:handoutMasterIdLst>
    <p:handoutMasterId r:id="rId33"/>
  </p:handoutMasterIdLst>
  <p:sldIdLst>
    <p:sldId id="350" r:id="rId2"/>
    <p:sldId id="411" r:id="rId3"/>
    <p:sldId id="415" r:id="rId4"/>
    <p:sldId id="419" r:id="rId5"/>
    <p:sldId id="450" r:id="rId6"/>
    <p:sldId id="417" r:id="rId7"/>
    <p:sldId id="422" r:id="rId8"/>
    <p:sldId id="424" r:id="rId9"/>
    <p:sldId id="451" r:id="rId10"/>
    <p:sldId id="425" r:id="rId11"/>
    <p:sldId id="426" r:id="rId12"/>
    <p:sldId id="428" r:id="rId13"/>
    <p:sldId id="454" r:id="rId14"/>
    <p:sldId id="434" r:id="rId15"/>
    <p:sldId id="435" r:id="rId16"/>
    <p:sldId id="438" r:id="rId17"/>
    <p:sldId id="452" r:id="rId18"/>
    <p:sldId id="440" r:id="rId19"/>
    <p:sldId id="441" r:id="rId20"/>
    <p:sldId id="442" r:id="rId21"/>
    <p:sldId id="443" r:id="rId22"/>
    <p:sldId id="444" r:id="rId23"/>
    <p:sldId id="445" r:id="rId24"/>
    <p:sldId id="446" r:id="rId25"/>
    <p:sldId id="447" r:id="rId26"/>
    <p:sldId id="448" r:id="rId27"/>
    <p:sldId id="453" r:id="rId28"/>
    <p:sldId id="456" r:id="rId29"/>
    <p:sldId id="455" r:id="rId30"/>
    <p:sldId id="410"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赵 家毅" initials="赵" lastIdx="1" clrIdx="0">
    <p:extLst>
      <p:ext uri="{19B8F6BF-5375-455C-9EA6-DF929625EA0E}">
        <p15:presenceInfo xmlns:p15="http://schemas.microsoft.com/office/powerpoint/2012/main" userId="46428aeac3860492"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9FF0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25" autoAdjust="0"/>
    <p:restoredTop sz="90482" autoAdjust="0"/>
  </p:normalViewPr>
  <p:slideViewPr>
    <p:cSldViewPr snapToGrid="0">
      <p:cViewPr varScale="1">
        <p:scale>
          <a:sx n="78" d="100"/>
          <a:sy n="78" d="100"/>
        </p:scale>
        <p:origin x="902" y="58"/>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C41CDC0C-C328-42E4-9BC7-D021612418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976F3B67-F8BE-4397-B2E7-6A52FB4F761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EF6EF9-97E0-4401-91AE-8FE093384F18}" type="datetimeFigureOut">
              <a:rPr lang="zh-CN" altLang="en-US" smtClean="0"/>
              <a:t>2021/4/29</a:t>
            </a:fld>
            <a:endParaRPr lang="zh-CN" altLang="en-US"/>
          </a:p>
        </p:txBody>
      </p:sp>
      <p:sp>
        <p:nvSpPr>
          <p:cNvPr id="4" name="页脚占位符 3">
            <a:extLst>
              <a:ext uri="{FF2B5EF4-FFF2-40B4-BE49-F238E27FC236}">
                <a16:creationId xmlns:a16="http://schemas.microsoft.com/office/drawing/2014/main" id="{40CB4874-1CDB-475F-B273-F2738DBD0E2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9736FFE4-432B-4C2D-A935-960318131F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3FBF5D-A7D7-40F5-B30A-B84C525EC60B}" type="slidenum">
              <a:rPr lang="zh-CN" altLang="en-US" smtClean="0"/>
              <a:t>‹#›</a:t>
            </a:fld>
            <a:endParaRPr lang="zh-CN" altLang="en-US"/>
          </a:p>
        </p:txBody>
      </p:sp>
    </p:spTree>
    <p:extLst>
      <p:ext uri="{BB962C8B-B14F-4D97-AF65-F5344CB8AC3E}">
        <p14:creationId xmlns:p14="http://schemas.microsoft.com/office/powerpoint/2010/main" val="16187406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E4A27D-8F84-4640-89D9-D1F193818ED4}" type="datetimeFigureOut">
              <a:rPr lang="zh-CN" altLang="en-US" smtClean="0"/>
              <a:t>2021/4/29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815923-BD55-47EE-B5F7-EBFC8AB6E9C2}" type="slidenum">
              <a:rPr lang="zh-CN" altLang="en-US" smtClean="0"/>
              <a:t>‹#›</a:t>
            </a:fld>
            <a:endParaRPr lang="zh-CN" altLang="en-US"/>
          </a:p>
        </p:txBody>
      </p:sp>
    </p:spTree>
    <p:extLst>
      <p:ext uri="{BB962C8B-B14F-4D97-AF65-F5344CB8AC3E}">
        <p14:creationId xmlns:p14="http://schemas.microsoft.com/office/powerpoint/2010/main" val="31257776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815923-BD55-47EE-B5F7-EBFC8AB6E9C2}" type="slidenum">
              <a:rPr lang="zh-CN" altLang="en-US" smtClean="0"/>
              <a:t>3</a:t>
            </a:fld>
            <a:endParaRPr lang="zh-CN" altLang="en-US"/>
          </a:p>
        </p:txBody>
      </p:sp>
    </p:spTree>
    <p:extLst>
      <p:ext uri="{BB962C8B-B14F-4D97-AF65-F5344CB8AC3E}">
        <p14:creationId xmlns:p14="http://schemas.microsoft.com/office/powerpoint/2010/main" val="31558993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815923-BD55-47EE-B5F7-EBFC8AB6E9C2}" type="slidenum">
              <a:rPr lang="zh-CN" altLang="en-US" smtClean="0"/>
              <a:t>4</a:t>
            </a:fld>
            <a:endParaRPr lang="zh-CN" altLang="en-US"/>
          </a:p>
        </p:txBody>
      </p:sp>
    </p:spTree>
    <p:extLst>
      <p:ext uri="{BB962C8B-B14F-4D97-AF65-F5344CB8AC3E}">
        <p14:creationId xmlns:p14="http://schemas.microsoft.com/office/powerpoint/2010/main" val="29719294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815923-BD55-47EE-B5F7-EBFC8AB6E9C2}" type="slidenum">
              <a:rPr lang="zh-CN" altLang="en-US" smtClean="0"/>
              <a:t>6</a:t>
            </a:fld>
            <a:endParaRPr lang="zh-CN" altLang="en-US"/>
          </a:p>
        </p:txBody>
      </p:sp>
    </p:spTree>
    <p:extLst>
      <p:ext uri="{BB962C8B-B14F-4D97-AF65-F5344CB8AC3E}">
        <p14:creationId xmlns:p14="http://schemas.microsoft.com/office/powerpoint/2010/main" val="382322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815923-BD55-47EE-B5F7-EBFC8AB6E9C2}" type="slidenum">
              <a:rPr lang="zh-CN" altLang="en-US" smtClean="0"/>
              <a:t>7</a:t>
            </a:fld>
            <a:endParaRPr lang="zh-CN" altLang="en-US"/>
          </a:p>
        </p:txBody>
      </p:sp>
    </p:spTree>
    <p:extLst>
      <p:ext uri="{BB962C8B-B14F-4D97-AF65-F5344CB8AC3E}">
        <p14:creationId xmlns:p14="http://schemas.microsoft.com/office/powerpoint/2010/main" val="25001580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815923-BD55-47EE-B5F7-EBFC8AB6E9C2}" type="slidenum">
              <a:rPr lang="zh-CN" altLang="en-US" smtClean="0"/>
              <a:t>8</a:t>
            </a:fld>
            <a:endParaRPr lang="zh-CN" altLang="en-US"/>
          </a:p>
        </p:txBody>
      </p:sp>
    </p:spTree>
    <p:extLst>
      <p:ext uri="{BB962C8B-B14F-4D97-AF65-F5344CB8AC3E}">
        <p14:creationId xmlns:p14="http://schemas.microsoft.com/office/powerpoint/2010/main" val="1005118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815923-BD55-47EE-B5F7-EBFC8AB6E9C2}" type="slidenum">
              <a:rPr lang="zh-CN" altLang="en-US" smtClean="0"/>
              <a:t>10</a:t>
            </a:fld>
            <a:endParaRPr lang="zh-CN" altLang="en-US"/>
          </a:p>
        </p:txBody>
      </p:sp>
    </p:spTree>
    <p:extLst>
      <p:ext uri="{BB962C8B-B14F-4D97-AF65-F5344CB8AC3E}">
        <p14:creationId xmlns:p14="http://schemas.microsoft.com/office/powerpoint/2010/main" val="16902905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815923-BD55-47EE-B5F7-EBFC8AB6E9C2}" type="slidenum">
              <a:rPr lang="zh-CN" altLang="en-US" smtClean="0"/>
              <a:t>11</a:t>
            </a:fld>
            <a:endParaRPr lang="zh-CN" altLang="en-US"/>
          </a:p>
        </p:txBody>
      </p:sp>
    </p:spTree>
    <p:extLst>
      <p:ext uri="{BB962C8B-B14F-4D97-AF65-F5344CB8AC3E}">
        <p14:creationId xmlns:p14="http://schemas.microsoft.com/office/powerpoint/2010/main" val="4329138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815923-BD55-47EE-B5F7-EBFC8AB6E9C2}" type="slidenum">
              <a:rPr lang="zh-CN" altLang="en-US" smtClean="0"/>
              <a:t>12</a:t>
            </a:fld>
            <a:endParaRPr lang="zh-CN" altLang="en-US"/>
          </a:p>
        </p:txBody>
      </p:sp>
    </p:spTree>
    <p:extLst>
      <p:ext uri="{BB962C8B-B14F-4D97-AF65-F5344CB8AC3E}">
        <p14:creationId xmlns:p14="http://schemas.microsoft.com/office/powerpoint/2010/main" val="3600342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815923-BD55-47EE-B5F7-EBFC8AB6E9C2}" type="slidenum">
              <a:rPr lang="zh-CN" altLang="en-US" smtClean="0"/>
              <a:t>13</a:t>
            </a:fld>
            <a:endParaRPr lang="zh-CN" altLang="en-US"/>
          </a:p>
        </p:txBody>
      </p:sp>
    </p:spTree>
    <p:extLst>
      <p:ext uri="{BB962C8B-B14F-4D97-AF65-F5344CB8AC3E}">
        <p14:creationId xmlns:p14="http://schemas.microsoft.com/office/powerpoint/2010/main" val="34537866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02815923-BD55-47EE-B5F7-EBFC8AB6E9C2}" type="slidenum">
              <a:rPr lang="zh-CN" altLang="en-US" smtClean="0"/>
              <a:t>14</a:t>
            </a:fld>
            <a:endParaRPr lang="zh-CN" altLang="en-US"/>
          </a:p>
        </p:txBody>
      </p:sp>
    </p:spTree>
    <p:extLst>
      <p:ext uri="{BB962C8B-B14F-4D97-AF65-F5344CB8AC3E}">
        <p14:creationId xmlns:p14="http://schemas.microsoft.com/office/powerpoint/2010/main" val="4346347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815923-BD55-47EE-B5F7-EBFC8AB6E9C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570041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815923-BD55-47EE-B5F7-EBFC8AB6E9C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2684968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815923-BD55-47EE-B5F7-EBFC8AB6E9C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805506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815923-BD55-47EE-B5F7-EBFC8AB6E9C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8356505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815923-BD55-47EE-B5F7-EBFC8AB6E9C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6076593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815923-BD55-47EE-B5F7-EBFC8AB6E9C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303982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815923-BD55-47EE-B5F7-EBFC8AB6E9C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90414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815923-BD55-47EE-B5F7-EBFC8AB6E9C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461415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815923-BD55-47EE-B5F7-EBFC8AB6E9C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288775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815923-BD55-47EE-B5F7-EBFC8AB6E9C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502924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815923-BD55-47EE-B5F7-EBFC8AB6E9C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53646003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815923-BD55-47EE-B5F7-EBFC8AB6E9C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350948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2815923-BD55-47EE-B5F7-EBFC8AB6E9C2}"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4572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8649266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E7370EFD-3BAC-4058-B647-F01F7ED571A1}" type="datetime1">
              <a:rPr lang="zh-CN" altLang="en-US" smtClean="0"/>
              <a:t>2021/4/29</a:t>
            </a:fld>
            <a:endParaRPr lang="zh-CN" altLang="en-US"/>
          </a:p>
        </p:txBody>
      </p:sp>
      <p:sp>
        <p:nvSpPr>
          <p:cNvPr id="5" name="Footer Placeholder 4"/>
          <p:cNvSpPr>
            <a:spLocks noGrp="1"/>
          </p:cNvSpPr>
          <p:nvPr>
            <p:ph type="ftr" sz="quarter" idx="11"/>
          </p:nvPr>
        </p:nvSpPr>
        <p:spPr/>
        <p:txBody>
          <a:bodyPr/>
          <a:lstStyle/>
          <a:p>
            <a:endParaRPr lang="zh-CN" altLang="en-US" dirty="0"/>
          </a:p>
        </p:txBody>
      </p:sp>
      <p:sp>
        <p:nvSpPr>
          <p:cNvPr id="6" name="Slide Number Placeholder 5"/>
          <p:cNvSpPr>
            <a:spLocks noGrp="1"/>
          </p:cNvSpPr>
          <p:nvPr>
            <p:ph type="sldNum" sz="quarter" idx="12"/>
          </p:nvPr>
        </p:nvSpPr>
        <p:spPr/>
        <p:txBody>
          <a:bodyPr/>
          <a:lstStyle/>
          <a:p>
            <a:fld id="{B125EA80-F692-46D2-AFCC-CA48803B46EF}" type="slidenum">
              <a:rPr lang="zh-CN" altLang="en-US" smtClean="0"/>
              <a:t>‹#›</a:t>
            </a:fld>
            <a:endParaRPr lang="zh-CN" altLang="en-US" dirty="0"/>
          </a:p>
        </p:txBody>
      </p:sp>
    </p:spTree>
    <p:extLst>
      <p:ext uri="{BB962C8B-B14F-4D97-AF65-F5344CB8AC3E}">
        <p14:creationId xmlns:p14="http://schemas.microsoft.com/office/powerpoint/2010/main" val="37803756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BD02CCA6-4BFB-496D-B932-1ABD6462CF84}" type="datetime1">
              <a:rPr lang="zh-CN" altLang="en-US" smtClean="0"/>
              <a:t>2021/4/29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125EA80-F692-46D2-AFCC-CA48803B46EF}" type="slidenum">
              <a:rPr lang="zh-CN" altLang="en-US" smtClean="0"/>
              <a:t>‹#›</a:t>
            </a:fld>
            <a:endParaRPr lang="zh-CN" altLang="en-US"/>
          </a:p>
        </p:txBody>
      </p:sp>
    </p:spTree>
    <p:extLst>
      <p:ext uri="{BB962C8B-B14F-4D97-AF65-F5344CB8AC3E}">
        <p14:creationId xmlns:p14="http://schemas.microsoft.com/office/powerpoint/2010/main" val="1651197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DEA1A1C3-BA50-482B-9AED-4077FFED4093}" type="datetime1">
              <a:rPr lang="zh-CN" altLang="en-US" smtClean="0"/>
              <a:t>2021/4/29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125EA80-F692-46D2-AFCC-CA48803B46EF}" type="slidenum">
              <a:rPr lang="zh-CN" altLang="en-US" smtClean="0"/>
              <a:t>‹#›</a:t>
            </a:fld>
            <a:endParaRPr lang="zh-CN" altLang="en-US"/>
          </a:p>
        </p:txBody>
      </p:sp>
    </p:spTree>
    <p:extLst>
      <p:ext uri="{BB962C8B-B14F-4D97-AF65-F5344CB8AC3E}">
        <p14:creationId xmlns:p14="http://schemas.microsoft.com/office/powerpoint/2010/main" val="2025898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0D6F8E4C-302F-48F8-AE7D-05947704C714}" type="datetime1">
              <a:rPr lang="zh-CN" altLang="en-US" smtClean="0"/>
              <a:t>2021/4/29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125EA80-F692-46D2-AFCC-CA48803B46EF}" type="slidenum">
              <a:rPr lang="zh-CN" altLang="en-US" smtClean="0"/>
              <a:t>‹#›</a:t>
            </a:fld>
            <a:endParaRPr lang="zh-CN" altLang="en-US"/>
          </a:p>
        </p:txBody>
      </p:sp>
    </p:spTree>
    <p:extLst>
      <p:ext uri="{BB962C8B-B14F-4D97-AF65-F5344CB8AC3E}">
        <p14:creationId xmlns:p14="http://schemas.microsoft.com/office/powerpoint/2010/main" val="3462735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3F17CEA4-1F7B-4753-9587-E24367DF138B}" type="datetime1">
              <a:rPr lang="zh-CN" altLang="en-US" smtClean="0"/>
              <a:t>2021/4/29</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B125EA80-F692-46D2-AFCC-CA48803B46EF}" type="slidenum">
              <a:rPr lang="zh-CN" altLang="en-US" smtClean="0"/>
              <a:t>‹#›</a:t>
            </a:fld>
            <a:endParaRPr lang="zh-CN" altLang="en-US"/>
          </a:p>
        </p:txBody>
      </p:sp>
    </p:spTree>
    <p:extLst>
      <p:ext uri="{BB962C8B-B14F-4D97-AF65-F5344CB8AC3E}">
        <p14:creationId xmlns:p14="http://schemas.microsoft.com/office/powerpoint/2010/main" val="31602829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34C7F7E-D969-4DA6-9D5E-3903B47B3394}" type="datetime1">
              <a:rPr lang="zh-CN" altLang="en-US" smtClean="0"/>
              <a:t>2021/4/29</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B125EA80-F692-46D2-AFCC-CA48803B46EF}" type="slidenum">
              <a:rPr lang="zh-CN" altLang="en-US" smtClean="0"/>
              <a:t>‹#›</a:t>
            </a:fld>
            <a:endParaRPr lang="zh-CN" altLang="en-US"/>
          </a:p>
        </p:txBody>
      </p:sp>
    </p:spTree>
    <p:extLst>
      <p:ext uri="{BB962C8B-B14F-4D97-AF65-F5344CB8AC3E}">
        <p14:creationId xmlns:p14="http://schemas.microsoft.com/office/powerpoint/2010/main" val="9830954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0C29F8-8CBD-41BD-9686-71F5082AADB9}" type="datetime1">
              <a:rPr lang="zh-CN" altLang="en-US" smtClean="0"/>
              <a:t>2021/4/29</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B125EA80-F692-46D2-AFCC-CA48803B46EF}" type="slidenum">
              <a:rPr lang="zh-CN" altLang="en-US" smtClean="0"/>
              <a:t>‹#›</a:t>
            </a:fld>
            <a:endParaRPr lang="zh-CN" altLang="en-US"/>
          </a:p>
        </p:txBody>
      </p:sp>
    </p:spTree>
    <p:extLst>
      <p:ext uri="{BB962C8B-B14F-4D97-AF65-F5344CB8AC3E}">
        <p14:creationId xmlns:p14="http://schemas.microsoft.com/office/powerpoint/2010/main" val="10395480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E7B653C4-5579-4B25-9484-30EBC2ACF2B6}" type="datetime1">
              <a:rPr lang="zh-CN" altLang="en-US" smtClean="0"/>
              <a:t>2021/4/29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125EA80-F692-46D2-AFCC-CA48803B46EF}" type="slidenum">
              <a:rPr lang="zh-CN" altLang="en-US" smtClean="0"/>
              <a:t>‹#›</a:t>
            </a:fld>
            <a:endParaRPr lang="zh-CN" altLang="en-US"/>
          </a:p>
        </p:txBody>
      </p:sp>
    </p:spTree>
    <p:extLst>
      <p:ext uri="{BB962C8B-B14F-4D97-AF65-F5344CB8AC3E}">
        <p14:creationId xmlns:p14="http://schemas.microsoft.com/office/powerpoint/2010/main" val="872740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229B560F-CC10-4976-A7FC-AB416F41ABEB}" type="datetime1">
              <a:rPr lang="zh-CN" altLang="en-US" smtClean="0"/>
              <a:t>2021/4/29</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B125EA80-F692-46D2-AFCC-CA48803B46EF}" type="slidenum">
              <a:rPr lang="zh-CN" altLang="en-US" smtClean="0"/>
              <a:t>‹#›</a:t>
            </a:fld>
            <a:endParaRPr lang="zh-CN" altLang="en-US"/>
          </a:p>
        </p:txBody>
      </p:sp>
    </p:spTree>
    <p:extLst>
      <p:ext uri="{BB962C8B-B14F-4D97-AF65-F5344CB8AC3E}">
        <p14:creationId xmlns:p14="http://schemas.microsoft.com/office/powerpoint/2010/main" val="33145030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3D622BCD-1B5B-4E78-B022-FF70B52F8F62}" type="datetime1">
              <a:rPr lang="zh-CN" altLang="en-US" smtClean="0"/>
              <a:t>2021/4/29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125EA80-F692-46D2-AFCC-CA48803B46EF}" type="slidenum">
              <a:rPr lang="zh-CN" altLang="en-US" smtClean="0"/>
              <a:t>‹#›</a:t>
            </a:fld>
            <a:endParaRPr lang="zh-CN" altLang="en-US"/>
          </a:p>
        </p:txBody>
      </p:sp>
    </p:spTree>
    <p:extLst>
      <p:ext uri="{BB962C8B-B14F-4D97-AF65-F5344CB8AC3E}">
        <p14:creationId xmlns:p14="http://schemas.microsoft.com/office/powerpoint/2010/main" val="34266893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947E695A-2619-49CC-863E-E034DBBCB6FC}" type="datetime1">
              <a:rPr lang="zh-CN" altLang="en-US" smtClean="0"/>
              <a:t>2021/4/29</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B125EA80-F692-46D2-AFCC-CA48803B46EF}" type="slidenum">
              <a:rPr lang="zh-CN" altLang="en-US" smtClean="0"/>
              <a:t>‹#›</a:t>
            </a:fld>
            <a:endParaRPr lang="zh-CN" altLang="en-US"/>
          </a:p>
        </p:txBody>
      </p:sp>
    </p:spTree>
    <p:extLst>
      <p:ext uri="{BB962C8B-B14F-4D97-AF65-F5344CB8AC3E}">
        <p14:creationId xmlns:p14="http://schemas.microsoft.com/office/powerpoint/2010/main" val="3465840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1E59D3C-0253-4A30-AC31-4CB4E5B2E54A}" type="datetime1">
              <a:rPr lang="zh-CN" altLang="en-US" smtClean="0"/>
              <a:t>2021/4/29</a:t>
            </a:fld>
            <a:endParaRPr lang="zh-CN"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25EA80-F692-46D2-AFCC-CA48803B46EF}" type="slidenum">
              <a:rPr lang="zh-CN" altLang="en-US" smtClean="0"/>
              <a:t>‹#›</a:t>
            </a:fld>
            <a:endParaRPr lang="zh-CN" altLang="en-US"/>
          </a:p>
        </p:txBody>
      </p:sp>
    </p:spTree>
    <p:extLst>
      <p:ext uri="{BB962C8B-B14F-4D97-AF65-F5344CB8AC3E}">
        <p14:creationId xmlns:p14="http://schemas.microsoft.com/office/powerpoint/2010/main" val="32373605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110.png"/><Relationship Id="rId7" Type="http://schemas.openxmlformats.org/officeDocument/2006/relationships/image" Target="../media/image7.png"/><Relationship Id="rId12"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2.png"/><Relationship Id="rId4" Type="http://schemas.openxmlformats.org/officeDocument/2006/relationships/image" Target="../media/image4.pn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6.png"/><Relationship Id="rId7"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26" Type="http://schemas.openxmlformats.org/officeDocument/2006/relationships/image" Target="../media/image46.png"/><Relationship Id="rId39" Type="http://schemas.openxmlformats.org/officeDocument/2006/relationships/image" Target="../media/image57.png"/><Relationship Id="rId3" Type="http://schemas.openxmlformats.org/officeDocument/2006/relationships/image" Target="../media/image23.png"/><Relationship Id="rId21" Type="http://schemas.openxmlformats.org/officeDocument/2006/relationships/image" Target="../media/image41.png"/><Relationship Id="rId34" Type="http://schemas.openxmlformats.org/officeDocument/2006/relationships/image" Target="../media/image52.png"/><Relationship Id="rId42" Type="http://schemas.openxmlformats.org/officeDocument/2006/relationships/image" Target="../media/image60.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5" Type="http://schemas.openxmlformats.org/officeDocument/2006/relationships/image" Target="../media/image45.png"/><Relationship Id="rId33" Type="http://schemas.openxmlformats.org/officeDocument/2006/relationships/image" Target="../media/image51.png"/><Relationship Id="rId38" Type="http://schemas.openxmlformats.org/officeDocument/2006/relationships/image" Target="../media/image56.png"/><Relationship Id="rId2" Type="http://schemas.openxmlformats.org/officeDocument/2006/relationships/notesSlide" Target="../notesSlides/notesSlide7.xml"/><Relationship Id="rId16" Type="http://schemas.openxmlformats.org/officeDocument/2006/relationships/image" Target="../media/image36.png"/><Relationship Id="rId20" Type="http://schemas.openxmlformats.org/officeDocument/2006/relationships/image" Target="../media/image40.png"/><Relationship Id="rId29" Type="http://schemas.openxmlformats.org/officeDocument/2006/relationships/image" Target="../media/image22.svg"/><Relationship Id="rId41" Type="http://schemas.openxmlformats.org/officeDocument/2006/relationships/image" Target="../media/image59.png"/><Relationship Id="rId1" Type="http://schemas.openxmlformats.org/officeDocument/2006/relationships/slideLayout" Target="../slideLayouts/slideLayout1.xml"/><Relationship Id="rId6" Type="http://schemas.openxmlformats.org/officeDocument/2006/relationships/image" Target="../media/image26.png"/><Relationship Id="rId11" Type="http://schemas.openxmlformats.org/officeDocument/2006/relationships/image" Target="../media/image31.png"/><Relationship Id="rId24" Type="http://schemas.openxmlformats.org/officeDocument/2006/relationships/image" Target="../media/image44.png"/><Relationship Id="rId32" Type="http://schemas.openxmlformats.org/officeDocument/2006/relationships/image" Target="../media/image50.png"/><Relationship Id="rId37" Type="http://schemas.openxmlformats.org/officeDocument/2006/relationships/image" Target="../media/image55.png"/><Relationship Id="rId40" Type="http://schemas.openxmlformats.org/officeDocument/2006/relationships/image" Target="../media/image58.png"/><Relationship Id="rId5" Type="http://schemas.openxmlformats.org/officeDocument/2006/relationships/image" Target="../media/image25.png"/><Relationship Id="rId15" Type="http://schemas.openxmlformats.org/officeDocument/2006/relationships/image" Target="../media/image35.png"/><Relationship Id="rId23" Type="http://schemas.openxmlformats.org/officeDocument/2006/relationships/image" Target="../media/image43.png"/><Relationship Id="rId28" Type="http://schemas.openxmlformats.org/officeDocument/2006/relationships/image" Target="../media/image21.png"/><Relationship Id="rId36" Type="http://schemas.openxmlformats.org/officeDocument/2006/relationships/image" Target="../media/image54.png"/><Relationship Id="rId10" Type="http://schemas.openxmlformats.org/officeDocument/2006/relationships/image" Target="../media/image30.png"/><Relationship Id="rId19" Type="http://schemas.openxmlformats.org/officeDocument/2006/relationships/image" Target="../media/image39.png"/><Relationship Id="rId31" Type="http://schemas.openxmlformats.org/officeDocument/2006/relationships/image" Target="../media/image49.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 Id="rId22" Type="http://schemas.openxmlformats.org/officeDocument/2006/relationships/image" Target="../media/image42.png"/><Relationship Id="rId27" Type="http://schemas.openxmlformats.org/officeDocument/2006/relationships/image" Target="../media/image47.png"/><Relationship Id="rId30" Type="http://schemas.openxmlformats.org/officeDocument/2006/relationships/image" Target="../media/image48.png"/><Relationship Id="rId35" Type="http://schemas.openxmlformats.org/officeDocument/2006/relationships/image" Target="../media/image53.png"/></Relationships>
</file>

<file path=ppt/slides/_rels/slide12.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png"/><Relationship Id="rId18" Type="http://schemas.openxmlformats.org/officeDocument/2006/relationships/image" Target="../media/image75.png"/><Relationship Id="rId3" Type="http://schemas.openxmlformats.org/officeDocument/2006/relationships/image" Target="../media/image61.png"/><Relationship Id="rId7" Type="http://schemas.openxmlformats.org/officeDocument/2006/relationships/image" Target="../media/image51.png"/><Relationship Id="rId12" Type="http://schemas.openxmlformats.org/officeDocument/2006/relationships/image" Target="../media/image69.png"/><Relationship Id="rId17" Type="http://schemas.openxmlformats.org/officeDocument/2006/relationships/image" Target="../media/image74.png"/><Relationship Id="rId2" Type="http://schemas.openxmlformats.org/officeDocument/2006/relationships/notesSlide" Target="../notesSlides/notesSlide8.xml"/><Relationship Id="rId16" Type="http://schemas.openxmlformats.org/officeDocument/2006/relationships/image" Target="../media/image73.png"/><Relationship Id="rId1" Type="http://schemas.openxmlformats.org/officeDocument/2006/relationships/slideLayout" Target="../slideLayouts/slideLayout1.xml"/><Relationship Id="rId6" Type="http://schemas.openxmlformats.org/officeDocument/2006/relationships/image" Target="../media/image64.png"/><Relationship Id="rId11" Type="http://schemas.openxmlformats.org/officeDocument/2006/relationships/image" Target="../media/image68.png"/><Relationship Id="rId5" Type="http://schemas.openxmlformats.org/officeDocument/2006/relationships/image" Target="../media/image63.png"/><Relationship Id="rId15" Type="http://schemas.openxmlformats.org/officeDocument/2006/relationships/image" Target="../media/image72.png"/><Relationship Id="rId10" Type="http://schemas.openxmlformats.org/officeDocument/2006/relationships/image" Target="../media/image67.png"/><Relationship Id="rId19" Type="http://schemas.openxmlformats.org/officeDocument/2006/relationships/image" Target="../media/image76.png"/><Relationship Id="rId4" Type="http://schemas.openxmlformats.org/officeDocument/2006/relationships/image" Target="../media/image62.png"/><Relationship Id="rId9" Type="http://schemas.openxmlformats.org/officeDocument/2006/relationships/image" Target="../media/image66.png"/><Relationship Id="rId14" Type="http://schemas.openxmlformats.org/officeDocument/2006/relationships/image" Target="../media/image71.png"/></Relationships>
</file>

<file path=ppt/slides/_rels/slide13.xml.rels><?xml version="1.0" encoding="UTF-8" standalone="yes"?>
<Relationships xmlns="http://schemas.openxmlformats.org/package/2006/relationships"><Relationship Id="rId8" Type="http://schemas.openxmlformats.org/officeDocument/2006/relationships/image" Target="../media/image82.png"/><Relationship Id="rId3" Type="http://schemas.openxmlformats.org/officeDocument/2006/relationships/image" Target="../media/image77.png"/><Relationship Id="rId7" Type="http://schemas.openxmlformats.org/officeDocument/2006/relationships/image" Target="../media/image8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80.png"/><Relationship Id="rId5" Type="http://schemas.openxmlformats.org/officeDocument/2006/relationships/image" Target="../media/image79.png"/><Relationship Id="rId10" Type="http://schemas.openxmlformats.org/officeDocument/2006/relationships/image" Target="../media/image84.png"/><Relationship Id="rId4" Type="http://schemas.openxmlformats.org/officeDocument/2006/relationships/image" Target="../media/image78.png"/><Relationship Id="rId9" Type="http://schemas.openxmlformats.org/officeDocument/2006/relationships/image" Target="../media/image83.png"/></Relationships>
</file>

<file path=ppt/slides/_rels/slide14.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18" Type="http://schemas.openxmlformats.org/officeDocument/2006/relationships/image" Target="../media/image100.pn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png"/><Relationship Id="rId17" Type="http://schemas.openxmlformats.org/officeDocument/2006/relationships/image" Target="../media/image99.png"/><Relationship Id="rId2" Type="http://schemas.openxmlformats.org/officeDocument/2006/relationships/notesSlide" Target="../notesSlides/notesSlide10.xml"/><Relationship Id="rId16" Type="http://schemas.openxmlformats.org/officeDocument/2006/relationships/image" Target="../media/image98.png"/><Relationship Id="rId1" Type="http://schemas.openxmlformats.org/officeDocument/2006/relationships/slideLayout" Target="../slideLayouts/slideLayout1.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5" Type="http://schemas.openxmlformats.org/officeDocument/2006/relationships/image" Target="../media/image97.png"/><Relationship Id="rId10" Type="http://schemas.openxmlformats.org/officeDocument/2006/relationships/image" Target="../media/image92.png"/><Relationship Id="rId19" Type="http://schemas.openxmlformats.org/officeDocument/2006/relationships/image" Target="../media/image101.png"/><Relationship Id="rId4" Type="http://schemas.openxmlformats.org/officeDocument/2006/relationships/image" Target="../media/image86.png"/><Relationship Id="rId9" Type="http://schemas.openxmlformats.org/officeDocument/2006/relationships/image" Target="../media/image91.png"/><Relationship Id="rId14" Type="http://schemas.openxmlformats.org/officeDocument/2006/relationships/image" Target="../media/image96.png"/></Relationships>
</file>

<file path=ppt/slides/_rels/slide15.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2.png"/><Relationship Id="rId7" Type="http://schemas.openxmlformats.org/officeDocument/2006/relationships/image" Target="../media/image106.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05.png"/><Relationship Id="rId5" Type="http://schemas.openxmlformats.org/officeDocument/2006/relationships/image" Target="../media/image104.png"/><Relationship Id="rId10" Type="http://schemas.openxmlformats.org/officeDocument/2006/relationships/image" Target="../media/image109.png"/><Relationship Id="rId4" Type="http://schemas.openxmlformats.org/officeDocument/2006/relationships/image" Target="../media/image103.png"/><Relationship Id="rId9" Type="http://schemas.openxmlformats.org/officeDocument/2006/relationships/image" Target="../media/image108.png"/></Relationships>
</file>

<file path=ppt/slides/_rels/slide16.xml.rels><?xml version="1.0" encoding="UTF-8" standalone="yes"?>
<Relationships xmlns="http://schemas.openxmlformats.org/package/2006/relationships"><Relationship Id="rId8" Type="http://schemas.openxmlformats.org/officeDocument/2006/relationships/image" Target="../media/image95.png"/><Relationship Id="rId3" Type="http://schemas.openxmlformats.org/officeDocument/2006/relationships/image" Target="../media/image110.png"/><Relationship Id="rId7" Type="http://schemas.openxmlformats.org/officeDocument/2006/relationships/image" Target="../media/image10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8.png"/><Relationship Id="rId5" Type="http://schemas.openxmlformats.org/officeDocument/2006/relationships/image" Target="../media/image112.png"/><Relationship Id="rId4" Type="http://schemas.openxmlformats.org/officeDocument/2006/relationships/image" Target="../media/image111.png"/><Relationship Id="rId9" Type="http://schemas.openxmlformats.org/officeDocument/2006/relationships/image" Target="../media/image1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29.png"/><Relationship Id="rId3" Type="http://schemas.openxmlformats.org/officeDocument/2006/relationships/image" Target="../media/image1710.png"/><Relationship Id="rId21" Type="http://schemas.openxmlformats.org/officeDocument/2006/relationships/image" Target="../media/image132.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128.png"/><Relationship Id="rId2" Type="http://schemas.openxmlformats.org/officeDocument/2006/relationships/notesSlide" Target="../notesSlides/notesSlide14.xml"/><Relationship Id="rId16" Type="http://schemas.openxmlformats.org/officeDocument/2006/relationships/image" Target="../media/image127.png"/><Relationship Id="rId20" Type="http://schemas.openxmlformats.org/officeDocument/2006/relationships/image" Target="../media/image131.png"/><Relationship Id="rId1" Type="http://schemas.openxmlformats.org/officeDocument/2006/relationships/slideLayout" Target="../slideLayouts/slideLayout1.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6.png"/><Relationship Id="rId10" Type="http://schemas.openxmlformats.org/officeDocument/2006/relationships/image" Target="../media/image121.png"/><Relationship Id="rId19" Type="http://schemas.openxmlformats.org/officeDocument/2006/relationships/image" Target="../media/image130.png"/><Relationship Id="rId4" Type="http://schemas.openxmlformats.org/officeDocument/2006/relationships/image" Target="../media/image115.png"/><Relationship Id="rId9" Type="http://schemas.openxmlformats.org/officeDocument/2006/relationships/image" Target="../media/image120.png"/><Relationship Id="rId14" Type="http://schemas.openxmlformats.org/officeDocument/2006/relationships/image" Target="../media/image125.png"/></Relationships>
</file>

<file path=ppt/slides/_rels/slide20.xml.rels><?xml version="1.0" encoding="UTF-8" standalone="yes"?>
<Relationships xmlns="http://schemas.openxmlformats.org/package/2006/relationships"><Relationship Id="rId8" Type="http://schemas.openxmlformats.org/officeDocument/2006/relationships/image" Target="../media/image136.png"/><Relationship Id="rId13" Type="http://schemas.openxmlformats.org/officeDocument/2006/relationships/image" Target="../media/image141.png"/><Relationship Id="rId18" Type="http://schemas.openxmlformats.org/officeDocument/2006/relationships/image" Target="../media/image115.png"/><Relationship Id="rId26" Type="http://schemas.openxmlformats.org/officeDocument/2006/relationships/image" Target="../media/image153.png"/><Relationship Id="rId3" Type="http://schemas.openxmlformats.org/officeDocument/2006/relationships/image" Target="../media/image133.png"/><Relationship Id="rId21" Type="http://schemas.openxmlformats.org/officeDocument/2006/relationships/image" Target="../media/image148.png"/><Relationship Id="rId7" Type="http://schemas.openxmlformats.org/officeDocument/2006/relationships/image" Target="../media/image127.png"/><Relationship Id="rId12" Type="http://schemas.openxmlformats.org/officeDocument/2006/relationships/image" Target="../media/image140.png"/><Relationship Id="rId17" Type="http://schemas.openxmlformats.org/officeDocument/2006/relationships/image" Target="../media/image145.png"/><Relationship Id="rId25" Type="http://schemas.openxmlformats.org/officeDocument/2006/relationships/image" Target="../media/image152.png"/><Relationship Id="rId2" Type="http://schemas.openxmlformats.org/officeDocument/2006/relationships/notesSlide" Target="../notesSlides/notesSlide15.xml"/><Relationship Id="rId16" Type="http://schemas.openxmlformats.org/officeDocument/2006/relationships/image" Target="../media/image144.png"/><Relationship Id="rId20" Type="http://schemas.openxmlformats.org/officeDocument/2006/relationships/image" Target="../media/image147.png"/><Relationship Id="rId1" Type="http://schemas.openxmlformats.org/officeDocument/2006/relationships/slideLayout" Target="../slideLayouts/slideLayout1.xml"/><Relationship Id="rId6" Type="http://schemas.openxmlformats.org/officeDocument/2006/relationships/image" Target="../media/image135.png"/><Relationship Id="rId11" Type="http://schemas.openxmlformats.org/officeDocument/2006/relationships/image" Target="../media/image139.png"/><Relationship Id="rId24" Type="http://schemas.openxmlformats.org/officeDocument/2006/relationships/image" Target="../media/image151.png"/><Relationship Id="rId5" Type="http://schemas.openxmlformats.org/officeDocument/2006/relationships/image" Target="../media/image134.png"/><Relationship Id="rId15" Type="http://schemas.openxmlformats.org/officeDocument/2006/relationships/image" Target="../media/image143.png"/><Relationship Id="rId23" Type="http://schemas.openxmlformats.org/officeDocument/2006/relationships/image" Target="../media/image150.png"/><Relationship Id="rId10" Type="http://schemas.openxmlformats.org/officeDocument/2006/relationships/image" Target="../media/image138.png"/><Relationship Id="rId19" Type="http://schemas.openxmlformats.org/officeDocument/2006/relationships/image" Target="../media/image146.png"/><Relationship Id="rId4" Type="http://schemas.openxmlformats.org/officeDocument/2006/relationships/image" Target="../media/image116.png"/><Relationship Id="rId9" Type="http://schemas.openxmlformats.org/officeDocument/2006/relationships/image" Target="../media/image137.png"/><Relationship Id="rId14" Type="http://schemas.openxmlformats.org/officeDocument/2006/relationships/image" Target="../media/image142.png"/><Relationship Id="rId22" Type="http://schemas.openxmlformats.org/officeDocument/2006/relationships/image" Target="../media/image149.png"/></Relationships>
</file>

<file path=ppt/slides/_rels/slide21.xml.rels><?xml version="1.0" encoding="UTF-8" standalone="yes"?>
<Relationships xmlns="http://schemas.openxmlformats.org/package/2006/relationships"><Relationship Id="rId8" Type="http://schemas.openxmlformats.org/officeDocument/2006/relationships/image" Target="../media/image159.png"/><Relationship Id="rId3" Type="http://schemas.openxmlformats.org/officeDocument/2006/relationships/image" Target="../media/image154.png"/><Relationship Id="rId7" Type="http://schemas.openxmlformats.org/officeDocument/2006/relationships/image" Target="../media/image15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55.png"/></Relationships>
</file>

<file path=ppt/slides/_rels/slide22.xml.rels><?xml version="1.0" encoding="UTF-8" standalone="yes"?>
<Relationships xmlns="http://schemas.openxmlformats.org/package/2006/relationships"><Relationship Id="rId8" Type="http://schemas.openxmlformats.org/officeDocument/2006/relationships/image" Target="../media/image2180.png"/><Relationship Id="rId13" Type="http://schemas.openxmlformats.org/officeDocument/2006/relationships/image" Target="../media/image223.png"/><Relationship Id="rId18" Type="http://schemas.openxmlformats.org/officeDocument/2006/relationships/image" Target="../media/image157.png"/><Relationship Id="rId3" Type="http://schemas.openxmlformats.org/officeDocument/2006/relationships/image" Target="../media/image220.png"/><Relationship Id="rId12" Type="http://schemas.openxmlformats.org/officeDocument/2006/relationships/image" Target="../media/image222.png"/><Relationship Id="rId17" Type="http://schemas.openxmlformats.org/officeDocument/2006/relationships/image" Target="../media/image227.png"/><Relationship Id="rId2" Type="http://schemas.openxmlformats.org/officeDocument/2006/relationships/notesSlide" Target="../notesSlides/notesSlide17.xml"/><Relationship Id="rId16" Type="http://schemas.openxmlformats.org/officeDocument/2006/relationships/image" Target="../media/image226.png"/><Relationship Id="rId1" Type="http://schemas.openxmlformats.org/officeDocument/2006/relationships/slideLayout" Target="../slideLayouts/slideLayout1.xml"/><Relationship Id="rId6" Type="http://schemas.openxmlformats.org/officeDocument/2006/relationships/image" Target="../media/image156.png"/><Relationship Id="rId11" Type="http://schemas.openxmlformats.org/officeDocument/2006/relationships/image" Target="../media/image221.png"/><Relationship Id="rId5" Type="http://schemas.openxmlformats.org/officeDocument/2006/relationships/image" Target="../media/image155.png"/><Relationship Id="rId15" Type="http://schemas.openxmlformats.org/officeDocument/2006/relationships/image" Target="../media/image225.png"/><Relationship Id="rId10" Type="http://schemas.openxmlformats.org/officeDocument/2006/relationships/image" Target="../media/image2200.png"/><Relationship Id="rId4" Type="http://schemas.openxmlformats.org/officeDocument/2006/relationships/image" Target="../media/image154.png"/><Relationship Id="rId9" Type="http://schemas.openxmlformats.org/officeDocument/2006/relationships/image" Target="../media/image2190.png"/><Relationship Id="rId14" Type="http://schemas.openxmlformats.org/officeDocument/2006/relationships/image" Target="../media/image224.png"/></Relationships>
</file>

<file path=ppt/slides/_rels/slide23.xml.rels><?xml version="1.0" encoding="UTF-8" standalone="yes"?>
<Relationships xmlns="http://schemas.openxmlformats.org/package/2006/relationships"><Relationship Id="rId8" Type="http://schemas.openxmlformats.org/officeDocument/2006/relationships/image" Target="../media/image229.png"/><Relationship Id="rId13" Type="http://schemas.openxmlformats.org/officeDocument/2006/relationships/image" Target="../media/image234.png"/><Relationship Id="rId3" Type="http://schemas.openxmlformats.org/officeDocument/2006/relationships/image" Target="../media/image228.png"/><Relationship Id="rId7" Type="http://schemas.openxmlformats.org/officeDocument/2006/relationships/image" Target="../media/image157.png"/><Relationship Id="rId12" Type="http://schemas.openxmlformats.org/officeDocument/2006/relationships/image" Target="../media/image233.png"/><Relationship Id="rId17" Type="http://schemas.openxmlformats.org/officeDocument/2006/relationships/image" Target="../media/image238.png"/><Relationship Id="rId2" Type="http://schemas.openxmlformats.org/officeDocument/2006/relationships/notesSlide" Target="../notesSlides/notesSlide18.xml"/><Relationship Id="rId16" Type="http://schemas.openxmlformats.org/officeDocument/2006/relationships/image" Target="../media/image237.png"/><Relationship Id="rId1" Type="http://schemas.openxmlformats.org/officeDocument/2006/relationships/slideLayout" Target="../slideLayouts/slideLayout1.xml"/><Relationship Id="rId6" Type="http://schemas.openxmlformats.org/officeDocument/2006/relationships/image" Target="../media/image156.png"/><Relationship Id="rId11" Type="http://schemas.openxmlformats.org/officeDocument/2006/relationships/image" Target="../media/image232.png"/><Relationship Id="rId5" Type="http://schemas.openxmlformats.org/officeDocument/2006/relationships/image" Target="../media/image155.png"/><Relationship Id="rId15" Type="http://schemas.openxmlformats.org/officeDocument/2006/relationships/image" Target="../media/image236.png"/><Relationship Id="rId10" Type="http://schemas.openxmlformats.org/officeDocument/2006/relationships/image" Target="../media/image231.png"/><Relationship Id="rId4" Type="http://schemas.openxmlformats.org/officeDocument/2006/relationships/image" Target="../media/image154.png"/><Relationship Id="rId9" Type="http://schemas.openxmlformats.org/officeDocument/2006/relationships/image" Target="../media/image230.png"/><Relationship Id="rId14" Type="http://schemas.openxmlformats.org/officeDocument/2006/relationships/image" Target="../media/image235.png"/></Relationships>
</file>

<file path=ppt/slides/_rels/slide24.xml.rels><?xml version="1.0" encoding="UTF-8" standalone="yes"?>
<Relationships xmlns="http://schemas.openxmlformats.org/package/2006/relationships"><Relationship Id="rId8" Type="http://schemas.openxmlformats.org/officeDocument/2006/relationships/image" Target="../media/image161.png"/><Relationship Id="rId13" Type="http://schemas.openxmlformats.org/officeDocument/2006/relationships/image" Target="../media/image166.png"/><Relationship Id="rId3" Type="http://schemas.openxmlformats.org/officeDocument/2006/relationships/image" Target="../media/image154.png"/><Relationship Id="rId7" Type="http://schemas.openxmlformats.org/officeDocument/2006/relationships/image" Target="../media/image160.png"/><Relationship Id="rId12" Type="http://schemas.openxmlformats.org/officeDocument/2006/relationships/image" Target="../media/image165.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57.png"/><Relationship Id="rId11" Type="http://schemas.openxmlformats.org/officeDocument/2006/relationships/image" Target="../media/image164.png"/><Relationship Id="rId5" Type="http://schemas.openxmlformats.org/officeDocument/2006/relationships/image" Target="../media/image156.png"/><Relationship Id="rId10" Type="http://schemas.openxmlformats.org/officeDocument/2006/relationships/image" Target="../media/image163.png"/><Relationship Id="rId4" Type="http://schemas.openxmlformats.org/officeDocument/2006/relationships/image" Target="../media/image155.png"/><Relationship Id="rId9" Type="http://schemas.openxmlformats.org/officeDocument/2006/relationships/image" Target="../media/image162.png"/></Relationships>
</file>

<file path=ppt/slides/_rels/slide25.xml.rels><?xml version="1.0" encoding="UTF-8" standalone="yes"?>
<Relationships xmlns="http://schemas.openxmlformats.org/package/2006/relationships"><Relationship Id="rId8" Type="http://schemas.openxmlformats.org/officeDocument/2006/relationships/image" Target="../media/image171.png"/><Relationship Id="rId13" Type="http://schemas.openxmlformats.org/officeDocument/2006/relationships/image" Target="../media/image176.png"/><Relationship Id="rId3" Type="http://schemas.openxmlformats.org/officeDocument/2006/relationships/image" Target="../media/image246.png"/><Relationship Id="rId7" Type="http://schemas.openxmlformats.org/officeDocument/2006/relationships/image" Target="../media/image170.png"/><Relationship Id="rId12" Type="http://schemas.openxmlformats.org/officeDocument/2006/relationships/image" Target="../media/image175.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69.png"/><Relationship Id="rId11" Type="http://schemas.openxmlformats.org/officeDocument/2006/relationships/image" Target="../media/image174.png"/><Relationship Id="rId5" Type="http://schemas.openxmlformats.org/officeDocument/2006/relationships/image" Target="../media/image168.png"/><Relationship Id="rId10" Type="http://schemas.openxmlformats.org/officeDocument/2006/relationships/image" Target="../media/image173.png"/><Relationship Id="rId4" Type="http://schemas.openxmlformats.org/officeDocument/2006/relationships/image" Target="../media/image167.png"/><Relationship Id="rId9" Type="http://schemas.openxmlformats.org/officeDocument/2006/relationships/image" Target="../media/image172.png"/></Relationships>
</file>

<file path=ppt/slides/_rels/slide26.xml.rels><?xml version="1.0" encoding="UTF-8" standalone="yes"?>
<Relationships xmlns="http://schemas.openxmlformats.org/package/2006/relationships"><Relationship Id="rId8" Type="http://schemas.openxmlformats.org/officeDocument/2006/relationships/image" Target="../media/image125.png"/><Relationship Id="rId3" Type="http://schemas.openxmlformats.org/officeDocument/2006/relationships/image" Target="../media/image116.png"/><Relationship Id="rId7" Type="http://schemas.openxmlformats.org/officeDocument/2006/relationships/image" Target="../media/image123.png"/><Relationship Id="rId12" Type="http://schemas.openxmlformats.org/officeDocument/2006/relationships/image" Target="../media/image18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59.png"/><Relationship Id="rId11" Type="http://schemas.openxmlformats.org/officeDocument/2006/relationships/image" Target="../media/image115.png"/><Relationship Id="rId5" Type="http://schemas.openxmlformats.org/officeDocument/2006/relationships/image" Target="../media/image178.png"/><Relationship Id="rId10" Type="http://schemas.openxmlformats.org/officeDocument/2006/relationships/image" Target="../media/image180.png"/><Relationship Id="rId4" Type="http://schemas.openxmlformats.org/officeDocument/2006/relationships/image" Target="../media/image177.png"/><Relationship Id="rId9" Type="http://schemas.openxmlformats.org/officeDocument/2006/relationships/image" Target="../media/image17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8D2B8C-5F4B-4F53-9772-57647BCD59D8}"/>
              </a:ext>
            </a:extLst>
          </p:cNvPr>
          <p:cNvSpPr>
            <a:spLocks noGrp="1"/>
          </p:cNvSpPr>
          <p:nvPr>
            <p:ph type="ctrTitle"/>
          </p:nvPr>
        </p:nvSpPr>
        <p:spPr>
          <a:xfrm>
            <a:off x="0" y="1216152"/>
            <a:ext cx="12191999" cy="2743200"/>
          </a:xfrm>
          <a:solidFill>
            <a:srgbClr val="0070C0"/>
          </a:solidFill>
        </p:spPr>
        <p:txBody>
          <a:bodyPr>
            <a:normAutofit/>
          </a:bodyPr>
          <a:lstStyle/>
          <a:p>
            <a:pPr>
              <a:lnSpc>
                <a:spcPct val="150000"/>
              </a:lnSpc>
            </a:pPr>
            <a:r>
              <a:rPr lang="zh-CN" altLang="en-US" sz="3600" b="1" dirty="0">
                <a:solidFill>
                  <a:schemeClr val="bg1"/>
                </a:solidFill>
              </a:rPr>
              <a:t>边缘计算网络下的</a:t>
            </a:r>
            <a:br>
              <a:rPr lang="en-US" altLang="zh-CN" sz="3600" b="1" dirty="0">
                <a:solidFill>
                  <a:schemeClr val="bg1"/>
                </a:solidFill>
              </a:rPr>
            </a:br>
            <a:r>
              <a:rPr lang="zh-CN" altLang="en-US" sz="3600" b="1" dirty="0">
                <a:solidFill>
                  <a:schemeClr val="bg1"/>
                </a:solidFill>
              </a:rPr>
              <a:t>编码分布式矩阵乘法运算研究</a:t>
            </a:r>
            <a:br>
              <a:rPr lang="en-US" altLang="zh-CN" sz="3600" b="1" dirty="0">
                <a:solidFill>
                  <a:schemeClr val="bg1"/>
                </a:solidFill>
              </a:rPr>
            </a:br>
            <a:r>
              <a:rPr lang="en-US" altLang="zh-CN" sz="2400" b="1" dirty="0">
                <a:solidFill>
                  <a:schemeClr val="bg1"/>
                </a:solidFill>
              </a:rPr>
              <a:t>Coded Distributed Matrix Multiplication in Edge Computing Networks</a:t>
            </a:r>
            <a:br>
              <a:rPr lang="en-US" altLang="zh-CN" sz="2400" b="1" dirty="0">
                <a:solidFill>
                  <a:schemeClr val="bg1"/>
                </a:solidFill>
              </a:rPr>
            </a:br>
            <a:r>
              <a:rPr lang="en-US" altLang="zh-CN" sz="1050" b="1" dirty="0">
                <a:solidFill>
                  <a:schemeClr val="bg1"/>
                </a:solidFill>
              </a:rPr>
              <a:t> </a:t>
            </a:r>
            <a:r>
              <a:rPr lang="en-US" altLang="zh-CN" sz="700" b="1" dirty="0">
                <a:solidFill>
                  <a:schemeClr val="bg1"/>
                </a:solidFill>
              </a:rPr>
              <a:t> </a:t>
            </a:r>
            <a:r>
              <a:rPr lang="en-US" altLang="zh-CN" sz="1100" b="1" dirty="0">
                <a:solidFill>
                  <a:schemeClr val="bg1"/>
                </a:solidFill>
              </a:rPr>
              <a:t> </a:t>
            </a:r>
            <a:r>
              <a:rPr lang="en-US" altLang="zh-CN" sz="1400" b="1" dirty="0">
                <a:solidFill>
                  <a:schemeClr val="bg1"/>
                </a:solidFill>
              </a:rPr>
              <a:t> </a:t>
            </a:r>
            <a:endParaRPr lang="zh-CN" altLang="en-US" sz="3600" b="1" dirty="0">
              <a:solidFill>
                <a:schemeClr val="bg1"/>
              </a:solidFill>
            </a:endParaRPr>
          </a:p>
        </p:txBody>
      </p:sp>
      <p:sp>
        <p:nvSpPr>
          <p:cNvPr id="3" name="文本框 2"/>
          <p:cNvSpPr txBox="1"/>
          <p:nvPr/>
        </p:nvSpPr>
        <p:spPr>
          <a:xfrm>
            <a:off x="835408" y="4190606"/>
            <a:ext cx="10521181" cy="2031325"/>
          </a:xfrm>
          <a:prstGeom prst="rect">
            <a:avLst/>
          </a:prstGeom>
          <a:noFill/>
        </p:spPr>
        <p:txBody>
          <a:bodyPr wrap="square" rtlCol="0">
            <a:spAutoFit/>
          </a:bodyPr>
          <a:lstStyle/>
          <a:p>
            <a:pPr algn="ctr"/>
            <a:r>
              <a:rPr lang="zh-CN" altLang="en-US" b="1" dirty="0"/>
              <a:t>答辩人：赵家毅</a:t>
            </a:r>
            <a:endParaRPr lang="en-US" altLang="zh-CN" b="1" dirty="0"/>
          </a:p>
          <a:p>
            <a:pPr algn="ctr"/>
            <a:endParaRPr lang="en-US" altLang="zh-CN" b="1" dirty="0"/>
          </a:p>
          <a:p>
            <a:pPr algn="ctr"/>
            <a:r>
              <a:rPr lang="zh-CN" altLang="en-US" b="1" dirty="0"/>
              <a:t>学号：</a:t>
            </a:r>
            <a:r>
              <a:rPr lang="en-US" altLang="zh-CN" b="1" dirty="0"/>
              <a:t>19215858</a:t>
            </a:r>
          </a:p>
          <a:p>
            <a:pPr algn="ctr"/>
            <a:endParaRPr lang="en-US" altLang="zh-CN" b="1" dirty="0"/>
          </a:p>
          <a:p>
            <a:pPr algn="ctr"/>
            <a:r>
              <a:rPr lang="zh-CN" altLang="en-US" b="1" dirty="0"/>
              <a:t>指导老师：张金钡副教授</a:t>
            </a:r>
            <a:endParaRPr lang="en-US" altLang="zh-CN" b="1" dirty="0"/>
          </a:p>
          <a:p>
            <a:pPr algn="ctr"/>
            <a:endParaRPr lang="en-US" altLang="zh-CN" b="1" dirty="0"/>
          </a:p>
          <a:p>
            <a:pPr algn="ctr"/>
            <a:r>
              <a:rPr lang="zh-CN" altLang="en-US" b="1" dirty="0"/>
              <a:t>电子与通信工程学院</a:t>
            </a:r>
            <a:endParaRPr lang="en-US" altLang="zh-CN" b="1" dirty="0"/>
          </a:p>
        </p:txBody>
      </p:sp>
      <p:sp>
        <p:nvSpPr>
          <p:cNvPr id="5" name="灯片编号占位符 4">
            <a:extLst>
              <a:ext uri="{FF2B5EF4-FFF2-40B4-BE49-F238E27FC236}">
                <a16:creationId xmlns:a16="http://schemas.microsoft.com/office/drawing/2014/main" id="{731BC2DD-8EE1-4F82-88E5-83B071CEFD76}"/>
              </a:ext>
            </a:extLst>
          </p:cNvPr>
          <p:cNvSpPr>
            <a:spLocks noGrp="1"/>
          </p:cNvSpPr>
          <p:nvPr>
            <p:ph type="sldNum" sz="quarter" idx="12"/>
          </p:nvPr>
        </p:nvSpPr>
        <p:spPr/>
        <p:txBody>
          <a:bodyPr/>
          <a:lstStyle/>
          <a:p>
            <a:fld id="{B125EA80-F692-46D2-AFCC-CA48803B46EF}" type="slidenum">
              <a:rPr lang="zh-CN" altLang="en-US" smtClean="0"/>
              <a:t>1</a:t>
            </a:fld>
            <a:endParaRPr lang="zh-CN" altLang="en-US" dirty="0"/>
          </a:p>
        </p:txBody>
      </p:sp>
    </p:spTree>
    <p:extLst>
      <p:ext uri="{BB962C8B-B14F-4D97-AF65-F5344CB8AC3E}">
        <p14:creationId xmlns:p14="http://schemas.microsoft.com/office/powerpoint/2010/main" val="18786486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8D2B8C-5F4B-4F53-9772-57647BCD59D8}"/>
              </a:ext>
            </a:extLst>
          </p:cNvPr>
          <p:cNvSpPr>
            <a:spLocks noGrp="1"/>
          </p:cNvSpPr>
          <p:nvPr>
            <p:ph type="ctrTitle"/>
          </p:nvPr>
        </p:nvSpPr>
        <p:spPr>
          <a:xfrm>
            <a:off x="0" y="539496"/>
            <a:ext cx="2350007" cy="535485"/>
          </a:xfrm>
          <a:solidFill>
            <a:srgbClr val="0070C0"/>
          </a:solidFill>
        </p:spPr>
        <p:txBody>
          <a:bodyPr>
            <a:normAutofit fontScale="90000"/>
          </a:bodyPr>
          <a:lstStyle/>
          <a:p>
            <a:pPr>
              <a:lnSpc>
                <a:spcPct val="100000"/>
              </a:lnSpc>
            </a:pPr>
            <a:r>
              <a:rPr lang="zh-CN" altLang="en-US" sz="3600" b="1" dirty="0">
                <a:solidFill>
                  <a:schemeClr val="bg1"/>
                </a:solidFill>
              </a:rPr>
              <a:t>目录</a:t>
            </a:r>
          </a:p>
        </p:txBody>
      </p:sp>
      <p:sp>
        <p:nvSpPr>
          <p:cNvPr id="3" name="文本框 2"/>
          <p:cNvSpPr txBox="1"/>
          <p:nvPr/>
        </p:nvSpPr>
        <p:spPr>
          <a:xfrm>
            <a:off x="1021080" y="1713928"/>
            <a:ext cx="10369296" cy="2796407"/>
          </a:xfrm>
          <a:prstGeom prst="rect">
            <a:avLst/>
          </a:prstGeom>
          <a:noFill/>
        </p:spPr>
        <p:txBody>
          <a:bodyPr wrap="square" rtlCol="0">
            <a:spAutoFit/>
          </a:bodyPr>
          <a:lstStyle/>
          <a:p>
            <a:pPr marL="342900" indent="-342900">
              <a:lnSpc>
                <a:spcPct val="150000"/>
              </a:lnSpc>
              <a:buFont typeface="+mj-lt"/>
              <a:buAutoNum type="arabicPeriod"/>
            </a:pPr>
            <a:r>
              <a:rPr lang="zh-CN" altLang="en-US" sz="2400" b="1" dirty="0">
                <a:solidFill>
                  <a:srgbClr val="FF0000"/>
                </a:solidFill>
              </a:rPr>
              <a:t>绪论</a:t>
            </a:r>
            <a:endParaRPr lang="en-US" altLang="zh-CN" sz="2400" b="1" dirty="0">
              <a:solidFill>
                <a:srgbClr val="FF0000"/>
              </a:solidFill>
            </a:endParaRPr>
          </a:p>
          <a:p>
            <a:pPr marL="342900" indent="-342900">
              <a:lnSpc>
                <a:spcPct val="150000"/>
              </a:lnSpc>
              <a:buFont typeface="+mj-lt"/>
              <a:buAutoNum type="arabicPeriod"/>
            </a:pPr>
            <a:r>
              <a:rPr lang="zh-CN" altLang="en-US" sz="2400" b="1" dirty="0"/>
              <a:t>编码计算基础</a:t>
            </a:r>
            <a:endParaRPr lang="en-US" altLang="zh-CN" sz="2400" b="1" dirty="0"/>
          </a:p>
          <a:p>
            <a:pPr marL="342900" indent="-342900">
              <a:lnSpc>
                <a:spcPct val="150000"/>
              </a:lnSpc>
              <a:buFont typeface="+mj-lt"/>
              <a:buAutoNum type="arabicPeriod"/>
            </a:pPr>
            <a:r>
              <a:rPr lang="zh-CN" altLang="en-US" sz="2400" b="1" dirty="0"/>
              <a:t>基于无线接入点的编码分布式矩阵</a:t>
            </a:r>
            <a:r>
              <a:rPr lang="en-US" altLang="zh-CN" sz="2400" b="1" dirty="0"/>
              <a:t>-</a:t>
            </a:r>
            <a:r>
              <a:rPr lang="zh-CN" altLang="en-US" sz="2400" b="1" dirty="0"/>
              <a:t>矩阵乘法运算框架</a:t>
            </a:r>
            <a:endParaRPr lang="en-US" altLang="zh-CN" sz="2400" b="1" dirty="0"/>
          </a:p>
          <a:p>
            <a:pPr marL="342900" indent="-342900">
              <a:lnSpc>
                <a:spcPct val="150000"/>
              </a:lnSpc>
              <a:buFont typeface="+mj-lt"/>
              <a:buAutoNum type="arabicPeriod"/>
            </a:pPr>
            <a:r>
              <a:rPr lang="zh-CN" altLang="en-US" sz="2400" b="1" dirty="0"/>
              <a:t>雾网络下基于压缩编码技术的分布式矩阵</a:t>
            </a:r>
            <a:r>
              <a:rPr lang="en-US" altLang="zh-CN" sz="2400" b="1" dirty="0"/>
              <a:t>-</a:t>
            </a:r>
            <a:r>
              <a:rPr lang="zh-CN" altLang="en-US" sz="2400" b="1" dirty="0"/>
              <a:t>向量乘法运算算法</a:t>
            </a:r>
            <a:endParaRPr lang="en-US" altLang="zh-CN" sz="2400" b="1" dirty="0"/>
          </a:p>
          <a:p>
            <a:pPr marL="342900" indent="-342900">
              <a:lnSpc>
                <a:spcPct val="150000"/>
              </a:lnSpc>
              <a:buFont typeface="+mj-lt"/>
              <a:buAutoNum type="arabicPeriod"/>
            </a:pPr>
            <a:r>
              <a:rPr lang="zh-CN" altLang="en-US" sz="2400" b="1" dirty="0"/>
              <a:t>总结</a:t>
            </a:r>
            <a:endParaRPr lang="en-US" altLang="zh-CN" sz="2400" b="1" dirty="0"/>
          </a:p>
        </p:txBody>
      </p:sp>
      <p:sp>
        <p:nvSpPr>
          <p:cNvPr id="4" name="灯片编号占位符 3">
            <a:extLst>
              <a:ext uri="{FF2B5EF4-FFF2-40B4-BE49-F238E27FC236}">
                <a16:creationId xmlns:a16="http://schemas.microsoft.com/office/drawing/2014/main" id="{4C8EE081-C23A-4372-B9C3-AA4B834197B0}"/>
              </a:ext>
            </a:extLst>
          </p:cNvPr>
          <p:cNvSpPr>
            <a:spLocks noGrp="1"/>
          </p:cNvSpPr>
          <p:nvPr>
            <p:ph type="sldNum" sz="quarter" idx="12"/>
          </p:nvPr>
        </p:nvSpPr>
        <p:spPr/>
        <p:txBody>
          <a:bodyPr/>
          <a:lstStyle/>
          <a:p>
            <a:fld id="{B125EA80-F692-46D2-AFCC-CA48803B46EF}" type="slidenum">
              <a:rPr lang="zh-CN" altLang="en-US" smtClean="0"/>
              <a:t>2</a:t>
            </a:fld>
            <a:endParaRPr lang="zh-CN" altLang="en-US" dirty="0"/>
          </a:p>
        </p:txBody>
      </p:sp>
    </p:spTree>
    <p:extLst>
      <p:ext uri="{BB962C8B-B14F-4D97-AF65-F5344CB8AC3E}">
        <p14:creationId xmlns:p14="http://schemas.microsoft.com/office/powerpoint/2010/main" val="1073651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a:lnSpc>
                <a:spcPts val="4400"/>
              </a:lnSpc>
            </a:pPr>
            <a:r>
              <a:rPr lang="en-US" altLang="zh-CN" sz="2800" b="1" dirty="0">
                <a:solidFill>
                  <a:schemeClr val="bg1"/>
                </a:solidFill>
              </a:rPr>
              <a:t> 1. </a:t>
            </a:r>
            <a:r>
              <a:rPr lang="zh-CN" altLang="en-US" sz="2800" b="1" dirty="0">
                <a:solidFill>
                  <a:schemeClr val="bg1"/>
                </a:solidFill>
              </a:rPr>
              <a:t>绪论（研究背景与意义）</a:t>
            </a:r>
            <a:endParaRPr lang="en-US" altLang="zh-CN" sz="2800" b="1" dirty="0">
              <a:solidFill>
                <a:schemeClr val="bg1"/>
              </a:solidFill>
            </a:endParaRPr>
          </a:p>
          <a:p>
            <a:endParaRPr lang="en-US" altLang="zh-CN" sz="700" b="1" dirty="0">
              <a:solidFill>
                <a:schemeClr val="bg1"/>
              </a:solidFill>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55448" y="832104"/>
            <a:ext cx="11868912" cy="6023700"/>
          </a:xfrm>
          <a:prstGeom prst="rect">
            <a:avLst/>
          </a:prstGeom>
          <a:noFill/>
        </p:spPr>
        <p:txBody>
          <a:bodyPr wrap="square" rtlCol="0">
            <a:spAutoFit/>
          </a:bodyPr>
          <a:lstStyle/>
          <a:p>
            <a:pPr marL="342900" indent="-342900">
              <a:buFont typeface="Wingdings" panose="05000000000000000000" pitchFamily="2" charset="2"/>
              <a:buChar char="l"/>
            </a:pPr>
            <a:r>
              <a:rPr lang="zh-CN" altLang="en-US" sz="2000" b="1" dirty="0"/>
              <a:t>分布式计算</a:t>
            </a:r>
            <a:endParaRPr lang="en-US" altLang="zh-CN" sz="2000" b="1" dirty="0"/>
          </a:p>
          <a:p>
            <a:pPr marL="360000" lvl="1" indent="-285750">
              <a:lnSpc>
                <a:spcPct val="150000"/>
              </a:lnSpc>
              <a:buFont typeface="Wingdings" panose="05000000000000000000" pitchFamily="2" charset="2"/>
              <a:buChar char="Ø"/>
            </a:pPr>
            <a:r>
              <a:rPr lang="zh-CN" altLang="en-US" dirty="0"/>
              <a:t>应用在分布式系统中来解决大规模计算问题</a:t>
            </a:r>
            <a:endParaRPr lang="en-US" altLang="zh-CN" dirty="0"/>
          </a:p>
          <a:p>
            <a:pPr marL="360000" lvl="1" indent="-285750">
              <a:lnSpc>
                <a:spcPct val="150000"/>
              </a:lnSpc>
              <a:buFont typeface="Wingdings" panose="05000000000000000000" pitchFamily="2" charset="2"/>
              <a:buChar char="Ø"/>
            </a:pPr>
            <a:r>
              <a:rPr lang="zh-CN" altLang="en-US" dirty="0"/>
              <a:t>基于</a:t>
            </a:r>
            <a:r>
              <a:rPr lang="zh-CN" altLang="en-US" dirty="0">
                <a:solidFill>
                  <a:srgbClr val="FF0000"/>
                </a:solidFill>
              </a:rPr>
              <a:t>分而治之</a:t>
            </a:r>
            <a:r>
              <a:rPr lang="zh-CN" altLang="en-US" dirty="0"/>
              <a:t>的思想，将大规模数据集进行划分，每台计算机处理一部分数据，由多台计算机并行完成计算任务</a:t>
            </a:r>
            <a:endParaRPr lang="en-US" altLang="zh-CN" dirty="0"/>
          </a:p>
          <a:p>
            <a:pPr marL="360000" lvl="1" indent="-284400">
              <a:lnSpc>
                <a:spcPct val="150000"/>
              </a:lnSpc>
              <a:buFont typeface="Wingdings" panose="05000000000000000000" pitchFamily="2" charset="2"/>
              <a:buChar char="Ø"/>
            </a:pPr>
            <a:r>
              <a:rPr lang="zh-CN" altLang="en-US" dirty="0"/>
              <a:t>具有高容错性、高计算速率、可扩展性、高可靠性、成本有效性等特点</a:t>
            </a:r>
            <a:endParaRPr lang="en-US" altLang="zh-CN" dirty="0"/>
          </a:p>
          <a:p>
            <a:endParaRPr lang="en-US" altLang="zh-CN" sz="2000" dirty="0"/>
          </a:p>
          <a:p>
            <a:pPr marL="342900" indent="-342900">
              <a:buFont typeface="Wingdings" panose="05000000000000000000" pitchFamily="2" charset="2"/>
              <a:buChar char="l"/>
            </a:pPr>
            <a:r>
              <a:rPr lang="zh-CN" altLang="en-US" sz="2000" b="1" dirty="0"/>
              <a:t>边缘计算</a:t>
            </a:r>
            <a:endParaRPr lang="en-US" altLang="zh-CN" sz="2000" b="1" dirty="0"/>
          </a:p>
          <a:p>
            <a:pPr marL="417150" indent="-342900">
              <a:lnSpc>
                <a:spcPct val="150000"/>
              </a:lnSpc>
              <a:buFont typeface="Wingdings" panose="05000000000000000000" pitchFamily="2" charset="2"/>
              <a:buChar char="Ø"/>
            </a:pPr>
            <a:r>
              <a:rPr lang="zh-CN" altLang="en-US" dirty="0"/>
              <a:t>将大规模数据运算从云端推向了网络边缘，依托</a:t>
            </a:r>
            <a:r>
              <a:rPr lang="zh-CN" altLang="en-US" dirty="0">
                <a:solidFill>
                  <a:srgbClr val="FF0000"/>
                </a:solidFill>
              </a:rPr>
              <a:t>更加靠近用户的计算资源</a:t>
            </a:r>
            <a:r>
              <a:rPr lang="zh-CN" altLang="en-US" dirty="0"/>
              <a:t>来为应用提供服务</a:t>
            </a:r>
            <a:endParaRPr lang="en-US" altLang="zh-CN" dirty="0"/>
          </a:p>
          <a:p>
            <a:pPr marL="360000" lvl="0" indent="-285750">
              <a:lnSpc>
                <a:spcPct val="150000"/>
              </a:lnSpc>
              <a:buFont typeface="Wingdings" panose="05000000000000000000" pitchFamily="2" charset="2"/>
              <a:buChar char="Ø"/>
            </a:pPr>
            <a:r>
              <a:rPr lang="zh-CN" altLang="en-US" dirty="0">
                <a:solidFill>
                  <a:prstClr val="black"/>
                </a:solidFill>
              </a:rPr>
              <a:t>边缘计算目前被广泛应用在云计算任务迁移、边缘机器学习、视频分析、智能家居、智慧城市及协同边缘等应用场景</a:t>
            </a:r>
            <a:endParaRPr lang="en-US" altLang="zh-CN" dirty="0">
              <a:solidFill>
                <a:prstClr val="black"/>
              </a:solidFill>
            </a:endParaRPr>
          </a:p>
          <a:p>
            <a:endParaRPr lang="en-US" altLang="zh-CN" dirty="0"/>
          </a:p>
          <a:p>
            <a:endParaRPr lang="en-US" altLang="zh-CN" dirty="0"/>
          </a:p>
          <a:p>
            <a:pPr marL="342900" indent="-342900">
              <a:buFont typeface="Wingdings" panose="05000000000000000000" pitchFamily="2" charset="2"/>
              <a:buChar char="l"/>
            </a:pPr>
            <a:r>
              <a:rPr lang="zh-CN" altLang="en-US" sz="2000" b="1" dirty="0"/>
              <a:t>矩阵乘法运算：大规模线性计算任务的重要基本运算</a:t>
            </a:r>
            <a:endParaRPr lang="en-US" altLang="zh-CN" sz="2000" b="1" dirty="0"/>
          </a:p>
          <a:p>
            <a:pPr marL="360000" lvl="1" indent="-285750">
              <a:lnSpc>
                <a:spcPct val="150000"/>
              </a:lnSpc>
              <a:buFont typeface="Wingdings" panose="05000000000000000000" pitchFamily="2" charset="2"/>
              <a:buChar char="Ø"/>
            </a:pPr>
            <a:r>
              <a:rPr lang="zh-CN" altLang="en-US" dirty="0"/>
              <a:t>大规模矩阵乘法被广泛应用在信号处理、机器学习和数据分析算法中，例如回归问题中的梯度下降算法、机器学习中基于图的</a:t>
            </a:r>
            <a:r>
              <a:rPr lang="en-US" altLang="zh-CN" dirty="0"/>
              <a:t>PageRank</a:t>
            </a:r>
            <a:r>
              <a:rPr lang="zh-CN" altLang="en-US" dirty="0"/>
              <a:t>算法、求解偏微分方程算法、神经网络中的前向和反向传播算法等</a:t>
            </a:r>
            <a:endParaRPr lang="en-US" altLang="zh-CN" dirty="0"/>
          </a:p>
          <a:p>
            <a:pPr marL="360000" lvl="1" indent="-285750">
              <a:lnSpc>
                <a:spcPct val="150000"/>
              </a:lnSpc>
              <a:buFont typeface="Wingdings" panose="05000000000000000000" pitchFamily="2" charset="2"/>
              <a:buChar char="Ø"/>
            </a:pPr>
            <a:r>
              <a:rPr lang="zh-CN" altLang="en-US" dirty="0"/>
              <a:t>矩阵乘法的性能很大程度上决定了这些算法整体的性能，因此加速矩阵乘法运算则提高了相关算法的执行速度</a:t>
            </a:r>
            <a:endParaRPr lang="en-US" altLang="zh-CN" dirty="0"/>
          </a:p>
          <a:p>
            <a:pPr marL="360000" lvl="1" indent="-285750">
              <a:lnSpc>
                <a:spcPct val="150000"/>
              </a:lnSpc>
              <a:buFont typeface="Wingdings" panose="05000000000000000000" pitchFamily="2" charset="2"/>
              <a:buChar char="Ø"/>
            </a:pPr>
            <a:r>
              <a:rPr lang="zh-CN" altLang="en-US" dirty="0"/>
              <a:t>大规模矩阵乘法运算需要</a:t>
            </a:r>
            <a:r>
              <a:rPr lang="zh-CN" altLang="en-US" dirty="0">
                <a:solidFill>
                  <a:srgbClr val="FF0000"/>
                </a:solidFill>
              </a:rPr>
              <a:t>借助分布式计算</a:t>
            </a:r>
            <a:r>
              <a:rPr lang="zh-CN" altLang="en-US" dirty="0"/>
              <a:t>提高运算效率</a:t>
            </a:r>
            <a:endParaRPr lang="en-US" altLang="zh-CN" dirty="0"/>
          </a:p>
        </p:txBody>
      </p:sp>
      <p:sp>
        <p:nvSpPr>
          <p:cNvPr id="3" name="灯片编号占位符 2">
            <a:extLst>
              <a:ext uri="{FF2B5EF4-FFF2-40B4-BE49-F238E27FC236}">
                <a16:creationId xmlns:a16="http://schemas.microsoft.com/office/drawing/2014/main" id="{A5B0DE8B-B210-4D53-A2B7-7024F911FFF8}"/>
              </a:ext>
            </a:extLst>
          </p:cNvPr>
          <p:cNvSpPr>
            <a:spLocks noGrp="1"/>
          </p:cNvSpPr>
          <p:nvPr>
            <p:ph type="sldNum" sz="quarter" idx="12"/>
          </p:nvPr>
        </p:nvSpPr>
        <p:spPr/>
        <p:txBody>
          <a:bodyPr/>
          <a:lstStyle/>
          <a:p>
            <a:fld id="{B125EA80-F692-46D2-AFCC-CA48803B46EF}" type="slidenum">
              <a:rPr lang="zh-CN" altLang="en-US" smtClean="0"/>
              <a:t>3</a:t>
            </a:fld>
            <a:endParaRPr lang="zh-CN" altLang="en-US" dirty="0"/>
          </a:p>
        </p:txBody>
      </p:sp>
    </p:spTree>
    <p:extLst>
      <p:ext uri="{BB962C8B-B14F-4D97-AF65-F5344CB8AC3E}">
        <p14:creationId xmlns:p14="http://schemas.microsoft.com/office/powerpoint/2010/main" val="3752976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a:lnSpc>
                <a:spcPts val="4400"/>
              </a:lnSpc>
            </a:pPr>
            <a:r>
              <a:rPr lang="en-US" altLang="zh-CN" sz="2800" b="1" dirty="0">
                <a:solidFill>
                  <a:schemeClr val="bg1"/>
                </a:solidFill>
              </a:rPr>
              <a:t> 1. </a:t>
            </a:r>
            <a:r>
              <a:rPr lang="zh-CN" altLang="en-US" sz="2800" b="1" dirty="0">
                <a:solidFill>
                  <a:schemeClr val="bg1"/>
                </a:solidFill>
              </a:rPr>
              <a:t>绪论（论文主要工作：</a:t>
            </a:r>
            <a:r>
              <a:rPr lang="zh-CN" altLang="en-US" sz="2800" b="1" dirty="0">
                <a:solidFill>
                  <a:srgbClr val="FFFF00"/>
                </a:solidFill>
              </a:rPr>
              <a:t>分布式计算</a:t>
            </a:r>
            <a:r>
              <a:rPr lang="en-US" altLang="zh-CN" sz="2800" b="1" dirty="0">
                <a:solidFill>
                  <a:srgbClr val="FFFF00"/>
                </a:solidFill>
              </a:rPr>
              <a:t>+</a:t>
            </a:r>
            <a:r>
              <a:rPr lang="zh-CN" altLang="en-US" sz="2800" b="1" dirty="0">
                <a:solidFill>
                  <a:srgbClr val="FFFF00"/>
                </a:solidFill>
              </a:rPr>
              <a:t>边缘计算</a:t>
            </a:r>
            <a:r>
              <a:rPr lang="en-US" altLang="zh-CN" sz="2800" b="1" dirty="0">
                <a:solidFill>
                  <a:srgbClr val="FFFF00"/>
                </a:solidFill>
              </a:rPr>
              <a:t>+</a:t>
            </a:r>
            <a:r>
              <a:rPr lang="zh-CN" altLang="en-US" sz="2800" b="1" dirty="0">
                <a:solidFill>
                  <a:srgbClr val="FFFF00"/>
                </a:solidFill>
              </a:rPr>
              <a:t>矩阵乘法</a:t>
            </a:r>
            <a:r>
              <a:rPr lang="zh-CN" altLang="en-US" sz="2800" b="1" dirty="0">
                <a:solidFill>
                  <a:schemeClr val="bg1"/>
                </a:solidFill>
              </a:rPr>
              <a:t>）</a:t>
            </a:r>
            <a:endParaRPr lang="en-US" altLang="zh-CN" sz="2800" b="1" dirty="0">
              <a:solidFill>
                <a:schemeClr val="bg1"/>
              </a:solidFill>
            </a:endParaRPr>
          </a:p>
          <a:p>
            <a:endParaRPr lang="en-US" altLang="zh-CN" sz="700" b="1" dirty="0">
              <a:solidFill>
                <a:schemeClr val="bg1"/>
              </a:solidFill>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55448" y="832104"/>
            <a:ext cx="11868912" cy="5849999"/>
          </a:xfrm>
          <a:prstGeom prst="rect">
            <a:avLst/>
          </a:prstGeom>
          <a:noFill/>
        </p:spPr>
        <p:txBody>
          <a:bodyPr wrap="square" rtlCol="0">
            <a:spAutoFit/>
          </a:bodyPr>
          <a:lstStyle/>
          <a:p>
            <a:pPr marL="342900" indent="-342900">
              <a:lnSpc>
                <a:spcPts val="2700"/>
              </a:lnSpc>
              <a:buFont typeface="Wingdings" panose="05000000000000000000" pitchFamily="2" charset="2"/>
              <a:buChar char="l"/>
            </a:pPr>
            <a:r>
              <a:rPr lang="zh-CN" altLang="en-US" sz="2000" b="1" dirty="0"/>
              <a:t>本文基于边缘网络环境下的分布式计算场景，利用编码计算技术来解决边缘分布式系统中的两大瓶颈问题：</a:t>
            </a:r>
            <a:r>
              <a:rPr lang="zh-CN" altLang="en-US" sz="2000" b="1" dirty="0">
                <a:solidFill>
                  <a:srgbClr val="FF0000"/>
                </a:solidFill>
              </a:rPr>
              <a:t>过高的通信负载</a:t>
            </a:r>
            <a:r>
              <a:rPr lang="zh-CN" altLang="en-US" sz="2000" b="1" dirty="0"/>
              <a:t>和</a:t>
            </a:r>
            <a:r>
              <a:rPr lang="zh-CN" altLang="en-US" sz="2000" b="1" dirty="0">
                <a:solidFill>
                  <a:srgbClr val="FF0000"/>
                </a:solidFill>
              </a:rPr>
              <a:t>落后节点产生的延迟，</a:t>
            </a:r>
            <a:r>
              <a:rPr lang="zh-CN" altLang="en-US" sz="2000" b="1" dirty="0"/>
              <a:t>进而提高分布式矩阵乘法运算的执行效率。</a:t>
            </a:r>
            <a:r>
              <a:rPr lang="zh-CN" altLang="en-US" sz="1100" b="1" dirty="0"/>
              <a:t> </a:t>
            </a:r>
            <a:endParaRPr lang="en-US" altLang="zh-CN" sz="1100" b="1" dirty="0"/>
          </a:p>
          <a:p>
            <a:endParaRPr lang="en-US" altLang="zh-CN" sz="1100" b="1" dirty="0"/>
          </a:p>
          <a:p>
            <a:pPr marL="285750" lvl="0" indent="-285750">
              <a:lnSpc>
                <a:spcPts val="2400"/>
              </a:lnSpc>
              <a:buFont typeface="Wingdings" panose="05000000000000000000" pitchFamily="2" charset="2"/>
              <a:buChar char="p"/>
            </a:pPr>
            <a:r>
              <a:rPr lang="zh-CN" altLang="en-US" sz="1600" b="1" dirty="0">
                <a:solidFill>
                  <a:prstClr val="black"/>
                </a:solidFill>
              </a:rPr>
              <a:t>对于具有海量行的数据矩阵与多个输入向量相乘，本文首先提出一个集成的编码框架来加速大规模分布式</a:t>
            </a:r>
            <a:r>
              <a:rPr lang="zh-CN" altLang="en-US" sz="1600" b="1" dirty="0">
                <a:solidFill>
                  <a:srgbClr val="FF0000"/>
                </a:solidFill>
              </a:rPr>
              <a:t>矩阵</a:t>
            </a:r>
            <a:r>
              <a:rPr lang="en-US" altLang="zh-CN" sz="1600" b="1" dirty="0">
                <a:solidFill>
                  <a:srgbClr val="FF0000"/>
                </a:solidFill>
              </a:rPr>
              <a:t>-</a:t>
            </a:r>
            <a:r>
              <a:rPr lang="zh-CN" altLang="en-US" sz="1600" b="1" dirty="0">
                <a:solidFill>
                  <a:srgbClr val="FF0000"/>
                </a:solidFill>
              </a:rPr>
              <a:t>矩阵乘法运算（</a:t>
            </a:r>
            <a:r>
              <a:rPr lang="en-US" altLang="zh-CN" sz="1600" b="1" dirty="0">
                <a:solidFill>
                  <a:srgbClr val="FF0000"/>
                </a:solidFill>
              </a:rPr>
              <a:t>Matrix-Matrix Multiplication</a:t>
            </a:r>
            <a:r>
              <a:rPr lang="zh-CN" altLang="en-US" sz="1600" b="1" dirty="0">
                <a:solidFill>
                  <a:srgbClr val="FF0000"/>
                </a:solidFill>
              </a:rPr>
              <a:t>）</a:t>
            </a:r>
            <a:r>
              <a:rPr lang="zh-CN" altLang="en-US" sz="1600" b="1" dirty="0">
                <a:solidFill>
                  <a:prstClr val="black"/>
                </a:solidFill>
              </a:rPr>
              <a:t>。</a:t>
            </a:r>
            <a:r>
              <a:rPr lang="zh-CN" altLang="en-US" sz="1600" b="1" dirty="0"/>
              <a:t>产生海量数据的边缘设备作为计算资源，数据矩阵按</a:t>
            </a:r>
            <a:r>
              <a:rPr lang="zh-CN" altLang="en-US" sz="1600" b="1" dirty="0">
                <a:solidFill>
                  <a:srgbClr val="FF0000"/>
                </a:solidFill>
              </a:rPr>
              <a:t>行</a:t>
            </a:r>
            <a:r>
              <a:rPr lang="zh-CN" altLang="en-US" sz="1600" b="1" dirty="0"/>
              <a:t>分布式存储在边缘设备中，设备通过无线接入点进行交互，来协同完成分布式矩阵乘法运算</a:t>
            </a:r>
            <a:endParaRPr lang="en-US" altLang="zh-CN" sz="1600" b="1" dirty="0"/>
          </a:p>
          <a:p>
            <a:pPr marL="360000" lvl="1" indent="-285750">
              <a:lnSpc>
                <a:spcPts val="2400"/>
              </a:lnSpc>
              <a:buFont typeface="Wingdings" panose="05000000000000000000" pitchFamily="2" charset="2"/>
              <a:buChar char="Ø"/>
            </a:pPr>
            <a:r>
              <a:rPr lang="zh-CN" altLang="en-US" sz="1600" dirty="0"/>
              <a:t>落后节点问题上，运用编码技术允许一部分率先完成本地计算的设备参与矩阵乘法运算结果（输出向量）的输出而不必等待剩余慢节点完成本地计算，</a:t>
            </a:r>
            <a:r>
              <a:rPr lang="zh-CN" altLang="en-US" sz="1600" dirty="0">
                <a:solidFill>
                  <a:prstClr val="black"/>
                </a:solidFill>
              </a:rPr>
              <a:t>意味着剩余的落后节点的影响被消除了</a:t>
            </a:r>
            <a:endParaRPr lang="en-US" altLang="zh-CN" sz="1600" dirty="0">
              <a:solidFill>
                <a:prstClr val="black"/>
              </a:solidFill>
            </a:endParaRPr>
          </a:p>
          <a:p>
            <a:pPr marL="360000" lvl="1" indent="-285750">
              <a:lnSpc>
                <a:spcPts val="2400"/>
              </a:lnSpc>
              <a:buFont typeface="Wingdings" panose="05000000000000000000" pitchFamily="2" charset="2"/>
              <a:buChar char="Ø"/>
            </a:pPr>
            <a:r>
              <a:rPr lang="zh-CN" altLang="en-US" sz="1600" dirty="0">
                <a:solidFill>
                  <a:prstClr val="black"/>
                </a:solidFill>
              </a:rPr>
              <a:t>高传输负载问题上，运用编码技术显著减少上行、下行传输带宽占用来加速分布式任务的执行</a:t>
            </a:r>
            <a:endParaRPr lang="en-US" altLang="zh-CN" sz="1600" dirty="0">
              <a:solidFill>
                <a:prstClr val="black"/>
              </a:solidFill>
            </a:endParaRPr>
          </a:p>
          <a:p>
            <a:pPr marL="360000" lvl="1" indent="-285750">
              <a:lnSpc>
                <a:spcPts val="2400"/>
              </a:lnSpc>
              <a:buFont typeface="Wingdings" panose="05000000000000000000" pitchFamily="2" charset="2"/>
              <a:buChar char="Ø"/>
            </a:pPr>
            <a:r>
              <a:rPr lang="zh-CN" altLang="en-US" sz="1600" dirty="0">
                <a:solidFill>
                  <a:prstClr val="black"/>
                </a:solidFill>
              </a:rPr>
              <a:t>运用灵活的输出向量分配策略，当总的输出向量不能平均分配给参与输出的设备时，自适应地分配给这些设备不同的数量的输出向量</a:t>
            </a:r>
            <a:endParaRPr lang="en-US" altLang="zh-CN" sz="1600" dirty="0">
              <a:solidFill>
                <a:prstClr val="black"/>
              </a:solidFill>
            </a:endParaRPr>
          </a:p>
          <a:p>
            <a:pPr marL="360000" lvl="1" indent="-285750">
              <a:lnSpc>
                <a:spcPts val="2400"/>
              </a:lnSpc>
              <a:buFont typeface="Wingdings" panose="05000000000000000000" pitchFamily="2" charset="2"/>
              <a:buChar char="Ø"/>
            </a:pPr>
            <a:r>
              <a:rPr lang="zh-CN" altLang="en-US" sz="1600" dirty="0">
                <a:solidFill>
                  <a:prstClr val="black"/>
                </a:solidFill>
              </a:rPr>
              <a:t>性能分析方面，给出上、下行通信负载的信息理论下界，并证明特定条件下上、下行传输量与对应下界相差常数倍</a:t>
            </a:r>
            <a:endParaRPr lang="en-US" altLang="zh-CN" sz="1600" dirty="0"/>
          </a:p>
          <a:p>
            <a:pPr marL="285750" lvl="0" indent="-285750">
              <a:lnSpc>
                <a:spcPts val="2400"/>
              </a:lnSpc>
              <a:buFont typeface="Wingdings" panose="05000000000000000000" pitchFamily="2" charset="2"/>
              <a:buChar char="p"/>
            </a:pPr>
            <a:r>
              <a:rPr lang="zh-CN" altLang="en-US" sz="1600" b="1" dirty="0">
                <a:solidFill>
                  <a:prstClr val="black"/>
                </a:solidFill>
              </a:rPr>
              <a:t>对于具有海量列的数据矩阵与单个输入向量相乘，本文提出一个集成的压缩编码算法来加速边缘雾网络中多个作业下的大规模</a:t>
            </a:r>
            <a:r>
              <a:rPr lang="zh-CN" altLang="en-US" sz="1600" b="1" dirty="0">
                <a:solidFill>
                  <a:srgbClr val="FF0000"/>
                </a:solidFill>
              </a:rPr>
              <a:t>矩阵</a:t>
            </a:r>
            <a:r>
              <a:rPr lang="en-US" altLang="zh-CN" sz="1600" b="1" dirty="0">
                <a:solidFill>
                  <a:srgbClr val="FF0000"/>
                </a:solidFill>
              </a:rPr>
              <a:t>-</a:t>
            </a:r>
            <a:r>
              <a:rPr lang="zh-CN" altLang="en-US" sz="1600" b="1" dirty="0">
                <a:solidFill>
                  <a:srgbClr val="FF0000"/>
                </a:solidFill>
              </a:rPr>
              <a:t>向量乘法运算（</a:t>
            </a:r>
            <a:r>
              <a:rPr lang="en-US" altLang="zh-CN" sz="1600" b="1" dirty="0">
                <a:solidFill>
                  <a:srgbClr val="FF0000"/>
                </a:solidFill>
              </a:rPr>
              <a:t>Matrix-Vector Multiplication</a:t>
            </a:r>
            <a:r>
              <a:rPr lang="zh-CN" altLang="en-US" sz="1600" b="1" dirty="0">
                <a:solidFill>
                  <a:srgbClr val="FF0000"/>
                </a:solidFill>
              </a:rPr>
              <a:t>）</a:t>
            </a:r>
            <a:r>
              <a:rPr lang="zh-CN" altLang="en-US" sz="1600" b="1" dirty="0">
                <a:solidFill>
                  <a:prstClr val="black"/>
                </a:solidFill>
              </a:rPr>
              <a:t>。基于数据矩阵按</a:t>
            </a:r>
            <a:r>
              <a:rPr lang="zh-CN" altLang="en-US" sz="1600" b="1" dirty="0">
                <a:solidFill>
                  <a:srgbClr val="FF0000"/>
                </a:solidFill>
              </a:rPr>
              <a:t>列</a:t>
            </a:r>
            <a:r>
              <a:rPr lang="zh-CN" altLang="en-US" sz="1600" b="1" dirty="0">
                <a:solidFill>
                  <a:prstClr val="black"/>
                </a:solidFill>
              </a:rPr>
              <a:t>划分的分布式存储方式，算法将采用编码技术与压缩技术相结合的方式实现，两种技术在减少传输量方面的共同作用显著提高了分布式计算的性能</a:t>
            </a:r>
            <a:endParaRPr lang="en-US" altLang="zh-CN" sz="1600" b="1" dirty="0">
              <a:solidFill>
                <a:prstClr val="black"/>
              </a:solidFill>
            </a:endParaRPr>
          </a:p>
          <a:p>
            <a:pPr marL="360000" lvl="1" indent="-285750">
              <a:lnSpc>
                <a:spcPts val="2400"/>
              </a:lnSpc>
              <a:buFont typeface="Wingdings" panose="05000000000000000000" pitchFamily="2" charset="2"/>
              <a:buChar char="Ø"/>
            </a:pPr>
            <a:r>
              <a:rPr lang="zh-CN" altLang="en-US" sz="1600" dirty="0">
                <a:solidFill>
                  <a:prstClr val="black"/>
                </a:solidFill>
              </a:rPr>
              <a:t>在完成本地运算后进行数据交互前，对中间结果进行预压缩处理来减少传输量</a:t>
            </a:r>
            <a:endParaRPr lang="en-US" altLang="zh-CN" sz="1600" dirty="0">
              <a:solidFill>
                <a:prstClr val="black"/>
              </a:solidFill>
            </a:endParaRPr>
          </a:p>
          <a:p>
            <a:pPr marL="360000" lvl="1" indent="-285750">
              <a:lnSpc>
                <a:spcPts val="2400"/>
              </a:lnSpc>
              <a:buFont typeface="Wingdings" panose="05000000000000000000" pitchFamily="2" charset="2"/>
              <a:buChar char="Ø"/>
            </a:pPr>
            <a:r>
              <a:rPr lang="zh-CN" altLang="en-US" sz="1600" dirty="0">
                <a:solidFill>
                  <a:prstClr val="black"/>
                </a:solidFill>
              </a:rPr>
              <a:t>在传输阶段，运用编码技术在压缩数据的基础上进一步减少边缘节点间数据交互的传输负载</a:t>
            </a:r>
            <a:endParaRPr lang="en-US" altLang="zh-CN" sz="1600" dirty="0">
              <a:solidFill>
                <a:prstClr val="black"/>
              </a:solidFill>
            </a:endParaRPr>
          </a:p>
          <a:p>
            <a:pPr marL="360000" lvl="1" indent="-285750">
              <a:lnSpc>
                <a:spcPts val="2400"/>
              </a:lnSpc>
              <a:buFont typeface="Wingdings" panose="05000000000000000000" pitchFamily="2" charset="2"/>
              <a:buChar char="Ø"/>
            </a:pPr>
            <a:r>
              <a:rPr lang="zh-CN" altLang="en-US" sz="1600" dirty="0">
                <a:solidFill>
                  <a:prstClr val="black"/>
                </a:solidFill>
              </a:rPr>
              <a:t>将该压缩编码算法与传统方案、只考虑编码方案、只考虑压缩方案进行比较，通过理论推导和数值仿真证明该集成的算法性能是最佳的</a:t>
            </a:r>
            <a:endParaRPr lang="en-US" altLang="zh-CN" sz="1600" dirty="0">
              <a:solidFill>
                <a:prstClr val="black"/>
              </a:solidFill>
            </a:endParaRPr>
          </a:p>
        </p:txBody>
      </p:sp>
      <p:sp>
        <p:nvSpPr>
          <p:cNvPr id="3" name="灯片编号占位符 2">
            <a:extLst>
              <a:ext uri="{FF2B5EF4-FFF2-40B4-BE49-F238E27FC236}">
                <a16:creationId xmlns:a16="http://schemas.microsoft.com/office/drawing/2014/main" id="{91BFAA8C-745B-4783-AA11-C3A45BA9FC9F}"/>
              </a:ext>
            </a:extLst>
          </p:cNvPr>
          <p:cNvSpPr>
            <a:spLocks noGrp="1"/>
          </p:cNvSpPr>
          <p:nvPr>
            <p:ph type="sldNum" sz="quarter" idx="12"/>
          </p:nvPr>
        </p:nvSpPr>
        <p:spPr/>
        <p:txBody>
          <a:bodyPr/>
          <a:lstStyle/>
          <a:p>
            <a:fld id="{B125EA80-F692-46D2-AFCC-CA48803B46EF}" type="slidenum">
              <a:rPr lang="zh-CN" altLang="en-US" smtClean="0"/>
              <a:t>4</a:t>
            </a:fld>
            <a:endParaRPr lang="zh-CN" altLang="en-US" dirty="0"/>
          </a:p>
        </p:txBody>
      </p:sp>
    </p:spTree>
    <p:extLst>
      <p:ext uri="{BB962C8B-B14F-4D97-AF65-F5344CB8AC3E}">
        <p14:creationId xmlns:p14="http://schemas.microsoft.com/office/powerpoint/2010/main" val="1940559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8D2B8C-5F4B-4F53-9772-57647BCD59D8}"/>
              </a:ext>
            </a:extLst>
          </p:cNvPr>
          <p:cNvSpPr>
            <a:spLocks noGrp="1"/>
          </p:cNvSpPr>
          <p:nvPr>
            <p:ph type="ctrTitle"/>
          </p:nvPr>
        </p:nvSpPr>
        <p:spPr>
          <a:xfrm>
            <a:off x="0" y="539496"/>
            <a:ext cx="2350007" cy="535485"/>
          </a:xfrm>
          <a:solidFill>
            <a:srgbClr val="0070C0"/>
          </a:solidFill>
        </p:spPr>
        <p:txBody>
          <a:bodyPr>
            <a:normAutofit fontScale="90000"/>
          </a:bodyPr>
          <a:lstStyle/>
          <a:p>
            <a:pPr>
              <a:lnSpc>
                <a:spcPct val="100000"/>
              </a:lnSpc>
            </a:pPr>
            <a:r>
              <a:rPr lang="zh-CN" altLang="en-US" sz="3600" b="1" dirty="0">
                <a:solidFill>
                  <a:schemeClr val="bg1"/>
                </a:solidFill>
              </a:rPr>
              <a:t>目录</a:t>
            </a:r>
          </a:p>
        </p:txBody>
      </p:sp>
      <p:sp>
        <p:nvSpPr>
          <p:cNvPr id="3" name="文本框 2"/>
          <p:cNvSpPr txBox="1"/>
          <p:nvPr/>
        </p:nvSpPr>
        <p:spPr>
          <a:xfrm>
            <a:off x="1021080" y="1713928"/>
            <a:ext cx="10369296" cy="2796407"/>
          </a:xfrm>
          <a:prstGeom prst="rect">
            <a:avLst/>
          </a:prstGeom>
          <a:noFill/>
        </p:spPr>
        <p:txBody>
          <a:bodyPr wrap="square" rtlCol="0">
            <a:spAutoFit/>
          </a:bodyPr>
          <a:lstStyle/>
          <a:p>
            <a:pPr marL="342900" marR="0" lvl="0" indent="-342900" algn="l" defTabSz="457200" rtl="0" eaLnBrk="1" fontAlgn="auto" latinLnBrk="0" hangingPunct="1">
              <a:lnSpc>
                <a:spcPct val="150000"/>
              </a:lnSpc>
              <a:spcBef>
                <a:spcPts val="0"/>
              </a:spcBef>
              <a:spcAft>
                <a:spcPts val="0"/>
              </a:spcAft>
              <a:buClrTx/>
              <a:buSzTx/>
              <a:buFont typeface="+mj-lt"/>
              <a:buAutoNum type="arabicPeriod"/>
              <a:tabLst/>
              <a:defRPr/>
            </a:pPr>
            <a:r>
              <a:rPr kumimoji="0" lang="zh-CN" altLang="en-US" sz="2400" b="1" i="0" u="none" strike="noStrike" kern="1200" cap="none" spc="0" normalizeH="0" baseline="0" noProof="0" dirty="0">
                <a:ln>
                  <a:noFill/>
                </a:ln>
                <a:effectLst/>
                <a:uLnTx/>
                <a:uFillTx/>
                <a:latin typeface="Arial"/>
                <a:ea typeface="微软雅黑"/>
                <a:cs typeface="+mn-cs"/>
              </a:rPr>
              <a:t>绪论</a:t>
            </a:r>
            <a:endParaRPr kumimoji="0" lang="en-US" altLang="zh-CN" sz="2400" b="1" i="0" u="none" strike="noStrike" kern="1200" cap="none" spc="0" normalizeH="0" baseline="0" noProof="0" dirty="0">
              <a:ln>
                <a:noFill/>
              </a:ln>
              <a:effectLst/>
              <a:uLnTx/>
              <a:uFillTx/>
              <a:latin typeface="Arial"/>
              <a:ea typeface="微软雅黑"/>
              <a:cs typeface="+mn-cs"/>
            </a:endParaRPr>
          </a:p>
          <a:p>
            <a:pPr marL="342900" marR="0" lvl="0" indent="-342900" algn="l" defTabSz="457200" rtl="0" eaLnBrk="1" fontAlgn="auto" latinLnBrk="0" hangingPunct="1">
              <a:lnSpc>
                <a:spcPct val="150000"/>
              </a:lnSpc>
              <a:spcBef>
                <a:spcPts val="0"/>
              </a:spcBef>
              <a:spcAft>
                <a:spcPts val="0"/>
              </a:spcAft>
              <a:buClrTx/>
              <a:buSzTx/>
              <a:buFont typeface="+mj-lt"/>
              <a:buAutoNum type="arabicPeriod"/>
              <a:tabLst/>
              <a:defRPr/>
            </a:pPr>
            <a:r>
              <a:rPr kumimoji="0" lang="zh-CN" altLang="en-US" sz="2400" b="1" i="0" u="none" strike="noStrike" kern="1200" cap="none" spc="0" normalizeH="0" baseline="0" noProof="0" dirty="0">
                <a:ln>
                  <a:noFill/>
                </a:ln>
                <a:solidFill>
                  <a:srgbClr val="FF0000"/>
                </a:solidFill>
                <a:effectLst/>
                <a:uLnTx/>
                <a:uFillTx/>
                <a:latin typeface="Arial"/>
                <a:ea typeface="微软雅黑"/>
                <a:cs typeface="+mn-cs"/>
              </a:rPr>
              <a:t>编码计算基础</a:t>
            </a:r>
            <a:endParaRPr kumimoji="0" lang="en-US" altLang="zh-CN" sz="2400" b="1" i="0" u="none" strike="noStrike" kern="1200" cap="none" spc="0" normalizeH="0" baseline="0" noProof="0" dirty="0">
              <a:ln>
                <a:noFill/>
              </a:ln>
              <a:solidFill>
                <a:srgbClr val="FF0000"/>
              </a:solidFill>
              <a:effectLst/>
              <a:uLnTx/>
              <a:uFillTx/>
              <a:latin typeface="Arial"/>
              <a:ea typeface="微软雅黑"/>
              <a:cs typeface="+mn-cs"/>
            </a:endParaRPr>
          </a:p>
          <a:p>
            <a:pPr marL="342900" marR="0" lvl="0" indent="-342900" algn="l" defTabSz="457200" rtl="0" eaLnBrk="1" fontAlgn="auto" latinLnBrk="0" hangingPunct="1">
              <a:lnSpc>
                <a:spcPct val="150000"/>
              </a:lnSpc>
              <a:spcBef>
                <a:spcPts val="0"/>
              </a:spcBef>
              <a:spcAft>
                <a:spcPts val="0"/>
              </a:spcAft>
              <a:buClrTx/>
              <a:buSzTx/>
              <a:buFont typeface="+mj-lt"/>
              <a:buAutoNum type="arabicPeriod"/>
              <a:tabLst/>
              <a:defRPr/>
            </a:pPr>
            <a:r>
              <a:rPr kumimoji="0" lang="zh-CN" altLang="en-US" sz="2400" b="1" i="0" u="none" strike="noStrike" kern="1200" cap="none" spc="0" normalizeH="0" baseline="0" noProof="0" dirty="0">
                <a:ln>
                  <a:noFill/>
                </a:ln>
                <a:solidFill>
                  <a:prstClr val="black"/>
                </a:solidFill>
                <a:effectLst/>
                <a:uLnTx/>
                <a:uFillTx/>
                <a:latin typeface="Arial"/>
                <a:ea typeface="微软雅黑"/>
                <a:cs typeface="+mn-cs"/>
              </a:rPr>
              <a:t>基于无线接入点的编码分布式矩阵</a:t>
            </a:r>
            <a:r>
              <a:rPr kumimoji="0" lang="en-US" altLang="zh-CN" sz="2400" b="1" i="0" u="none" strike="noStrike" kern="1200" cap="none" spc="0" normalizeH="0" baseline="0" noProof="0" dirty="0">
                <a:ln>
                  <a:noFill/>
                </a:ln>
                <a:solidFill>
                  <a:prstClr val="black"/>
                </a:solidFill>
                <a:effectLst/>
                <a:uLnTx/>
                <a:uFillTx/>
                <a:latin typeface="Arial"/>
                <a:ea typeface="微软雅黑"/>
                <a:cs typeface="+mn-cs"/>
              </a:rPr>
              <a:t>-</a:t>
            </a:r>
            <a:r>
              <a:rPr kumimoji="0" lang="zh-CN" altLang="en-US" sz="2400" b="1" i="0" u="none" strike="noStrike" kern="1200" cap="none" spc="0" normalizeH="0" baseline="0" noProof="0" dirty="0">
                <a:ln>
                  <a:noFill/>
                </a:ln>
                <a:solidFill>
                  <a:prstClr val="black"/>
                </a:solidFill>
                <a:effectLst/>
                <a:uLnTx/>
                <a:uFillTx/>
                <a:latin typeface="Arial"/>
                <a:ea typeface="微软雅黑"/>
                <a:cs typeface="+mn-cs"/>
              </a:rPr>
              <a:t>矩阵乘法运算框架</a:t>
            </a:r>
            <a:endParaRPr kumimoji="0" lang="en-US" altLang="zh-CN" sz="2400" b="1" i="0" u="none" strike="noStrike" kern="1200" cap="none" spc="0" normalizeH="0" baseline="0" noProof="0" dirty="0">
              <a:ln>
                <a:noFill/>
              </a:ln>
              <a:solidFill>
                <a:prstClr val="black"/>
              </a:solidFill>
              <a:effectLst/>
              <a:uLnTx/>
              <a:uFillTx/>
              <a:latin typeface="Arial"/>
              <a:ea typeface="微软雅黑"/>
              <a:cs typeface="+mn-cs"/>
            </a:endParaRPr>
          </a:p>
          <a:p>
            <a:pPr marL="342900" marR="0" lvl="0" indent="-342900" algn="l" defTabSz="457200" rtl="0" eaLnBrk="1" fontAlgn="auto" latinLnBrk="0" hangingPunct="1">
              <a:lnSpc>
                <a:spcPct val="150000"/>
              </a:lnSpc>
              <a:spcBef>
                <a:spcPts val="0"/>
              </a:spcBef>
              <a:spcAft>
                <a:spcPts val="0"/>
              </a:spcAft>
              <a:buClrTx/>
              <a:buSzTx/>
              <a:buFont typeface="+mj-lt"/>
              <a:buAutoNum type="arabicPeriod"/>
              <a:tabLst/>
              <a:defRPr/>
            </a:pPr>
            <a:r>
              <a:rPr kumimoji="0" lang="zh-CN" altLang="en-US" sz="2400" b="1" i="0" u="none" strike="noStrike" kern="1200" cap="none" spc="0" normalizeH="0" baseline="0" noProof="0" dirty="0">
                <a:ln>
                  <a:noFill/>
                </a:ln>
                <a:solidFill>
                  <a:prstClr val="black"/>
                </a:solidFill>
                <a:effectLst/>
                <a:uLnTx/>
                <a:uFillTx/>
                <a:latin typeface="Arial"/>
                <a:ea typeface="微软雅黑"/>
                <a:cs typeface="+mn-cs"/>
              </a:rPr>
              <a:t>雾网络下基于压缩编码技术的分布式矩阵</a:t>
            </a:r>
            <a:r>
              <a:rPr kumimoji="0" lang="en-US" altLang="zh-CN" sz="2400" b="1" i="0" u="none" strike="noStrike" kern="1200" cap="none" spc="0" normalizeH="0" baseline="0" noProof="0" dirty="0">
                <a:ln>
                  <a:noFill/>
                </a:ln>
                <a:solidFill>
                  <a:prstClr val="black"/>
                </a:solidFill>
                <a:effectLst/>
                <a:uLnTx/>
                <a:uFillTx/>
                <a:latin typeface="Arial"/>
                <a:ea typeface="微软雅黑"/>
                <a:cs typeface="+mn-cs"/>
              </a:rPr>
              <a:t>-</a:t>
            </a:r>
            <a:r>
              <a:rPr kumimoji="0" lang="zh-CN" altLang="en-US" sz="2400" b="1" i="0" u="none" strike="noStrike" kern="1200" cap="none" spc="0" normalizeH="0" baseline="0" noProof="0" dirty="0">
                <a:ln>
                  <a:noFill/>
                </a:ln>
                <a:solidFill>
                  <a:prstClr val="black"/>
                </a:solidFill>
                <a:effectLst/>
                <a:uLnTx/>
                <a:uFillTx/>
                <a:latin typeface="Arial"/>
                <a:ea typeface="微软雅黑"/>
                <a:cs typeface="+mn-cs"/>
              </a:rPr>
              <a:t>向量乘法运算算法</a:t>
            </a:r>
            <a:endParaRPr kumimoji="0" lang="en-US" altLang="zh-CN" sz="2400" b="1" i="0" u="none" strike="noStrike" kern="1200" cap="none" spc="0" normalizeH="0" baseline="0" noProof="0" dirty="0">
              <a:ln>
                <a:noFill/>
              </a:ln>
              <a:solidFill>
                <a:prstClr val="black"/>
              </a:solidFill>
              <a:effectLst/>
              <a:uLnTx/>
              <a:uFillTx/>
              <a:latin typeface="Arial"/>
              <a:ea typeface="微软雅黑"/>
              <a:cs typeface="+mn-cs"/>
            </a:endParaRPr>
          </a:p>
          <a:p>
            <a:pPr marL="342900" marR="0" lvl="0" indent="-342900" algn="l" defTabSz="457200" rtl="0" eaLnBrk="1" fontAlgn="auto" latinLnBrk="0" hangingPunct="1">
              <a:lnSpc>
                <a:spcPct val="150000"/>
              </a:lnSpc>
              <a:spcBef>
                <a:spcPts val="0"/>
              </a:spcBef>
              <a:spcAft>
                <a:spcPts val="0"/>
              </a:spcAft>
              <a:buClrTx/>
              <a:buSzTx/>
              <a:buFont typeface="+mj-lt"/>
              <a:buAutoNum type="arabicPeriod"/>
              <a:tabLst/>
              <a:defRPr/>
            </a:pPr>
            <a:r>
              <a:rPr kumimoji="0" lang="zh-CN" altLang="en-US" sz="2400" b="1" i="0" u="none" strike="noStrike" kern="1200" cap="none" spc="0" normalizeH="0" baseline="0" noProof="0" dirty="0">
                <a:ln>
                  <a:noFill/>
                </a:ln>
                <a:solidFill>
                  <a:prstClr val="black"/>
                </a:solidFill>
                <a:effectLst/>
                <a:uLnTx/>
                <a:uFillTx/>
                <a:latin typeface="Arial"/>
                <a:ea typeface="微软雅黑"/>
                <a:cs typeface="+mn-cs"/>
              </a:rPr>
              <a:t>总结</a:t>
            </a:r>
            <a:endParaRPr kumimoji="0" lang="en-US" altLang="zh-CN" sz="2400" b="1" i="0" u="none" strike="noStrike" kern="1200" cap="none" spc="0" normalizeH="0" baseline="0" noProof="0" dirty="0">
              <a:ln>
                <a:noFill/>
              </a:ln>
              <a:solidFill>
                <a:prstClr val="black"/>
              </a:solidFill>
              <a:effectLst/>
              <a:uLnTx/>
              <a:uFillTx/>
              <a:latin typeface="Arial"/>
              <a:ea typeface="微软雅黑"/>
              <a:cs typeface="+mn-cs"/>
            </a:endParaRPr>
          </a:p>
        </p:txBody>
      </p:sp>
      <p:sp>
        <p:nvSpPr>
          <p:cNvPr id="4" name="灯片编号占位符 3">
            <a:extLst>
              <a:ext uri="{FF2B5EF4-FFF2-40B4-BE49-F238E27FC236}">
                <a16:creationId xmlns:a16="http://schemas.microsoft.com/office/drawing/2014/main" id="{4C8EE081-C23A-4372-B9C3-AA4B834197B0}"/>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125EA80-F692-46D2-AFCC-CA48803B46EF}" type="slidenum">
              <a:rPr kumimoji="0" lang="zh-CN" altLang="en-US" sz="1200" b="0" i="0" u="none" strike="noStrike" kern="1200" cap="none" spc="0" normalizeH="0" baseline="0" noProof="0" smtClean="0">
                <a:ln>
                  <a:noFill/>
                </a:ln>
                <a:solidFill>
                  <a:prstClr val="black">
                    <a:tint val="75000"/>
                  </a:prstClr>
                </a:solidFill>
                <a:effectLst/>
                <a:uLnTx/>
                <a:uFillTx/>
                <a:latin typeface="Arial"/>
                <a:ea typeface="微软雅黑"/>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dirty="0">
              <a:ln>
                <a:noFill/>
              </a:ln>
              <a:solidFill>
                <a:prstClr val="black">
                  <a:tint val="75000"/>
                </a:prstClr>
              </a:solidFill>
              <a:effectLst/>
              <a:uLnTx/>
              <a:uFillTx/>
              <a:latin typeface="Arial"/>
              <a:ea typeface="微软雅黑"/>
              <a:cs typeface="+mn-cs"/>
            </a:endParaRPr>
          </a:p>
        </p:txBody>
      </p:sp>
    </p:spTree>
    <p:extLst>
      <p:ext uri="{BB962C8B-B14F-4D97-AF65-F5344CB8AC3E}">
        <p14:creationId xmlns:p14="http://schemas.microsoft.com/office/powerpoint/2010/main" val="1409987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a:lnSpc>
                <a:spcPts val="4400"/>
              </a:lnSpc>
            </a:pPr>
            <a:r>
              <a:rPr lang="en-US" altLang="zh-CN" sz="2800" b="1" dirty="0">
                <a:solidFill>
                  <a:schemeClr val="bg1"/>
                </a:solidFill>
              </a:rPr>
              <a:t> 2. </a:t>
            </a:r>
            <a:r>
              <a:rPr lang="zh-CN" altLang="en-US" sz="2800" b="1" dirty="0">
                <a:solidFill>
                  <a:schemeClr val="bg1"/>
                </a:solidFill>
              </a:rPr>
              <a:t>编码计算基础（</a:t>
            </a:r>
            <a:r>
              <a:rPr lang="en-US" altLang="zh-CN" sz="2800" b="1" dirty="0">
                <a:solidFill>
                  <a:schemeClr val="bg1"/>
                </a:solidFill>
              </a:rPr>
              <a:t>MapReduce</a:t>
            </a:r>
            <a:r>
              <a:rPr lang="zh-CN" altLang="en-US" sz="2800" b="1" dirty="0">
                <a:solidFill>
                  <a:schemeClr val="bg1"/>
                </a:solidFill>
              </a:rPr>
              <a:t>分布式编程模型）</a:t>
            </a:r>
            <a:endParaRPr lang="en-US" altLang="zh-CN" sz="2800" b="1" dirty="0">
              <a:solidFill>
                <a:schemeClr val="bg1"/>
              </a:solidFill>
            </a:endParaRPr>
          </a:p>
          <a:p>
            <a:endParaRPr lang="en-US" altLang="zh-CN" sz="700" b="1" dirty="0">
              <a:solidFill>
                <a:schemeClr val="bg1"/>
              </a:solidFill>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55448" y="832104"/>
            <a:ext cx="11868912" cy="5786199"/>
          </a:xfrm>
          <a:prstGeom prst="rect">
            <a:avLst/>
          </a:prstGeom>
          <a:noFill/>
        </p:spPr>
        <p:txBody>
          <a:bodyPr wrap="square" rtlCol="0">
            <a:spAutoFit/>
          </a:bodyPr>
          <a:lstStyle/>
          <a:p>
            <a:pPr marL="342900" indent="-342900">
              <a:buFont typeface="Wingdings" panose="05000000000000000000" pitchFamily="2" charset="2"/>
              <a:buChar char="l"/>
            </a:pPr>
            <a:r>
              <a:rPr lang="en-US" altLang="zh-CN" sz="2000" b="1" dirty="0"/>
              <a:t>MapReduce</a:t>
            </a:r>
            <a:endParaRPr lang="en-US" altLang="zh-CN" sz="2000" dirty="0"/>
          </a:p>
          <a:p>
            <a:pPr marL="360000" lvl="1" indent="-285750">
              <a:lnSpc>
                <a:spcPct val="150000"/>
              </a:lnSpc>
              <a:buFont typeface="Wingdings" panose="05000000000000000000" pitchFamily="2" charset="2"/>
              <a:buChar char="Ø"/>
            </a:pPr>
            <a:r>
              <a:rPr lang="zh-CN" altLang="en-US" dirty="0">
                <a:solidFill>
                  <a:prstClr val="black"/>
                </a:solidFill>
              </a:rPr>
              <a:t>分布式计算中重要的编程模型，常用于实现太字节（</a:t>
            </a:r>
            <a:r>
              <a:rPr lang="en-US" altLang="zh-CN" dirty="0">
                <a:solidFill>
                  <a:prstClr val="black"/>
                </a:solidFill>
              </a:rPr>
              <a:t>Terabyte</a:t>
            </a:r>
            <a:r>
              <a:rPr lang="zh-CN" altLang="en-US" dirty="0">
                <a:solidFill>
                  <a:prstClr val="black"/>
                </a:solidFill>
              </a:rPr>
              <a:t>）级别大小数据集的分布式处理</a:t>
            </a:r>
            <a:endParaRPr lang="en-US" altLang="zh-CN" dirty="0">
              <a:solidFill>
                <a:prstClr val="black"/>
              </a:solidFill>
            </a:endParaRPr>
          </a:p>
          <a:p>
            <a:pPr marL="360000" lvl="1" indent="-285750">
              <a:lnSpc>
                <a:spcPct val="150000"/>
              </a:lnSpc>
              <a:buFont typeface="Wingdings" panose="05000000000000000000" pitchFamily="2" charset="2"/>
              <a:buChar char="Ø"/>
            </a:pPr>
            <a:r>
              <a:rPr lang="zh-CN" altLang="en-US" dirty="0">
                <a:solidFill>
                  <a:prstClr val="black"/>
                </a:solidFill>
              </a:rPr>
              <a:t>具有简易性，可扩展性和容错性等特点</a:t>
            </a:r>
            <a:endParaRPr lang="en-US" altLang="zh-CN" dirty="0">
              <a:solidFill>
                <a:prstClr val="black"/>
              </a:solidFill>
            </a:endParaRPr>
          </a:p>
          <a:p>
            <a:pPr lvl="0">
              <a:lnSpc>
                <a:spcPct val="150000"/>
              </a:lnSpc>
            </a:pPr>
            <a:endParaRPr lang="en-US" altLang="zh-CN" sz="1000" b="1" dirty="0">
              <a:solidFill>
                <a:prstClr val="black"/>
              </a:solidFill>
            </a:endParaRPr>
          </a:p>
          <a:p>
            <a:pPr marL="285750" lvl="0" indent="-285750">
              <a:lnSpc>
                <a:spcPct val="150000"/>
              </a:lnSpc>
              <a:buFont typeface="Wingdings" panose="05000000000000000000" pitchFamily="2" charset="2"/>
              <a:buChar char="p"/>
            </a:pPr>
            <a:r>
              <a:rPr lang="zh-CN" altLang="en-US" b="1" dirty="0">
                <a:solidFill>
                  <a:prstClr val="black"/>
                </a:solidFill>
              </a:rPr>
              <a:t>以单词统计为例，假设我们需要在</a:t>
            </a:r>
            <a:r>
              <a:rPr lang="en-US" altLang="zh-CN" b="1" dirty="0">
                <a:solidFill>
                  <a:prstClr val="black"/>
                </a:solidFill>
              </a:rPr>
              <a:t>8</a:t>
            </a:r>
            <a:r>
              <a:rPr lang="zh-CN" altLang="en-US" b="1" dirty="0">
                <a:solidFill>
                  <a:prstClr val="black"/>
                </a:solidFill>
              </a:rPr>
              <a:t>本书中统计</a:t>
            </a:r>
            <a:r>
              <a:rPr lang="en-US" altLang="zh-CN" b="1" dirty="0">
                <a:solidFill>
                  <a:prstClr val="black"/>
                </a:solidFill>
              </a:rPr>
              <a:t>4</a:t>
            </a:r>
            <a:r>
              <a:rPr lang="zh-CN" altLang="en-US" b="1" dirty="0">
                <a:solidFill>
                  <a:prstClr val="black"/>
                </a:solidFill>
              </a:rPr>
              <a:t>个单词</a:t>
            </a:r>
            <a:br>
              <a:rPr lang="en-US" altLang="zh-CN" b="1" dirty="0">
                <a:solidFill>
                  <a:prstClr val="black"/>
                </a:solidFill>
              </a:rPr>
            </a:br>
            <a:r>
              <a:rPr lang="en-US" altLang="zh-CN" b="1" dirty="0">
                <a:solidFill>
                  <a:prstClr val="black"/>
                </a:solidFill>
              </a:rPr>
              <a:t>Tree</a:t>
            </a:r>
            <a:r>
              <a:rPr lang="zh-CN" altLang="en-US" b="1" dirty="0">
                <a:solidFill>
                  <a:prstClr val="black"/>
                </a:solidFill>
              </a:rPr>
              <a:t>，</a:t>
            </a:r>
            <a:r>
              <a:rPr lang="en-US" altLang="zh-CN" b="1" dirty="0">
                <a:solidFill>
                  <a:prstClr val="black"/>
                </a:solidFill>
              </a:rPr>
              <a:t>Bear</a:t>
            </a:r>
            <a:r>
              <a:rPr lang="zh-CN" altLang="en-US" b="1" dirty="0">
                <a:solidFill>
                  <a:prstClr val="black"/>
                </a:solidFill>
              </a:rPr>
              <a:t>，</a:t>
            </a:r>
            <a:r>
              <a:rPr lang="en-US" altLang="zh-CN" b="1" dirty="0">
                <a:solidFill>
                  <a:prstClr val="black"/>
                </a:solidFill>
              </a:rPr>
              <a:t>Fork</a:t>
            </a:r>
            <a:r>
              <a:rPr lang="zh-CN" altLang="en-US" b="1" dirty="0">
                <a:solidFill>
                  <a:prstClr val="black"/>
                </a:solidFill>
              </a:rPr>
              <a:t>和</a:t>
            </a:r>
            <a:r>
              <a:rPr lang="en-US" altLang="zh-CN" b="1" dirty="0">
                <a:solidFill>
                  <a:prstClr val="black"/>
                </a:solidFill>
              </a:rPr>
              <a:t>Pots</a:t>
            </a:r>
            <a:r>
              <a:rPr lang="zh-CN" altLang="en-US" b="1" dirty="0">
                <a:solidFill>
                  <a:prstClr val="black"/>
                </a:solidFill>
              </a:rPr>
              <a:t>的数量，</a:t>
            </a:r>
            <a:r>
              <a:rPr lang="en-US" altLang="zh-CN" b="1" dirty="0">
                <a:solidFill>
                  <a:prstClr val="black"/>
                </a:solidFill>
              </a:rPr>
              <a:t>MapReduce</a:t>
            </a:r>
            <a:r>
              <a:rPr lang="zh-CN" altLang="en-US" b="1" dirty="0">
                <a:solidFill>
                  <a:prstClr val="black"/>
                </a:solidFill>
              </a:rPr>
              <a:t>工作流</a:t>
            </a:r>
            <a:br>
              <a:rPr lang="en-US" altLang="zh-CN" b="1" dirty="0">
                <a:solidFill>
                  <a:prstClr val="black"/>
                </a:solidFill>
              </a:rPr>
            </a:br>
            <a:r>
              <a:rPr lang="zh-CN" altLang="en-US" b="1" dirty="0">
                <a:solidFill>
                  <a:prstClr val="black"/>
                </a:solidFill>
              </a:rPr>
              <a:t>程分为三个阶段</a:t>
            </a:r>
            <a:endParaRPr lang="en-US" altLang="zh-CN" sz="2000" dirty="0"/>
          </a:p>
          <a:p>
            <a:pPr marL="360000" lvl="1" indent="-285750">
              <a:lnSpc>
                <a:spcPct val="150000"/>
              </a:lnSpc>
              <a:buFont typeface="Wingdings" panose="05000000000000000000" pitchFamily="2" charset="2"/>
              <a:buChar char="Ø"/>
            </a:pPr>
            <a:r>
              <a:rPr lang="en-US" altLang="zh-CN" sz="1600" b="1" dirty="0">
                <a:solidFill>
                  <a:prstClr val="black"/>
                </a:solidFill>
              </a:rPr>
              <a:t>Map</a:t>
            </a:r>
            <a:r>
              <a:rPr lang="zh-CN" altLang="en-US" sz="1600" b="1" dirty="0">
                <a:solidFill>
                  <a:prstClr val="black"/>
                </a:solidFill>
              </a:rPr>
              <a:t>（映射）阶段</a:t>
            </a:r>
            <a:r>
              <a:rPr lang="zh-CN" altLang="en-US" sz="1600" dirty="0">
                <a:solidFill>
                  <a:prstClr val="black"/>
                </a:solidFill>
              </a:rPr>
              <a:t>，每个节点将自身存储的</a:t>
            </a:r>
            <a:r>
              <a:rPr lang="en-US" altLang="zh-CN" sz="1600" dirty="0">
                <a:solidFill>
                  <a:prstClr val="black"/>
                </a:solidFill>
              </a:rPr>
              <a:t>2</a:t>
            </a:r>
            <a:r>
              <a:rPr lang="zh-CN" altLang="en-US" sz="1600" dirty="0">
                <a:solidFill>
                  <a:prstClr val="black"/>
                </a:solidFill>
              </a:rPr>
              <a:t>本书通过</a:t>
            </a:r>
            <a:r>
              <a:rPr lang="en-US" altLang="zh-CN" sz="1600" dirty="0">
                <a:solidFill>
                  <a:prstClr val="black"/>
                </a:solidFill>
              </a:rPr>
              <a:t>Map</a:t>
            </a:r>
            <a:r>
              <a:rPr lang="zh-CN" altLang="en-US" sz="1600" dirty="0">
                <a:solidFill>
                  <a:prstClr val="black"/>
                </a:solidFill>
              </a:rPr>
              <a:t>函数</a:t>
            </a:r>
            <a:br>
              <a:rPr lang="en-US" altLang="zh-CN" sz="1600" dirty="0">
                <a:solidFill>
                  <a:prstClr val="black"/>
                </a:solidFill>
              </a:rPr>
            </a:br>
            <a:r>
              <a:rPr lang="zh-CN" altLang="en-US" sz="1600" dirty="0">
                <a:solidFill>
                  <a:prstClr val="black"/>
                </a:solidFill>
              </a:rPr>
              <a:t>计算，得到</a:t>
            </a:r>
            <a:r>
              <a:rPr lang="en-US" altLang="zh-CN" sz="1600" dirty="0">
                <a:solidFill>
                  <a:prstClr val="black"/>
                </a:solidFill>
              </a:rPr>
              <a:t>4</a:t>
            </a:r>
            <a:r>
              <a:rPr lang="zh-CN" altLang="en-US" sz="1600" dirty="0">
                <a:solidFill>
                  <a:prstClr val="black"/>
                </a:solidFill>
              </a:rPr>
              <a:t>个单词在这两本书中出现的次数，中间结果由</a:t>
            </a:r>
            <a:br>
              <a:rPr lang="en-US" altLang="zh-CN" sz="1600" dirty="0">
                <a:solidFill>
                  <a:prstClr val="black"/>
                </a:solidFill>
              </a:rPr>
            </a:br>
            <a:r>
              <a:rPr lang="en-US" altLang="zh-CN" sz="1600" dirty="0">
                <a:solidFill>
                  <a:srgbClr val="FF0000"/>
                </a:solidFill>
              </a:rPr>
              <a:t>(</a:t>
            </a:r>
            <a:r>
              <a:rPr lang="zh-CN" altLang="en-US" sz="1600" dirty="0">
                <a:solidFill>
                  <a:srgbClr val="FF0000"/>
                </a:solidFill>
              </a:rPr>
              <a:t>单词</a:t>
            </a:r>
            <a:r>
              <a:rPr lang="en-US" altLang="zh-CN" sz="1600" dirty="0">
                <a:solidFill>
                  <a:srgbClr val="FF0000"/>
                </a:solidFill>
              </a:rPr>
              <a:t>,</a:t>
            </a:r>
            <a:r>
              <a:rPr lang="zh-CN" altLang="en-US" sz="1600" dirty="0">
                <a:solidFill>
                  <a:srgbClr val="FF0000"/>
                </a:solidFill>
              </a:rPr>
              <a:t>次数</a:t>
            </a:r>
            <a:r>
              <a:rPr lang="en-US" altLang="zh-CN" sz="1600" dirty="0">
                <a:solidFill>
                  <a:srgbClr val="FF0000"/>
                </a:solidFill>
              </a:rPr>
              <a:t>)[</a:t>
            </a:r>
            <a:r>
              <a:rPr lang="zh-CN" altLang="en-US" sz="1600" dirty="0">
                <a:solidFill>
                  <a:srgbClr val="FF0000"/>
                </a:solidFill>
              </a:rPr>
              <a:t>书号</a:t>
            </a:r>
            <a:r>
              <a:rPr lang="en-US" altLang="zh-CN" sz="1600" dirty="0">
                <a:solidFill>
                  <a:srgbClr val="FF0000"/>
                </a:solidFill>
              </a:rPr>
              <a:t>]</a:t>
            </a:r>
            <a:r>
              <a:rPr lang="zh-CN" altLang="en-US" sz="1600" dirty="0">
                <a:solidFill>
                  <a:prstClr val="black"/>
                </a:solidFill>
              </a:rPr>
              <a:t>来表示</a:t>
            </a:r>
            <a:endParaRPr lang="en-US" altLang="zh-CN" sz="1600" dirty="0">
              <a:solidFill>
                <a:prstClr val="black"/>
              </a:solidFill>
            </a:endParaRPr>
          </a:p>
          <a:p>
            <a:pPr marL="360000" lvl="1" indent="-285750">
              <a:lnSpc>
                <a:spcPct val="150000"/>
              </a:lnSpc>
              <a:buFont typeface="Wingdings" panose="05000000000000000000" pitchFamily="2" charset="2"/>
              <a:buChar char="Ø"/>
            </a:pPr>
            <a:r>
              <a:rPr lang="en-US" altLang="zh-CN" sz="1600" b="1" dirty="0">
                <a:solidFill>
                  <a:prstClr val="black"/>
                </a:solidFill>
              </a:rPr>
              <a:t>Shuffle</a:t>
            </a:r>
            <a:r>
              <a:rPr lang="zh-CN" altLang="en-US" sz="1600" b="1" dirty="0">
                <a:solidFill>
                  <a:prstClr val="black"/>
                </a:solidFill>
              </a:rPr>
              <a:t>（洗牌）阶段</a:t>
            </a:r>
            <a:r>
              <a:rPr lang="zh-CN" altLang="en-US" sz="1600" dirty="0">
                <a:solidFill>
                  <a:prstClr val="black"/>
                </a:solidFill>
              </a:rPr>
              <a:t>，每个节点进行数据交互，将中间结果发</a:t>
            </a:r>
            <a:br>
              <a:rPr lang="en-US" altLang="zh-CN" sz="1600" dirty="0">
                <a:solidFill>
                  <a:prstClr val="black"/>
                </a:solidFill>
              </a:rPr>
            </a:br>
            <a:r>
              <a:rPr lang="zh-CN" altLang="en-US" sz="1600" dirty="0">
                <a:solidFill>
                  <a:prstClr val="black"/>
                </a:solidFill>
              </a:rPr>
              <a:t>送至其他需要在</a:t>
            </a:r>
            <a:r>
              <a:rPr lang="en-US" altLang="zh-CN" sz="1600" dirty="0">
                <a:solidFill>
                  <a:prstClr val="black"/>
                </a:solidFill>
              </a:rPr>
              <a:t>Reduce</a:t>
            </a:r>
            <a:r>
              <a:rPr lang="zh-CN" altLang="en-US" sz="1600" dirty="0">
                <a:solidFill>
                  <a:prstClr val="black"/>
                </a:solidFill>
              </a:rPr>
              <a:t>阶段进行归约的节点</a:t>
            </a:r>
            <a:endParaRPr lang="en-US" altLang="zh-CN" sz="1600" dirty="0">
              <a:solidFill>
                <a:prstClr val="black"/>
              </a:solidFill>
            </a:endParaRPr>
          </a:p>
          <a:p>
            <a:pPr marL="360000" lvl="1" indent="-285750">
              <a:lnSpc>
                <a:spcPct val="150000"/>
              </a:lnSpc>
              <a:buFont typeface="Wingdings" panose="05000000000000000000" pitchFamily="2" charset="2"/>
              <a:buChar char="Ø"/>
            </a:pPr>
            <a:r>
              <a:rPr lang="en-US" altLang="zh-CN" sz="1600" b="1" dirty="0">
                <a:solidFill>
                  <a:prstClr val="black"/>
                </a:solidFill>
              </a:rPr>
              <a:t>Reduce</a:t>
            </a:r>
            <a:r>
              <a:rPr lang="zh-CN" altLang="en-US" sz="1600" b="1" dirty="0">
                <a:solidFill>
                  <a:prstClr val="black"/>
                </a:solidFill>
              </a:rPr>
              <a:t>（归约）阶段</a:t>
            </a:r>
            <a:r>
              <a:rPr lang="zh-CN" altLang="en-US" sz="1600" dirty="0">
                <a:solidFill>
                  <a:prstClr val="black"/>
                </a:solidFill>
              </a:rPr>
              <a:t>，每个节点将自己输出需要的中间结果</a:t>
            </a:r>
            <a:br>
              <a:rPr lang="en-US" altLang="zh-CN" sz="1600" dirty="0">
                <a:solidFill>
                  <a:prstClr val="black"/>
                </a:solidFill>
              </a:rPr>
            </a:br>
            <a:r>
              <a:rPr lang="zh-CN" altLang="en-US" sz="1600" dirty="0">
                <a:solidFill>
                  <a:prstClr val="black"/>
                </a:solidFill>
              </a:rPr>
              <a:t>进行汇总累加，即可得到</a:t>
            </a:r>
            <a:r>
              <a:rPr lang="en-US" altLang="zh-CN" sz="1600" dirty="0">
                <a:solidFill>
                  <a:prstClr val="black"/>
                </a:solidFill>
              </a:rPr>
              <a:t>1</a:t>
            </a:r>
            <a:r>
              <a:rPr lang="zh-CN" altLang="en-US" sz="1600" dirty="0">
                <a:solidFill>
                  <a:prstClr val="black"/>
                </a:solidFill>
              </a:rPr>
              <a:t>个单词在</a:t>
            </a:r>
            <a:r>
              <a:rPr lang="en-US" altLang="zh-CN" sz="1600" dirty="0">
                <a:solidFill>
                  <a:prstClr val="black"/>
                </a:solidFill>
              </a:rPr>
              <a:t>8</a:t>
            </a:r>
            <a:r>
              <a:rPr lang="zh-CN" altLang="en-US" sz="1600" dirty="0">
                <a:solidFill>
                  <a:prstClr val="black"/>
                </a:solidFill>
              </a:rPr>
              <a:t>本书中出现的次数</a:t>
            </a:r>
            <a:endParaRPr lang="en-US" altLang="zh-CN" sz="1600" dirty="0">
              <a:solidFill>
                <a:prstClr val="black"/>
              </a:solidFill>
            </a:endParaRPr>
          </a:p>
          <a:p>
            <a:endParaRPr lang="en-US" altLang="zh-CN" sz="2000" b="1" dirty="0">
              <a:solidFill>
                <a:srgbClr val="FF0000"/>
              </a:solidFill>
            </a:endParaRPr>
          </a:p>
        </p:txBody>
      </p:sp>
      <p:pic>
        <p:nvPicPr>
          <p:cNvPr id="6" name="图片 5">
            <a:extLst>
              <a:ext uri="{FF2B5EF4-FFF2-40B4-BE49-F238E27FC236}">
                <a16:creationId xmlns:a16="http://schemas.microsoft.com/office/drawing/2014/main" id="{DA60A9DC-A348-4030-8FC1-B04DB42DC6F5}"/>
              </a:ext>
            </a:extLst>
          </p:cNvPr>
          <p:cNvPicPr>
            <a:picLocks noChangeAspect="1"/>
          </p:cNvPicPr>
          <p:nvPr/>
        </p:nvPicPr>
        <p:blipFill>
          <a:blip r:embed="rId3"/>
          <a:stretch>
            <a:fillRect/>
          </a:stretch>
        </p:blipFill>
        <p:spPr>
          <a:xfrm>
            <a:off x="6452616" y="2053616"/>
            <a:ext cx="5343144" cy="4318784"/>
          </a:xfrm>
          <a:prstGeom prst="rect">
            <a:avLst/>
          </a:prstGeom>
        </p:spPr>
      </p:pic>
      <p:sp>
        <p:nvSpPr>
          <p:cNvPr id="12" name="文本框 11">
            <a:extLst>
              <a:ext uri="{FF2B5EF4-FFF2-40B4-BE49-F238E27FC236}">
                <a16:creationId xmlns:a16="http://schemas.microsoft.com/office/drawing/2014/main" id="{245D9F05-A25F-4FC8-A726-0FC2B030C935}"/>
              </a:ext>
            </a:extLst>
          </p:cNvPr>
          <p:cNvSpPr txBox="1"/>
          <p:nvPr/>
        </p:nvSpPr>
        <p:spPr>
          <a:xfrm>
            <a:off x="8778239" y="6274632"/>
            <a:ext cx="1275665" cy="386000"/>
          </a:xfrm>
          <a:prstGeom prst="rect">
            <a:avLst/>
          </a:prstGeom>
          <a:noFill/>
        </p:spPr>
        <p:txBody>
          <a:bodyPr wrap="square" rtlCol="0">
            <a:spAutoFit/>
          </a:bodyPr>
          <a:lstStyle/>
          <a:p>
            <a:pPr algn="ctr">
              <a:lnSpc>
                <a:spcPct val="150000"/>
              </a:lnSpc>
            </a:pPr>
            <a:r>
              <a:rPr lang="zh-CN" altLang="en-US" sz="1400" dirty="0"/>
              <a:t>单词统计</a:t>
            </a:r>
            <a:endParaRPr lang="en-US" altLang="zh-CN" sz="1400" dirty="0"/>
          </a:p>
        </p:txBody>
      </p:sp>
      <p:sp>
        <p:nvSpPr>
          <p:cNvPr id="10" name="矩形 9">
            <a:extLst>
              <a:ext uri="{FF2B5EF4-FFF2-40B4-BE49-F238E27FC236}">
                <a16:creationId xmlns:a16="http://schemas.microsoft.com/office/drawing/2014/main" id="{8E23D919-F2D6-4914-8EE1-39C679E07E9B}"/>
              </a:ext>
            </a:extLst>
          </p:cNvPr>
          <p:cNvSpPr/>
          <p:nvPr/>
        </p:nvSpPr>
        <p:spPr>
          <a:xfrm>
            <a:off x="155448" y="2048256"/>
            <a:ext cx="11868912" cy="4690872"/>
          </a:xfrm>
          <a:prstGeom prst="rect">
            <a:avLst/>
          </a:prstGeom>
          <a:noFill/>
          <a:ln w="28575">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矩形 12">
            <a:extLst>
              <a:ext uri="{FF2B5EF4-FFF2-40B4-BE49-F238E27FC236}">
                <a16:creationId xmlns:a16="http://schemas.microsoft.com/office/drawing/2014/main" id="{3F44CD5B-6EE9-4E50-8609-75E3F3304263}"/>
              </a:ext>
            </a:extLst>
          </p:cNvPr>
          <p:cNvSpPr/>
          <p:nvPr/>
        </p:nvSpPr>
        <p:spPr>
          <a:xfrm>
            <a:off x="6291072" y="4096137"/>
            <a:ext cx="5596128" cy="713419"/>
          </a:xfrm>
          <a:prstGeom prst="rect">
            <a:avLst/>
          </a:prstGeom>
          <a:noFill/>
          <a:ln w="1905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rgbClr val="FF0000"/>
                </a:solidFill>
              </a:rPr>
              <a:t>高通信负载</a:t>
            </a:r>
          </a:p>
        </p:txBody>
      </p:sp>
      <p:sp>
        <p:nvSpPr>
          <p:cNvPr id="3" name="灯片编号占位符 2">
            <a:extLst>
              <a:ext uri="{FF2B5EF4-FFF2-40B4-BE49-F238E27FC236}">
                <a16:creationId xmlns:a16="http://schemas.microsoft.com/office/drawing/2014/main" id="{D6443649-E073-4158-8250-9A06B28E8011}"/>
              </a:ext>
            </a:extLst>
          </p:cNvPr>
          <p:cNvSpPr>
            <a:spLocks noGrp="1"/>
          </p:cNvSpPr>
          <p:nvPr>
            <p:ph type="sldNum" sz="quarter" idx="12"/>
          </p:nvPr>
        </p:nvSpPr>
        <p:spPr/>
        <p:txBody>
          <a:bodyPr/>
          <a:lstStyle/>
          <a:p>
            <a:fld id="{B125EA80-F692-46D2-AFCC-CA48803B46EF}" type="slidenum">
              <a:rPr lang="zh-CN" altLang="en-US" smtClean="0"/>
              <a:t>6</a:t>
            </a:fld>
            <a:endParaRPr lang="zh-CN" altLang="en-US" dirty="0"/>
          </a:p>
        </p:txBody>
      </p:sp>
    </p:spTree>
    <p:extLst>
      <p:ext uri="{BB962C8B-B14F-4D97-AF65-F5344CB8AC3E}">
        <p14:creationId xmlns:p14="http://schemas.microsoft.com/office/powerpoint/2010/main" val="12825978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a:lnSpc>
                <a:spcPts val="4400"/>
              </a:lnSpc>
            </a:pPr>
            <a:r>
              <a:rPr lang="en-US" altLang="zh-CN" sz="2800" b="1" dirty="0">
                <a:solidFill>
                  <a:schemeClr val="bg1"/>
                </a:solidFill>
              </a:rPr>
              <a:t> 2. </a:t>
            </a:r>
            <a:r>
              <a:rPr lang="zh-CN" altLang="en-US" sz="2800" b="1" dirty="0">
                <a:solidFill>
                  <a:schemeClr val="bg1"/>
                </a:solidFill>
              </a:rPr>
              <a:t>编码计算基础（编码分布式计算：利用编码技术减少通信负载）</a:t>
            </a:r>
            <a:endParaRPr lang="en-US" altLang="zh-CN" sz="2800" b="1" dirty="0">
              <a:solidFill>
                <a:schemeClr val="bg1"/>
              </a:solidFill>
            </a:endParaRPr>
          </a:p>
          <a:p>
            <a:endParaRPr lang="en-US" altLang="zh-CN" sz="700" b="1" dirty="0">
              <a:solidFill>
                <a:schemeClr val="bg1"/>
              </a:solidFill>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869762B-3FC4-422B-8D7C-B74731649032}"/>
                  </a:ext>
                </a:extLst>
              </p:cNvPr>
              <p:cNvSpPr txBox="1"/>
              <p:nvPr/>
            </p:nvSpPr>
            <p:spPr>
              <a:xfrm>
                <a:off x="155448" y="832104"/>
                <a:ext cx="11868912" cy="5976316"/>
              </a:xfrm>
              <a:prstGeom prst="rect">
                <a:avLst/>
              </a:prstGeom>
              <a:noFill/>
            </p:spPr>
            <p:txBody>
              <a:bodyPr wrap="square" rtlCol="0">
                <a:spAutoFit/>
              </a:bodyPr>
              <a:lstStyle/>
              <a:p>
                <a:pPr marL="342900" indent="-342900">
                  <a:buFont typeface="Wingdings" panose="05000000000000000000" pitchFamily="2" charset="2"/>
                  <a:buChar char="l"/>
                </a:pPr>
                <a:r>
                  <a:rPr lang="zh-CN" altLang="en-US" sz="2000" b="1" dirty="0"/>
                  <a:t>编码分布式计算（</a:t>
                </a:r>
                <a:r>
                  <a:rPr lang="en-US" altLang="zh-CN" sz="2000" b="1" dirty="0"/>
                  <a:t>Coded Distributed Computing, CDC</a:t>
                </a:r>
                <a:r>
                  <a:rPr lang="zh-CN" altLang="en-US" sz="2000" b="1" dirty="0"/>
                  <a:t>）</a:t>
                </a:r>
                <a:r>
                  <a:rPr lang="it-IT" altLang="zh-CN" sz="2000" b="1" dirty="0"/>
                  <a:t>[Li et al. TIT 2018]</a:t>
                </a:r>
                <a:endParaRPr lang="en-US" altLang="zh-CN" sz="2000" dirty="0"/>
              </a:p>
              <a:p>
                <a:pPr marL="360000" lvl="1" indent="-285750">
                  <a:lnSpc>
                    <a:spcPct val="150000"/>
                  </a:lnSpc>
                  <a:buFont typeface="Wingdings" panose="05000000000000000000" pitchFamily="2" charset="2"/>
                  <a:buChar char="Ø"/>
                </a:pPr>
                <a:r>
                  <a:rPr lang="zh-CN" altLang="en-US" dirty="0">
                    <a:solidFill>
                      <a:prstClr val="black"/>
                    </a:solidFill>
                  </a:rPr>
                  <a:t>开创了利用编码计算技术减少分布式系统中的通信负载的新领域，创意来自于编码缓存（</a:t>
                </a:r>
                <a:r>
                  <a:rPr lang="en-US" altLang="zh-CN" dirty="0">
                    <a:solidFill>
                      <a:prstClr val="black"/>
                    </a:solidFill>
                  </a:rPr>
                  <a:t>Coded Caching</a:t>
                </a:r>
                <a:r>
                  <a:rPr lang="zh-CN" altLang="en-US" dirty="0">
                    <a:solidFill>
                      <a:prstClr val="black"/>
                    </a:solidFill>
                  </a:rPr>
                  <a:t>）技术</a:t>
                </a:r>
                <a:endParaRPr lang="en-US" altLang="zh-CN" dirty="0">
                  <a:solidFill>
                    <a:prstClr val="black"/>
                  </a:solidFill>
                </a:endParaRPr>
              </a:p>
              <a:p>
                <a:pPr marL="360000" lvl="1" indent="-285750">
                  <a:lnSpc>
                    <a:spcPct val="150000"/>
                  </a:lnSpc>
                  <a:buFont typeface="Wingdings" panose="05000000000000000000" pitchFamily="2" charset="2"/>
                  <a:buChar char="Ø"/>
                </a:pPr>
                <a:r>
                  <a:rPr lang="zh-CN" altLang="en-US" dirty="0">
                    <a:solidFill>
                      <a:prstClr val="black"/>
                    </a:solidFill>
                  </a:rPr>
                  <a:t>通过增加计算量，在节点间通过尽可能多的创造多播机会来显著减少节点间的通信带宽占用 </a:t>
                </a:r>
                <a:endParaRPr lang="en-US" altLang="zh-CN" dirty="0">
                  <a:solidFill>
                    <a:prstClr val="black"/>
                  </a:solidFill>
                </a:endParaRPr>
              </a:p>
              <a:p>
                <a:pPr marL="74250" lvl="1">
                  <a:lnSpc>
                    <a:spcPct val="150000"/>
                  </a:lnSpc>
                </a:pPr>
                <a:endParaRPr lang="en-US" altLang="zh-CN" sz="600" b="1" dirty="0">
                  <a:solidFill>
                    <a:prstClr val="black"/>
                  </a:solidFill>
                </a:endParaRPr>
              </a:p>
              <a:p>
                <a:pPr marL="285750" lvl="0" indent="-285750">
                  <a:lnSpc>
                    <a:spcPts val="2300"/>
                  </a:lnSpc>
                  <a:buFont typeface="Wingdings" panose="05000000000000000000" pitchFamily="2" charset="2"/>
                  <a:buChar char="p"/>
                </a:pPr>
                <a:r>
                  <a:rPr lang="zh-CN" altLang="en-US" sz="1600" b="1" dirty="0">
                    <a:solidFill>
                      <a:prstClr val="black"/>
                    </a:solidFill>
                  </a:rPr>
                  <a:t>考虑</a:t>
                </a:r>
                <a:r>
                  <a:rPr lang="en-US" altLang="zh-CN" sz="1600" b="1" dirty="0">
                    <a:solidFill>
                      <a:prstClr val="black"/>
                    </a:solidFill>
                  </a:rPr>
                  <a:t>3</a:t>
                </a:r>
                <a:r>
                  <a:rPr lang="zh-CN" altLang="en-US" sz="1600" b="1" dirty="0">
                    <a:solidFill>
                      <a:prstClr val="black"/>
                    </a:solidFill>
                  </a:rPr>
                  <a:t>个节点协同处理</a:t>
                </a:r>
                <a:r>
                  <a:rPr lang="en-US" altLang="zh-CN" sz="1600" b="1" dirty="0">
                    <a:solidFill>
                      <a:prstClr val="black"/>
                    </a:solidFill>
                  </a:rPr>
                  <a:t>6</a:t>
                </a:r>
                <a:r>
                  <a:rPr lang="zh-CN" altLang="en-US" sz="1600" b="1" dirty="0">
                    <a:solidFill>
                      <a:prstClr val="black"/>
                    </a:solidFill>
                  </a:rPr>
                  <a:t>个输入文件，协同计算</a:t>
                </a:r>
                <a:r>
                  <a:rPr lang="en-US" altLang="zh-CN" sz="1600" b="1" dirty="0">
                    <a:solidFill>
                      <a:prstClr val="black"/>
                    </a:solidFill>
                  </a:rPr>
                  <a:t>3</a:t>
                </a:r>
                <a:r>
                  <a:rPr lang="zh-CN" altLang="en-US" sz="1600" b="1" dirty="0">
                    <a:solidFill>
                      <a:prstClr val="black"/>
                    </a:solidFill>
                  </a:rPr>
                  <a:t>个输出函数，节点</a:t>
                </a:r>
                <a:r>
                  <a:rPr lang="en-US" altLang="zh-CN" sz="1600" b="1" dirty="0">
                    <a:solidFill>
                      <a:prstClr val="black"/>
                    </a:solidFill>
                  </a:rPr>
                  <a:t>1</a:t>
                </a:r>
                <a:r>
                  <a:rPr lang="zh-CN" altLang="en-US" sz="1600" b="1" dirty="0">
                    <a:solidFill>
                      <a:prstClr val="black"/>
                    </a:solidFill>
                  </a:rPr>
                  <a:t>、</a:t>
                </a:r>
                <a:br>
                  <a:rPr lang="en-US" altLang="zh-CN" sz="1600" b="1" dirty="0">
                    <a:solidFill>
                      <a:prstClr val="black"/>
                    </a:solidFill>
                  </a:rPr>
                </a:br>
                <a:r>
                  <a:rPr lang="zh-CN" altLang="en-US" sz="1600" b="1" dirty="0">
                    <a:solidFill>
                      <a:prstClr val="black"/>
                    </a:solidFill>
                  </a:rPr>
                  <a:t>节点</a:t>
                </a:r>
                <a:r>
                  <a:rPr lang="en-US" altLang="zh-CN" sz="1600" b="1" dirty="0">
                    <a:solidFill>
                      <a:prstClr val="black"/>
                    </a:solidFill>
                  </a:rPr>
                  <a:t>2</a:t>
                </a:r>
                <a:r>
                  <a:rPr lang="zh-CN" altLang="en-US" sz="1600" b="1" dirty="0">
                    <a:solidFill>
                      <a:prstClr val="black"/>
                    </a:solidFill>
                  </a:rPr>
                  <a:t>和节点</a:t>
                </a:r>
                <a:r>
                  <a:rPr lang="en-US" altLang="zh-CN" sz="1600" b="1" dirty="0">
                    <a:solidFill>
                      <a:prstClr val="black"/>
                    </a:solidFill>
                  </a:rPr>
                  <a:t>3</a:t>
                </a:r>
                <a:r>
                  <a:rPr lang="zh-CN" altLang="en-US" sz="1600" b="1" dirty="0">
                    <a:solidFill>
                      <a:prstClr val="black"/>
                    </a:solidFill>
                  </a:rPr>
                  <a:t>分别负责在</a:t>
                </a:r>
                <a:r>
                  <a:rPr lang="en-US" altLang="zh-CN" sz="1600" b="1" dirty="0">
                    <a:solidFill>
                      <a:prstClr val="black"/>
                    </a:solidFill>
                  </a:rPr>
                  <a:t>Reduce</a:t>
                </a:r>
                <a:r>
                  <a:rPr lang="zh-CN" altLang="en-US" sz="1600" b="1" dirty="0">
                    <a:solidFill>
                      <a:prstClr val="black"/>
                    </a:solidFill>
                  </a:rPr>
                  <a:t>阶段归约</a:t>
                </a:r>
                <a:r>
                  <a:rPr lang="zh-CN" altLang="en-US" sz="1600" b="1" dirty="0">
                    <a:solidFill>
                      <a:srgbClr val="FF0000"/>
                    </a:solidFill>
                  </a:rPr>
                  <a:t>红色</a:t>
                </a:r>
                <a:r>
                  <a:rPr lang="en-US" altLang="zh-CN" sz="1600" b="1" dirty="0">
                    <a:solidFill>
                      <a:srgbClr val="FF0000"/>
                    </a:solidFill>
                  </a:rPr>
                  <a:t>/</a:t>
                </a:r>
                <a:r>
                  <a:rPr lang="zh-CN" altLang="en-US" sz="1600" b="1" dirty="0">
                    <a:solidFill>
                      <a:srgbClr val="FF0000"/>
                    </a:solidFill>
                  </a:rPr>
                  <a:t>圆圈</a:t>
                </a:r>
                <a:r>
                  <a:rPr lang="zh-CN" altLang="en-US" sz="1600" b="1" dirty="0">
                    <a:solidFill>
                      <a:prstClr val="black"/>
                    </a:solidFill>
                  </a:rPr>
                  <a:t>，</a:t>
                </a:r>
                <a:r>
                  <a:rPr lang="zh-CN" altLang="en-US" sz="1600" b="1" dirty="0">
                    <a:solidFill>
                      <a:srgbClr val="00B050"/>
                    </a:solidFill>
                  </a:rPr>
                  <a:t>绿色</a:t>
                </a:r>
                <a:r>
                  <a:rPr lang="en-US" altLang="zh-CN" sz="1600" b="1" dirty="0">
                    <a:solidFill>
                      <a:srgbClr val="00B050"/>
                    </a:solidFill>
                  </a:rPr>
                  <a:t>/</a:t>
                </a:r>
                <a:r>
                  <a:rPr lang="zh-CN" altLang="en-US" sz="1600" b="1" dirty="0">
                    <a:solidFill>
                      <a:srgbClr val="00B050"/>
                    </a:solidFill>
                  </a:rPr>
                  <a:t>方框</a:t>
                </a:r>
                <a:r>
                  <a:rPr lang="zh-CN" altLang="en-US" sz="1600" b="1" dirty="0">
                    <a:solidFill>
                      <a:prstClr val="black"/>
                    </a:solidFill>
                  </a:rPr>
                  <a:t>和</a:t>
                </a:r>
                <a:br>
                  <a:rPr lang="en-US" altLang="zh-CN" sz="1600" b="1" dirty="0">
                    <a:solidFill>
                      <a:prstClr val="black"/>
                    </a:solidFill>
                  </a:rPr>
                </a:br>
                <a:r>
                  <a:rPr lang="zh-CN" altLang="en-US" sz="1600" b="1" dirty="0">
                    <a:solidFill>
                      <a:srgbClr val="0070C0"/>
                    </a:solidFill>
                  </a:rPr>
                  <a:t>蓝色</a:t>
                </a:r>
                <a:r>
                  <a:rPr lang="en-US" altLang="zh-CN" sz="1600" b="1" dirty="0">
                    <a:solidFill>
                      <a:srgbClr val="0070C0"/>
                    </a:solidFill>
                  </a:rPr>
                  <a:t>/</a:t>
                </a:r>
                <a:r>
                  <a:rPr lang="zh-CN" altLang="en-US" sz="1600" b="1" dirty="0">
                    <a:solidFill>
                      <a:srgbClr val="0070C0"/>
                    </a:solidFill>
                  </a:rPr>
                  <a:t>三角</a:t>
                </a:r>
                <a:r>
                  <a:rPr lang="zh-CN" altLang="en-US" sz="1600" b="1" dirty="0">
                    <a:solidFill>
                      <a:prstClr val="black"/>
                    </a:solidFill>
                  </a:rPr>
                  <a:t>的中间值</a:t>
                </a:r>
                <a:endParaRPr lang="en-US" altLang="zh-CN" sz="1600" b="1" dirty="0">
                  <a:solidFill>
                    <a:prstClr val="black"/>
                  </a:solidFill>
                </a:endParaRPr>
              </a:p>
              <a:p>
                <a:endParaRPr lang="en-US" altLang="zh-CN" sz="2000" b="1" dirty="0">
                  <a:solidFill>
                    <a:srgbClr val="FF0000"/>
                  </a:solidFill>
                </a:endParaRPr>
              </a:p>
              <a:p>
                <a:endParaRPr lang="en-US" altLang="zh-CN" sz="2000" b="1" dirty="0">
                  <a:solidFill>
                    <a:srgbClr val="FF0000"/>
                  </a:solidFill>
                </a:endParaRPr>
              </a:p>
              <a:p>
                <a:endParaRPr lang="en-US" altLang="zh-CN" sz="2000" b="1" dirty="0">
                  <a:solidFill>
                    <a:srgbClr val="FF0000"/>
                  </a:solidFill>
                </a:endParaRPr>
              </a:p>
              <a:p>
                <a:endParaRPr lang="en-US" altLang="zh-CN" sz="2000" b="1" dirty="0">
                  <a:solidFill>
                    <a:srgbClr val="FF0000"/>
                  </a:solidFill>
                </a:endParaRPr>
              </a:p>
              <a:p>
                <a:endParaRPr lang="en-US" altLang="zh-CN" sz="2000" b="1" dirty="0">
                  <a:solidFill>
                    <a:srgbClr val="FF0000"/>
                  </a:solidFill>
                </a:endParaRPr>
              </a:p>
              <a:p>
                <a:endParaRPr lang="en-US" altLang="zh-CN" sz="2000" b="1" dirty="0">
                  <a:solidFill>
                    <a:srgbClr val="FF0000"/>
                  </a:solidFill>
                </a:endParaRPr>
              </a:p>
              <a:p>
                <a:endParaRPr lang="en-US" altLang="zh-CN" sz="2000" b="1" dirty="0">
                  <a:solidFill>
                    <a:srgbClr val="FF0000"/>
                  </a:solidFill>
                </a:endParaRPr>
              </a:p>
              <a:p>
                <a:endParaRPr lang="en-US" altLang="zh-CN" sz="2000" b="1" dirty="0">
                  <a:solidFill>
                    <a:srgbClr val="FF0000"/>
                  </a:solidFill>
                </a:endParaRPr>
              </a:p>
              <a:p>
                <a:endParaRPr lang="en-US" altLang="zh-CN" sz="2000" b="1" dirty="0">
                  <a:solidFill>
                    <a:srgbClr val="FF0000"/>
                  </a:solidFill>
                </a:endParaRPr>
              </a:p>
              <a:p>
                <a:pPr marL="288000" indent="-288000">
                  <a:lnSpc>
                    <a:spcPts val="2300"/>
                  </a:lnSpc>
                  <a:buFont typeface="+mj-lt"/>
                  <a:buAutoNum type="arabicPeriod"/>
                </a:pPr>
                <a:r>
                  <a:rPr lang="zh-CN" altLang="en-US" sz="1600" dirty="0"/>
                  <a:t>传统非编码情况下（</a:t>
                </a:r>
                <a14:m>
                  <m:oMath xmlns:m="http://schemas.openxmlformats.org/officeDocument/2006/math">
                    <m:r>
                      <a:rPr lang="en-US" altLang="zh-CN" sz="1600" i="1">
                        <a:latin typeface="Cambria Math" panose="02040503050406030204" pitchFamily="18" charset="0"/>
                      </a:rPr>
                      <m:t>𝑟</m:t>
                    </m:r>
                    <m:r>
                      <a:rPr lang="en-US" altLang="zh-CN" sz="1600" i="1">
                        <a:latin typeface="Cambria Math" panose="02040503050406030204" pitchFamily="18" charset="0"/>
                      </a:rPr>
                      <m:t>=1</m:t>
                    </m:r>
                  </m:oMath>
                </a14:m>
                <a:r>
                  <a:rPr lang="zh-CN" altLang="en-US" sz="1600" dirty="0"/>
                  <a:t>），需要传输</a:t>
                </a:r>
                <a:r>
                  <a:rPr lang="en-US" altLang="zh-CN" sz="1600" b="1" dirty="0"/>
                  <a:t>12</a:t>
                </a:r>
                <a:r>
                  <a:rPr lang="zh-CN" altLang="en-US" sz="1600" dirty="0"/>
                  <a:t>个中间值</a:t>
                </a:r>
                <a:endParaRPr lang="en-US" altLang="zh-CN" sz="1600" dirty="0"/>
              </a:p>
              <a:p>
                <a:pPr marL="288000" indent="-288000">
                  <a:lnSpc>
                    <a:spcPts val="2300"/>
                  </a:lnSpc>
                  <a:buFont typeface="+mj-lt"/>
                  <a:buAutoNum type="arabicPeriod"/>
                </a:pPr>
                <a:r>
                  <a:rPr lang="zh-CN" altLang="en-US" sz="1600" dirty="0"/>
                  <a:t>编码方案，引入计算冗余（</a:t>
                </a:r>
                <a14:m>
                  <m:oMath xmlns:m="http://schemas.openxmlformats.org/officeDocument/2006/math">
                    <m:r>
                      <a:rPr lang="en-US" altLang="zh-CN" sz="1600" i="1" smtClean="0">
                        <a:solidFill>
                          <a:schemeClr val="tx1"/>
                        </a:solidFill>
                        <a:latin typeface="Cambria Math" panose="02040503050406030204" pitchFamily="18" charset="0"/>
                      </a:rPr>
                      <m:t>𝑟</m:t>
                    </m:r>
                    <m:r>
                      <a:rPr lang="en-US" altLang="zh-CN" sz="1600" b="0" i="1" smtClean="0">
                        <a:solidFill>
                          <a:schemeClr val="tx1"/>
                        </a:solidFill>
                        <a:latin typeface="Cambria Math" panose="02040503050406030204" pitchFamily="18" charset="0"/>
                      </a:rPr>
                      <m:t>=2</m:t>
                    </m:r>
                  </m:oMath>
                </a14:m>
                <a:r>
                  <a:rPr lang="zh-CN" altLang="en-US" sz="1600" dirty="0"/>
                  <a:t>），</a:t>
                </a:r>
                <a:r>
                  <a:rPr lang="en-US" altLang="zh-CN" sz="1600" dirty="0"/>
                  <a:t>1</a:t>
                </a:r>
                <a:r>
                  <a:rPr lang="zh-CN" altLang="en-US" sz="1600" dirty="0"/>
                  <a:t>个文件映射到</a:t>
                </a:r>
                <a:r>
                  <a:rPr lang="en-US" altLang="zh-CN" sz="1600" dirty="0"/>
                  <a:t>2</a:t>
                </a:r>
                <a:r>
                  <a:rPr lang="zh-CN" altLang="en-US" sz="1600" dirty="0"/>
                  <a:t>个节点，此时</a:t>
                </a:r>
                <a:br>
                  <a:rPr lang="en-US" altLang="zh-CN" sz="1600" dirty="0"/>
                </a:br>
                <a:r>
                  <a:rPr lang="zh-CN" altLang="en-US" sz="1600" dirty="0"/>
                  <a:t>仅需传输</a:t>
                </a:r>
                <a:r>
                  <a:rPr lang="en-US" altLang="zh-CN" sz="1600" b="1" dirty="0"/>
                  <a:t>3</a:t>
                </a:r>
                <a:r>
                  <a:rPr lang="zh-CN" altLang="en-US" sz="1600" dirty="0"/>
                  <a:t>个中间值大小的数据</a:t>
                </a:r>
                <a:endParaRPr lang="en-US" altLang="zh-CN" sz="1600" dirty="0"/>
              </a:p>
            </p:txBody>
          </p:sp>
        </mc:Choice>
        <mc:Fallback xmlns="">
          <p:sp>
            <p:nvSpPr>
              <p:cNvPr id="2" name="文本框 1">
                <a:extLst>
                  <a:ext uri="{FF2B5EF4-FFF2-40B4-BE49-F238E27FC236}">
                    <a16:creationId xmlns:a16="http://schemas.microsoft.com/office/drawing/2014/main" id="{A869762B-3FC4-422B-8D7C-B74731649032}"/>
                  </a:ext>
                </a:extLst>
              </p:cNvPr>
              <p:cNvSpPr txBox="1">
                <a:spLocks noRot="1" noChangeAspect="1" noMove="1" noResize="1" noEditPoints="1" noAdjustHandles="1" noChangeArrowheads="1" noChangeShapeType="1" noTextEdit="1"/>
              </p:cNvSpPr>
              <p:nvPr/>
            </p:nvSpPr>
            <p:spPr>
              <a:xfrm>
                <a:off x="155448" y="832104"/>
                <a:ext cx="11868912" cy="5976316"/>
              </a:xfrm>
              <a:prstGeom prst="rect">
                <a:avLst/>
              </a:prstGeom>
              <a:blipFill>
                <a:blip r:embed="rId3"/>
                <a:stretch>
                  <a:fillRect l="-462" t="-612"/>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8E23D919-F2D6-4914-8EE1-39C679E07E9B}"/>
              </a:ext>
            </a:extLst>
          </p:cNvPr>
          <p:cNvSpPr/>
          <p:nvPr/>
        </p:nvSpPr>
        <p:spPr>
          <a:xfrm>
            <a:off x="155448" y="2053616"/>
            <a:ext cx="6424489" cy="4690872"/>
          </a:xfrm>
          <a:prstGeom prst="rect">
            <a:avLst/>
          </a:prstGeom>
          <a:noFill/>
          <a:ln w="28575">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3" name="图片 2">
            <a:extLst>
              <a:ext uri="{FF2B5EF4-FFF2-40B4-BE49-F238E27FC236}">
                <a16:creationId xmlns:a16="http://schemas.microsoft.com/office/drawing/2014/main" id="{E67A412E-5C18-44F1-B817-19BB947675EE}"/>
              </a:ext>
            </a:extLst>
          </p:cNvPr>
          <p:cNvPicPr>
            <a:picLocks noChangeAspect="1"/>
          </p:cNvPicPr>
          <p:nvPr/>
        </p:nvPicPr>
        <p:blipFill>
          <a:blip r:embed="rId4"/>
          <a:stretch>
            <a:fillRect/>
          </a:stretch>
        </p:blipFill>
        <p:spPr>
          <a:xfrm>
            <a:off x="236220" y="3132608"/>
            <a:ext cx="6262944" cy="2532888"/>
          </a:xfrm>
          <a:prstGeom prst="rect">
            <a:avLst/>
          </a:prstGeom>
        </p:spPr>
      </p:pic>
      <p:sp>
        <p:nvSpPr>
          <p:cNvPr id="9" name="矩形 8">
            <a:extLst>
              <a:ext uri="{FF2B5EF4-FFF2-40B4-BE49-F238E27FC236}">
                <a16:creationId xmlns:a16="http://schemas.microsoft.com/office/drawing/2014/main" id="{4196D7C0-05E6-4BFA-96E1-E78303287CB9}"/>
              </a:ext>
            </a:extLst>
          </p:cNvPr>
          <p:cNvSpPr/>
          <p:nvPr/>
        </p:nvSpPr>
        <p:spPr>
          <a:xfrm>
            <a:off x="6579937" y="2053616"/>
            <a:ext cx="5444424" cy="4690872"/>
          </a:xfrm>
          <a:prstGeom prst="rect">
            <a:avLst/>
          </a:prstGeom>
          <a:noFill/>
          <a:ln w="28575">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4" name="图片 3">
            <a:extLst>
              <a:ext uri="{FF2B5EF4-FFF2-40B4-BE49-F238E27FC236}">
                <a16:creationId xmlns:a16="http://schemas.microsoft.com/office/drawing/2014/main" id="{B5BD5CFB-BBD0-4F35-B268-4EE6ED19EE54}"/>
              </a:ext>
            </a:extLst>
          </p:cNvPr>
          <p:cNvPicPr>
            <a:picLocks noChangeAspect="1"/>
          </p:cNvPicPr>
          <p:nvPr/>
        </p:nvPicPr>
        <p:blipFill>
          <a:blip r:embed="rId5"/>
          <a:stretch>
            <a:fillRect/>
          </a:stretch>
        </p:blipFill>
        <p:spPr>
          <a:xfrm>
            <a:off x="7310073" y="2362393"/>
            <a:ext cx="3840424" cy="3019786"/>
          </a:xfrm>
          <a:prstGeom prst="rect">
            <a:avLst/>
          </a:prstGeom>
        </p:spPr>
      </p:pic>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369877C-CBBE-4DD3-9E8B-0296A43DD71E}"/>
                  </a:ext>
                </a:extLst>
              </p:cNvPr>
              <p:cNvSpPr txBox="1"/>
              <p:nvPr/>
            </p:nvSpPr>
            <p:spPr>
              <a:xfrm>
                <a:off x="7232902" y="5307394"/>
                <a:ext cx="4361688" cy="1372235"/>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sz="1600" b="0" i="1" smtClean="0">
                              <a:latin typeface="Cambria Math" panose="02040503050406030204" pitchFamily="18" charset="0"/>
                            </a:rPr>
                          </m:ctrlPr>
                        </m:sSubPr>
                        <m:e>
                          <m:r>
                            <a:rPr lang="en-US" altLang="zh-CN" sz="1600" b="0" i="1" smtClean="0">
                              <a:latin typeface="Cambria Math" panose="02040503050406030204" pitchFamily="18" charset="0"/>
                            </a:rPr>
                            <m:t>𝐿</m:t>
                          </m:r>
                        </m:e>
                        <m:sub>
                          <m:r>
                            <m:rPr>
                              <m:sty m:val="p"/>
                            </m:rPr>
                            <a:rPr lang="en-US" altLang="zh-CN" sz="1600" b="0" i="0" smtClean="0">
                              <a:latin typeface="Cambria Math" panose="02040503050406030204" pitchFamily="18" charset="0"/>
                            </a:rPr>
                            <m:t>uncoded</m:t>
                          </m:r>
                        </m:sub>
                      </m:sSub>
                      <m:d>
                        <m:dPr>
                          <m:ctrlPr>
                            <a:rPr lang="en-US" altLang="zh-CN" sz="1600" b="0" i="1" smtClean="0">
                              <a:latin typeface="Cambria Math" panose="02040503050406030204" pitchFamily="18" charset="0"/>
                            </a:rPr>
                          </m:ctrlPr>
                        </m:dPr>
                        <m:e>
                          <m:r>
                            <a:rPr lang="en-US" altLang="zh-CN" sz="1600" b="0" i="1" smtClean="0">
                              <a:latin typeface="Cambria Math" panose="02040503050406030204" pitchFamily="18" charset="0"/>
                            </a:rPr>
                            <m:t>𝑟</m:t>
                          </m:r>
                        </m:e>
                      </m:d>
                      <m:r>
                        <a:rPr lang="en-US" altLang="zh-CN" sz="1600" b="0" i="1" smtClean="0">
                          <a:latin typeface="Cambria Math" panose="02040503050406030204" pitchFamily="18" charset="0"/>
                        </a:rPr>
                        <m:t>=1−</m:t>
                      </m:r>
                      <m:f>
                        <m:fPr>
                          <m:ctrlPr>
                            <a:rPr lang="en-US" altLang="zh-CN" sz="1600" b="0" i="1" smtClean="0">
                              <a:latin typeface="Cambria Math" panose="02040503050406030204" pitchFamily="18" charset="0"/>
                            </a:rPr>
                          </m:ctrlPr>
                        </m:fPr>
                        <m:num>
                          <m:r>
                            <a:rPr lang="en-US" altLang="zh-CN" sz="1600" b="0" i="1" smtClean="0">
                              <a:latin typeface="Cambria Math" panose="02040503050406030204" pitchFamily="18" charset="0"/>
                            </a:rPr>
                            <m:t>𝑟</m:t>
                          </m:r>
                        </m:num>
                        <m:den>
                          <m:r>
                            <a:rPr lang="en-US" altLang="zh-CN" sz="1600" b="0" i="1" smtClean="0">
                              <a:latin typeface="Cambria Math" panose="02040503050406030204" pitchFamily="18" charset="0"/>
                            </a:rPr>
                            <m:t>𝐾</m:t>
                          </m:r>
                        </m:den>
                      </m:f>
                    </m:oMath>
                  </m:oMathPara>
                </a14:m>
                <a:endParaRPr lang="en-US" altLang="zh-CN" sz="1600" dirty="0"/>
              </a:p>
              <a:p>
                <a:pPr/>
                <a14:m>
                  <m:oMathPara xmlns:m="http://schemas.openxmlformats.org/officeDocument/2006/math">
                    <m:oMathParaPr>
                      <m:jc m:val="centerGroup"/>
                    </m:oMathParaPr>
                    <m:oMath xmlns:m="http://schemas.openxmlformats.org/officeDocument/2006/math">
                      <m:sSub>
                        <m:sSubPr>
                          <m:ctrlPr>
                            <a:rPr lang="en-US" altLang="zh-CN" sz="1600" i="1">
                              <a:latin typeface="Cambria Math" panose="02040503050406030204" pitchFamily="18" charset="0"/>
                            </a:rPr>
                          </m:ctrlPr>
                        </m:sSubPr>
                        <m:e>
                          <m:r>
                            <a:rPr lang="en-US" altLang="zh-CN" sz="1600" i="1">
                              <a:latin typeface="Cambria Math" panose="02040503050406030204" pitchFamily="18" charset="0"/>
                            </a:rPr>
                            <m:t>𝐿</m:t>
                          </m:r>
                        </m:e>
                        <m:sub>
                          <m:r>
                            <m:rPr>
                              <m:sty m:val="p"/>
                            </m:rPr>
                            <a:rPr lang="en-US" altLang="zh-CN" sz="1600">
                              <a:latin typeface="Cambria Math" panose="02040503050406030204" pitchFamily="18" charset="0"/>
                            </a:rPr>
                            <m:t>coded</m:t>
                          </m:r>
                        </m:sub>
                      </m:sSub>
                      <m:d>
                        <m:dPr>
                          <m:ctrlPr>
                            <a:rPr lang="en-US" altLang="zh-CN" sz="1600" i="1">
                              <a:latin typeface="Cambria Math" panose="02040503050406030204" pitchFamily="18" charset="0"/>
                            </a:rPr>
                          </m:ctrlPr>
                        </m:dPr>
                        <m:e>
                          <m:r>
                            <a:rPr lang="en-US" altLang="zh-CN" sz="1600" i="1">
                              <a:latin typeface="Cambria Math" panose="02040503050406030204" pitchFamily="18" charset="0"/>
                            </a:rPr>
                            <m:t>𝑟</m:t>
                          </m:r>
                        </m:e>
                      </m:d>
                      <m:r>
                        <a:rPr lang="en-US" altLang="zh-CN" sz="1600" i="1">
                          <a:latin typeface="Cambria Math" panose="02040503050406030204" pitchFamily="18" charset="0"/>
                        </a:rPr>
                        <m:t>=</m:t>
                      </m:r>
                      <m:f>
                        <m:fPr>
                          <m:ctrlPr>
                            <a:rPr lang="en-US" altLang="zh-CN" sz="1600" i="1" smtClean="0">
                              <a:solidFill>
                                <a:srgbClr val="C00000"/>
                              </a:solidFill>
                              <a:latin typeface="Cambria Math" panose="02040503050406030204" pitchFamily="18" charset="0"/>
                            </a:rPr>
                          </m:ctrlPr>
                        </m:fPr>
                        <m:num>
                          <m:r>
                            <a:rPr lang="en-US" altLang="zh-CN" sz="1600" b="0" i="1" smtClean="0">
                              <a:solidFill>
                                <a:srgbClr val="C00000"/>
                              </a:solidFill>
                              <a:latin typeface="Cambria Math" panose="02040503050406030204" pitchFamily="18" charset="0"/>
                            </a:rPr>
                            <m:t>1</m:t>
                          </m:r>
                        </m:num>
                        <m:den>
                          <m:r>
                            <a:rPr lang="en-US" altLang="zh-CN" sz="1600" b="0" i="1" smtClean="0">
                              <a:solidFill>
                                <a:srgbClr val="C00000"/>
                              </a:solidFill>
                              <a:latin typeface="Cambria Math" panose="02040503050406030204" pitchFamily="18" charset="0"/>
                            </a:rPr>
                            <m:t>𝑟</m:t>
                          </m:r>
                        </m:den>
                      </m:f>
                      <m:d>
                        <m:dPr>
                          <m:ctrlPr>
                            <a:rPr lang="en-US" altLang="zh-CN" sz="1600" i="1" smtClean="0">
                              <a:latin typeface="Cambria Math" panose="02040503050406030204" pitchFamily="18" charset="0"/>
                            </a:rPr>
                          </m:ctrlPr>
                        </m:dPr>
                        <m:e>
                          <m:r>
                            <a:rPr lang="en-US" altLang="zh-CN" sz="1600" i="1">
                              <a:latin typeface="Cambria Math" panose="02040503050406030204" pitchFamily="18" charset="0"/>
                            </a:rPr>
                            <m:t>1−</m:t>
                          </m:r>
                          <m:f>
                            <m:fPr>
                              <m:ctrlPr>
                                <a:rPr lang="en-US" altLang="zh-CN" sz="1600" i="1">
                                  <a:latin typeface="Cambria Math" panose="02040503050406030204" pitchFamily="18" charset="0"/>
                                </a:rPr>
                              </m:ctrlPr>
                            </m:fPr>
                            <m:num>
                              <m:r>
                                <a:rPr lang="en-US" altLang="zh-CN" sz="1600" i="1">
                                  <a:latin typeface="Cambria Math" panose="02040503050406030204" pitchFamily="18" charset="0"/>
                                </a:rPr>
                                <m:t>𝑟</m:t>
                              </m:r>
                            </m:num>
                            <m:den>
                              <m:r>
                                <a:rPr lang="en-US" altLang="zh-CN" sz="1600" i="1">
                                  <a:latin typeface="Cambria Math" panose="02040503050406030204" pitchFamily="18" charset="0"/>
                                </a:rPr>
                                <m:t>𝐾</m:t>
                              </m:r>
                            </m:den>
                          </m:f>
                        </m:e>
                      </m:d>
                    </m:oMath>
                  </m:oMathPara>
                </a14:m>
                <a:endParaRPr lang="en-US" altLang="zh-CN" dirty="0"/>
              </a:p>
              <a:p>
                <a:pPr algn="ctr"/>
                <a:r>
                  <a:rPr lang="zh-CN" altLang="en-US" b="1" dirty="0"/>
                  <a:t>编码技术带来了 </a:t>
                </a:r>
                <a14:m>
                  <m:oMath xmlns:m="http://schemas.openxmlformats.org/officeDocument/2006/math">
                    <m:f>
                      <m:fPr>
                        <m:ctrlPr>
                          <a:rPr lang="en-US" altLang="zh-CN" b="1" i="1" smtClean="0">
                            <a:solidFill>
                              <a:srgbClr val="C00000"/>
                            </a:solidFill>
                            <a:latin typeface="Cambria Math" panose="02040503050406030204" pitchFamily="18" charset="0"/>
                          </a:rPr>
                        </m:ctrlPr>
                      </m:fPr>
                      <m:num>
                        <m:r>
                          <a:rPr lang="en-US" altLang="zh-CN" b="1" i="1">
                            <a:solidFill>
                              <a:srgbClr val="C00000"/>
                            </a:solidFill>
                            <a:latin typeface="Cambria Math" panose="02040503050406030204" pitchFamily="18" charset="0"/>
                          </a:rPr>
                          <m:t>𝟏</m:t>
                        </m:r>
                      </m:num>
                      <m:den>
                        <m:r>
                          <a:rPr lang="en-US" altLang="zh-CN" b="1" i="1">
                            <a:solidFill>
                              <a:srgbClr val="C00000"/>
                            </a:solidFill>
                            <a:latin typeface="Cambria Math" panose="02040503050406030204" pitchFamily="18" charset="0"/>
                          </a:rPr>
                          <m:t>𝒓</m:t>
                        </m:r>
                      </m:den>
                    </m:f>
                  </m:oMath>
                </a14:m>
                <a:r>
                  <a:rPr lang="zh-CN" altLang="en-US" b="1" dirty="0">
                    <a:solidFill>
                      <a:srgbClr val="C00000"/>
                    </a:solidFill>
                  </a:rPr>
                  <a:t> </a:t>
                </a:r>
                <a:r>
                  <a:rPr lang="zh-CN" altLang="en-US" b="1" dirty="0"/>
                  <a:t>的增益</a:t>
                </a:r>
                <a:endParaRPr lang="en-US" altLang="zh-CN" b="1" dirty="0"/>
              </a:p>
            </p:txBody>
          </p:sp>
        </mc:Choice>
        <mc:Fallback xmlns="">
          <p:sp>
            <p:nvSpPr>
              <p:cNvPr id="5" name="文本框 4">
                <a:extLst>
                  <a:ext uri="{FF2B5EF4-FFF2-40B4-BE49-F238E27FC236}">
                    <a16:creationId xmlns:a16="http://schemas.microsoft.com/office/drawing/2014/main" id="{B369877C-CBBE-4DD3-9E8B-0296A43DD71E}"/>
                  </a:ext>
                </a:extLst>
              </p:cNvPr>
              <p:cNvSpPr txBox="1">
                <a:spLocks noRot="1" noChangeAspect="1" noMove="1" noResize="1" noEditPoints="1" noAdjustHandles="1" noChangeArrowheads="1" noChangeShapeType="1" noTextEdit="1"/>
              </p:cNvSpPr>
              <p:nvPr/>
            </p:nvSpPr>
            <p:spPr>
              <a:xfrm>
                <a:off x="7232902" y="5307394"/>
                <a:ext cx="4361688" cy="1372235"/>
              </a:xfrm>
              <a:prstGeom prst="rect">
                <a:avLst/>
              </a:prstGeom>
              <a:blipFill>
                <a:blip r:embed="rId6"/>
                <a:stretch>
                  <a:fillRect b="-17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1D6C88AC-01F8-47F0-904D-A94E67B6490A}"/>
                  </a:ext>
                </a:extLst>
              </p:cNvPr>
              <p:cNvSpPr txBox="1"/>
              <p:nvPr/>
            </p:nvSpPr>
            <p:spPr>
              <a:xfrm>
                <a:off x="6619146" y="2098624"/>
                <a:ext cx="2620104" cy="338554"/>
              </a:xfrm>
              <a:prstGeom prst="rect">
                <a:avLst/>
              </a:prstGeom>
              <a:noFill/>
            </p:spPr>
            <p:txBody>
              <a:bodyPr wrap="square" rtlCol="0">
                <a:spAutoFit/>
              </a:bodyPr>
              <a:lstStyle/>
              <a:p>
                <a:pPr marL="285750" indent="-285750">
                  <a:buFont typeface="Wingdings" panose="05000000000000000000" pitchFamily="2" charset="2"/>
                  <a:buChar char="p"/>
                </a:pPr>
                <a:r>
                  <a:rPr lang="zh-CN" altLang="en-US" sz="1600" b="1" dirty="0"/>
                  <a:t>主要结果（</a:t>
                </a:r>
                <a14:m>
                  <m:oMath xmlns:m="http://schemas.openxmlformats.org/officeDocument/2006/math">
                    <m:r>
                      <a:rPr lang="en-US" altLang="zh-CN" sz="1600" b="1" i="1" smtClean="0">
                        <a:latin typeface="Cambria Math" panose="02040503050406030204" pitchFamily="18" charset="0"/>
                      </a:rPr>
                      <m:t>𝑲</m:t>
                    </m:r>
                  </m:oMath>
                </a14:m>
                <a:r>
                  <a:rPr lang="zh-CN" altLang="en-US" sz="1600" b="1" dirty="0"/>
                  <a:t>个节点）</a:t>
                </a:r>
              </a:p>
            </p:txBody>
          </p:sp>
        </mc:Choice>
        <mc:Fallback xmlns="">
          <p:sp>
            <p:nvSpPr>
              <p:cNvPr id="8" name="文本框 7">
                <a:extLst>
                  <a:ext uri="{FF2B5EF4-FFF2-40B4-BE49-F238E27FC236}">
                    <a16:creationId xmlns:a16="http://schemas.microsoft.com/office/drawing/2014/main" id="{1D6C88AC-01F8-47F0-904D-A94E67B6490A}"/>
                  </a:ext>
                </a:extLst>
              </p:cNvPr>
              <p:cNvSpPr txBox="1">
                <a:spLocks noRot="1" noChangeAspect="1" noMove="1" noResize="1" noEditPoints="1" noAdjustHandles="1" noChangeArrowheads="1" noChangeShapeType="1" noTextEdit="1"/>
              </p:cNvSpPr>
              <p:nvPr/>
            </p:nvSpPr>
            <p:spPr>
              <a:xfrm>
                <a:off x="6619146" y="2098624"/>
                <a:ext cx="2620104" cy="338554"/>
              </a:xfrm>
              <a:prstGeom prst="rect">
                <a:avLst/>
              </a:prstGeom>
              <a:blipFill>
                <a:blip r:embed="rId7"/>
                <a:stretch>
                  <a:fillRect l="-930" t="-5357" b="-21429"/>
                </a:stretch>
              </a:blipFill>
            </p:spPr>
            <p:txBody>
              <a:bodyPr/>
              <a:lstStyle/>
              <a:p>
                <a:r>
                  <a:rPr lang="zh-CN" altLang="en-US">
                    <a:noFill/>
                  </a:rPr>
                  <a:t> </a:t>
                </a:r>
              </a:p>
            </p:txBody>
          </p:sp>
        </mc:Fallback>
      </mc:AlternateContent>
      <p:sp>
        <p:nvSpPr>
          <p:cNvPr id="6" name="灯片编号占位符 5">
            <a:extLst>
              <a:ext uri="{FF2B5EF4-FFF2-40B4-BE49-F238E27FC236}">
                <a16:creationId xmlns:a16="http://schemas.microsoft.com/office/drawing/2014/main" id="{BB8739A0-8FB9-4403-8DB1-BBEAC1816D36}"/>
              </a:ext>
            </a:extLst>
          </p:cNvPr>
          <p:cNvSpPr>
            <a:spLocks noGrp="1"/>
          </p:cNvSpPr>
          <p:nvPr>
            <p:ph type="sldNum" sz="quarter" idx="12"/>
          </p:nvPr>
        </p:nvSpPr>
        <p:spPr/>
        <p:txBody>
          <a:bodyPr/>
          <a:lstStyle/>
          <a:p>
            <a:fld id="{B125EA80-F692-46D2-AFCC-CA48803B46EF}" type="slidenum">
              <a:rPr lang="zh-CN" altLang="en-US" smtClean="0"/>
              <a:t>7</a:t>
            </a:fld>
            <a:endParaRPr lang="zh-CN" altLang="en-US" dirty="0"/>
          </a:p>
        </p:txBody>
      </p:sp>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AFDF5366-9092-4775-B903-EF2484A5B4A5}"/>
                  </a:ext>
                </a:extLst>
              </p:cNvPr>
              <p:cNvSpPr txBox="1"/>
              <p:nvPr/>
            </p:nvSpPr>
            <p:spPr>
              <a:xfrm>
                <a:off x="10969902" y="3666373"/>
                <a:ext cx="805283" cy="307777"/>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𝐾</m:t>
                      </m:r>
                      <m:r>
                        <a:rPr lang="en-US" altLang="zh-CN" sz="1400" b="0" i="1" smtClean="0">
                          <a:latin typeface="Cambria Math" panose="02040503050406030204" pitchFamily="18" charset="0"/>
                        </a:rPr>
                        <m:t>=10</m:t>
                      </m:r>
                    </m:oMath>
                  </m:oMathPara>
                </a14:m>
                <a:endParaRPr lang="zh-CN" altLang="en-US" sz="1400" dirty="0"/>
              </a:p>
            </p:txBody>
          </p:sp>
        </mc:Choice>
        <mc:Fallback xmlns="">
          <p:sp>
            <p:nvSpPr>
              <p:cNvPr id="7" name="文本框 6">
                <a:extLst>
                  <a:ext uri="{FF2B5EF4-FFF2-40B4-BE49-F238E27FC236}">
                    <a16:creationId xmlns:a16="http://schemas.microsoft.com/office/drawing/2014/main" id="{AFDF5366-9092-4775-B903-EF2484A5B4A5}"/>
                  </a:ext>
                </a:extLst>
              </p:cNvPr>
              <p:cNvSpPr txBox="1">
                <a:spLocks noRot="1" noChangeAspect="1" noMove="1" noResize="1" noEditPoints="1" noAdjustHandles="1" noChangeArrowheads="1" noChangeShapeType="1" noTextEdit="1"/>
              </p:cNvSpPr>
              <p:nvPr/>
            </p:nvSpPr>
            <p:spPr>
              <a:xfrm>
                <a:off x="10969902" y="3666373"/>
                <a:ext cx="805283" cy="307777"/>
              </a:xfrm>
              <a:prstGeom prst="rect">
                <a:avLst/>
              </a:prstGeom>
              <a:blipFill>
                <a:blip r:embed="rId8"/>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296504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a:lnSpc>
                <a:spcPts val="4400"/>
              </a:lnSpc>
            </a:pPr>
            <a:r>
              <a:rPr lang="en-US" altLang="zh-CN" sz="2800" b="1" dirty="0">
                <a:solidFill>
                  <a:schemeClr val="bg1"/>
                </a:solidFill>
              </a:rPr>
              <a:t> 2. </a:t>
            </a:r>
            <a:r>
              <a:rPr lang="zh-CN" altLang="en-US" sz="2800" b="1" dirty="0">
                <a:solidFill>
                  <a:schemeClr val="bg1"/>
                </a:solidFill>
              </a:rPr>
              <a:t>编码计算基础（纠删码：利用编码技术消除落后节点的影响）</a:t>
            </a:r>
            <a:endParaRPr lang="en-US" altLang="zh-CN" sz="2800" b="1" dirty="0">
              <a:solidFill>
                <a:schemeClr val="bg1"/>
              </a:solidFill>
            </a:endParaRPr>
          </a:p>
          <a:p>
            <a:endParaRPr lang="en-US" altLang="zh-CN" sz="700" b="1" dirty="0">
              <a:solidFill>
                <a:schemeClr val="bg1"/>
              </a:solidFill>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869762B-3FC4-422B-8D7C-B74731649032}"/>
                  </a:ext>
                </a:extLst>
              </p:cNvPr>
              <p:cNvSpPr txBox="1"/>
              <p:nvPr/>
            </p:nvSpPr>
            <p:spPr>
              <a:xfrm>
                <a:off x="155448" y="832104"/>
                <a:ext cx="11868912" cy="5351786"/>
              </a:xfrm>
              <a:prstGeom prst="rect">
                <a:avLst/>
              </a:prstGeom>
              <a:noFill/>
            </p:spPr>
            <p:txBody>
              <a:bodyPr wrap="square" rtlCol="0">
                <a:spAutoFit/>
              </a:bodyPr>
              <a:lstStyle/>
              <a:p>
                <a:pPr marL="342900" indent="-342900">
                  <a:buFont typeface="Wingdings" panose="05000000000000000000" pitchFamily="2" charset="2"/>
                  <a:buChar char="l"/>
                </a:pPr>
                <a:r>
                  <a:rPr lang="zh-CN" altLang="en-US" sz="2000" b="1" dirty="0"/>
                  <a:t>利用纠删码（</a:t>
                </a:r>
                <a:r>
                  <a:rPr lang="en-US" altLang="zh-CN" sz="2000" b="1" dirty="0"/>
                  <a:t>Erasure Code</a:t>
                </a:r>
                <a:r>
                  <a:rPr lang="zh-CN" altLang="en-US" sz="2000" b="1" dirty="0"/>
                  <a:t>）加速分布式机器学习中的矩阵乘法运算 </a:t>
                </a:r>
                <a:r>
                  <a:rPr lang="da-DK" altLang="zh-CN" sz="2000" b="1" dirty="0"/>
                  <a:t>[Lee et al. TIT 2018] </a:t>
                </a:r>
                <a:endParaRPr lang="en-US" altLang="zh-CN" sz="2000" dirty="0"/>
              </a:p>
              <a:p>
                <a:pPr marL="360000" lvl="1" indent="-285750">
                  <a:lnSpc>
                    <a:spcPct val="150000"/>
                  </a:lnSpc>
                  <a:buFont typeface="Wingdings" panose="05000000000000000000" pitchFamily="2" charset="2"/>
                  <a:buChar char="Ø"/>
                </a:pPr>
                <a:r>
                  <a:rPr lang="zh-CN" altLang="en-US" dirty="0">
                    <a:solidFill>
                      <a:prstClr val="black"/>
                    </a:solidFill>
                  </a:rPr>
                  <a:t>纠删码技术通过对</a:t>
                </a:r>
                <a14:m>
                  <m:oMath xmlns:m="http://schemas.openxmlformats.org/officeDocument/2006/math">
                    <m:r>
                      <a:rPr lang="en-US" altLang="zh-CN" b="0" i="1" smtClean="0">
                        <a:solidFill>
                          <a:prstClr val="black"/>
                        </a:solidFill>
                        <a:latin typeface="Cambria Math" panose="02040503050406030204" pitchFamily="18" charset="0"/>
                      </a:rPr>
                      <m:t>𝑘</m:t>
                    </m:r>
                  </m:oMath>
                </a14:m>
                <a:r>
                  <a:rPr lang="zh-CN" altLang="en-US" dirty="0">
                    <a:solidFill>
                      <a:prstClr val="black"/>
                    </a:solidFill>
                  </a:rPr>
                  <a:t>个符号的信息进行编码，生成更长的具有</a:t>
                </a:r>
                <a14:m>
                  <m:oMath xmlns:m="http://schemas.openxmlformats.org/officeDocument/2006/math">
                    <m:r>
                      <a:rPr lang="en-US" altLang="zh-CN" b="0" i="1" smtClean="0">
                        <a:solidFill>
                          <a:prstClr val="black"/>
                        </a:solidFill>
                        <a:latin typeface="Cambria Math" panose="02040503050406030204" pitchFamily="18" charset="0"/>
                      </a:rPr>
                      <m:t>𝑛</m:t>
                    </m:r>
                  </m:oMath>
                </a14:m>
                <a:r>
                  <a:rPr lang="zh-CN" altLang="en-US" dirty="0">
                    <a:solidFill>
                      <a:prstClr val="black"/>
                    </a:solidFill>
                  </a:rPr>
                  <a:t>个符号的编码信息，而原始的</a:t>
                </a:r>
                <a14:m>
                  <m:oMath xmlns:m="http://schemas.openxmlformats.org/officeDocument/2006/math">
                    <m:r>
                      <a:rPr lang="en-US" altLang="zh-CN" i="1">
                        <a:solidFill>
                          <a:prstClr val="black"/>
                        </a:solidFill>
                        <a:latin typeface="Cambria Math" panose="02040503050406030204" pitchFamily="18" charset="0"/>
                      </a:rPr>
                      <m:t>𝑘</m:t>
                    </m:r>
                  </m:oMath>
                </a14:m>
                <a:r>
                  <a:rPr lang="zh-CN" altLang="en-US" dirty="0">
                    <a:solidFill>
                      <a:prstClr val="black"/>
                    </a:solidFill>
                  </a:rPr>
                  <a:t>个符号可以通过对</a:t>
                </a:r>
                <a14:m>
                  <m:oMath xmlns:m="http://schemas.openxmlformats.org/officeDocument/2006/math">
                    <m:r>
                      <a:rPr lang="en-US" altLang="zh-CN" b="0" i="1" smtClean="0">
                        <a:solidFill>
                          <a:prstClr val="black"/>
                        </a:solidFill>
                        <a:latin typeface="Cambria Math" panose="02040503050406030204" pitchFamily="18" charset="0"/>
                      </a:rPr>
                      <m:t>𝑛</m:t>
                    </m:r>
                  </m:oMath>
                </a14:m>
                <a:r>
                  <a:rPr lang="zh-CN" altLang="en-US" dirty="0">
                    <a:solidFill>
                      <a:prstClr val="black"/>
                    </a:solidFill>
                  </a:rPr>
                  <a:t>个编码符号中特定的可解码子集进行解码来恢复获得</a:t>
                </a:r>
                <a:endParaRPr lang="en-US" altLang="zh-CN" dirty="0">
                  <a:solidFill>
                    <a:prstClr val="black"/>
                  </a:solidFill>
                </a:endParaRPr>
              </a:p>
              <a:p>
                <a:pPr lvl="0">
                  <a:lnSpc>
                    <a:spcPct val="150000"/>
                  </a:lnSpc>
                </a:pPr>
                <a:endParaRPr lang="en-US" altLang="zh-CN" sz="600" b="1" dirty="0">
                  <a:solidFill>
                    <a:prstClr val="black"/>
                  </a:solidFill>
                </a:endParaRPr>
              </a:p>
              <a:p>
                <a:pPr marL="285750" lvl="0" indent="-285750">
                  <a:lnSpc>
                    <a:spcPts val="2300"/>
                  </a:lnSpc>
                  <a:buFont typeface="Wingdings" panose="05000000000000000000" pitchFamily="2" charset="2"/>
                  <a:buChar char="p"/>
                </a:pPr>
                <a:r>
                  <a:rPr lang="zh-CN" altLang="en-US" sz="1600" b="1" dirty="0">
                    <a:solidFill>
                      <a:prstClr val="black"/>
                    </a:solidFill>
                  </a:rPr>
                  <a:t>考虑由一个主节点和三个工作节点构成的分布式系统。该系统的目</a:t>
                </a:r>
                <a:br>
                  <a:rPr lang="en-US" altLang="zh-CN" sz="1600" b="1" dirty="0">
                    <a:solidFill>
                      <a:prstClr val="black"/>
                    </a:solidFill>
                  </a:rPr>
                </a:br>
                <a:r>
                  <a:rPr lang="zh-CN" altLang="en-US" sz="1600" b="1" dirty="0">
                    <a:solidFill>
                      <a:prstClr val="black"/>
                    </a:solidFill>
                  </a:rPr>
                  <a:t>标是计算大规模矩阵乘法</a:t>
                </a:r>
                <a14:m>
                  <m:oMath xmlns:m="http://schemas.openxmlformats.org/officeDocument/2006/math">
                    <m:r>
                      <a:rPr lang="en-US" altLang="zh-CN" sz="1600" b="1" i="0" smtClean="0">
                        <a:solidFill>
                          <a:prstClr val="black"/>
                        </a:solidFill>
                        <a:latin typeface="Cambria Math" panose="02040503050406030204" pitchFamily="18" charset="0"/>
                      </a:rPr>
                      <m:t>𝐀𝐗</m:t>
                    </m:r>
                  </m:oMath>
                </a14:m>
                <a:r>
                  <a:rPr lang="zh-CN" altLang="en-US" sz="1600" b="1" dirty="0"/>
                  <a:t>，其中</a:t>
                </a:r>
                <a14:m>
                  <m:oMath xmlns:m="http://schemas.openxmlformats.org/officeDocument/2006/math">
                    <m:r>
                      <a:rPr lang="en-US" altLang="zh-CN" sz="1600" b="1">
                        <a:solidFill>
                          <a:prstClr val="black"/>
                        </a:solidFill>
                        <a:latin typeface="Cambria Math" panose="02040503050406030204" pitchFamily="18" charset="0"/>
                      </a:rPr>
                      <m:t>𝐀</m:t>
                    </m:r>
                    <m:r>
                      <a:rPr lang="en-US" altLang="zh-CN" sz="1600" b="1" i="1" smtClean="0">
                        <a:solidFill>
                          <a:prstClr val="black"/>
                        </a:solidFill>
                        <a:latin typeface="Cambria Math" panose="02040503050406030204" pitchFamily="18" charset="0"/>
                      </a:rPr>
                      <m:t>∈</m:t>
                    </m:r>
                    <m:sSup>
                      <m:sSupPr>
                        <m:ctrlPr>
                          <a:rPr lang="en-US" altLang="zh-CN" sz="1600" b="1" i="1" smtClean="0">
                            <a:solidFill>
                              <a:prstClr val="black"/>
                            </a:solidFill>
                            <a:latin typeface="Cambria Math" panose="02040503050406030204" pitchFamily="18" charset="0"/>
                            <a:ea typeface="Cambria Math" panose="02040503050406030204" pitchFamily="18" charset="0"/>
                          </a:rPr>
                        </m:ctrlPr>
                      </m:sSupPr>
                      <m:e>
                        <m:r>
                          <a:rPr lang="en-US" altLang="zh-CN" sz="1600" b="1" i="1" smtClean="0">
                            <a:solidFill>
                              <a:prstClr val="black"/>
                            </a:solidFill>
                            <a:latin typeface="Cambria Math" panose="02040503050406030204" pitchFamily="18" charset="0"/>
                            <a:ea typeface="Cambria Math" panose="02040503050406030204" pitchFamily="18" charset="0"/>
                          </a:rPr>
                          <m:t>ℝ</m:t>
                        </m:r>
                      </m:e>
                      <m:sup>
                        <m:r>
                          <a:rPr lang="en-US" altLang="zh-CN" sz="1600" b="1" i="1" smtClean="0">
                            <a:solidFill>
                              <a:prstClr val="black"/>
                            </a:solidFill>
                            <a:latin typeface="Cambria Math" panose="02040503050406030204" pitchFamily="18" charset="0"/>
                            <a:ea typeface="Cambria Math" panose="02040503050406030204" pitchFamily="18" charset="0"/>
                          </a:rPr>
                          <m:t>𝒒</m:t>
                        </m:r>
                        <m:r>
                          <a:rPr lang="en-US" altLang="zh-CN" sz="1600" b="1" i="1" smtClean="0">
                            <a:solidFill>
                              <a:prstClr val="black"/>
                            </a:solidFill>
                            <a:latin typeface="Cambria Math" panose="02040503050406030204" pitchFamily="18" charset="0"/>
                            <a:ea typeface="Cambria Math" panose="02040503050406030204" pitchFamily="18" charset="0"/>
                          </a:rPr>
                          <m:t>×</m:t>
                        </m:r>
                        <m:r>
                          <a:rPr lang="en-US" altLang="zh-CN" sz="1600" b="1" i="1" smtClean="0">
                            <a:solidFill>
                              <a:prstClr val="black"/>
                            </a:solidFill>
                            <a:latin typeface="Cambria Math" panose="02040503050406030204" pitchFamily="18" charset="0"/>
                            <a:ea typeface="Cambria Math" panose="02040503050406030204" pitchFamily="18" charset="0"/>
                          </a:rPr>
                          <m:t>𝒓</m:t>
                        </m:r>
                      </m:sup>
                    </m:sSup>
                  </m:oMath>
                </a14:m>
                <a:r>
                  <a:rPr lang="zh-CN" altLang="en-US" sz="1600" b="1" dirty="0"/>
                  <a:t>是数据矩阵，</a:t>
                </a:r>
                <a14:m>
                  <m:oMath xmlns:m="http://schemas.openxmlformats.org/officeDocument/2006/math">
                    <m:r>
                      <a:rPr lang="en-US" altLang="zh-CN" sz="1600" b="1" i="0" smtClean="0">
                        <a:solidFill>
                          <a:prstClr val="black"/>
                        </a:solidFill>
                        <a:latin typeface="Cambria Math" panose="02040503050406030204" pitchFamily="18" charset="0"/>
                      </a:rPr>
                      <m:t>𝐗</m:t>
                    </m:r>
                    <m:r>
                      <a:rPr lang="en-US" altLang="zh-CN" sz="1600" b="1" i="1">
                        <a:solidFill>
                          <a:prstClr val="black"/>
                        </a:solidFill>
                        <a:latin typeface="Cambria Math" panose="02040503050406030204" pitchFamily="18" charset="0"/>
                      </a:rPr>
                      <m:t>∈</m:t>
                    </m:r>
                    <m:sSup>
                      <m:sSupPr>
                        <m:ctrlPr>
                          <a:rPr lang="en-US" altLang="zh-CN" sz="1600" b="1" i="1">
                            <a:solidFill>
                              <a:prstClr val="black"/>
                            </a:solidFill>
                            <a:latin typeface="Cambria Math" panose="02040503050406030204" pitchFamily="18" charset="0"/>
                            <a:ea typeface="Cambria Math" panose="02040503050406030204" pitchFamily="18" charset="0"/>
                          </a:rPr>
                        </m:ctrlPr>
                      </m:sSupPr>
                      <m:e>
                        <m:r>
                          <a:rPr lang="en-US" altLang="zh-CN" sz="1600" b="1" i="1">
                            <a:solidFill>
                              <a:prstClr val="black"/>
                            </a:solidFill>
                            <a:latin typeface="Cambria Math" panose="02040503050406030204" pitchFamily="18" charset="0"/>
                            <a:ea typeface="Cambria Math" panose="02040503050406030204" pitchFamily="18" charset="0"/>
                          </a:rPr>
                          <m:t>ℝ</m:t>
                        </m:r>
                      </m:e>
                      <m:sup>
                        <m:r>
                          <a:rPr lang="en-US" altLang="zh-CN" sz="1600" b="1" i="1" smtClean="0">
                            <a:solidFill>
                              <a:prstClr val="black"/>
                            </a:solidFill>
                            <a:latin typeface="Cambria Math" panose="02040503050406030204" pitchFamily="18" charset="0"/>
                            <a:ea typeface="Cambria Math" panose="02040503050406030204" pitchFamily="18" charset="0"/>
                          </a:rPr>
                          <m:t>𝒓</m:t>
                        </m:r>
                        <m:r>
                          <a:rPr lang="en-US" altLang="zh-CN" sz="1600" b="1" i="1">
                            <a:solidFill>
                              <a:prstClr val="black"/>
                            </a:solidFill>
                            <a:latin typeface="Cambria Math" panose="02040503050406030204" pitchFamily="18" charset="0"/>
                            <a:ea typeface="Cambria Math" panose="02040503050406030204" pitchFamily="18" charset="0"/>
                          </a:rPr>
                          <m:t>×</m:t>
                        </m:r>
                        <m:r>
                          <a:rPr lang="en-US" altLang="zh-CN" sz="1600" b="1" i="1">
                            <a:solidFill>
                              <a:prstClr val="black"/>
                            </a:solidFill>
                            <a:latin typeface="Cambria Math" panose="02040503050406030204" pitchFamily="18" charset="0"/>
                            <a:ea typeface="Cambria Math" panose="02040503050406030204" pitchFamily="18" charset="0"/>
                          </a:rPr>
                          <m:t>𝒔</m:t>
                        </m:r>
                      </m:sup>
                    </m:sSup>
                  </m:oMath>
                </a14:m>
                <a:r>
                  <a:rPr lang="en-US" altLang="zh-CN" sz="1600" b="1" dirty="0"/>
                  <a:t> </a:t>
                </a:r>
                <a:br>
                  <a:rPr lang="en-US" altLang="zh-CN" sz="1600" b="1" dirty="0"/>
                </a:br>
                <a:r>
                  <a:rPr lang="zh-CN" altLang="en-US" sz="1600" b="1" dirty="0"/>
                  <a:t>是输入矩阵</a:t>
                </a:r>
                <a:endParaRPr lang="en-US" altLang="zh-CN" sz="1600" b="1" dirty="0"/>
              </a:p>
              <a:p>
                <a:endParaRPr lang="en-US" altLang="zh-CN" sz="2000" b="1" dirty="0">
                  <a:solidFill>
                    <a:srgbClr val="FF0000"/>
                  </a:solidFill>
                </a:endParaRPr>
              </a:p>
              <a:p>
                <a:endParaRPr lang="en-US" altLang="zh-CN" sz="2000" b="1" dirty="0">
                  <a:solidFill>
                    <a:srgbClr val="FF0000"/>
                  </a:solidFill>
                </a:endParaRPr>
              </a:p>
              <a:p>
                <a:endParaRPr lang="en-US" altLang="zh-CN" sz="2000" b="1" dirty="0">
                  <a:solidFill>
                    <a:srgbClr val="FF0000"/>
                  </a:solidFill>
                </a:endParaRPr>
              </a:p>
              <a:p>
                <a:endParaRPr lang="en-US" altLang="zh-CN" sz="2000" b="1" dirty="0">
                  <a:solidFill>
                    <a:srgbClr val="FF0000"/>
                  </a:solidFill>
                </a:endParaRPr>
              </a:p>
              <a:p>
                <a:endParaRPr lang="en-US" altLang="zh-CN" sz="2000" b="1" dirty="0">
                  <a:solidFill>
                    <a:srgbClr val="FF0000"/>
                  </a:solidFill>
                </a:endParaRPr>
              </a:p>
              <a:p>
                <a:endParaRPr lang="en-US" altLang="zh-CN" sz="2000" b="1" dirty="0">
                  <a:solidFill>
                    <a:srgbClr val="FF0000"/>
                  </a:solidFill>
                </a:endParaRPr>
              </a:p>
              <a:p>
                <a:pPr marL="288000" indent="-288000">
                  <a:lnSpc>
                    <a:spcPts val="2500"/>
                  </a:lnSpc>
                  <a:buFont typeface="Arial" panose="020B0604020202020204" pitchFamily="34" charset="0"/>
                  <a:buChar char="•"/>
                </a:pPr>
                <a:r>
                  <a:rPr lang="zh-CN" altLang="en-US" sz="1600" dirty="0"/>
                  <a:t>矩阵</a:t>
                </a:r>
                <a14:m>
                  <m:oMath xmlns:m="http://schemas.openxmlformats.org/officeDocument/2006/math">
                    <m:r>
                      <a:rPr lang="en-US" altLang="zh-CN" sz="1600" b="1">
                        <a:solidFill>
                          <a:prstClr val="black"/>
                        </a:solidFill>
                        <a:latin typeface="Cambria Math" panose="02040503050406030204" pitchFamily="18" charset="0"/>
                      </a:rPr>
                      <m:t>𝐀</m:t>
                    </m:r>
                  </m:oMath>
                </a14:m>
                <a:r>
                  <a:rPr lang="zh-CN" altLang="en-US" sz="1600" dirty="0"/>
                  <a:t>按行被分为两个子矩阵</a:t>
                </a:r>
                <a14:m>
                  <m:oMath xmlns:m="http://schemas.openxmlformats.org/officeDocument/2006/math">
                    <m:sSub>
                      <m:sSubPr>
                        <m:ctrlPr>
                          <a:rPr lang="en-US" altLang="zh-CN" sz="1600" b="1" i="1" smtClean="0">
                            <a:solidFill>
                              <a:prstClr val="black"/>
                            </a:solidFill>
                            <a:latin typeface="Cambria Math" panose="02040503050406030204" pitchFamily="18" charset="0"/>
                          </a:rPr>
                        </m:ctrlPr>
                      </m:sSubPr>
                      <m:e>
                        <m:r>
                          <a:rPr lang="en-US" altLang="zh-CN" sz="1600" b="1">
                            <a:solidFill>
                              <a:prstClr val="black"/>
                            </a:solidFill>
                            <a:latin typeface="Cambria Math" panose="02040503050406030204" pitchFamily="18" charset="0"/>
                          </a:rPr>
                          <m:t>𝐀</m:t>
                        </m:r>
                      </m:e>
                      <m:sub>
                        <m:r>
                          <a:rPr lang="en-US" altLang="zh-CN" sz="1600" b="1" i="1" smtClean="0">
                            <a:solidFill>
                              <a:prstClr val="black"/>
                            </a:solidFill>
                            <a:latin typeface="Cambria Math" panose="02040503050406030204" pitchFamily="18" charset="0"/>
                          </a:rPr>
                          <m:t>𝟏</m:t>
                        </m:r>
                      </m:sub>
                    </m:sSub>
                    <m:r>
                      <a:rPr lang="en-US" altLang="zh-CN" sz="1600" b="1" i="1">
                        <a:solidFill>
                          <a:prstClr val="black"/>
                        </a:solidFill>
                        <a:latin typeface="Cambria Math" panose="02040503050406030204" pitchFamily="18" charset="0"/>
                      </a:rPr>
                      <m:t>∈</m:t>
                    </m:r>
                    <m:sSup>
                      <m:sSupPr>
                        <m:ctrlPr>
                          <a:rPr lang="en-US" altLang="zh-CN" sz="1600" b="1" i="1">
                            <a:solidFill>
                              <a:prstClr val="black"/>
                            </a:solidFill>
                            <a:latin typeface="Cambria Math" panose="02040503050406030204" pitchFamily="18" charset="0"/>
                            <a:ea typeface="Cambria Math" panose="02040503050406030204" pitchFamily="18" charset="0"/>
                          </a:rPr>
                        </m:ctrlPr>
                      </m:sSupPr>
                      <m:e>
                        <m:r>
                          <a:rPr lang="en-US" altLang="zh-CN" sz="1600" b="1" i="1">
                            <a:solidFill>
                              <a:prstClr val="black"/>
                            </a:solidFill>
                            <a:latin typeface="Cambria Math" panose="02040503050406030204" pitchFamily="18" charset="0"/>
                            <a:ea typeface="Cambria Math" panose="02040503050406030204" pitchFamily="18" charset="0"/>
                          </a:rPr>
                          <m:t>ℝ</m:t>
                        </m:r>
                      </m:e>
                      <m:sup>
                        <m:r>
                          <a:rPr lang="en-US" altLang="zh-CN" sz="1600" i="1">
                            <a:solidFill>
                              <a:prstClr val="black"/>
                            </a:solidFill>
                            <a:latin typeface="Cambria Math" panose="02040503050406030204" pitchFamily="18" charset="0"/>
                            <a:ea typeface="Cambria Math" panose="02040503050406030204" pitchFamily="18" charset="0"/>
                          </a:rPr>
                          <m:t>𝑞</m:t>
                        </m:r>
                        <m:r>
                          <a:rPr lang="en-US" altLang="zh-CN" sz="1600" b="0" i="1" smtClean="0">
                            <a:solidFill>
                              <a:prstClr val="black"/>
                            </a:solidFill>
                            <a:latin typeface="Cambria Math" panose="02040503050406030204" pitchFamily="18" charset="0"/>
                            <a:ea typeface="Cambria Math" panose="02040503050406030204" pitchFamily="18" charset="0"/>
                          </a:rPr>
                          <m:t>/2</m:t>
                        </m:r>
                        <m:r>
                          <a:rPr lang="en-US" altLang="zh-CN" sz="1600" i="1">
                            <a:solidFill>
                              <a:prstClr val="black"/>
                            </a:solidFill>
                            <a:latin typeface="Cambria Math" panose="02040503050406030204" pitchFamily="18" charset="0"/>
                            <a:ea typeface="Cambria Math" panose="02040503050406030204" pitchFamily="18" charset="0"/>
                          </a:rPr>
                          <m:t>×</m:t>
                        </m:r>
                        <m:r>
                          <a:rPr lang="en-US" altLang="zh-CN" sz="1600" i="1">
                            <a:solidFill>
                              <a:prstClr val="black"/>
                            </a:solidFill>
                            <a:latin typeface="Cambria Math" panose="02040503050406030204" pitchFamily="18" charset="0"/>
                            <a:ea typeface="Cambria Math" panose="02040503050406030204" pitchFamily="18" charset="0"/>
                          </a:rPr>
                          <m:t>𝑟</m:t>
                        </m:r>
                      </m:sup>
                    </m:sSup>
                  </m:oMath>
                </a14:m>
                <a:r>
                  <a:rPr lang="zh-CN" altLang="en-US" sz="1600" dirty="0"/>
                  <a:t>和</a:t>
                </a:r>
                <a14:m>
                  <m:oMath xmlns:m="http://schemas.openxmlformats.org/officeDocument/2006/math">
                    <m:sSub>
                      <m:sSubPr>
                        <m:ctrlPr>
                          <a:rPr lang="en-US" altLang="zh-CN" sz="1600" b="1" i="1">
                            <a:solidFill>
                              <a:prstClr val="black"/>
                            </a:solidFill>
                            <a:latin typeface="Cambria Math" panose="02040503050406030204" pitchFamily="18" charset="0"/>
                          </a:rPr>
                        </m:ctrlPr>
                      </m:sSubPr>
                      <m:e>
                        <m:r>
                          <a:rPr lang="en-US" altLang="zh-CN" sz="1600" b="1">
                            <a:solidFill>
                              <a:prstClr val="black"/>
                            </a:solidFill>
                            <a:latin typeface="Cambria Math" panose="02040503050406030204" pitchFamily="18" charset="0"/>
                          </a:rPr>
                          <m:t>𝐀</m:t>
                        </m:r>
                      </m:e>
                      <m:sub>
                        <m:r>
                          <a:rPr lang="en-US" altLang="zh-CN" sz="1600" b="1" i="1">
                            <a:solidFill>
                              <a:prstClr val="black"/>
                            </a:solidFill>
                            <a:latin typeface="Cambria Math" panose="02040503050406030204" pitchFamily="18" charset="0"/>
                          </a:rPr>
                          <m:t>2</m:t>
                        </m:r>
                      </m:sub>
                    </m:sSub>
                    <m:r>
                      <a:rPr lang="en-US" altLang="zh-CN" sz="1600" b="1" i="1">
                        <a:solidFill>
                          <a:prstClr val="black"/>
                        </a:solidFill>
                        <a:latin typeface="Cambria Math" panose="02040503050406030204" pitchFamily="18" charset="0"/>
                      </a:rPr>
                      <m:t>∈</m:t>
                    </m:r>
                    <m:sSup>
                      <m:sSupPr>
                        <m:ctrlPr>
                          <a:rPr lang="en-US" altLang="zh-CN" sz="1600" b="1" i="1">
                            <a:solidFill>
                              <a:prstClr val="black"/>
                            </a:solidFill>
                            <a:latin typeface="Cambria Math" panose="02040503050406030204" pitchFamily="18" charset="0"/>
                            <a:ea typeface="Cambria Math" panose="02040503050406030204" pitchFamily="18" charset="0"/>
                          </a:rPr>
                        </m:ctrlPr>
                      </m:sSupPr>
                      <m:e>
                        <m:r>
                          <a:rPr lang="en-US" altLang="zh-CN" sz="1600" b="1" i="1">
                            <a:solidFill>
                              <a:prstClr val="black"/>
                            </a:solidFill>
                            <a:latin typeface="Cambria Math" panose="02040503050406030204" pitchFamily="18" charset="0"/>
                            <a:ea typeface="Cambria Math" panose="02040503050406030204" pitchFamily="18" charset="0"/>
                          </a:rPr>
                          <m:t>ℝ</m:t>
                        </m:r>
                      </m:e>
                      <m:sup>
                        <m:r>
                          <a:rPr lang="en-US" altLang="zh-CN" sz="1600" i="1">
                            <a:solidFill>
                              <a:prstClr val="black"/>
                            </a:solidFill>
                            <a:latin typeface="Cambria Math" panose="02040503050406030204" pitchFamily="18" charset="0"/>
                            <a:ea typeface="Cambria Math" panose="02040503050406030204" pitchFamily="18" charset="0"/>
                          </a:rPr>
                          <m:t>𝑞</m:t>
                        </m:r>
                        <m:r>
                          <a:rPr lang="en-US" altLang="zh-CN" sz="1600" i="1">
                            <a:solidFill>
                              <a:prstClr val="black"/>
                            </a:solidFill>
                            <a:latin typeface="Cambria Math" panose="02040503050406030204" pitchFamily="18" charset="0"/>
                            <a:ea typeface="Cambria Math" panose="02040503050406030204" pitchFamily="18" charset="0"/>
                          </a:rPr>
                          <m:t>/2×</m:t>
                        </m:r>
                        <m:r>
                          <a:rPr lang="en-US" altLang="zh-CN" sz="1600" i="1">
                            <a:solidFill>
                              <a:prstClr val="black"/>
                            </a:solidFill>
                            <a:latin typeface="Cambria Math" panose="02040503050406030204" pitchFamily="18" charset="0"/>
                            <a:ea typeface="Cambria Math" panose="02040503050406030204" pitchFamily="18" charset="0"/>
                          </a:rPr>
                          <m:t>𝑟</m:t>
                        </m:r>
                      </m:sup>
                    </m:sSup>
                  </m:oMath>
                </a14:m>
                <a:endParaRPr lang="en-US" altLang="zh-CN" sz="1600" dirty="0"/>
              </a:p>
              <a:p>
                <a:pPr marL="288000" indent="-288000">
                  <a:lnSpc>
                    <a:spcPts val="2500"/>
                  </a:lnSpc>
                  <a:buFont typeface="Arial" panose="020B0604020202020204" pitchFamily="34" charset="0"/>
                  <a:buChar char="•"/>
                </a:pPr>
                <a:r>
                  <a:rPr lang="zh-CN" altLang="en-US" sz="1600" dirty="0"/>
                  <a:t>工作节点</a:t>
                </a:r>
                <a:r>
                  <a:rPr lang="en-US" altLang="zh-CN" sz="1600" dirty="0"/>
                  <a:t>1</a:t>
                </a:r>
                <a:r>
                  <a:rPr lang="zh-CN" altLang="en-US" sz="1600" dirty="0"/>
                  <a:t>存</a:t>
                </a:r>
                <a14:m>
                  <m:oMath xmlns:m="http://schemas.openxmlformats.org/officeDocument/2006/math">
                    <m:sSub>
                      <m:sSubPr>
                        <m:ctrlPr>
                          <a:rPr lang="en-US" altLang="zh-CN" sz="1600" b="1" i="1">
                            <a:solidFill>
                              <a:prstClr val="black"/>
                            </a:solidFill>
                            <a:latin typeface="Cambria Math" panose="02040503050406030204" pitchFamily="18" charset="0"/>
                          </a:rPr>
                        </m:ctrlPr>
                      </m:sSubPr>
                      <m:e>
                        <m:r>
                          <a:rPr lang="en-US" altLang="zh-CN" sz="1600" b="1">
                            <a:solidFill>
                              <a:prstClr val="black"/>
                            </a:solidFill>
                            <a:latin typeface="Cambria Math" panose="02040503050406030204" pitchFamily="18" charset="0"/>
                          </a:rPr>
                          <m:t>𝐀</m:t>
                        </m:r>
                      </m:e>
                      <m:sub>
                        <m:r>
                          <a:rPr lang="en-US" altLang="zh-CN" sz="1600" b="1" i="1">
                            <a:solidFill>
                              <a:prstClr val="black"/>
                            </a:solidFill>
                            <a:latin typeface="Cambria Math" panose="02040503050406030204" pitchFamily="18" charset="0"/>
                          </a:rPr>
                          <m:t>𝟏</m:t>
                        </m:r>
                      </m:sub>
                    </m:sSub>
                  </m:oMath>
                </a14:m>
                <a:r>
                  <a:rPr lang="zh-CN" altLang="en-US" sz="1600" dirty="0"/>
                  <a:t>，工作节点</a:t>
                </a:r>
                <a:r>
                  <a:rPr lang="en-US" altLang="zh-CN" sz="1600" dirty="0"/>
                  <a:t>2</a:t>
                </a:r>
                <a:r>
                  <a:rPr lang="zh-CN" altLang="en-US" sz="1600" dirty="0"/>
                  <a:t>存</a:t>
                </a:r>
                <a14:m>
                  <m:oMath xmlns:m="http://schemas.openxmlformats.org/officeDocument/2006/math">
                    <m:sSub>
                      <m:sSubPr>
                        <m:ctrlPr>
                          <a:rPr lang="en-US" altLang="zh-CN" sz="1600" b="1" i="1">
                            <a:solidFill>
                              <a:prstClr val="black"/>
                            </a:solidFill>
                            <a:latin typeface="Cambria Math" panose="02040503050406030204" pitchFamily="18" charset="0"/>
                          </a:rPr>
                        </m:ctrlPr>
                      </m:sSubPr>
                      <m:e>
                        <m:r>
                          <a:rPr lang="en-US" altLang="zh-CN" sz="1600" b="1">
                            <a:solidFill>
                              <a:prstClr val="black"/>
                            </a:solidFill>
                            <a:latin typeface="Cambria Math" panose="02040503050406030204" pitchFamily="18" charset="0"/>
                          </a:rPr>
                          <m:t>𝐀</m:t>
                        </m:r>
                      </m:e>
                      <m:sub>
                        <m:r>
                          <a:rPr lang="en-US" altLang="zh-CN" sz="1600" b="1" i="1">
                            <a:solidFill>
                              <a:prstClr val="black"/>
                            </a:solidFill>
                            <a:latin typeface="Cambria Math" panose="02040503050406030204" pitchFamily="18" charset="0"/>
                          </a:rPr>
                          <m:t>2</m:t>
                        </m:r>
                      </m:sub>
                    </m:sSub>
                  </m:oMath>
                </a14:m>
                <a:r>
                  <a:rPr lang="zh-CN" altLang="en-US" sz="1600" dirty="0"/>
                  <a:t>，工作节点</a:t>
                </a:r>
                <a:r>
                  <a:rPr lang="en-US" altLang="zh-CN" sz="1600" dirty="0"/>
                  <a:t>3</a:t>
                </a:r>
                <a:r>
                  <a:rPr lang="zh-CN" altLang="en-US" sz="1600" dirty="0"/>
                  <a:t>存</a:t>
                </a:r>
                <a14:m>
                  <m:oMath xmlns:m="http://schemas.openxmlformats.org/officeDocument/2006/math">
                    <m:sSub>
                      <m:sSubPr>
                        <m:ctrlPr>
                          <a:rPr lang="en-US" altLang="zh-CN" sz="1600" b="1" i="1">
                            <a:solidFill>
                              <a:prstClr val="black"/>
                            </a:solidFill>
                            <a:latin typeface="Cambria Math" panose="02040503050406030204" pitchFamily="18" charset="0"/>
                          </a:rPr>
                        </m:ctrlPr>
                      </m:sSubPr>
                      <m:e>
                        <m:r>
                          <a:rPr lang="en-US" altLang="zh-CN" sz="1600" b="1">
                            <a:solidFill>
                              <a:prstClr val="black"/>
                            </a:solidFill>
                            <a:latin typeface="Cambria Math" panose="02040503050406030204" pitchFamily="18" charset="0"/>
                          </a:rPr>
                          <m:t>𝐀</m:t>
                        </m:r>
                      </m:e>
                      <m:sub>
                        <m:r>
                          <a:rPr lang="en-US" altLang="zh-CN" sz="1600" b="1" i="1">
                            <a:solidFill>
                              <a:prstClr val="black"/>
                            </a:solidFill>
                            <a:latin typeface="Cambria Math" panose="02040503050406030204" pitchFamily="18" charset="0"/>
                          </a:rPr>
                          <m:t>𝟏</m:t>
                        </m:r>
                      </m:sub>
                    </m:sSub>
                    <m:r>
                      <a:rPr lang="en-US" altLang="zh-CN" sz="1600" b="1" i="1">
                        <a:solidFill>
                          <a:prstClr val="black"/>
                        </a:solidFill>
                        <a:latin typeface="Cambria Math" panose="02040503050406030204" pitchFamily="18" charset="0"/>
                      </a:rPr>
                      <m:t>+</m:t>
                    </m:r>
                    <m:sSub>
                      <m:sSubPr>
                        <m:ctrlPr>
                          <a:rPr lang="en-US" altLang="zh-CN" sz="1600" b="1" i="1">
                            <a:solidFill>
                              <a:prstClr val="black"/>
                            </a:solidFill>
                            <a:latin typeface="Cambria Math" panose="02040503050406030204" pitchFamily="18" charset="0"/>
                          </a:rPr>
                        </m:ctrlPr>
                      </m:sSubPr>
                      <m:e>
                        <m:r>
                          <a:rPr lang="en-US" altLang="zh-CN" sz="1600" b="1">
                            <a:solidFill>
                              <a:prstClr val="black"/>
                            </a:solidFill>
                            <a:latin typeface="Cambria Math" panose="02040503050406030204" pitchFamily="18" charset="0"/>
                          </a:rPr>
                          <m:t>𝐀</m:t>
                        </m:r>
                      </m:e>
                      <m:sub>
                        <m:r>
                          <a:rPr lang="en-US" altLang="zh-CN" sz="1600" b="1" i="1">
                            <a:solidFill>
                              <a:prstClr val="black"/>
                            </a:solidFill>
                            <a:latin typeface="Cambria Math" panose="02040503050406030204" pitchFamily="18" charset="0"/>
                          </a:rPr>
                          <m:t>2</m:t>
                        </m:r>
                      </m:sub>
                    </m:sSub>
                  </m:oMath>
                </a14:m>
                <a:endParaRPr lang="en-US" altLang="zh-CN" sz="1600" dirty="0"/>
              </a:p>
              <a:p>
                <a:pPr marL="288000" indent="-288000">
                  <a:lnSpc>
                    <a:spcPts val="2500"/>
                  </a:lnSpc>
                  <a:buFont typeface="Arial" panose="020B0604020202020204" pitchFamily="34" charset="0"/>
                  <a:buChar char="•"/>
                </a:pPr>
                <a:r>
                  <a:rPr lang="zh-CN" altLang="en-US" sz="1600" dirty="0"/>
                  <a:t>当节点</a:t>
                </a:r>
                <a:r>
                  <a:rPr lang="en-US" altLang="zh-CN" sz="1600" dirty="0"/>
                  <a:t>1</a:t>
                </a:r>
                <a:r>
                  <a:rPr lang="zh-CN" altLang="en-US" sz="1600" dirty="0"/>
                  <a:t>和节点</a:t>
                </a:r>
                <a:r>
                  <a:rPr lang="en-US" altLang="zh-CN" sz="1600" dirty="0"/>
                  <a:t>3</a:t>
                </a:r>
                <a:r>
                  <a:rPr lang="zh-CN" altLang="en-US" sz="1600" dirty="0"/>
                  <a:t>率先返回运算结果</a:t>
                </a:r>
                <a14:m>
                  <m:oMath xmlns:m="http://schemas.openxmlformats.org/officeDocument/2006/math">
                    <m:sSub>
                      <m:sSubPr>
                        <m:ctrlPr>
                          <a:rPr lang="en-US" altLang="zh-CN" sz="1600" b="1" i="1">
                            <a:solidFill>
                              <a:prstClr val="black"/>
                            </a:solidFill>
                            <a:latin typeface="Cambria Math" panose="02040503050406030204" pitchFamily="18" charset="0"/>
                          </a:rPr>
                        </m:ctrlPr>
                      </m:sSubPr>
                      <m:e>
                        <m:r>
                          <a:rPr lang="en-US" altLang="zh-CN" sz="1600" b="1">
                            <a:solidFill>
                              <a:prstClr val="black"/>
                            </a:solidFill>
                            <a:latin typeface="Cambria Math" panose="02040503050406030204" pitchFamily="18" charset="0"/>
                          </a:rPr>
                          <m:t>𝐀</m:t>
                        </m:r>
                      </m:e>
                      <m:sub>
                        <m:r>
                          <a:rPr lang="en-US" altLang="zh-CN" sz="1600" b="1" i="1">
                            <a:solidFill>
                              <a:prstClr val="black"/>
                            </a:solidFill>
                            <a:latin typeface="Cambria Math" panose="02040503050406030204" pitchFamily="18" charset="0"/>
                          </a:rPr>
                          <m:t>𝟏</m:t>
                        </m:r>
                      </m:sub>
                    </m:sSub>
                    <m:r>
                      <a:rPr lang="en-US" altLang="zh-CN" sz="1600" b="1" i="0" smtClean="0">
                        <a:solidFill>
                          <a:prstClr val="black"/>
                        </a:solidFill>
                        <a:latin typeface="Cambria Math" panose="02040503050406030204" pitchFamily="18" charset="0"/>
                      </a:rPr>
                      <m:t>𝐗</m:t>
                    </m:r>
                  </m:oMath>
                </a14:m>
                <a:r>
                  <a:rPr lang="zh-CN" altLang="en-US" sz="1600" dirty="0"/>
                  <a:t>和</a:t>
                </a:r>
                <a14:m>
                  <m:oMath xmlns:m="http://schemas.openxmlformats.org/officeDocument/2006/math">
                    <m:d>
                      <m:dPr>
                        <m:ctrlPr>
                          <a:rPr lang="en-US" altLang="zh-CN" sz="1600" b="1" i="1" smtClean="0">
                            <a:solidFill>
                              <a:prstClr val="black"/>
                            </a:solidFill>
                            <a:latin typeface="Cambria Math" panose="02040503050406030204" pitchFamily="18" charset="0"/>
                          </a:rPr>
                        </m:ctrlPr>
                      </m:dPr>
                      <m:e>
                        <m:sSub>
                          <m:sSubPr>
                            <m:ctrlPr>
                              <a:rPr lang="en-US" altLang="zh-CN" sz="1600" b="1" i="1">
                                <a:solidFill>
                                  <a:prstClr val="black"/>
                                </a:solidFill>
                                <a:latin typeface="Cambria Math" panose="02040503050406030204" pitchFamily="18" charset="0"/>
                              </a:rPr>
                            </m:ctrlPr>
                          </m:sSubPr>
                          <m:e>
                            <m:r>
                              <a:rPr lang="en-US" altLang="zh-CN" sz="1600" b="1">
                                <a:solidFill>
                                  <a:prstClr val="black"/>
                                </a:solidFill>
                                <a:latin typeface="Cambria Math" panose="02040503050406030204" pitchFamily="18" charset="0"/>
                              </a:rPr>
                              <m:t>𝐀</m:t>
                            </m:r>
                          </m:e>
                          <m:sub>
                            <m:r>
                              <a:rPr lang="en-US" altLang="zh-CN" sz="1600" b="1" i="1">
                                <a:solidFill>
                                  <a:prstClr val="black"/>
                                </a:solidFill>
                                <a:latin typeface="Cambria Math" panose="02040503050406030204" pitchFamily="18" charset="0"/>
                              </a:rPr>
                              <m:t>𝟏</m:t>
                            </m:r>
                          </m:sub>
                        </m:sSub>
                        <m:r>
                          <a:rPr lang="en-US" altLang="zh-CN" sz="1600" b="1" i="1" smtClean="0">
                            <a:solidFill>
                              <a:prstClr val="black"/>
                            </a:solidFill>
                            <a:latin typeface="Cambria Math" panose="02040503050406030204" pitchFamily="18" charset="0"/>
                          </a:rPr>
                          <m:t>+</m:t>
                        </m:r>
                        <m:sSub>
                          <m:sSubPr>
                            <m:ctrlPr>
                              <a:rPr lang="en-US" altLang="zh-CN" sz="1600" b="1" i="1">
                                <a:solidFill>
                                  <a:prstClr val="black"/>
                                </a:solidFill>
                                <a:latin typeface="Cambria Math" panose="02040503050406030204" pitchFamily="18" charset="0"/>
                              </a:rPr>
                            </m:ctrlPr>
                          </m:sSubPr>
                          <m:e>
                            <m:r>
                              <a:rPr lang="en-US" altLang="zh-CN" sz="1600" b="1">
                                <a:solidFill>
                                  <a:prstClr val="black"/>
                                </a:solidFill>
                                <a:latin typeface="Cambria Math" panose="02040503050406030204" pitchFamily="18" charset="0"/>
                              </a:rPr>
                              <m:t>𝐀</m:t>
                            </m:r>
                          </m:e>
                          <m:sub>
                            <m:r>
                              <a:rPr lang="en-US" altLang="zh-CN" sz="1600" b="1" i="1" smtClean="0">
                                <a:solidFill>
                                  <a:prstClr val="black"/>
                                </a:solidFill>
                                <a:latin typeface="Cambria Math" panose="02040503050406030204" pitchFamily="18" charset="0"/>
                              </a:rPr>
                              <m:t>𝟐</m:t>
                            </m:r>
                          </m:sub>
                        </m:sSub>
                      </m:e>
                    </m:d>
                    <m:r>
                      <a:rPr lang="en-US" altLang="zh-CN" sz="1600" b="1">
                        <a:solidFill>
                          <a:prstClr val="black"/>
                        </a:solidFill>
                        <a:latin typeface="Cambria Math" panose="02040503050406030204" pitchFamily="18" charset="0"/>
                      </a:rPr>
                      <m:t>𝐗</m:t>
                    </m:r>
                    <m:r>
                      <a:rPr lang="zh-CN" altLang="en-US" sz="1600" b="1" i="1" smtClean="0">
                        <a:solidFill>
                          <a:prstClr val="black"/>
                        </a:solidFill>
                        <a:latin typeface="Cambria Math" panose="02040503050406030204" pitchFamily="18" charset="0"/>
                      </a:rPr>
                      <m:t>给</m:t>
                    </m:r>
                  </m:oMath>
                </a14:m>
                <a:r>
                  <a:rPr lang="zh-CN" altLang="en-US" sz="1600" dirty="0"/>
                  <a:t>主节点，主</a:t>
                </a:r>
                <a:br>
                  <a:rPr lang="en-US" altLang="zh-CN" sz="1600" dirty="0"/>
                </a:br>
                <a:r>
                  <a:rPr lang="zh-CN" altLang="en-US" sz="1600" dirty="0"/>
                  <a:t>节点可通过减法运算得到</a:t>
                </a:r>
                <a14:m>
                  <m:oMath xmlns:m="http://schemas.openxmlformats.org/officeDocument/2006/math">
                    <m:sSub>
                      <m:sSubPr>
                        <m:ctrlPr>
                          <a:rPr lang="en-US" altLang="zh-CN" sz="1600" b="1" i="1">
                            <a:solidFill>
                              <a:prstClr val="black"/>
                            </a:solidFill>
                            <a:latin typeface="Cambria Math" panose="02040503050406030204" pitchFamily="18" charset="0"/>
                          </a:rPr>
                        </m:ctrlPr>
                      </m:sSubPr>
                      <m:e>
                        <m:r>
                          <a:rPr lang="en-US" altLang="zh-CN" sz="1600" b="1">
                            <a:solidFill>
                              <a:prstClr val="black"/>
                            </a:solidFill>
                            <a:latin typeface="Cambria Math" panose="02040503050406030204" pitchFamily="18" charset="0"/>
                          </a:rPr>
                          <m:t>𝐀</m:t>
                        </m:r>
                      </m:e>
                      <m:sub>
                        <m:r>
                          <a:rPr lang="en-US" altLang="zh-CN" sz="1600" b="1" i="1">
                            <a:solidFill>
                              <a:prstClr val="black"/>
                            </a:solidFill>
                            <a:latin typeface="Cambria Math" panose="02040503050406030204" pitchFamily="18" charset="0"/>
                          </a:rPr>
                          <m:t>2</m:t>
                        </m:r>
                      </m:sub>
                    </m:sSub>
                    <m:r>
                      <a:rPr lang="en-US" altLang="zh-CN" sz="1600" b="1">
                        <a:solidFill>
                          <a:prstClr val="black"/>
                        </a:solidFill>
                        <a:latin typeface="Cambria Math" panose="02040503050406030204" pitchFamily="18" charset="0"/>
                      </a:rPr>
                      <m:t>𝐗</m:t>
                    </m:r>
                  </m:oMath>
                </a14:m>
                <a:r>
                  <a:rPr lang="zh-CN" altLang="en-US" sz="1600" dirty="0"/>
                  <a:t>，进而还原出</a:t>
                </a:r>
                <a14:m>
                  <m:oMath xmlns:m="http://schemas.openxmlformats.org/officeDocument/2006/math">
                    <m:r>
                      <a:rPr lang="en-US" altLang="zh-CN" sz="1600" b="1">
                        <a:solidFill>
                          <a:prstClr val="black"/>
                        </a:solidFill>
                        <a:latin typeface="Cambria Math" panose="02040503050406030204" pitchFamily="18" charset="0"/>
                      </a:rPr>
                      <m:t>𝐀𝐗</m:t>
                    </m:r>
                  </m:oMath>
                </a14:m>
                <a:endParaRPr lang="en-US" altLang="zh-CN" sz="1600" dirty="0"/>
              </a:p>
            </p:txBody>
          </p:sp>
        </mc:Choice>
        <mc:Fallback xmlns="">
          <p:sp>
            <p:nvSpPr>
              <p:cNvPr id="2" name="文本框 1">
                <a:extLst>
                  <a:ext uri="{FF2B5EF4-FFF2-40B4-BE49-F238E27FC236}">
                    <a16:creationId xmlns:a16="http://schemas.microsoft.com/office/drawing/2014/main" id="{A869762B-3FC4-422B-8D7C-B74731649032}"/>
                  </a:ext>
                </a:extLst>
              </p:cNvPr>
              <p:cNvSpPr txBox="1">
                <a:spLocks noRot="1" noChangeAspect="1" noMove="1" noResize="1" noEditPoints="1" noAdjustHandles="1" noChangeArrowheads="1" noChangeShapeType="1" noTextEdit="1"/>
              </p:cNvSpPr>
              <p:nvPr/>
            </p:nvSpPr>
            <p:spPr>
              <a:xfrm>
                <a:off x="155448" y="832104"/>
                <a:ext cx="11868912" cy="5351786"/>
              </a:xfrm>
              <a:prstGeom prst="rect">
                <a:avLst/>
              </a:prstGeom>
              <a:blipFill>
                <a:blip r:embed="rId3"/>
                <a:stretch>
                  <a:fillRect l="-462" t="-684" b="-570"/>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8E23D919-F2D6-4914-8EE1-39C679E07E9B}"/>
              </a:ext>
            </a:extLst>
          </p:cNvPr>
          <p:cNvSpPr/>
          <p:nvPr/>
        </p:nvSpPr>
        <p:spPr>
          <a:xfrm>
            <a:off x="155448" y="2053616"/>
            <a:ext cx="6424489" cy="4690872"/>
          </a:xfrm>
          <a:prstGeom prst="rect">
            <a:avLst/>
          </a:prstGeom>
          <a:noFill/>
          <a:ln w="28575">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a:extLst>
              <a:ext uri="{FF2B5EF4-FFF2-40B4-BE49-F238E27FC236}">
                <a16:creationId xmlns:a16="http://schemas.microsoft.com/office/drawing/2014/main" id="{4196D7C0-05E6-4BFA-96E1-E78303287CB9}"/>
              </a:ext>
            </a:extLst>
          </p:cNvPr>
          <p:cNvSpPr/>
          <p:nvPr/>
        </p:nvSpPr>
        <p:spPr>
          <a:xfrm>
            <a:off x="6579937" y="2053616"/>
            <a:ext cx="5444424" cy="4690872"/>
          </a:xfrm>
          <a:prstGeom prst="rect">
            <a:avLst/>
          </a:prstGeom>
          <a:noFill/>
          <a:ln w="28575">
            <a:solidFill>
              <a:schemeClr val="tx1"/>
            </a:solidFill>
            <a:prstDash val="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6" name="图片 5">
            <a:extLst>
              <a:ext uri="{FF2B5EF4-FFF2-40B4-BE49-F238E27FC236}">
                <a16:creationId xmlns:a16="http://schemas.microsoft.com/office/drawing/2014/main" id="{6312A320-D350-4EAE-87A5-806CBCC34585}"/>
              </a:ext>
            </a:extLst>
          </p:cNvPr>
          <p:cNvPicPr>
            <a:picLocks noChangeAspect="1"/>
          </p:cNvPicPr>
          <p:nvPr/>
        </p:nvPicPr>
        <p:blipFill>
          <a:blip r:embed="rId4"/>
          <a:stretch>
            <a:fillRect/>
          </a:stretch>
        </p:blipFill>
        <p:spPr>
          <a:xfrm>
            <a:off x="252090" y="3052578"/>
            <a:ext cx="6231203" cy="1262601"/>
          </a:xfrm>
          <a:prstGeom prst="rect">
            <a:avLst/>
          </a:prstGeom>
        </p:spPr>
      </p:pic>
      <p:sp>
        <p:nvSpPr>
          <p:cNvPr id="12" name="文本框 11">
            <a:extLst>
              <a:ext uri="{FF2B5EF4-FFF2-40B4-BE49-F238E27FC236}">
                <a16:creationId xmlns:a16="http://schemas.microsoft.com/office/drawing/2014/main" id="{84EF9D48-B1F8-431A-B393-17DBD5612CB1}"/>
              </a:ext>
            </a:extLst>
          </p:cNvPr>
          <p:cNvSpPr txBox="1"/>
          <p:nvPr/>
        </p:nvSpPr>
        <p:spPr>
          <a:xfrm>
            <a:off x="331884" y="4315179"/>
            <a:ext cx="6071617" cy="377026"/>
          </a:xfrm>
          <a:prstGeom prst="rect">
            <a:avLst/>
          </a:prstGeom>
          <a:noFill/>
        </p:spPr>
        <p:txBody>
          <a:bodyPr wrap="square" rtlCol="0">
            <a:spAutoFit/>
          </a:bodyPr>
          <a:lstStyle/>
          <a:p>
            <a:pPr algn="ctr">
              <a:lnSpc>
                <a:spcPct val="150000"/>
              </a:lnSpc>
            </a:pPr>
            <a:r>
              <a:rPr lang="zh-CN" altLang="en-US" sz="1400" dirty="0"/>
              <a:t>三个工作节点中任意两个节点即可使主节点还原矩阵运算结果</a:t>
            </a:r>
            <a:endParaRPr lang="en-US" altLang="zh-CN" sz="1400" dirty="0"/>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927A417C-0704-4ABA-8E97-4971A4CED641}"/>
                  </a:ext>
                </a:extLst>
              </p:cNvPr>
              <p:cNvSpPr txBox="1"/>
              <p:nvPr/>
            </p:nvSpPr>
            <p:spPr>
              <a:xfrm>
                <a:off x="6619146" y="2071192"/>
                <a:ext cx="5405214" cy="2868606"/>
              </a:xfrm>
              <a:prstGeom prst="rect">
                <a:avLst/>
              </a:prstGeom>
              <a:noFill/>
            </p:spPr>
            <p:txBody>
              <a:bodyPr wrap="square" rtlCol="0">
                <a:spAutoFit/>
              </a:bodyPr>
              <a:lstStyle/>
              <a:p>
                <a:pPr marL="285750" indent="-285750">
                  <a:lnSpc>
                    <a:spcPts val="2300"/>
                  </a:lnSpc>
                  <a:buFont typeface="Wingdings" panose="05000000000000000000" pitchFamily="2" charset="2"/>
                  <a:buChar char="p"/>
                </a:pPr>
                <a:r>
                  <a:rPr lang="zh-CN" altLang="en-US" sz="1600" b="1" dirty="0"/>
                  <a:t>主要结果（</a:t>
                </a:r>
                <a14:m>
                  <m:oMath xmlns:m="http://schemas.openxmlformats.org/officeDocument/2006/math">
                    <m:r>
                      <a:rPr lang="en-US" altLang="zh-CN" sz="1600" b="1" i="1" smtClean="0">
                        <a:latin typeface="Cambria Math" panose="02040503050406030204" pitchFamily="18" charset="0"/>
                      </a:rPr>
                      <m:t>𝒏</m:t>
                    </m:r>
                  </m:oMath>
                </a14:m>
                <a:r>
                  <a:rPr lang="zh-CN" altLang="en-US" sz="1600" b="1" dirty="0"/>
                  <a:t>个工作节点，假设可解码子集均有</a:t>
                </a:r>
                <a14:m>
                  <m:oMath xmlns:m="http://schemas.openxmlformats.org/officeDocument/2006/math">
                    <m:r>
                      <a:rPr lang="en-US" altLang="zh-CN" sz="1600" b="1" i="1" smtClean="0">
                        <a:latin typeface="Cambria Math" panose="02040503050406030204" pitchFamily="18" charset="0"/>
                      </a:rPr>
                      <m:t>𝒌</m:t>
                    </m:r>
                  </m:oMath>
                </a14:m>
                <a:r>
                  <a:rPr lang="zh-CN" altLang="en-US" sz="1600" b="1" dirty="0"/>
                  <a:t>个节点）</a:t>
                </a:r>
                <a:endParaRPr lang="en-US" altLang="zh-CN" sz="1600" b="1" dirty="0"/>
              </a:p>
              <a:p>
                <a:pPr marL="360000" lvl="1" indent="-285750">
                  <a:lnSpc>
                    <a:spcPct val="150000"/>
                  </a:lnSpc>
                  <a:buFont typeface="Wingdings" panose="05000000000000000000" pitchFamily="2" charset="2"/>
                  <a:buChar char="Ø"/>
                </a:pPr>
                <a:r>
                  <a:rPr lang="zh-CN" altLang="en-US" sz="1600" dirty="0">
                    <a:solidFill>
                      <a:prstClr val="black"/>
                    </a:solidFill>
                  </a:rPr>
                  <a:t>时间建模</a:t>
                </a:r>
                <a:endParaRPr lang="en-US" altLang="zh-CN" sz="1600" dirty="0">
                  <a:solidFill>
                    <a:prstClr val="black"/>
                  </a:solidFill>
                </a:endParaRPr>
              </a:p>
              <a:p>
                <a:pPr>
                  <a:lnSpc>
                    <a:spcPts val="2300"/>
                  </a:lnSpc>
                </a:pPr>
                <a:endParaRPr lang="en-US" altLang="zh-CN" sz="1600" b="1" dirty="0"/>
              </a:p>
              <a:p>
                <a:pPr>
                  <a:lnSpc>
                    <a:spcPts val="2300"/>
                  </a:lnSpc>
                </a:pPr>
                <a:endParaRPr lang="en-US" altLang="zh-CN" sz="1600" b="1" dirty="0"/>
              </a:p>
              <a:p>
                <a:pPr>
                  <a:lnSpc>
                    <a:spcPts val="2300"/>
                  </a:lnSpc>
                </a:pPr>
                <a:endParaRPr lang="en-US" altLang="zh-CN" sz="1600" b="1" dirty="0"/>
              </a:p>
              <a:p>
                <a:pPr>
                  <a:lnSpc>
                    <a:spcPts val="2300"/>
                  </a:lnSpc>
                </a:pPr>
                <a:endParaRPr lang="en-US" altLang="zh-CN" sz="1600" b="1" dirty="0"/>
              </a:p>
              <a:p>
                <a:pPr>
                  <a:lnSpc>
                    <a:spcPts val="2300"/>
                  </a:lnSpc>
                </a:pPr>
                <a:endParaRPr lang="en-US" altLang="zh-CN" sz="1600" b="1" dirty="0"/>
              </a:p>
              <a:p>
                <a:pPr marL="360000" lvl="1" indent="-285750">
                  <a:lnSpc>
                    <a:spcPct val="150000"/>
                  </a:lnSpc>
                  <a:buFont typeface="Wingdings" panose="05000000000000000000" pitchFamily="2" charset="2"/>
                  <a:buChar char="Ø"/>
                </a:pPr>
                <a:r>
                  <a:rPr lang="zh-CN" altLang="en-US" sz="1600" dirty="0">
                    <a:solidFill>
                      <a:prstClr val="black"/>
                    </a:solidFill>
                  </a:rPr>
                  <a:t>基于</a:t>
                </a:r>
                <a:r>
                  <a:rPr lang="zh-CN" altLang="en-US" sz="1600" dirty="0">
                    <a:solidFill>
                      <a:srgbClr val="FF0000"/>
                    </a:solidFill>
                  </a:rPr>
                  <a:t>次序统计量</a:t>
                </a:r>
                <a:r>
                  <a:rPr lang="zh-CN" altLang="en-US" sz="1600" dirty="0">
                    <a:solidFill>
                      <a:prstClr val="black"/>
                    </a:solidFill>
                  </a:rPr>
                  <a:t>，</a:t>
                </a:r>
                <a:r>
                  <a:rPr lang="zh-CN" altLang="en-US" sz="1600" dirty="0">
                    <a:solidFill>
                      <a:srgbClr val="FF0000"/>
                    </a:solidFill>
                  </a:rPr>
                  <a:t>移位指数分布</a:t>
                </a:r>
                <a:r>
                  <a:rPr lang="zh-CN" altLang="en-US" sz="1600" dirty="0">
                    <a:solidFill>
                      <a:prstClr val="black"/>
                    </a:solidFill>
                  </a:rPr>
                  <a:t>下的时延分析</a:t>
                </a:r>
                <a:endParaRPr lang="en-US" altLang="zh-CN" sz="1600" dirty="0">
                  <a:solidFill>
                    <a:prstClr val="black"/>
                  </a:solidFill>
                </a:endParaRPr>
              </a:p>
              <a:p>
                <a:pPr>
                  <a:lnSpc>
                    <a:spcPts val="2300"/>
                  </a:lnSpc>
                </a:pPr>
                <a:endParaRPr lang="en-US" altLang="zh-CN" sz="1600" b="1" dirty="0"/>
              </a:p>
            </p:txBody>
          </p:sp>
        </mc:Choice>
        <mc:Fallback xmlns="">
          <p:sp>
            <p:nvSpPr>
              <p:cNvPr id="13" name="文本框 12">
                <a:extLst>
                  <a:ext uri="{FF2B5EF4-FFF2-40B4-BE49-F238E27FC236}">
                    <a16:creationId xmlns:a16="http://schemas.microsoft.com/office/drawing/2014/main" id="{927A417C-0704-4ABA-8E97-4971A4CED641}"/>
                  </a:ext>
                </a:extLst>
              </p:cNvPr>
              <p:cNvSpPr txBox="1">
                <a:spLocks noRot="1" noChangeAspect="1" noMove="1" noResize="1" noEditPoints="1" noAdjustHandles="1" noChangeArrowheads="1" noChangeShapeType="1" noTextEdit="1"/>
              </p:cNvSpPr>
              <p:nvPr/>
            </p:nvSpPr>
            <p:spPr>
              <a:xfrm>
                <a:off x="6619146" y="2071192"/>
                <a:ext cx="5405214" cy="2868606"/>
              </a:xfrm>
              <a:prstGeom prst="rect">
                <a:avLst/>
              </a:prstGeom>
              <a:blipFill>
                <a:blip r:embed="rId5"/>
                <a:stretch>
                  <a:fillRect l="-451" r="-4397"/>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ED99456B-9B47-45EC-A2DB-28428133523D}"/>
              </a:ext>
            </a:extLst>
          </p:cNvPr>
          <p:cNvPicPr>
            <a:picLocks noChangeAspect="1"/>
          </p:cNvPicPr>
          <p:nvPr/>
        </p:nvPicPr>
        <p:blipFill>
          <a:blip r:embed="rId6"/>
          <a:stretch>
            <a:fillRect/>
          </a:stretch>
        </p:blipFill>
        <p:spPr>
          <a:xfrm>
            <a:off x="6756373" y="2784893"/>
            <a:ext cx="3604641" cy="388102"/>
          </a:xfrm>
          <a:prstGeom prst="rect">
            <a:avLst/>
          </a:prstGeom>
        </p:spPr>
      </p:pic>
      <p:pic>
        <p:nvPicPr>
          <p:cNvPr id="14" name="图片 13">
            <a:extLst>
              <a:ext uri="{FF2B5EF4-FFF2-40B4-BE49-F238E27FC236}">
                <a16:creationId xmlns:a16="http://schemas.microsoft.com/office/drawing/2014/main" id="{230B7B56-75A7-457D-AB87-AEFC82480D73}"/>
              </a:ext>
            </a:extLst>
          </p:cNvPr>
          <p:cNvPicPr>
            <a:picLocks noChangeAspect="1"/>
          </p:cNvPicPr>
          <p:nvPr/>
        </p:nvPicPr>
        <p:blipFill>
          <a:blip r:embed="rId7"/>
          <a:stretch>
            <a:fillRect/>
          </a:stretch>
        </p:blipFill>
        <p:spPr>
          <a:xfrm>
            <a:off x="6741836" y="3152156"/>
            <a:ext cx="2959227" cy="474938"/>
          </a:xfrm>
          <a:prstGeom prst="rect">
            <a:avLst/>
          </a:prstGeom>
        </p:spPr>
      </p:pic>
      <p:pic>
        <p:nvPicPr>
          <p:cNvPr id="15" name="图片 14">
            <a:extLst>
              <a:ext uri="{FF2B5EF4-FFF2-40B4-BE49-F238E27FC236}">
                <a16:creationId xmlns:a16="http://schemas.microsoft.com/office/drawing/2014/main" id="{0D938A53-0D2B-40A8-9AB3-52799044BDC1}"/>
              </a:ext>
            </a:extLst>
          </p:cNvPr>
          <p:cNvPicPr>
            <a:picLocks noChangeAspect="1"/>
          </p:cNvPicPr>
          <p:nvPr/>
        </p:nvPicPr>
        <p:blipFill>
          <a:blip r:embed="rId8"/>
          <a:stretch>
            <a:fillRect/>
          </a:stretch>
        </p:blipFill>
        <p:spPr>
          <a:xfrm>
            <a:off x="6703620" y="3613586"/>
            <a:ext cx="1758445" cy="400658"/>
          </a:xfrm>
          <a:prstGeom prst="rect">
            <a:avLst/>
          </a:prstGeom>
        </p:spPr>
      </p:pic>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AA0AC907-3F81-4595-8F76-226309E09775}"/>
                  </a:ext>
                </a:extLst>
              </p:cNvPr>
              <p:cNvSpPr/>
              <p:nvPr/>
            </p:nvSpPr>
            <p:spPr>
              <a:xfrm>
                <a:off x="7266795" y="6138757"/>
                <a:ext cx="4000647" cy="369332"/>
              </a:xfrm>
              <a:prstGeom prst="rect">
                <a:avLst/>
              </a:prstGeom>
            </p:spPr>
            <p:txBody>
              <a:bodyPr wrap="none">
                <a:spAutoFit/>
              </a:bodyPr>
              <a:lstStyle/>
              <a:p>
                <a:pPr algn="ctr"/>
                <a:r>
                  <a:rPr lang="en-US" altLang="zh-CN" b="1" dirty="0"/>
                  <a:t>MDS</a:t>
                </a:r>
                <a:r>
                  <a:rPr lang="zh-CN" altLang="en-US" b="1" dirty="0"/>
                  <a:t>码可让总体时间减少</a:t>
                </a:r>
                <a14:m>
                  <m:oMath xmlns:m="http://schemas.openxmlformats.org/officeDocument/2006/math">
                    <m:r>
                      <a:rPr lang="en-US" altLang="zh-CN" b="1" i="0" smtClean="0">
                        <a:latin typeface="Cambria Math" panose="02040503050406030204" pitchFamily="18" charset="0"/>
                      </a:rPr>
                      <m:t>𝚯</m:t>
                    </m:r>
                    <m:d>
                      <m:dPr>
                        <m:ctrlPr>
                          <a:rPr lang="en-US" altLang="zh-CN" b="1" i="1" smtClean="0">
                            <a:latin typeface="Cambria Math" panose="02040503050406030204" pitchFamily="18" charset="0"/>
                          </a:rPr>
                        </m:ctrlPr>
                      </m:dPr>
                      <m:e>
                        <m:r>
                          <a:rPr lang="en-US" altLang="zh-CN" b="1" i="0" smtClean="0">
                            <a:latin typeface="Cambria Math" panose="02040503050406030204" pitchFamily="18" charset="0"/>
                          </a:rPr>
                          <m:t>𝐥𝐨𝐠</m:t>
                        </m:r>
                        <m:r>
                          <a:rPr lang="en-US" altLang="zh-CN" b="1" i="0" smtClean="0">
                            <a:latin typeface="Cambria Math" panose="02040503050406030204" pitchFamily="18" charset="0"/>
                          </a:rPr>
                          <m:t> </m:t>
                        </m:r>
                        <m:r>
                          <a:rPr lang="en-US" altLang="zh-CN" b="1" i="1" smtClean="0">
                            <a:latin typeface="Cambria Math" panose="02040503050406030204" pitchFamily="18" charset="0"/>
                          </a:rPr>
                          <m:t>𝒏</m:t>
                        </m:r>
                      </m:e>
                    </m:d>
                  </m:oMath>
                </a14:m>
                <a:r>
                  <a:rPr lang="zh-CN" altLang="en-US" b="1" dirty="0"/>
                  <a:t>倍</a:t>
                </a:r>
                <a:endParaRPr lang="en-US" altLang="zh-CN" b="1" dirty="0"/>
              </a:p>
            </p:txBody>
          </p:sp>
        </mc:Choice>
        <mc:Fallback xmlns="">
          <p:sp>
            <p:nvSpPr>
              <p:cNvPr id="19" name="矩形 18">
                <a:extLst>
                  <a:ext uri="{FF2B5EF4-FFF2-40B4-BE49-F238E27FC236}">
                    <a16:creationId xmlns:a16="http://schemas.microsoft.com/office/drawing/2014/main" id="{AA0AC907-3F81-4595-8F76-226309E09775}"/>
                  </a:ext>
                </a:extLst>
              </p:cNvPr>
              <p:cNvSpPr>
                <a:spLocks noRot="1" noChangeAspect="1" noMove="1" noResize="1" noEditPoints="1" noAdjustHandles="1" noChangeArrowheads="1" noChangeShapeType="1" noTextEdit="1"/>
              </p:cNvSpPr>
              <p:nvPr/>
            </p:nvSpPr>
            <p:spPr>
              <a:xfrm>
                <a:off x="7266795" y="6138757"/>
                <a:ext cx="4000647" cy="369332"/>
              </a:xfrm>
              <a:prstGeom prst="rect">
                <a:avLst/>
              </a:prstGeom>
              <a:blipFill>
                <a:blip r:embed="rId9"/>
                <a:stretch>
                  <a:fillRect t="-8197" b="-24590"/>
                </a:stretch>
              </a:blipFill>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26F90C2F-30B2-4555-9026-F4A8BD6C8D0D}"/>
              </a:ext>
            </a:extLst>
          </p:cNvPr>
          <p:cNvSpPr txBox="1"/>
          <p:nvPr/>
        </p:nvSpPr>
        <p:spPr>
          <a:xfrm>
            <a:off x="10443028" y="2840352"/>
            <a:ext cx="1261884" cy="307777"/>
          </a:xfrm>
          <a:prstGeom prst="rect">
            <a:avLst/>
          </a:prstGeom>
          <a:noFill/>
        </p:spPr>
        <p:txBody>
          <a:bodyPr wrap="none" rtlCol="0">
            <a:spAutoFit/>
          </a:bodyPr>
          <a:lstStyle/>
          <a:p>
            <a:r>
              <a:rPr lang="zh-CN" altLang="en-US" sz="1400" dirty="0"/>
              <a:t>等待全部节点</a:t>
            </a:r>
            <a:endParaRPr lang="zh-CN" altLang="en-US" sz="1600" dirty="0"/>
          </a:p>
        </p:txBody>
      </p:sp>
      <p:sp>
        <p:nvSpPr>
          <p:cNvPr id="22" name="文本框 21">
            <a:extLst>
              <a:ext uri="{FF2B5EF4-FFF2-40B4-BE49-F238E27FC236}">
                <a16:creationId xmlns:a16="http://schemas.microsoft.com/office/drawing/2014/main" id="{9FA992E5-B4D0-4368-8681-8D1C03F21259}"/>
              </a:ext>
            </a:extLst>
          </p:cNvPr>
          <p:cNvSpPr txBox="1"/>
          <p:nvPr/>
        </p:nvSpPr>
        <p:spPr>
          <a:xfrm>
            <a:off x="9739279" y="3235736"/>
            <a:ext cx="1890261" cy="307777"/>
          </a:xfrm>
          <a:prstGeom prst="rect">
            <a:avLst/>
          </a:prstGeom>
          <a:noFill/>
        </p:spPr>
        <p:txBody>
          <a:bodyPr wrap="none" rtlCol="0">
            <a:spAutoFit/>
          </a:bodyPr>
          <a:lstStyle/>
          <a:p>
            <a:r>
              <a:rPr lang="zh-CN" altLang="en-US" sz="1400" dirty="0"/>
              <a:t>重复码：特定</a:t>
            </a:r>
            <a:r>
              <a:rPr lang="en-US" altLang="zh-CN" sz="1400" dirty="0"/>
              <a:t>k</a:t>
            </a:r>
            <a:r>
              <a:rPr lang="zh-CN" altLang="en-US" sz="1400" dirty="0"/>
              <a:t>个节点</a:t>
            </a:r>
            <a:endParaRPr lang="zh-CN" altLang="en-US" sz="1600" dirty="0"/>
          </a:p>
        </p:txBody>
      </p:sp>
      <p:sp>
        <p:nvSpPr>
          <p:cNvPr id="23" name="文本框 22">
            <a:extLst>
              <a:ext uri="{FF2B5EF4-FFF2-40B4-BE49-F238E27FC236}">
                <a16:creationId xmlns:a16="http://schemas.microsoft.com/office/drawing/2014/main" id="{4B38D9D2-1E46-4668-A9AC-3B86512445B8}"/>
              </a:ext>
            </a:extLst>
          </p:cNvPr>
          <p:cNvSpPr txBox="1"/>
          <p:nvPr/>
        </p:nvSpPr>
        <p:spPr>
          <a:xfrm>
            <a:off x="8501274" y="3683878"/>
            <a:ext cx="1930337" cy="307777"/>
          </a:xfrm>
          <a:prstGeom prst="rect">
            <a:avLst/>
          </a:prstGeom>
          <a:noFill/>
        </p:spPr>
        <p:txBody>
          <a:bodyPr wrap="none" rtlCol="0">
            <a:spAutoFit/>
          </a:bodyPr>
          <a:lstStyle/>
          <a:p>
            <a:r>
              <a:rPr lang="en-US" altLang="zh-CN" sz="1400" dirty="0"/>
              <a:t>MDS</a:t>
            </a:r>
            <a:r>
              <a:rPr lang="zh-CN" altLang="en-US" sz="1400" dirty="0"/>
              <a:t>码：任意</a:t>
            </a:r>
            <a:r>
              <a:rPr lang="en-US" altLang="zh-CN" sz="1400" dirty="0"/>
              <a:t>k</a:t>
            </a:r>
            <a:r>
              <a:rPr lang="zh-CN" altLang="en-US" sz="1400" dirty="0"/>
              <a:t>个节点</a:t>
            </a:r>
            <a:endParaRPr lang="zh-CN" altLang="en-US" sz="1600" dirty="0"/>
          </a:p>
        </p:txBody>
      </p:sp>
      <p:pic>
        <p:nvPicPr>
          <p:cNvPr id="21" name="图片 20">
            <a:extLst>
              <a:ext uri="{FF2B5EF4-FFF2-40B4-BE49-F238E27FC236}">
                <a16:creationId xmlns:a16="http://schemas.microsoft.com/office/drawing/2014/main" id="{660378E2-FF1D-4431-9270-A18CCA5C3540}"/>
              </a:ext>
            </a:extLst>
          </p:cNvPr>
          <p:cNvPicPr>
            <a:picLocks noChangeAspect="1"/>
          </p:cNvPicPr>
          <p:nvPr/>
        </p:nvPicPr>
        <p:blipFill>
          <a:blip r:embed="rId10"/>
          <a:stretch>
            <a:fillRect/>
          </a:stretch>
        </p:blipFill>
        <p:spPr>
          <a:xfrm>
            <a:off x="6770924" y="4541731"/>
            <a:ext cx="3465036" cy="582171"/>
          </a:xfrm>
          <a:prstGeom prst="rect">
            <a:avLst/>
          </a:prstGeom>
        </p:spPr>
      </p:pic>
      <p:pic>
        <p:nvPicPr>
          <p:cNvPr id="24" name="图片 23">
            <a:extLst>
              <a:ext uri="{FF2B5EF4-FFF2-40B4-BE49-F238E27FC236}">
                <a16:creationId xmlns:a16="http://schemas.microsoft.com/office/drawing/2014/main" id="{D6C9A485-629D-48C0-A230-22CF7F579EC2}"/>
              </a:ext>
            </a:extLst>
          </p:cNvPr>
          <p:cNvPicPr>
            <a:picLocks noChangeAspect="1"/>
          </p:cNvPicPr>
          <p:nvPr/>
        </p:nvPicPr>
        <p:blipFill>
          <a:blip r:embed="rId11"/>
          <a:stretch>
            <a:fillRect/>
          </a:stretch>
        </p:blipFill>
        <p:spPr>
          <a:xfrm>
            <a:off x="6770925" y="5086645"/>
            <a:ext cx="3912376" cy="492040"/>
          </a:xfrm>
          <a:prstGeom prst="rect">
            <a:avLst/>
          </a:prstGeom>
        </p:spPr>
      </p:pic>
      <p:pic>
        <p:nvPicPr>
          <p:cNvPr id="25" name="图片 24">
            <a:extLst>
              <a:ext uri="{FF2B5EF4-FFF2-40B4-BE49-F238E27FC236}">
                <a16:creationId xmlns:a16="http://schemas.microsoft.com/office/drawing/2014/main" id="{D89E6203-668D-41B7-9D90-74FAA78C96CF}"/>
              </a:ext>
            </a:extLst>
          </p:cNvPr>
          <p:cNvPicPr>
            <a:picLocks noChangeAspect="1"/>
          </p:cNvPicPr>
          <p:nvPr/>
        </p:nvPicPr>
        <p:blipFill>
          <a:blip r:embed="rId12"/>
          <a:stretch>
            <a:fillRect/>
          </a:stretch>
        </p:blipFill>
        <p:spPr>
          <a:xfrm>
            <a:off x="6751874" y="5568302"/>
            <a:ext cx="3711041" cy="536040"/>
          </a:xfrm>
          <a:prstGeom prst="rect">
            <a:avLst/>
          </a:prstGeom>
        </p:spPr>
      </p:pic>
      <p:sp>
        <p:nvSpPr>
          <p:cNvPr id="3" name="灯片编号占位符 2">
            <a:extLst>
              <a:ext uri="{FF2B5EF4-FFF2-40B4-BE49-F238E27FC236}">
                <a16:creationId xmlns:a16="http://schemas.microsoft.com/office/drawing/2014/main" id="{4872A383-10BA-4CDA-8971-11E7C438DF8B}"/>
              </a:ext>
            </a:extLst>
          </p:cNvPr>
          <p:cNvSpPr>
            <a:spLocks noGrp="1"/>
          </p:cNvSpPr>
          <p:nvPr>
            <p:ph type="sldNum" sz="quarter" idx="12"/>
          </p:nvPr>
        </p:nvSpPr>
        <p:spPr/>
        <p:txBody>
          <a:bodyPr/>
          <a:lstStyle/>
          <a:p>
            <a:fld id="{B125EA80-F692-46D2-AFCC-CA48803B46EF}" type="slidenum">
              <a:rPr lang="zh-CN" altLang="en-US" smtClean="0"/>
              <a:t>8</a:t>
            </a:fld>
            <a:endParaRPr lang="zh-CN" altLang="en-US" dirty="0"/>
          </a:p>
        </p:txBody>
      </p:sp>
    </p:spTree>
    <p:extLst>
      <p:ext uri="{BB962C8B-B14F-4D97-AF65-F5344CB8AC3E}">
        <p14:creationId xmlns:p14="http://schemas.microsoft.com/office/powerpoint/2010/main" val="3528357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8D2B8C-5F4B-4F53-9772-57647BCD59D8}"/>
              </a:ext>
            </a:extLst>
          </p:cNvPr>
          <p:cNvSpPr>
            <a:spLocks noGrp="1"/>
          </p:cNvSpPr>
          <p:nvPr>
            <p:ph type="ctrTitle"/>
          </p:nvPr>
        </p:nvSpPr>
        <p:spPr>
          <a:xfrm>
            <a:off x="0" y="539496"/>
            <a:ext cx="2350007" cy="535485"/>
          </a:xfrm>
          <a:solidFill>
            <a:srgbClr val="0070C0"/>
          </a:solidFill>
        </p:spPr>
        <p:txBody>
          <a:bodyPr>
            <a:normAutofit fontScale="90000"/>
          </a:bodyPr>
          <a:lstStyle/>
          <a:p>
            <a:pPr>
              <a:lnSpc>
                <a:spcPct val="100000"/>
              </a:lnSpc>
            </a:pPr>
            <a:r>
              <a:rPr lang="zh-CN" altLang="en-US" sz="3600" b="1" dirty="0">
                <a:solidFill>
                  <a:schemeClr val="bg1"/>
                </a:solidFill>
              </a:rPr>
              <a:t>目录</a:t>
            </a:r>
          </a:p>
        </p:txBody>
      </p:sp>
      <p:sp>
        <p:nvSpPr>
          <p:cNvPr id="3" name="文本框 2"/>
          <p:cNvSpPr txBox="1"/>
          <p:nvPr/>
        </p:nvSpPr>
        <p:spPr>
          <a:xfrm>
            <a:off x="1021080" y="1713928"/>
            <a:ext cx="10369296" cy="2796407"/>
          </a:xfrm>
          <a:prstGeom prst="rect">
            <a:avLst/>
          </a:prstGeom>
          <a:noFill/>
        </p:spPr>
        <p:txBody>
          <a:bodyPr wrap="square" rtlCol="0">
            <a:spAutoFit/>
          </a:bodyPr>
          <a:lstStyle/>
          <a:p>
            <a:pPr marL="342900" indent="-342900">
              <a:lnSpc>
                <a:spcPct val="150000"/>
              </a:lnSpc>
              <a:buFont typeface="+mj-lt"/>
              <a:buAutoNum type="arabicPeriod"/>
            </a:pPr>
            <a:r>
              <a:rPr lang="zh-CN" altLang="en-US" sz="2400" b="1" dirty="0"/>
              <a:t>绪论</a:t>
            </a:r>
            <a:endParaRPr lang="en-US" altLang="zh-CN" sz="2400" b="1" dirty="0"/>
          </a:p>
          <a:p>
            <a:pPr marL="342900" indent="-342900">
              <a:lnSpc>
                <a:spcPct val="150000"/>
              </a:lnSpc>
              <a:buFont typeface="+mj-lt"/>
              <a:buAutoNum type="arabicPeriod"/>
            </a:pPr>
            <a:r>
              <a:rPr lang="zh-CN" altLang="en-US" sz="2400" b="1" dirty="0"/>
              <a:t>编码计算基础</a:t>
            </a:r>
            <a:endParaRPr lang="en-US" altLang="zh-CN" sz="2400" b="1" dirty="0"/>
          </a:p>
          <a:p>
            <a:pPr marL="342900" indent="-342900">
              <a:lnSpc>
                <a:spcPct val="150000"/>
              </a:lnSpc>
              <a:buFont typeface="+mj-lt"/>
              <a:buAutoNum type="arabicPeriod"/>
            </a:pPr>
            <a:r>
              <a:rPr lang="zh-CN" altLang="en-US" sz="2400" b="1" dirty="0">
                <a:solidFill>
                  <a:srgbClr val="FF0000"/>
                </a:solidFill>
              </a:rPr>
              <a:t>基于无线接入点的编码分布式矩阵</a:t>
            </a:r>
            <a:r>
              <a:rPr lang="en-US" altLang="zh-CN" sz="2400" b="1" dirty="0">
                <a:solidFill>
                  <a:srgbClr val="FF0000"/>
                </a:solidFill>
              </a:rPr>
              <a:t>-</a:t>
            </a:r>
            <a:r>
              <a:rPr lang="zh-CN" altLang="en-US" sz="2400" b="1" dirty="0">
                <a:solidFill>
                  <a:srgbClr val="FF0000"/>
                </a:solidFill>
              </a:rPr>
              <a:t>矩阵乘法运算框架</a:t>
            </a:r>
            <a:endParaRPr lang="en-US" altLang="zh-CN" sz="2400" b="1" dirty="0">
              <a:solidFill>
                <a:srgbClr val="FF0000"/>
              </a:solidFill>
            </a:endParaRPr>
          </a:p>
          <a:p>
            <a:pPr marL="342900" indent="-342900">
              <a:lnSpc>
                <a:spcPct val="150000"/>
              </a:lnSpc>
              <a:buFont typeface="+mj-lt"/>
              <a:buAutoNum type="arabicPeriod"/>
            </a:pPr>
            <a:r>
              <a:rPr lang="zh-CN" altLang="en-US" sz="2400" b="1" dirty="0"/>
              <a:t>雾网络下基于压缩编码技术的分布式矩阵</a:t>
            </a:r>
            <a:r>
              <a:rPr lang="en-US" altLang="zh-CN" sz="2400" b="1" dirty="0"/>
              <a:t>-</a:t>
            </a:r>
            <a:r>
              <a:rPr lang="zh-CN" altLang="en-US" sz="2400" b="1" dirty="0"/>
              <a:t>向量乘法运算算法</a:t>
            </a:r>
            <a:endParaRPr lang="en-US" altLang="zh-CN" sz="2400" b="1" dirty="0"/>
          </a:p>
          <a:p>
            <a:pPr marL="342900" indent="-342900">
              <a:lnSpc>
                <a:spcPct val="150000"/>
              </a:lnSpc>
              <a:buFont typeface="+mj-lt"/>
              <a:buAutoNum type="arabicPeriod"/>
            </a:pPr>
            <a:r>
              <a:rPr lang="zh-CN" altLang="en-US" sz="2400" b="1" dirty="0"/>
              <a:t>总结</a:t>
            </a:r>
            <a:endParaRPr lang="en-US" altLang="zh-CN" sz="2400" b="1" dirty="0"/>
          </a:p>
        </p:txBody>
      </p:sp>
      <p:sp>
        <p:nvSpPr>
          <p:cNvPr id="4" name="灯片编号占位符 3">
            <a:extLst>
              <a:ext uri="{FF2B5EF4-FFF2-40B4-BE49-F238E27FC236}">
                <a16:creationId xmlns:a16="http://schemas.microsoft.com/office/drawing/2014/main" id="{4C8EE081-C23A-4372-B9C3-AA4B834197B0}"/>
              </a:ext>
            </a:extLst>
          </p:cNvPr>
          <p:cNvSpPr>
            <a:spLocks noGrp="1"/>
          </p:cNvSpPr>
          <p:nvPr>
            <p:ph type="sldNum" sz="quarter" idx="12"/>
          </p:nvPr>
        </p:nvSpPr>
        <p:spPr/>
        <p:txBody>
          <a:bodyPr/>
          <a:lstStyle/>
          <a:p>
            <a:fld id="{B125EA80-F692-46D2-AFCC-CA48803B46EF}" type="slidenum">
              <a:rPr lang="zh-CN" altLang="en-US" smtClean="0"/>
              <a:t>9</a:t>
            </a:fld>
            <a:endParaRPr lang="zh-CN" altLang="en-US" dirty="0"/>
          </a:p>
        </p:txBody>
      </p:sp>
    </p:spTree>
    <p:extLst>
      <p:ext uri="{BB962C8B-B14F-4D97-AF65-F5344CB8AC3E}">
        <p14:creationId xmlns:p14="http://schemas.microsoft.com/office/powerpoint/2010/main" val="4098113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a:lnSpc>
                <a:spcPts val="4400"/>
              </a:lnSpc>
            </a:pPr>
            <a:r>
              <a:rPr lang="en-US" altLang="zh-CN" sz="2800" b="1" dirty="0">
                <a:solidFill>
                  <a:schemeClr val="bg1"/>
                </a:solidFill>
              </a:rPr>
              <a:t> 3. </a:t>
            </a:r>
            <a:r>
              <a:rPr lang="zh-CN" altLang="en-US" sz="2800" b="1" dirty="0">
                <a:solidFill>
                  <a:schemeClr val="bg1"/>
                </a:solidFill>
              </a:rPr>
              <a:t>基于无线接入点的编码分布式矩阵</a:t>
            </a:r>
            <a:r>
              <a:rPr lang="en-US" altLang="zh-CN" sz="2800" b="1" dirty="0">
                <a:solidFill>
                  <a:schemeClr val="bg1"/>
                </a:solidFill>
              </a:rPr>
              <a:t>-</a:t>
            </a:r>
            <a:r>
              <a:rPr lang="zh-CN" altLang="en-US" sz="2800" b="1" dirty="0">
                <a:solidFill>
                  <a:schemeClr val="bg1"/>
                </a:solidFill>
              </a:rPr>
              <a:t>矩阵乘法运算框架（系统模型）</a:t>
            </a:r>
            <a:endParaRPr lang="en-US" altLang="zh-CN" sz="2800" b="1" dirty="0">
              <a:solidFill>
                <a:schemeClr val="bg1"/>
              </a:solidFill>
            </a:endParaRPr>
          </a:p>
          <a:p>
            <a:endParaRPr lang="en-US" altLang="zh-CN" sz="700" b="1" dirty="0">
              <a:solidFill>
                <a:schemeClr val="bg1"/>
              </a:solidFill>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55448" y="832104"/>
            <a:ext cx="11868912" cy="400110"/>
          </a:xfrm>
          <a:prstGeom prst="rect">
            <a:avLst/>
          </a:prstGeom>
          <a:noFill/>
        </p:spPr>
        <p:txBody>
          <a:bodyPr wrap="square" rtlCol="0">
            <a:spAutoFit/>
          </a:bodyPr>
          <a:lstStyle/>
          <a:p>
            <a:pPr marL="342900" indent="-342900">
              <a:buFont typeface="Wingdings" panose="05000000000000000000" pitchFamily="2" charset="2"/>
              <a:buChar char="l"/>
            </a:pPr>
            <a:r>
              <a:rPr lang="zh-CN" altLang="en-US" sz="2000" b="1" dirty="0"/>
              <a:t>系统模型</a:t>
            </a:r>
            <a:endParaRPr lang="en-US" altLang="zh-CN" sz="2000" dirty="0"/>
          </a:p>
        </p:txBody>
      </p:sp>
      <p:sp>
        <p:nvSpPr>
          <p:cNvPr id="26" name="object 2">
            <a:extLst>
              <a:ext uri="{FF2B5EF4-FFF2-40B4-BE49-F238E27FC236}">
                <a16:creationId xmlns:a16="http://schemas.microsoft.com/office/drawing/2014/main" id="{DCB76F63-0D70-4B1A-A25C-7383BF9B84B3}"/>
              </a:ext>
            </a:extLst>
          </p:cNvPr>
          <p:cNvSpPr txBox="1"/>
          <p:nvPr/>
        </p:nvSpPr>
        <p:spPr>
          <a:xfrm>
            <a:off x="2645938" y="4914174"/>
            <a:ext cx="987425" cy="351790"/>
          </a:xfrm>
          <a:prstGeom prst="rect">
            <a:avLst/>
          </a:prstGeom>
        </p:spPr>
        <p:txBody>
          <a:bodyPr vert="horz" wrap="square" lIns="0" tIns="17145" rIns="0" bIns="0" rtlCol="0">
            <a:spAutoFit/>
          </a:bodyPr>
          <a:lstStyle/>
          <a:p>
            <a:pPr marL="12700">
              <a:lnSpc>
                <a:spcPct val="100000"/>
              </a:lnSpc>
              <a:spcBef>
                <a:spcPts val="135"/>
              </a:spcBef>
            </a:pPr>
            <a:r>
              <a:rPr sz="2100" spc="15" dirty="0">
                <a:latin typeface="Times New Roman"/>
                <a:cs typeface="Times New Roman"/>
              </a:rPr>
              <a:t>Device</a:t>
            </a:r>
            <a:r>
              <a:rPr sz="2100" spc="-145" dirty="0">
                <a:latin typeface="Times New Roman"/>
                <a:cs typeface="Times New Roman"/>
              </a:rPr>
              <a:t> </a:t>
            </a:r>
            <a:r>
              <a:rPr sz="2100" spc="15" dirty="0">
                <a:latin typeface="Times New Roman"/>
                <a:cs typeface="Times New Roman"/>
              </a:rPr>
              <a:t>1</a:t>
            </a:r>
            <a:endParaRPr sz="2100">
              <a:latin typeface="Times New Roman"/>
              <a:cs typeface="Times New Roman"/>
            </a:endParaRPr>
          </a:p>
        </p:txBody>
      </p:sp>
      <p:sp>
        <p:nvSpPr>
          <p:cNvPr id="28" name="object 3">
            <a:extLst>
              <a:ext uri="{FF2B5EF4-FFF2-40B4-BE49-F238E27FC236}">
                <a16:creationId xmlns:a16="http://schemas.microsoft.com/office/drawing/2014/main" id="{0BAFD17C-1199-40D0-8BE2-0E8772D46B01}"/>
              </a:ext>
            </a:extLst>
          </p:cNvPr>
          <p:cNvSpPr/>
          <p:nvPr/>
        </p:nvSpPr>
        <p:spPr>
          <a:xfrm>
            <a:off x="4343674" y="4840819"/>
            <a:ext cx="1290955" cy="523875"/>
          </a:xfrm>
          <a:custGeom>
            <a:avLst/>
            <a:gdLst/>
            <a:ahLst/>
            <a:cxnLst/>
            <a:rect l="l" t="t" r="r" b="b"/>
            <a:pathLst>
              <a:path w="1290954" h="523875">
                <a:moveTo>
                  <a:pt x="0" y="86868"/>
                </a:moveTo>
                <a:lnTo>
                  <a:pt x="6985" y="53086"/>
                </a:lnTo>
                <a:lnTo>
                  <a:pt x="26035" y="25400"/>
                </a:lnTo>
                <a:lnTo>
                  <a:pt x="53975" y="6858"/>
                </a:lnTo>
                <a:lnTo>
                  <a:pt x="88011" y="0"/>
                </a:lnTo>
                <a:lnTo>
                  <a:pt x="1203960" y="0"/>
                </a:lnTo>
                <a:lnTo>
                  <a:pt x="1237868" y="6858"/>
                </a:lnTo>
                <a:lnTo>
                  <a:pt x="1265427" y="25400"/>
                </a:lnTo>
                <a:lnTo>
                  <a:pt x="1283969" y="53086"/>
                </a:lnTo>
                <a:lnTo>
                  <a:pt x="1290827" y="86868"/>
                </a:lnTo>
                <a:lnTo>
                  <a:pt x="1290827" y="436880"/>
                </a:lnTo>
                <a:lnTo>
                  <a:pt x="1283969" y="470789"/>
                </a:lnTo>
                <a:lnTo>
                  <a:pt x="1265427" y="498475"/>
                </a:lnTo>
                <a:lnTo>
                  <a:pt x="1237868" y="517017"/>
                </a:lnTo>
                <a:lnTo>
                  <a:pt x="1203960" y="523875"/>
                </a:lnTo>
                <a:lnTo>
                  <a:pt x="88011" y="523875"/>
                </a:lnTo>
                <a:lnTo>
                  <a:pt x="53975" y="517017"/>
                </a:lnTo>
                <a:lnTo>
                  <a:pt x="26035" y="498475"/>
                </a:lnTo>
                <a:lnTo>
                  <a:pt x="6985" y="470789"/>
                </a:lnTo>
                <a:lnTo>
                  <a:pt x="0" y="436880"/>
                </a:lnTo>
                <a:lnTo>
                  <a:pt x="0" y="86868"/>
                </a:lnTo>
                <a:close/>
              </a:path>
            </a:pathLst>
          </a:custGeom>
          <a:ln w="32002">
            <a:solidFill>
              <a:srgbClr val="000000"/>
            </a:solidFill>
          </a:ln>
        </p:spPr>
        <p:txBody>
          <a:bodyPr wrap="square" lIns="0" tIns="0" rIns="0" bIns="0" rtlCol="0"/>
          <a:lstStyle/>
          <a:p>
            <a:endParaRPr/>
          </a:p>
        </p:txBody>
      </p:sp>
      <p:sp>
        <p:nvSpPr>
          <p:cNvPr id="29" name="object 4">
            <a:extLst>
              <a:ext uri="{FF2B5EF4-FFF2-40B4-BE49-F238E27FC236}">
                <a16:creationId xmlns:a16="http://schemas.microsoft.com/office/drawing/2014/main" id="{E920CB14-C85C-4042-9948-2F00FAD3CE20}"/>
              </a:ext>
            </a:extLst>
          </p:cNvPr>
          <p:cNvSpPr txBox="1"/>
          <p:nvPr/>
        </p:nvSpPr>
        <p:spPr>
          <a:xfrm>
            <a:off x="4488962" y="4910923"/>
            <a:ext cx="987425" cy="351155"/>
          </a:xfrm>
          <a:prstGeom prst="rect">
            <a:avLst/>
          </a:prstGeom>
        </p:spPr>
        <p:txBody>
          <a:bodyPr vert="horz" wrap="square" lIns="0" tIns="17145" rIns="0" bIns="0" rtlCol="0">
            <a:spAutoFit/>
          </a:bodyPr>
          <a:lstStyle/>
          <a:p>
            <a:pPr marL="12700">
              <a:lnSpc>
                <a:spcPct val="100000"/>
              </a:lnSpc>
              <a:spcBef>
                <a:spcPts val="135"/>
              </a:spcBef>
            </a:pPr>
            <a:r>
              <a:rPr sz="2100" spc="15" dirty="0">
                <a:latin typeface="Times New Roman"/>
                <a:cs typeface="Times New Roman"/>
              </a:rPr>
              <a:t>Device</a:t>
            </a:r>
            <a:r>
              <a:rPr sz="2100" spc="-140" dirty="0">
                <a:latin typeface="Times New Roman"/>
                <a:cs typeface="Times New Roman"/>
              </a:rPr>
              <a:t> </a:t>
            </a:r>
            <a:r>
              <a:rPr sz="2100" spc="15" dirty="0">
                <a:latin typeface="Times New Roman"/>
                <a:cs typeface="Times New Roman"/>
              </a:rPr>
              <a:t>2</a:t>
            </a:r>
            <a:endParaRPr sz="2100">
              <a:latin typeface="Times New Roman"/>
              <a:cs typeface="Times New Roman"/>
            </a:endParaRPr>
          </a:p>
        </p:txBody>
      </p:sp>
      <p:sp>
        <p:nvSpPr>
          <p:cNvPr id="30" name="object 5">
            <a:extLst>
              <a:ext uri="{FF2B5EF4-FFF2-40B4-BE49-F238E27FC236}">
                <a16:creationId xmlns:a16="http://schemas.microsoft.com/office/drawing/2014/main" id="{6A82E1FD-EDEB-4C05-B5A6-00E83E1F8268}"/>
              </a:ext>
            </a:extLst>
          </p:cNvPr>
          <p:cNvSpPr/>
          <p:nvPr/>
        </p:nvSpPr>
        <p:spPr>
          <a:xfrm>
            <a:off x="6120658" y="4840819"/>
            <a:ext cx="3282950" cy="523875"/>
          </a:xfrm>
          <a:custGeom>
            <a:avLst/>
            <a:gdLst/>
            <a:ahLst/>
            <a:cxnLst/>
            <a:rect l="l" t="t" r="r" b="b"/>
            <a:pathLst>
              <a:path w="3282950" h="523875">
                <a:moveTo>
                  <a:pt x="0" y="86868"/>
                </a:moveTo>
                <a:lnTo>
                  <a:pt x="6857" y="53086"/>
                </a:lnTo>
                <a:lnTo>
                  <a:pt x="25400" y="25400"/>
                </a:lnTo>
                <a:lnTo>
                  <a:pt x="53085" y="6858"/>
                </a:lnTo>
                <a:lnTo>
                  <a:pt x="86867" y="0"/>
                </a:lnTo>
                <a:lnTo>
                  <a:pt x="1203578" y="0"/>
                </a:lnTo>
                <a:lnTo>
                  <a:pt x="1237996" y="6858"/>
                </a:lnTo>
                <a:lnTo>
                  <a:pt x="1265935" y="25400"/>
                </a:lnTo>
                <a:lnTo>
                  <a:pt x="1284731" y="53086"/>
                </a:lnTo>
                <a:lnTo>
                  <a:pt x="1291589" y="86868"/>
                </a:lnTo>
                <a:lnTo>
                  <a:pt x="1291589" y="436880"/>
                </a:lnTo>
                <a:lnTo>
                  <a:pt x="1284731" y="470789"/>
                </a:lnTo>
                <a:lnTo>
                  <a:pt x="1265935" y="498475"/>
                </a:lnTo>
                <a:lnTo>
                  <a:pt x="1237996" y="517017"/>
                </a:lnTo>
                <a:lnTo>
                  <a:pt x="1203578" y="523875"/>
                </a:lnTo>
                <a:lnTo>
                  <a:pt x="86867" y="523875"/>
                </a:lnTo>
                <a:lnTo>
                  <a:pt x="53085" y="517017"/>
                </a:lnTo>
                <a:lnTo>
                  <a:pt x="25400" y="498475"/>
                </a:lnTo>
                <a:lnTo>
                  <a:pt x="6857" y="470789"/>
                </a:lnTo>
                <a:lnTo>
                  <a:pt x="0" y="436880"/>
                </a:lnTo>
                <a:lnTo>
                  <a:pt x="0" y="86868"/>
                </a:lnTo>
                <a:close/>
              </a:path>
              <a:path w="3282950" h="523875">
                <a:moveTo>
                  <a:pt x="1907666" y="86868"/>
                </a:moveTo>
                <a:lnTo>
                  <a:pt x="1914652" y="53086"/>
                </a:lnTo>
                <a:lnTo>
                  <a:pt x="1933575" y="25400"/>
                </a:lnTo>
                <a:lnTo>
                  <a:pt x="1961641" y="6858"/>
                </a:lnTo>
                <a:lnTo>
                  <a:pt x="1995677" y="0"/>
                </a:lnTo>
                <a:lnTo>
                  <a:pt x="3195701" y="0"/>
                </a:lnTo>
                <a:lnTo>
                  <a:pt x="3229609" y="6858"/>
                </a:lnTo>
                <a:lnTo>
                  <a:pt x="3257169" y="25400"/>
                </a:lnTo>
                <a:lnTo>
                  <a:pt x="3275837" y="53086"/>
                </a:lnTo>
                <a:lnTo>
                  <a:pt x="3282569" y="86868"/>
                </a:lnTo>
                <a:lnTo>
                  <a:pt x="3282569" y="436880"/>
                </a:lnTo>
                <a:lnTo>
                  <a:pt x="3275837" y="470789"/>
                </a:lnTo>
                <a:lnTo>
                  <a:pt x="3257169" y="498475"/>
                </a:lnTo>
                <a:lnTo>
                  <a:pt x="3229609" y="517017"/>
                </a:lnTo>
                <a:lnTo>
                  <a:pt x="3195701" y="523875"/>
                </a:lnTo>
                <a:lnTo>
                  <a:pt x="1995677" y="523875"/>
                </a:lnTo>
                <a:lnTo>
                  <a:pt x="1961641" y="517017"/>
                </a:lnTo>
                <a:lnTo>
                  <a:pt x="1933575" y="498475"/>
                </a:lnTo>
                <a:lnTo>
                  <a:pt x="1914652" y="470789"/>
                </a:lnTo>
                <a:lnTo>
                  <a:pt x="1907666" y="436880"/>
                </a:lnTo>
                <a:lnTo>
                  <a:pt x="1907666" y="86868"/>
                </a:lnTo>
                <a:close/>
              </a:path>
            </a:pathLst>
          </a:custGeom>
          <a:ln w="32002">
            <a:solidFill>
              <a:srgbClr val="000000"/>
            </a:solidFill>
          </a:ln>
        </p:spPr>
        <p:txBody>
          <a:bodyPr wrap="square" lIns="0" tIns="0" rIns="0" bIns="0" rtlCol="0"/>
          <a:lstStyle/>
          <a:p>
            <a:endParaRPr/>
          </a:p>
        </p:txBody>
      </p:sp>
      <p:sp>
        <p:nvSpPr>
          <p:cNvPr id="31" name="object 6">
            <a:extLst>
              <a:ext uri="{FF2B5EF4-FFF2-40B4-BE49-F238E27FC236}">
                <a16:creationId xmlns:a16="http://schemas.microsoft.com/office/drawing/2014/main" id="{60772CD4-42B6-48C9-BB87-F13C437925AA}"/>
              </a:ext>
            </a:extLst>
          </p:cNvPr>
          <p:cNvSpPr txBox="1"/>
          <p:nvPr/>
        </p:nvSpPr>
        <p:spPr>
          <a:xfrm>
            <a:off x="7617734" y="4819483"/>
            <a:ext cx="297180" cy="351155"/>
          </a:xfrm>
          <a:prstGeom prst="rect">
            <a:avLst/>
          </a:prstGeom>
        </p:spPr>
        <p:txBody>
          <a:bodyPr vert="horz" wrap="square" lIns="0" tIns="17145" rIns="0" bIns="0" rtlCol="0">
            <a:spAutoFit/>
          </a:bodyPr>
          <a:lstStyle/>
          <a:p>
            <a:pPr marL="12700">
              <a:lnSpc>
                <a:spcPct val="100000"/>
              </a:lnSpc>
              <a:spcBef>
                <a:spcPts val="135"/>
              </a:spcBef>
            </a:pPr>
            <a:r>
              <a:rPr sz="2100" spc="35" dirty="0">
                <a:latin typeface="Times New Roman"/>
                <a:cs typeface="Times New Roman"/>
              </a:rPr>
              <a:t>…</a:t>
            </a:r>
            <a:endParaRPr sz="2100">
              <a:latin typeface="Times New Roman"/>
              <a:cs typeface="Times New Roman"/>
            </a:endParaRPr>
          </a:p>
        </p:txBody>
      </p:sp>
      <p:sp>
        <p:nvSpPr>
          <p:cNvPr id="32" name="object 7">
            <a:extLst>
              <a:ext uri="{FF2B5EF4-FFF2-40B4-BE49-F238E27FC236}">
                <a16:creationId xmlns:a16="http://schemas.microsoft.com/office/drawing/2014/main" id="{84C41821-1E4F-490A-8CB2-C05393AF81C5}"/>
              </a:ext>
            </a:extLst>
          </p:cNvPr>
          <p:cNvSpPr txBox="1"/>
          <p:nvPr/>
        </p:nvSpPr>
        <p:spPr>
          <a:xfrm>
            <a:off x="6265438" y="4910923"/>
            <a:ext cx="2957830" cy="351155"/>
          </a:xfrm>
          <a:prstGeom prst="rect">
            <a:avLst/>
          </a:prstGeom>
        </p:spPr>
        <p:txBody>
          <a:bodyPr vert="horz" wrap="square" lIns="0" tIns="17145" rIns="0" bIns="0" rtlCol="0">
            <a:spAutoFit/>
          </a:bodyPr>
          <a:lstStyle/>
          <a:p>
            <a:pPr marL="12700">
              <a:lnSpc>
                <a:spcPct val="100000"/>
              </a:lnSpc>
              <a:spcBef>
                <a:spcPts val="135"/>
              </a:spcBef>
              <a:tabLst>
                <a:tab pos="1931035" algn="l"/>
              </a:tabLst>
            </a:pPr>
            <a:r>
              <a:rPr sz="2100" spc="15" dirty="0">
                <a:latin typeface="Times New Roman"/>
                <a:cs typeface="Times New Roman"/>
              </a:rPr>
              <a:t>Device</a:t>
            </a:r>
            <a:r>
              <a:rPr sz="2100" spc="-20" dirty="0">
                <a:latin typeface="Times New Roman"/>
                <a:cs typeface="Times New Roman"/>
              </a:rPr>
              <a:t> </a:t>
            </a:r>
            <a:r>
              <a:rPr sz="2100" spc="15" dirty="0">
                <a:latin typeface="Times New Roman"/>
                <a:cs typeface="Times New Roman"/>
              </a:rPr>
              <a:t>3	Device</a:t>
            </a:r>
            <a:r>
              <a:rPr sz="2100" spc="-90" dirty="0">
                <a:latin typeface="Times New Roman"/>
                <a:cs typeface="Times New Roman"/>
              </a:rPr>
              <a:t> </a:t>
            </a:r>
            <a:r>
              <a:rPr sz="2100" i="1" spc="20" dirty="0">
                <a:latin typeface="Arial"/>
                <a:cs typeface="Arial"/>
              </a:rPr>
              <a:t>K</a:t>
            </a:r>
            <a:endParaRPr sz="2100" dirty="0">
              <a:latin typeface="Arial"/>
              <a:cs typeface="Arial"/>
            </a:endParaRPr>
          </a:p>
        </p:txBody>
      </p:sp>
      <p:sp>
        <p:nvSpPr>
          <p:cNvPr id="33" name="object 8">
            <a:extLst>
              <a:ext uri="{FF2B5EF4-FFF2-40B4-BE49-F238E27FC236}">
                <a16:creationId xmlns:a16="http://schemas.microsoft.com/office/drawing/2014/main" id="{DCC8E58F-A950-4E32-ABE6-BB35A866F714}"/>
              </a:ext>
            </a:extLst>
          </p:cNvPr>
          <p:cNvSpPr/>
          <p:nvPr/>
        </p:nvSpPr>
        <p:spPr>
          <a:xfrm>
            <a:off x="6107705" y="5361264"/>
            <a:ext cx="2326005" cy="702945"/>
          </a:xfrm>
          <a:custGeom>
            <a:avLst/>
            <a:gdLst/>
            <a:ahLst/>
            <a:cxnLst/>
            <a:rect l="l" t="t" r="r" b="b"/>
            <a:pathLst>
              <a:path w="2326004" h="702945">
                <a:moveTo>
                  <a:pt x="376047" y="12573"/>
                </a:moveTo>
                <a:lnTo>
                  <a:pt x="286893" y="60579"/>
                </a:lnTo>
                <a:lnTo>
                  <a:pt x="318389" y="82804"/>
                </a:lnTo>
                <a:lnTo>
                  <a:pt x="0" y="532345"/>
                </a:lnTo>
                <a:lnTo>
                  <a:pt x="12573" y="541489"/>
                </a:lnTo>
                <a:lnTo>
                  <a:pt x="330454" y="91440"/>
                </a:lnTo>
                <a:lnTo>
                  <a:pt x="361188" y="113157"/>
                </a:lnTo>
                <a:lnTo>
                  <a:pt x="376047" y="12573"/>
                </a:lnTo>
                <a:close/>
              </a:path>
              <a:path w="2326004" h="702945">
                <a:moveTo>
                  <a:pt x="2325624" y="12573"/>
                </a:moveTo>
                <a:lnTo>
                  <a:pt x="2225040" y="0"/>
                </a:lnTo>
                <a:lnTo>
                  <a:pt x="2237994" y="35941"/>
                </a:lnTo>
                <a:lnTo>
                  <a:pt x="373761" y="687717"/>
                </a:lnTo>
                <a:lnTo>
                  <a:pt x="379476" y="702564"/>
                </a:lnTo>
                <a:lnTo>
                  <a:pt x="2242820" y="49530"/>
                </a:lnTo>
                <a:lnTo>
                  <a:pt x="2255901" y="85725"/>
                </a:lnTo>
                <a:lnTo>
                  <a:pt x="2325624" y="12573"/>
                </a:lnTo>
                <a:close/>
              </a:path>
            </a:pathLst>
          </a:custGeom>
          <a:solidFill>
            <a:srgbClr val="000000"/>
          </a:solidFill>
        </p:spPr>
        <p:txBody>
          <a:bodyPr wrap="square" lIns="0" tIns="0" rIns="0" bIns="0" rtlCol="0"/>
          <a:lstStyle/>
          <a:p>
            <a:endParaRPr/>
          </a:p>
        </p:txBody>
      </p:sp>
      <p:grpSp>
        <p:nvGrpSpPr>
          <p:cNvPr id="34" name="object 9">
            <a:extLst>
              <a:ext uri="{FF2B5EF4-FFF2-40B4-BE49-F238E27FC236}">
                <a16:creationId xmlns:a16="http://schemas.microsoft.com/office/drawing/2014/main" id="{8D61A995-485C-4163-9663-E1BBFFF9AB5A}"/>
              </a:ext>
            </a:extLst>
          </p:cNvPr>
          <p:cNvGrpSpPr/>
          <p:nvPr/>
        </p:nvGrpSpPr>
        <p:grpSpPr>
          <a:xfrm>
            <a:off x="2486681" y="4829389"/>
            <a:ext cx="3114675" cy="1234440"/>
            <a:chOff x="3023616" y="4747260"/>
            <a:chExt cx="3114675" cy="1234440"/>
          </a:xfrm>
        </p:grpSpPr>
        <p:sp>
          <p:nvSpPr>
            <p:cNvPr id="35" name="object 10">
              <a:extLst>
                <a:ext uri="{FF2B5EF4-FFF2-40B4-BE49-F238E27FC236}">
                  <a16:creationId xmlns:a16="http://schemas.microsoft.com/office/drawing/2014/main" id="{2D829123-04CF-42AB-85C9-2C955D9B31B6}"/>
                </a:ext>
              </a:extLst>
            </p:cNvPr>
            <p:cNvSpPr/>
            <p:nvPr/>
          </p:nvSpPr>
          <p:spPr>
            <a:xfrm>
              <a:off x="4253484" y="5295899"/>
              <a:ext cx="1885314" cy="685800"/>
            </a:xfrm>
            <a:custGeom>
              <a:avLst/>
              <a:gdLst/>
              <a:ahLst/>
              <a:cxnLst/>
              <a:rect l="l" t="t" r="r" b="b"/>
              <a:pathLst>
                <a:path w="1885314" h="685800">
                  <a:moveTo>
                    <a:pt x="1510792" y="670763"/>
                  </a:moveTo>
                  <a:lnTo>
                    <a:pt x="85090" y="34544"/>
                  </a:lnTo>
                  <a:lnTo>
                    <a:pt x="100330" y="0"/>
                  </a:lnTo>
                  <a:lnTo>
                    <a:pt x="0" y="4572"/>
                  </a:lnTo>
                  <a:lnTo>
                    <a:pt x="64262" y="82296"/>
                  </a:lnTo>
                  <a:lnTo>
                    <a:pt x="79248" y="47879"/>
                  </a:lnTo>
                  <a:lnTo>
                    <a:pt x="1505204" y="685419"/>
                  </a:lnTo>
                  <a:lnTo>
                    <a:pt x="1510792" y="670763"/>
                  </a:lnTo>
                  <a:close/>
                </a:path>
                <a:path w="1885314" h="685800">
                  <a:moveTo>
                    <a:pt x="1884807" y="517448"/>
                  </a:moveTo>
                  <a:lnTo>
                    <a:pt x="1487805" y="87249"/>
                  </a:lnTo>
                  <a:lnTo>
                    <a:pt x="1515237" y="61976"/>
                  </a:lnTo>
                  <a:lnTo>
                    <a:pt x="1421765" y="25908"/>
                  </a:lnTo>
                  <a:lnTo>
                    <a:pt x="1448816" y="122936"/>
                  </a:lnTo>
                  <a:lnTo>
                    <a:pt x="1477137" y="96901"/>
                  </a:lnTo>
                  <a:lnTo>
                    <a:pt x="1873504" y="527596"/>
                  </a:lnTo>
                  <a:lnTo>
                    <a:pt x="1884807" y="517448"/>
                  </a:lnTo>
                  <a:close/>
                </a:path>
              </a:pathLst>
            </a:custGeom>
            <a:solidFill>
              <a:srgbClr val="000000"/>
            </a:solidFill>
          </p:spPr>
          <p:txBody>
            <a:bodyPr wrap="square" lIns="0" tIns="0" rIns="0" bIns="0" rtlCol="0"/>
            <a:lstStyle/>
            <a:p>
              <a:endParaRPr/>
            </a:p>
          </p:txBody>
        </p:sp>
        <p:sp>
          <p:nvSpPr>
            <p:cNvPr id="36" name="object 11">
              <a:extLst>
                <a:ext uri="{FF2B5EF4-FFF2-40B4-BE49-F238E27FC236}">
                  <a16:creationId xmlns:a16="http://schemas.microsoft.com/office/drawing/2014/main" id="{B9371278-9F2C-4F0E-B365-2A0BDDA40480}"/>
                </a:ext>
              </a:extLst>
            </p:cNvPr>
            <p:cNvSpPr/>
            <p:nvPr/>
          </p:nvSpPr>
          <p:spPr>
            <a:xfrm>
              <a:off x="3039617" y="4763261"/>
              <a:ext cx="1292860" cy="523875"/>
            </a:xfrm>
            <a:custGeom>
              <a:avLst/>
              <a:gdLst/>
              <a:ahLst/>
              <a:cxnLst/>
              <a:rect l="l" t="t" r="r" b="b"/>
              <a:pathLst>
                <a:path w="1292860" h="523875">
                  <a:moveTo>
                    <a:pt x="0" y="86868"/>
                  </a:moveTo>
                  <a:lnTo>
                    <a:pt x="6984" y="53086"/>
                  </a:lnTo>
                  <a:lnTo>
                    <a:pt x="26034" y="25400"/>
                  </a:lnTo>
                  <a:lnTo>
                    <a:pt x="53975" y="6857"/>
                  </a:lnTo>
                  <a:lnTo>
                    <a:pt x="88011" y="0"/>
                  </a:lnTo>
                  <a:lnTo>
                    <a:pt x="1205483" y="0"/>
                  </a:lnTo>
                  <a:lnTo>
                    <a:pt x="1239266" y="6857"/>
                  </a:lnTo>
                  <a:lnTo>
                    <a:pt x="1266952" y="25400"/>
                  </a:lnTo>
                  <a:lnTo>
                    <a:pt x="1285494" y="53086"/>
                  </a:lnTo>
                  <a:lnTo>
                    <a:pt x="1292352" y="86868"/>
                  </a:lnTo>
                  <a:lnTo>
                    <a:pt x="1292352" y="436880"/>
                  </a:lnTo>
                  <a:lnTo>
                    <a:pt x="1285494" y="470788"/>
                  </a:lnTo>
                  <a:lnTo>
                    <a:pt x="1266952" y="498475"/>
                  </a:lnTo>
                  <a:lnTo>
                    <a:pt x="1239266" y="517016"/>
                  </a:lnTo>
                  <a:lnTo>
                    <a:pt x="1205483" y="523875"/>
                  </a:lnTo>
                  <a:lnTo>
                    <a:pt x="88011" y="523875"/>
                  </a:lnTo>
                  <a:lnTo>
                    <a:pt x="53975" y="517016"/>
                  </a:lnTo>
                  <a:lnTo>
                    <a:pt x="26034" y="498475"/>
                  </a:lnTo>
                  <a:lnTo>
                    <a:pt x="6984" y="470788"/>
                  </a:lnTo>
                  <a:lnTo>
                    <a:pt x="0" y="436880"/>
                  </a:lnTo>
                  <a:lnTo>
                    <a:pt x="0" y="86868"/>
                  </a:lnTo>
                  <a:close/>
                </a:path>
              </a:pathLst>
            </a:custGeom>
            <a:ln w="32002">
              <a:solidFill>
                <a:srgbClr val="000000"/>
              </a:solidFill>
            </a:ln>
          </p:spPr>
          <p:txBody>
            <a:bodyPr wrap="square" lIns="0" tIns="0" rIns="0" bIns="0" rtlCol="0"/>
            <a:lstStyle/>
            <a:p>
              <a:endParaRPr/>
            </a:p>
          </p:txBody>
        </p:sp>
      </p:grpSp>
      <p:sp>
        <p:nvSpPr>
          <p:cNvPr id="37" name="object 12">
            <a:extLst>
              <a:ext uri="{FF2B5EF4-FFF2-40B4-BE49-F238E27FC236}">
                <a16:creationId xmlns:a16="http://schemas.microsoft.com/office/drawing/2014/main" id="{B8B9ED84-0A16-4308-9EBF-DC4BC06C69B2}"/>
              </a:ext>
            </a:extLst>
          </p:cNvPr>
          <p:cNvSpPr/>
          <p:nvPr/>
        </p:nvSpPr>
        <p:spPr>
          <a:xfrm>
            <a:off x="3374411" y="3382350"/>
            <a:ext cx="1458595" cy="524510"/>
          </a:xfrm>
          <a:custGeom>
            <a:avLst/>
            <a:gdLst/>
            <a:ahLst/>
            <a:cxnLst/>
            <a:rect l="l" t="t" r="r" b="b"/>
            <a:pathLst>
              <a:path w="1458595" h="524510">
                <a:moveTo>
                  <a:pt x="0" y="87883"/>
                </a:moveTo>
                <a:lnTo>
                  <a:pt x="6857" y="53975"/>
                </a:lnTo>
                <a:lnTo>
                  <a:pt x="25400" y="26035"/>
                </a:lnTo>
                <a:lnTo>
                  <a:pt x="53086" y="6985"/>
                </a:lnTo>
                <a:lnTo>
                  <a:pt x="86867" y="0"/>
                </a:lnTo>
                <a:lnTo>
                  <a:pt x="1370202" y="0"/>
                </a:lnTo>
                <a:lnTo>
                  <a:pt x="1404239" y="6985"/>
                </a:lnTo>
                <a:lnTo>
                  <a:pt x="1432178" y="26035"/>
                </a:lnTo>
                <a:lnTo>
                  <a:pt x="1451228" y="53975"/>
                </a:lnTo>
                <a:lnTo>
                  <a:pt x="1458214" y="87883"/>
                </a:lnTo>
                <a:lnTo>
                  <a:pt x="1458214" y="436117"/>
                </a:lnTo>
                <a:lnTo>
                  <a:pt x="1451228" y="470661"/>
                </a:lnTo>
                <a:lnTo>
                  <a:pt x="1432178" y="498475"/>
                </a:lnTo>
                <a:lnTo>
                  <a:pt x="1404239" y="517270"/>
                </a:lnTo>
                <a:lnTo>
                  <a:pt x="1370202" y="524001"/>
                </a:lnTo>
                <a:lnTo>
                  <a:pt x="86867" y="524001"/>
                </a:lnTo>
                <a:lnTo>
                  <a:pt x="53086" y="517270"/>
                </a:lnTo>
                <a:lnTo>
                  <a:pt x="25400" y="498475"/>
                </a:lnTo>
                <a:lnTo>
                  <a:pt x="6857" y="470661"/>
                </a:lnTo>
                <a:lnTo>
                  <a:pt x="0" y="436117"/>
                </a:lnTo>
                <a:lnTo>
                  <a:pt x="0" y="87883"/>
                </a:lnTo>
                <a:close/>
              </a:path>
            </a:pathLst>
          </a:custGeom>
          <a:ln w="32002">
            <a:solidFill>
              <a:srgbClr val="000000"/>
            </a:solidFill>
          </a:ln>
        </p:spPr>
        <p:txBody>
          <a:bodyPr wrap="square" lIns="0" tIns="0" rIns="0" bIns="0" rtlCol="0"/>
          <a:lstStyle/>
          <a:p>
            <a:endParaRPr/>
          </a:p>
        </p:txBody>
      </p:sp>
      <p:sp>
        <p:nvSpPr>
          <p:cNvPr id="38" name="object 13">
            <a:extLst>
              <a:ext uri="{FF2B5EF4-FFF2-40B4-BE49-F238E27FC236}">
                <a16:creationId xmlns:a16="http://schemas.microsoft.com/office/drawing/2014/main" id="{07D61A49-C009-4DD5-A906-4F640A6D46CA}"/>
              </a:ext>
            </a:extLst>
          </p:cNvPr>
          <p:cNvSpPr txBox="1"/>
          <p:nvPr/>
        </p:nvSpPr>
        <p:spPr>
          <a:xfrm>
            <a:off x="3474486" y="3451820"/>
            <a:ext cx="1195070" cy="351155"/>
          </a:xfrm>
          <a:prstGeom prst="rect">
            <a:avLst/>
          </a:prstGeom>
        </p:spPr>
        <p:txBody>
          <a:bodyPr vert="horz" wrap="square" lIns="0" tIns="17145" rIns="0" bIns="0" rtlCol="0">
            <a:spAutoFit/>
          </a:bodyPr>
          <a:lstStyle/>
          <a:p>
            <a:pPr marL="38100">
              <a:lnSpc>
                <a:spcPct val="100000"/>
              </a:lnSpc>
              <a:spcBef>
                <a:spcPts val="135"/>
              </a:spcBef>
            </a:pPr>
            <a:r>
              <a:rPr sz="2100" spc="15" dirty="0">
                <a:latin typeface="Times New Roman"/>
                <a:cs typeface="Times New Roman"/>
              </a:rPr>
              <a:t>Device</a:t>
            </a:r>
            <a:r>
              <a:rPr sz="2100" spc="-65" dirty="0">
                <a:latin typeface="Times New Roman"/>
                <a:cs typeface="Times New Roman"/>
              </a:rPr>
              <a:t> </a:t>
            </a:r>
            <a:r>
              <a:rPr sz="2100" i="1" spc="-15" dirty="0">
                <a:latin typeface="Arial"/>
                <a:cs typeface="Arial"/>
              </a:rPr>
              <a:t>K</a:t>
            </a:r>
            <a:r>
              <a:rPr sz="2325" spc="-22" baseline="-12544" dirty="0">
                <a:latin typeface="Arial"/>
                <a:cs typeface="Arial"/>
              </a:rPr>
              <a:t>1</a:t>
            </a:r>
            <a:endParaRPr sz="2325" baseline="-12544">
              <a:latin typeface="Arial"/>
              <a:cs typeface="Arial"/>
            </a:endParaRPr>
          </a:p>
        </p:txBody>
      </p:sp>
      <p:sp>
        <p:nvSpPr>
          <p:cNvPr id="39" name="object 14">
            <a:extLst>
              <a:ext uri="{FF2B5EF4-FFF2-40B4-BE49-F238E27FC236}">
                <a16:creationId xmlns:a16="http://schemas.microsoft.com/office/drawing/2014/main" id="{266E76C4-2FDA-45F9-9B88-BAADAAFB6BEC}"/>
              </a:ext>
            </a:extLst>
          </p:cNvPr>
          <p:cNvSpPr/>
          <p:nvPr/>
        </p:nvSpPr>
        <p:spPr>
          <a:xfrm>
            <a:off x="5180350" y="3389970"/>
            <a:ext cx="1407160" cy="523875"/>
          </a:xfrm>
          <a:custGeom>
            <a:avLst/>
            <a:gdLst/>
            <a:ahLst/>
            <a:cxnLst/>
            <a:rect l="l" t="t" r="r" b="b"/>
            <a:pathLst>
              <a:path w="1407159" h="523875">
                <a:moveTo>
                  <a:pt x="0" y="86868"/>
                </a:moveTo>
                <a:lnTo>
                  <a:pt x="6985" y="53086"/>
                </a:lnTo>
                <a:lnTo>
                  <a:pt x="26035" y="25400"/>
                </a:lnTo>
                <a:lnTo>
                  <a:pt x="53975" y="6858"/>
                </a:lnTo>
                <a:lnTo>
                  <a:pt x="88011" y="0"/>
                </a:lnTo>
                <a:lnTo>
                  <a:pt x="1319784" y="0"/>
                </a:lnTo>
                <a:lnTo>
                  <a:pt x="1353565" y="6858"/>
                </a:lnTo>
                <a:lnTo>
                  <a:pt x="1381252" y="25400"/>
                </a:lnTo>
                <a:lnTo>
                  <a:pt x="1399793" y="53086"/>
                </a:lnTo>
                <a:lnTo>
                  <a:pt x="1406652" y="86868"/>
                </a:lnTo>
                <a:lnTo>
                  <a:pt x="1406652" y="436880"/>
                </a:lnTo>
                <a:lnTo>
                  <a:pt x="1399793" y="470789"/>
                </a:lnTo>
                <a:lnTo>
                  <a:pt x="1381252" y="498475"/>
                </a:lnTo>
                <a:lnTo>
                  <a:pt x="1353565" y="517017"/>
                </a:lnTo>
                <a:lnTo>
                  <a:pt x="1319784" y="523875"/>
                </a:lnTo>
                <a:lnTo>
                  <a:pt x="88011" y="523875"/>
                </a:lnTo>
                <a:lnTo>
                  <a:pt x="53975" y="517017"/>
                </a:lnTo>
                <a:lnTo>
                  <a:pt x="26035" y="498475"/>
                </a:lnTo>
                <a:lnTo>
                  <a:pt x="6985" y="470789"/>
                </a:lnTo>
                <a:lnTo>
                  <a:pt x="0" y="436880"/>
                </a:lnTo>
                <a:lnTo>
                  <a:pt x="0" y="86868"/>
                </a:lnTo>
                <a:close/>
              </a:path>
            </a:pathLst>
          </a:custGeom>
          <a:ln w="32002">
            <a:solidFill>
              <a:srgbClr val="000000"/>
            </a:solidFill>
          </a:ln>
        </p:spPr>
        <p:txBody>
          <a:bodyPr wrap="square" lIns="0" tIns="0" rIns="0" bIns="0" rtlCol="0"/>
          <a:lstStyle/>
          <a:p>
            <a:endParaRPr/>
          </a:p>
        </p:txBody>
      </p:sp>
      <p:sp>
        <p:nvSpPr>
          <p:cNvPr id="40" name="object 15">
            <a:extLst>
              <a:ext uri="{FF2B5EF4-FFF2-40B4-BE49-F238E27FC236}">
                <a16:creationId xmlns:a16="http://schemas.microsoft.com/office/drawing/2014/main" id="{1AA3E08A-1F0C-4AE9-A2AD-0676943BD6E4}"/>
              </a:ext>
            </a:extLst>
          </p:cNvPr>
          <p:cNvSpPr txBox="1"/>
          <p:nvPr/>
        </p:nvSpPr>
        <p:spPr>
          <a:xfrm>
            <a:off x="5278903" y="3456976"/>
            <a:ext cx="1198245" cy="351790"/>
          </a:xfrm>
          <a:prstGeom prst="rect">
            <a:avLst/>
          </a:prstGeom>
        </p:spPr>
        <p:txBody>
          <a:bodyPr vert="horz" wrap="square" lIns="0" tIns="17145" rIns="0" bIns="0" rtlCol="0">
            <a:spAutoFit/>
          </a:bodyPr>
          <a:lstStyle/>
          <a:p>
            <a:pPr marL="38100">
              <a:lnSpc>
                <a:spcPct val="100000"/>
              </a:lnSpc>
              <a:spcBef>
                <a:spcPts val="135"/>
              </a:spcBef>
            </a:pPr>
            <a:r>
              <a:rPr sz="2100" spc="15" dirty="0">
                <a:latin typeface="Times New Roman"/>
                <a:cs typeface="Times New Roman"/>
              </a:rPr>
              <a:t>Device</a:t>
            </a:r>
            <a:r>
              <a:rPr sz="2100" spc="-70" dirty="0">
                <a:latin typeface="Times New Roman"/>
                <a:cs typeface="Times New Roman"/>
              </a:rPr>
              <a:t> </a:t>
            </a:r>
            <a:r>
              <a:rPr sz="2100" i="1" dirty="0">
                <a:latin typeface="Arial"/>
                <a:cs typeface="Arial"/>
              </a:rPr>
              <a:t>K</a:t>
            </a:r>
            <a:r>
              <a:rPr sz="2325" baseline="-12544" dirty="0">
                <a:latin typeface="Arial"/>
                <a:cs typeface="Arial"/>
              </a:rPr>
              <a:t>2</a:t>
            </a:r>
          </a:p>
        </p:txBody>
      </p:sp>
      <p:sp>
        <p:nvSpPr>
          <p:cNvPr id="41" name="object 16">
            <a:extLst>
              <a:ext uri="{FF2B5EF4-FFF2-40B4-BE49-F238E27FC236}">
                <a16:creationId xmlns:a16="http://schemas.microsoft.com/office/drawing/2014/main" id="{803CDF68-BD1D-4509-B2D2-6FB40D8B2433}"/>
              </a:ext>
            </a:extLst>
          </p:cNvPr>
          <p:cNvSpPr/>
          <p:nvPr/>
        </p:nvSpPr>
        <p:spPr>
          <a:xfrm>
            <a:off x="7176791" y="3382350"/>
            <a:ext cx="1452245" cy="524510"/>
          </a:xfrm>
          <a:custGeom>
            <a:avLst/>
            <a:gdLst/>
            <a:ahLst/>
            <a:cxnLst/>
            <a:rect l="l" t="t" r="r" b="b"/>
            <a:pathLst>
              <a:path w="1452245" h="524510">
                <a:moveTo>
                  <a:pt x="0" y="87883"/>
                </a:moveTo>
                <a:lnTo>
                  <a:pt x="6857" y="53975"/>
                </a:lnTo>
                <a:lnTo>
                  <a:pt x="25400" y="26035"/>
                </a:lnTo>
                <a:lnTo>
                  <a:pt x="52958" y="6985"/>
                </a:lnTo>
                <a:lnTo>
                  <a:pt x="86868" y="0"/>
                </a:lnTo>
                <a:lnTo>
                  <a:pt x="1364106" y="0"/>
                </a:lnTo>
                <a:lnTo>
                  <a:pt x="1398524" y="6985"/>
                </a:lnTo>
                <a:lnTo>
                  <a:pt x="1426464" y="26035"/>
                </a:lnTo>
                <a:lnTo>
                  <a:pt x="1445259" y="53975"/>
                </a:lnTo>
                <a:lnTo>
                  <a:pt x="1452118" y="87883"/>
                </a:lnTo>
                <a:lnTo>
                  <a:pt x="1452118" y="436117"/>
                </a:lnTo>
                <a:lnTo>
                  <a:pt x="1445259" y="470661"/>
                </a:lnTo>
                <a:lnTo>
                  <a:pt x="1426464" y="498475"/>
                </a:lnTo>
                <a:lnTo>
                  <a:pt x="1398524" y="517270"/>
                </a:lnTo>
                <a:lnTo>
                  <a:pt x="1364106" y="524001"/>
                </a:lnTo>
                <a:lnTo>
                  <a:pt x="86868" y="524001"/>
                </a:lnTo>
                <a:lnTo>
                  <a:pt x="52958" y="517270"/>
                </a:lnTo>
                <a:lnTo>
                  <a:pt x="25400" y="498475"/>
                </a:lnTo>
                <a:lnTo>
                  <a:pt x="6857" y="470661"/>
                </a:lnTo>
                <a:lnTo>
                  <a:pt x="0" y="436117"/>
                </a:lnTo>
                <a:lnTo>
                  <a:pt x="0" y="87883"/>
                </a:lnTo>
                <a:close/>
              </a:path>
            </a:pathLst>
          </a:custGeom>
          <a:ln w="32002">
            <a:solidFill>
              <a:srgbClr val="000000"/>
            </a:solidFill>
          </a:ln>
        </p:spPr>
        <p:txBody>
          <a:bodyPr wrap="square" lIns="0" tIns="0" rIns="0" bIns="0" rtlCol="0"/>
          <a:lstStyle/>
          <a:p>
            <a:endParaRPr/>
          </a:p>
        </p:txBody>
      </p:sp>
      <p:sp>
        <p:nvSpPr>
          <p:cNvPr id="42" name="object 17">
            <a:extLst>
              <a:ext uri="{FF2B5EF4-FFF2-40B4-BE49-F238E27FC236}">
                <a16:creationId xmlns:a16="http://schemas.microsoft.com/office/drawing/2014/main" id="{6E3E1252-AFFF-456E-9E8C-BAB81E81D6D8}"/>
              </a:ext>
            </a:extLst>
          </p:cNvPr>
          <p:cNvSpPr txBox="1"/>
          <p:nvPr/>
        </p:nvSpPr>
        <p:spPr>
          <a:xfrm>
            <a:off x="7292107" y="3435690"/>
            <a:ext cx="1199515" cy="351155"/>
          </a:xfrm>
          <a:prstGeom prst="rect">
            <a:avLst/>
          </a:prstGeom>
        </p:spPr>
        <p:txBody>
          <a:bodyPr vert="horz" wrap="square" lIns="0" tIns="17145" rIns="0" bIns="0" rtlCol="0">
            <a:spAutoFit/>
          </a:bodyPr>
          <a:lstStyle/>
          <a:p>
            <a:pPr marL="38100">
              <a:lnSpc>
                <a:spcPct val="100000"/>
              </a:lnSpc>
              <a:spcBef>
                <a:spcPts val="135"/>
              </a:spcBef>
            </a:pPr>
            <a:r>
              <a:rPr sz="2100" spc="15" dirty="0">
                <a:latin typeface="Times New Roman"/>
                <a:cs typeface="Times New Roman"/>
              </a:rPr>
              <a:t>Device</a:t>
            </a:r>
            <a:r>
              <a:rPr sz="2100" spc="-65" dirty="0">
                <a:latin typeface="Times New Roman"/>
                <a:cs typeface="Times New Roman"/>
              </a:rPr>
              <a:t> </a:t>
            </a:r>
            <a:r>
              <a:rPr sz="2100" i="1" spc="5" dirty="0">
                <a:latin typeface="Arial"/>
                <a:cs typeface="Arial"/>
              </a:rPr>
              <a:t>K</a:t>
            </a:r>
            <a:r>
              <a:rPr sz="2325" i="1" spc="7" baseline="-12544" dirty="0">
                <a:latin typeface="Arial"/>
                <a:cs typeface="Arial"/>
              </a:rPr>
              <a:t>q</a:t>
            </a:r>
            <a:endParaRPr sz="2325" baseline="-12544">
              <a:latin typeface="Arial"/>
              <a:cs typeface="Arial"/>
            </a:endParaRPr>
          </a:p>
        </p:txBody>
      </p:sp>
      <p:sp>
        <p:nvSpPr>
          <p:cNvPr id="43" name="object 18">
            <a:extLst>
              <a:ext uri="{FF2B5EF4-FFF2-40B4-BE49-F238E27FC236}">
                <a16:creationId xmlns:a16="http://schemas.microsoft.com/office/drawing/2014/main" id="{C816DE68-C764-4E9C-BCDD-A44C5A4B660D}"/>
              </a:ext>
            </a:extLst>
          </p:cNvPr>
          <p:cNvSpPr/>
          <p:nvPr/>
        </p:nvSpPr>
        <p:spPr>
          <a:xfrm>
            <a:off x="5495056" y="4056720"/>
            <a:ext cx="757555" cy="579120"/>
          </a:xfrm>
          <a:custGeom>
            <a:avLst/>
            <a:gdLst/>
            <a:ahLst/>
            <a:cxnLst/>
            <a:rect l="l" t="t" r="r" b="b"/>
            <a:pathLst>
              <a:path w="757554" h="579120">
                <a:moveTo>
                  <a:pt x="757047" y="288924"/>
                </a:moveTo>
                <a:lnTo>
                  <a:pt x="567436" y="288924"/>
                </a:lnTo>
                <a:lnTo>
                  <a:pt x="567436" y="578992"/>
                </a:lnTo>
                <a:lnTo>
                  <a:pt x="189484" y="578992"/>
                </a:lnTo>
                <a:lnTo>
                  <a:pt x="189484" y="288924"/>
                </a:lnTo>
                <a:lnTo>
                  <a:pt x="0" y="288924"/>
                </a:lnTo>
                <a:lnTo>
                  <a:pt x="379095" y="0"/>
                </a:lnTo>
                <a:lnTo>
                  <a:pt x="757047" y="288924"/>
                </a:lnTo>
                <a:close/>
              </a:path>
            </a:pathLst>
          </a:custGeom>
          <a:ln w="45718">
            <a:solidFill>
              <a:srgbClr val="000000"/>
            </a:solidFill>
          </a:ln>
        </p:spPr>
        <p:txBody>
          <a:bodyPr wrap="square" lIns="0" tIns="0" rIns="0" bIns="0" rtlCol="0"/>
          <a:lstStyle/>
          <a:p>
            <a:endParaRPr/>
          </a:p>
        </p:txBody>
      </p:sp>
      <p:sp>
        <p:nvSpPr>
          <p:cNvPr id="44" name="object 19">
            <a:extLst>
              <a:ext uri="{FF2B5EF4-FFF2-40B4-BE49-F238E27FC236}">
                <a16:creationId xmlns:a16="http://schemas.microsoft.com/office/drawing/2014/main" id="{2EED211C-3564-4F84-8F0B-1F366C63569F}"/>
              </a:ext>
            </a:extLst>
          </p:cNvPr>
          <p:cNvSpPr txBox="1"/>
          <p:nvPr/>
        </p:nvSpPr>
        <p:spPr>
          <a:xfrm>
            <a:off x="6739403" y="3413974"/>
            <a:ext cx="297180" cy="351155"/>
          </a:xfrm>
          <a:prstGeom prst="rect">
            <a:avLst/>
          </a:prstGeom>
        </p:spPr>
        <p:txBody>
          <a:bodyPr vert="horz" wrap="square" lIns="0" tIns="17145" rIns="0" bIns="0" rtlCol="0">
            <a:spAutoFit/>
          </a:bodyPr>
          <a:lstStyle/>
          <a:p>
            <a:pPr marL="12700">
              <a:lnSpc>
                <a:spcPct val="100000"/>
              </a:lnSpc>
              <a:spcBef>
                <a:spcPts val="135"/>
              </a:spcBef>
            </a:pPr>
            <a:r>
              <a:rPr sz="2100" spc="35" dirty="0">
                <a:latin typeface="Times New Roman"/>
                <a:cs typeface="Times New Roman"/>
              </a:rPr>
              <a:t>…</a:t>
            </a:r>
            <a:endParaRPr sz="2100">
              <a:latin typeface="Times New Roman"/>
              <a:cs typeface="Times New Roman"/>
            </a:endParaRPr>
          </a:p>
        </p:txBody>
      </p:sp>
      <p:sp>
        <p:nvSpPr>
          <p:cNvPr id="45" name="object 20">
            <a:extLst>
              <a:ext uri="{FF2B5EF4-FFF2-40B4-BE49-F238E27FC236}">
                <a16:creationId xmlns:a16="http://schemas.microsoft.com/office/drawing/2014/main" id="{F93C45CC-0521-4BB0-A17C-9D689F3C43EB}"/>
              </a:ext>
            </a:extLst>
          </p:cNvPr>
          <p:cNvSpPr txBox="1"/>
          <p:nvPr/>
        </p:nvSpPr>
        <p:spPr>
          <a:xfrm>
            <a:off x="6387358" y="4210467"/>
            <a:ext cx="4477893" cy="340478"/>
          </a:xfrm>
          <a:prstGeom prst="rect">
            <a:avLst/>
          </a:prstGeom>
        </p:spPr>
        <p:txBody>
          <a:bodyPr vert="horz" wrap="square" lIns="0" tIns="17145" rIns="0" bIns="0" rtlCol="0">
            <a:spAutoFit/>
          </a:bodyPr>
          <a:lstStyle/>
          <a:p>
            <a:pPr marL="12700">
              <a:lnSpc>
                <a:spcPct val="100000"/>
              </a:lnSpc>
              <a:spcBef>
                <a:spcPts val="135"/>
              </a:spcBef>
            </a:pPr>
            <a:r>
              <a:rPr lang="en-US" altLang="zh-CN" sz="2100" spc="5" dirty="0">
                <a:latin typeface="Times New Roman"/>
                <a:cs typeface="Times New Roman"/>
              </a:rPr>
              <a:t>Arbitrary</a:t>
            </a:r>
            <a:r>
              <a:rPr sz="2100" spc="5" dirty="0">
                <a:latin typeface="Times New Roman"/>
                <a:cs typeface="Times New Roman"/>
              </a:rPr>
              <a:t> </a:t>
            </a:r>
            <a:r>
              <a:rPr sz="2100" i="1" spc="20" dirty="0">
                <a:latin typeface="Arial"/>
                <a:cs typeface="Arial"/>
              </a:rPr>
              <a:t>q </a:t>
            </a:r>
            <a:r>
              <a:rPr sz="2100" spc="5" dirty="0">
                <a:latin typeface="Times New Roman"/>
                <a:cs typeface="Times New Roman"/>
              </a:rPr>
              <a:t>fastest </a:t>
            </a:r>
            <a:r>
              <a:rPr sz="2100" spc="15" dirty="0">
                <a:latin typeface="Times New Roman"/>
                <a:cs typeface="Times New Roman"/>
              </a:rPr>
              <a:t>computing</a:t>
            </a:r>
            <a:r>
              <a:rPr sz="2100" spc="90" dirty="0">
                <a:latin typeface="Times New Roman"/>
                <a:cs typeface="Times New Roman"/>
              </a:rPr>
              <a:t> </a:t>
            </a:r>
            <a:r>
              <a:rPr sz="2100" spc="10" dirty="0">
                <a:latin typeface="Times New Roman"/>
                <a:cs typeface="Times New Roman"/>
              </a:rPr>
              <a:t>devices</a:t>
            </a:r>
            <a:endParaRPr sz="2100" dirty="0">
              <a:latin typeface="Times New Roman"/>
              <a:cs typeface="Times New Roman"/>
            </a:endParaRPr>
          </a:p>
        </p:txBody>
      </p:sp>
      <p:grpSp>
        <p:nvGrpSpPr>
          <p:cNvPr id="46" name="object 21">
            <a:extLst>
              <a:ext uri="{FF2B5EF4-FFF2-40B4-BE49-F238E27FC236}">
                <a16:creationId xmlns:a16="http://schemas.microsoft.com/office/drawing/2014/main" id="{45C4A5A1-178A-4AA6-8DC7-FA51A3408C34}"/>
              </a:ext>
            </a:extLst>
          </p:cNvPr>
          <p:cNvGrpSpPr/>
          <p:nvPr/>
        </p:nvGrpSpPr>
        <p:grpSpPr>
          <a:xfrm>
            <a:off x="4195085" y="2189821"/>
            <a:ext cx="1272540" cy="1097280"/>
            <a:chOff x="4732020" y="2107692"/>
            <a:chExt cx="1272540" cy="1097280"/>
          </a:xfrm>
        </p:grpSpPr>
        <p:sp>
          <p:nvSpPr>
            <p:cNvPr id="47" name="object 22">
              <a:extLst>
                <a:ext uri="{FF2B5EF4-FFF2-40B4-BE49-F238E27FC236}">
                  <a16:creationId xmlns:a16="http://schemas.microsoft.com/office/drawing/2014/main" id="{8817AD25-9B69-418E-9274-858CC09A9D10}"/>
                </a:ext>
              </a:extLst>
            </p:cNvPr>
            <p:cNvSpPr/>
            <p:nvPr/>
          </p:nvSpPr>
          <p:spPr>
            <a:xfrm>
              <a:off x="4732020" y="2107691"/>
              <a:ext cx="1136650" cy="1097280"/>
            </a:xfrm>
            <a:custGeom>
              <a:avLst/>
              <a:gdLst/>
              <a:ahLst/>
              <a:cxnLst/>
              <a:rect l="l" t="t" r="r" b="b"/>
              <a:pathLst>
                <a:path w="1136650" h="1097280">
                  <a:moveTo>
                    <a:pt x="323215" y="1014984"/>
                  </a:moveTo>
                  <a:lnTo>
                    <a:pt x="307213" y="997839"/>
                  </a:lnTo>
                  <a:lnTo>
                    <a:pt x="279400" y="1025652"/>
                  </a:lnTo>
                  <a:lnTo>
                    <a:pt x="255778" y="1001268"/>
                  </a:lnTo>
                  <a:lnTo>
                    <a:pt x="221615" y="1097280"/>
                  </a:lnTo>
                  <a:lnTo>
                    <a:pt x="318643" y="1066419"/>
                  </a:lnTo>
                  <a:lnTo>
                    <a:pt x="295275" y="1042162"/>
                  </a:lnTo>
                  <a:lnTo>
                    <a:pt x="323215" y="1014984"/>
                  </a:lnTo>
                  <a:close/>
                </a:path>
                <a:path w="1136650" h="1097280">
                  <a:moveTo>
                    <a:pt x="391795" y="949833"/>
                  </a:moveTo>
                  <a:lnTo>
                    <a:pt x="374650" y="932688"/>
                  </a:lnTo>
                  <a:lnTo>
                    <a:pt x="324358" y="981837"/>
                  </a:lnTo>
                  <a:lnTo>
                    <a:pt x="340360" y="998982"/>
                  </a:lnTo>
                  <a:lnTo>
                    <a:pt x="391795" y="949833"/>
                  </a:lnTo>
                  <a:close/>
                </a:path>
                <a:path w="1136650" h="1097280">
                  <a:moveTo>
                    <a:pt x="459105" y="883539"/>
                  </a:moveTo>
                  <a:lnTo>
                    <a:pt x="443103" y="867537"/>
                  </a:lnTo>
                  <a:lnTo>
                    <a:pt x="391795" y="916686"/>
                  </a:lnTo>
                  <a:lnTo>
                    <a:pt x="408940" y="933831"/>
                  </a:lnTo>
                  <a:lnTo>
                    <a:pt x="459105" y="883539"/>
                  </a:lnTo>
                  <a:close/>
                </a:path>
                <a:path w="1136650" h="1097280">
                  <a:moveTo>
                    <a:pt x="526542" y="818388"/>
                  </a:moveTo>
                  <a:lnTo>
                    <a:pt x="510540" y="801243"/>
                  </a:lnTo>
                  <a:lnTo>
                    <a:pt x="459105" y="850392"/>
                  </a:lnTo>
                  <a:lnTo>
                    <a:pt x="476250" y="867537"/>
                  </a:lnTo>
                  <a:lnTo>
                    <a:pt x="526542" y="818388"/>
                  </a:lnTo>
                  <a:close/>
                </a:path>
                <a:path w="1136650" h="1097280">
                  <a:moveTo>
                    <a:pt x="594995" y="753237"/>
                  </a:moveTo>
                  <a:lnTo>
                    <a:pt x="577977" y="736092"/>
                  </a:lnTo>
                  <a:lnTo>
                    <a:pt x="527685" y="785241"/>
                  </a:lnTo>
                  <a:lnTo>
                    <a:pt x="543687" y="802386"/>
                  </a:lnTo>
                  <a:lnTo>
                    <a:pt x="594995" y="753237"/>
                  </a:lnTo>
                  <a:close/>
                </a:path>
                <a:path w="1136650" h="1097280">
                  <a:moveTo>
                    <a:pt x="662432" y="686943"/>
                  </a:moveTo>
                  <a:lnTo>
                    <a:pt x="646430" y="670941"/>
                  </a:lnTo>
                  <a:lnTo>
                    <a:pt x="594995" y="720090"/>
                  </a:lnTo>
                  <a:lnTo>
                    <a:pt x="610997" y="736092"/>
                  </a:lnTo>
                  <a:lnTo>
                    <a:pt x="662432" y="686943"/>
                  </a:lnTo>
                  <a:close/>
                </a:path>
                <a:path w="1136650" h="1097280">
                  <a:moveTo>
                    <a:pt x="729869" y="621792"/>
                  </a:moveTo>
                  <a:lnTo>
                    <a:pt x="713867" y="604647"/>
                  </a:lnTo>
                  <a:lnTo>
                    <a:pt x="662432" y="653796"/>
                  </a:lnTo>
                  <a:lnTo>
                    <a:pt x="679577" y="670941"/>
                  </a:lnTo>
                  <a:lnTo>
                    <a:pt x="729869" y="621792"/>
                  </a:lnTo>
                  <a:close/>
                </a:path>
                <a:path w="1136650" h="1097280">
                  <a:moveTo>
                    <a:pt x="798322" y="556641"/>
                  </a:moveTo>
                  <a:lnTo>
                    <a:pt x="781177" y="539496"/>
                  </a:lnTo>
                  <a:lnTo>
                    <a:pt x="731012" y="588645"/>
                  </a:lnTo>
                  <a:lnTo>
                    <a:pt x="747014" y="605790"/>
                  </a:lnTo>
                  <a:lnTo>
                    <a:pt x="798322" y="556641"/>
                  </a:lnTo>
                  <a:close/>
                </a:path>
                <a:path w="1136650" h="1097280">
                  <a:moveTo>
                    <a:pt x="865759" y="490347"/>
                  </a:moveTo>
                  <a:lnTo>
                    <a:pt x="849757" y="473202"/>
                  </a:lnTo>
                  <a:lnTo>
                    <a:pt x="798322" y="523494"/>
                  </a:lnTo>
                  <a:lnTo>
                    <a:pt x="814324" y="539496"/>
                  </a:lnTo>
                  <a:lnTo>
                    <a:pt x="865759" y="490347"/>
                  </a:lnTo>
                  <a:close/>
                </a:path>
                <a:path w="1136650" h="1097280">
                  <a:moveTo>
                    <a:pt x="933196" y="425196"/>
                  </a:moveTo>
                  <a:lnTo>
                    <a:pt x="917194" y="408051"/>
                  </a:lnTo>
                  <a:lnTo>
                    <a:pt x="865759" y="457200"/>
                  </a:lnTo>
                  <a:lnTo>
                    <a:pt x="882904" y="474345"/>
                  </a:lnTo>
                  <a:lnTo>
                    <a:pt x="933196" y="425196"/>
                  </a:lnTo>
                  <a:close/>
                </a:path>
                <a:path w="1136650" h="1097280">
                  <a:moveTo>
                    <a:pt x="1000506" y="360045"/>
                  </a:moveTo>
                  <a:lnTo>
                    <a:pt x="984504" y="342900"/>
                  </a:lnTo>
                  <a:lnTo>
                    <a:pt x="934212" y="392049"/>
                  </a:lnTo>
                  <a:lnTo>
                    <a:pt x="950214" y="409194"/>
                  </a:lnTo>
                  <a:lnTo>
                    <a:pt x="1000506" y="360045"/>
                  </a:lnTo>
                  <a:close/>
                </a:path>
                <a:path w="1136650" h="1097280">
                  <a:moveTo>
                    <a:pt x="1069086" y="293751"/>
                  </a:moveTo>
                  <a:lnTo>
                    <a:pt x="1051941" y="276606"/>
                  </a:lnTo>
                  <a:lnTo>
                    <a:pt x="1001649" y="325755"/>
                  </a:lnTo>
                  <a:lnTo>
                    <a:pt x="1017651" y="342900"/>
                  </a:lnTo>
                  <a:lnTo>
                    <a:pt x="1069086" y="293751"/>
                  </a:lnTo>
                  <a:close/>
                </a:path>
                <a:path w="1136650" h="1097280">
                  <a:moveTo>
                    <a:pt x="1136396" y="228600"/>
                  </a:moveTo>
                  <a:lnTo>
                    <a:pt x="1120394" y="211455"/>
                  </a:lnTo>
                  <a:lnTo>
                    <a:pt x="1069086" y="260604"/>
                  </a:lnTo>
                  <a:lnTo>
                    <a:pt x="1086231" y="277749"/>
                  </a:lnTo>
                  <a:lnTo>
                    <a:pt x="1136396" y="228600"/>
                  </a:lnTo>
                  <a:close/>
                </a:path>
                <a:path w="1136650" h="1097280">
                  <a:moveTo>
                    <a:pt x="1136396" y="0"/>
                  </a:moveTo>
                  <a:lnTo>
                    <a:pt x="1039368" y="29718"/>
                  </a:lnTo>
                  <a:lnTo>
                    <a:pt x="1062736" y="53975"/>
                  </a:lnTo>
                  <a:lnTo>
                    <a:pt x="0" y="1077849"/>
                  </a:lnTo>
                  <a:lnTo>
                    <a:pt x="16002" y="1094994"/>
                  </a:lnTo>
                  <a:lnTo>
                    <a:pt x="1078992" y="70866"/>
                  </a:lnTo>
                  <a:lnTo>
                    <a:pt x="1102233" y="94869"/>
                  </a:lnTo>
                  <a:lnTo>
                    <a:pt x="1136396" y="0"/>
                  </a:lnTo>
                  <a:close/>
                </a:path>
              </a:pathLst>
            </a:custGeom>
            <a:solidFill>
              <a:srgbClr val="000000"/>
            </a:solidFill>
          </p:spPr>
          <p:txBody>
            <a:bodyPr wrap="square" lIns="0" tIns="0" rIns="0" bIns="0" rtlCol="0"/>
            <a:lstStyle/>
            <a:p>
              <a:endParaRPr/>
            </a:p>
          </p:txBody>
        </p:sp>
        <p:pic>
          <p:nvPicPr>
            <p:cNvPr id="48" name="object 23">
              <a:extLst>
                <a:ext uri="{FF2B5EF4-FFF2-40B4-BE49-F238E27FC236}">
                  <a16:creationId xmlns:a16="http://schemas.microsoft.com/office/drawing/2014/main" id="{B0775DA9-8D5F-4504-BF67-4A0E2A9C7F39}"/>
                </a:ext>
              </a:extLst>
            </p:cNvPr>
            <p:cNvPicPr/>
            <p:nvPr/>
          </p:nvPicPr>
          <p:blipFill>
            <a:blip r:embed="rId3" cstate="print"/>
            <a:stretch>
              <a:fillRect/>
            </a:stretch>
          </p:blipFill>
          <p:spPr>
            <a:xfrm>
              <a:off x="5869559" y="2187702"/>
              <a:ext cx="134874" cy="131445"/>
            </a:xfrm>
            <a:prstGeom prst="rect">
              <a:avLst/>
            </a:prstGeom>
          </p:spPr>
        </p:pic>
      </p:grpSp>
      <p:grpSp>
        <p:nvGrpSpPr>
          <p:cNvPr id="49" name="object 24">
            <a:extLst>
              <a:ext uri="{FF2B5EF4-FFF2-40B4-BE49-F238E27FC236}">
                <a16:creationId xmlns:a16="http://schemas.microsoft.com/office/drawing/2014/main" id="{7FB12DBC-8E0F-4754-BA4C-8D6CE15954A2}"/>
              </a:ext>
            </a:extLst>
          </p:cNvPr>
          <p:cNvGrpSpPr/>
          <p:nvPr/>
        </p:nvGrpSpPr>
        <p:grpSpPr>
          <a:xfrm>
            <a:off x="5772424" y="2198964"/>
            <a:ext cx="90170" cy="1045844"/>
            <a:chOff x="6309359" y="2116835"/>
            <a:chExt cx="90170" cy="1045844"/>
          </a:xfrm>
        </p:grpSpPr>
        <p:pic>
          <p:nvPicPr>
            <p:cNvPr id="50" name="object 25">
              <a:extLst>
                <a:ext uri="{FF2B5EF4-FFF2-40B4-BE49-F238E27FC236}">
                  <a16:creationId xmlns:a16="http://schemas.microsoft.com/office/drawing/2014/main" id="{6772DF2D-10F2-421A-A369-F539F93D551E}"/>
                </a:ext>
              </a:extLst>
            </p:cNvPr>
            <p:cNvPicPr/>
            <p:nvPr/>
          </p:nvPicPr>
          <p:blipFill>
            <a:blip r:embed="rId4" cstate="print"/>
            <a:stretch>
              <a:fillRect/>
            </a:stretch>
          </p:blipFill>
          <p:spPr>
            <a:xfrm>
              <a:off x="6309359" y="2116835"/>
              <a:ext cx="89788" cy="90297"/>
            </a:xfrm>
            <a:prstGeom prst="rect">
              <a:avLst/>
            </a:prstGeom>
          </p:spPr>
        </p:pic>
        <p:sp>
          <p:nvSpPr>
            <p:cNvPr id="51" name="object 26">
              <a:extLst>
                <a:ext uri="{FF2B5EF4-FFF2-40B4-BE49-F238E27FC236}">
                  <a16:creationId xmlns:a16="http://schemas.microsoft.com/office/drawing/2014/main" id="{1D3C8F99-1F2E-4203-B2A5-3CDDECE886DF}"/>
                </a:ext>
              </a:extLst>
            </p:cNvPr>
            <p:cNvSpPr/>
            <p:nvPr/>
          </p:nvSpPr>
          <p:spPr>
            <a:xfrm>
              <a:off x="6342379" y="2207132"/>
              <a:ext cx="28575" cy="955675"/>
            </a:xfrm>
            <a:custGeom>
              <a:avLst/>
              <a:gdLst/>
              <a:ahLst/>
              <a:cxnLst/>
              <a:rect l="l" t="t" r="r" b="b"/>
              <a:pathLst>
                <a:path w="28575" h="955675">
                  <a:moveTo>
                    <a:pt x="23875" y="0"/>
                  </a:moveTo>
                  <a:lnTo>
                    <a:pt x="0" y="0"/>
                  </a:lnTo>
                  <a:lnTo>
                    <a:pt x="4445" y="955166"/>
                  </a:lnTo>
                  <a:lnTo>
                    <a:pt x="28321" y="955166"/>
                  </a:lnTo>
                  <a:lnTo>
                    <a:pt x="23875" y="0"/>
                  </a:lnTo>
                  <a:close/>
                </a:path>
              </a:pathLst>
            </a:custGeom>
            <a:solidFill>
              <a:srgbClr val="000000"/>
            </a:solidFill>
          </p:spPr>
          <p:txBody>
            <a:bodyPr wrap="square" lIns="0" tIns="0" rIns="0" bIns="0" rtlCol="0"/>
            <a:lstStyle/>
            <a:p>
              <a:endParaRPr/>
            </a:p>
          </p:txBody>
        </p:sp>
      </p:grpSp>
      <p:grpSp>
        <p:nvGrpSpPr>
          <p:cNvPr id="52" name="object 27">
            <a:extLst>
              <a:ext uri="{FF2B5EF4-FFF2-40B4-BE49-F238E27FC236}">
                <a16:creationId xmlns:a16="http://schemas.microsoft.com/office/drawing/2014/main" id="{9CAB1944-BF33-4D0A-9AA2-233B4A44C50D}"/>
              </a:ext>
            </a:extLst>
          </p:cNvPr>
          <p:cNvGrpSpPr/>
          <p:nvPr/>
        </p:nvGrpSpPr>
        <p:grpSpPr>
          <a:xfrm>
            <a:off x="6115324" y="2177629"/>
            <a:ext cx="1557655" cy="1074420"/>
            <a:chOff x="6652259" y="2095500"/>
            <a:chExt cx="1557655" cy="1074420"/>
          </a:xfrm>
        </p:grpSpPr>
        <p:sp>
          <p:nvSpPr>
            <p:cNvPr id="53" name="object 28">
              <a:extLst>
                <a:ext uri="{FF2B5EF4-FFF2-40B4-BE49-F238E27FC236}">
                  <a16:creationId xmlns:a16="http://schemas.microsoft.com/office/drawing/2014/main" id="{DE51A3C9-2683-471D-BD91-3B10A18C249E}"/>
                </a:ext>
              </a:extLst>
            </p:cNvPr>
            <p:cNvSpPr/>
            <p:nvPr/>
          </p:nvSpPr>
          <p:spPr>
            <a:xfrm>
              <a:off x="6652247" y="2095499"/>
              <a:ext cx="1283335" cy="1074420"/>
            </a:xfrm>
            <a:custGeom>
              <a:avLst/>
              <a:gdLst/>
              <a:ahLst/>
              <a:cxnLst/>
              <a:rect l="l" t="t" r="r" b="b"/>
              <a:pathLst>
                <a:path w="1283334" h="1074420">
                  <a:moveTo>
                    <a:pt x="282206" y="49149"/>
                  </a:moveTo>
                  <a:lnTo>
                    <a:pt x="226199" y="5715"/>
                  </a:lnTo>
                  <a:lnTo>
                    <a:pt x="211340" y="24003"/>
                  </a:lnTo>
                  <a:lnTo>
                    <a:pt x="267347" y="68580"/>
                  </a:lnTo>
                  <a:lnTo>
                    <a:pt x="282206" y="49149"/>
                  </a:lnTo>
                  <a:close/>
                </a:path>
                <a:path w="1283334" h="1074420">
                  <a:moveTo>
                    <a:pt x="355358" y="108585"/>
                  </a:moveTo>
                  <a:lnTo>
                    <a:pt x="300494" y="64008"/>
                  </a:lnTo>
                  <a:lnTo>
                    <a:pt x="285635" y="82296"/>
                  </a:lnTo>
                  <a:lnTo>
                    <a:pt x="340499" y="126873"/>
                  </a:lnTo>
                  <a:lnTo>
                    <a:pt x="355358" y="108585"/>
                  </a:lnTo>
                  <a:close/>
                </a:path>
                <a:path w="1283334" h="1074420">
                  <a:moveTo>
                    <a:pt x="429526" y="166878"/>
                  </a:moveTo>
                  <a:lnTo>
                    <a:pt x="373646" y="122301"/>
                  </a:lnTo>
                  <a:lnTo>
                    <a:pt x="359930" y="141732"/>
                  </a:lnTo>
                  <a:lnTo>
                    <a:pt x="414667" y="185166"/>
                  </a:lnTo>
                  <a:lnTo>
                    <a:pt x="429526" y="166878"/>
                  </a:lnTo>
                  <a:close/>
                </a:path>
                <a:path w="1283334" h="1074420">
                  <a:moveTo>
                    <a:pt x="503821" y="225171"/>
                  </a:moveTo>
                  <a:lnTo>
                    <a:pt x="447814" y="181737"/>
                  </a:lnTo>
                  <a:lnTo>
                    <a:pt x="432955" y="200025"/>
                  </a:lnTo>
                  <a:lnTo>
                    <a:pt x="488962" y="243459"/>
                  </a:lnTo>
                  <a:lnTo>
                    <a:pt x="503821" y="225171"/>
                  </a:lnTo>
                  <a:close/>
                </a:path>
                <a:path w="1283334" h="1074420">
                  <a:moveTo>
                    <a:pt x="576973" y="283464"/>
                  </a:moveTo>
                  <a:lnTo>
                    <a:pt x="522109" y="240030"/>
                  </a:lnTo>
                  <a:lnTo>
                    <a:pt x="507250" y="258318"/>
                  </a:lnTo>
                  <a:lnTo>
                    <a:pt x="563257" y="301752"/>
                  </a:lnTo>
                  <a:lnTo>
                    <a:pt x="576973" y="283464"/>
                  </a:lnTo>
                  <a:close/>
                </a:path>
                <a:path w="1283334" h="1074420">
                  <a:moveTo>
                    <a:pt x="651141" y="341757"/>
                  </a:moveTo>
                  <a:lnTo>
                    <a:pt x="596404" y="298323"/>
                  </a:lnTo>
                  <a:lnTo>
                    <a:pt x="581545" y="316611"/>
                  </a:lnTo>
                  <a:lnTo>
                    <a:pt x="636409" y="360045"/>
                  </a:lnTo>
                  <a:lnTo>
                    <a:pt x="651141" y="341757"/>
                  </a:lnTo>
                  <a:close/>
                </a:path>
                <a:path w="1283334" h="1074420">
                  <a:moveTo>
                    <a:pt x="725436" y="400050"/>
                  </a:moveTo>
                  <a:lnTo>
                    <a:pt x="669429" y="356616"/>
                  </a:lnTo>
                  <a:lnTo>
                    <a:pt x="655713" y="374904"/>
                  </a:lnTo>
                  <a:lnTo>
                    <a:pt x="710577" y="419481"/>
                  </a:lnTo>
                  <a:lnTo>
                    <a:pt x="725436" y="400050"/>
                  </a:lnTo>
                  <a:close/>
                </a:path>
                <a:path w="1283334" h="1074420">
                  <a:moveTo>
                    <a:pt x="799731" y="459486"/>
                  </a:moveTo>
                  <a:lnTo>
                    <a:pt x="743724" y="414909"/>
                  </a:lnTo>
                  <a:lnTo>
                    <a:pt x="728865" y="433197"/>
                  </a:lnTo>
                  <a:lnTo>
                    <a:pt x="784872" y="477774"/>
                  </a:lnTo>
                  <a:lnTo>
                    <a:pt x="799731" y="459486"/>
                  </a:lnTo>
                  <a:close/>
                </a:path>
                <a:path w="1283334" h="1074420">
                  <a:moveTo>
                    <a:pt x="872883" y="517779"/>
                  </a:moveTo>
                  <a:lnTo>
                    <a:pt x="818019" y="473202"/>
                  </a:lnTo>
                  <a:lnTo>
                    <a:pt x="803160" y="492633"/>
                  </a:lnTo>
                  <a:lnTo>
                    <a:pt x="859167" y="536067"/>
                  </a:lnTo>
                  <a:lnTo>
                    <a:pt x="872883" y="517779"/>
                  </a:lnTo>
                  <a:close/>
                </a:path>
                <a:path w="1283334" h="1074420">
                  <a:moveTo>
                    <a:pt x="947051" y="576072"/>
                  </a:moveTo>
                  <a:lnTo>
                    <a:pt x="892314" y="531495"/>
                  </a:lnTo>
                  <a:lnTo>
                    <a:pt x="877455" y="550926"/>
                  </a:lnTo>
                  <a:lnTo>
                    <a:pt x="932192" y="594360"/>
                  </a:lnTo>
                  <a:lnTo>
                    <a:pt x="947051" y="576072"/>
                  </a:lnTo>
                  <a:close/>
                </a:path>
                <a:path w="1283334" h="1074420">
                  <a:moveTo>
                    <a:pt x="1021346" y="634365"/>
                  </a:moveTo>
                  <a:lnTo>
                    <a:pt x="965339" y="590931"/>
                  </a:lnTo>
                  <a:lnTo>
                    <a:pt x="950480" y="609219"/>
                  </a:lnTo>
                  <a:lnTo>
                    <a:pt x="1006487" y="652653"/>
                  </a:lnTo>
                  <a:lnTo>
                    <a:pt x="1021346" y="634365"/>
                  </a:lnTo>
                  <a:close/>
                </a:path>
                <a:path w="1283334" h="1074420">
                  <a:moveTo>
                    <a:pt x="1095641" y="692658"/>
                  </a:moveTo>
                  <a:lnTo>
                    <a:pt x="1039634" y="649224"/>
                  </a:lnTo>
                  <a:lnTo>
                    <a:pt x="1024775" y="667512"/>
                  </a:lnTo>
                  <a:lnTo>
                    <a:pt x="1080782" y="710946"/>
                  </a:lnTo>
                  <a:lnTo>
                    <a:pt x="1095641" y="692658"/>
                  </a:lnTo>
                  <a:close/>
                </a:path>
                <a:path w="1283334" h="1074420">
                  <a:moveTo>
                    <a:pt x="1168666" y="750951"/>
                  </a:moveTo>
                  <a:lnTo>
                    <a:pt x="1113929" y="707517"/>
                  </a:lnTo>
                  <a:lnTo>
                    <a:pt x="1099070" y="725805"/>
                  </a:lnTo>
                  <a:lnTo>
                    <a:pt x="1153934" y="770382"/>
                  </a:lnTo>
                  <a:lnTo>
                    <a:pt x="1168666" y="750951"/>
                  </a:lnTo>
                  <a:close/>
                </a:path>
                <a:path w="1283334" h="1074420">
                  <a:moveTo>
                    <a:pt x="1242961" y="809244"/>
                  </a:moveTo>
                  <a:lnTo>
                    <a:pt x="1186954" y="765810"/>
                  </a:lnTo>
                  <a:lnTo>
                    <a:pt x="1173238" y="784098"/>
                  </a:lnTo>
                  <a:lnTo>
                    <a:pt x="1228102" y="828675"/>
                  </a:lnTo>
                  <a:lnTo>
                    <a:pt x="1242961" y="809244"/>
                  </a:lnTo>
                  <a:close/>
                </a:path>
                <a:path w="1283334" h="1074420">
                  <a:moveTo>
                    <a:pt x="1282966" y="1056132"/>
                  </a:moveTo>
                  <a:lnTo>
                    <a:pt x="76720" y="49657"/>
                  </a:lnTo>
                  <a:lnTo>
                    <a:pt x="98310" y="24003"/>
                  </a:lnTo>
                  <a:lnTo>
                    <a:pt x="0" y="0"/>
                  </a:lnTo>
                  <a:lnTo>
                    <a:pt x="40017" y="93726"/>
                  </a:lnTo>
                  <a:lnTo>
                    <a:pt x="61607" y="67818"/>
                  </a:lnTo>
                  <a:lnTo>
                    <a:pt x="1268107" y="1074420"/>
                  </a:lnTo>
                  <a:lnTo>
                    <a:pt x="1282966" y="1056132"/>
                  </a:lnTo>
                  <a:close/>
                </a:path>
              </a:pathLst>
            </a:custGeom>
            <a:solidFill>
              <a:srgbClr val="000000"/>
            </a:solidFill>
          </p:spPr>
          <p:txBody>
            <a:bodyPr wrap="square" lIns="0" tIns="0" rIns="0" bIns="0" rtlCol="0"/>
            <a:lstStyle/>
            <a:p>
              <a:endParaRPr/>
            </a:p>
          </p:txBody>
        </p:sp>
        <p:pic>
          <p:nvPicPr>
            <p:cNvPr id="54" name="object 29">
              <a:extLst>
                <a:ext uri="{FF2B5EF4-FFF2-40B4-BE49-F238E27FC236}">
                  <a16:creationId xmlns:a16="http://schemas.microsoft.com/office/drawing/2014/main" id="{6917ECDC-2BA5-41A1-9BF9-101785DC1B1D}"/>
                </a:ext>
              </a:extLst>
            </p:cNvPr>
            <p:cNvPicPr/>
            <p:nvPr/>
          </p:nvPicPr>
          <p:blipFill>
            <a:blip r:embed="rId5" cstate="print"/>
            <a:stretch>
              <a:fillRect/>
            </a:stretch>
          </p:blipFill>
          <p:spPr>
            <a:xfrm>
              <a:off x="7898637" y="2919602"/>
              <a:ext cx="310768" cy="249174"/>
            </a:xfrm>
            <a:prstGeom prst="rect">
              <a:avLst/>
            </a:prstGeom>
          </p:spPr>
        </p:pic>
      </p:grpSp>
      <p:grpSp>
        <p:nvGrpSpPr>
          <p:cNvPr id="55" name="object 30">
            <a:extLst>
              <a:ext uri="{FF2B5EF4-FFF2-40B4-BE49-F238E27FC236}">
                <a16:creationId xmlns:a16="http://schemas.microsoft.com/office/drawing/2014/main" id="{AEA38BE8-74FB-46AF-AC37-F10843BAE47A}"/>
              </a:ext>
            </a:extLst>
          </p:cNvPr>
          <p:cNvGrpSpPr/>
          <p:nvPr/>
        </p:nvGrpSpPr>
        <p:grpSpPr>
          <a:xfrm>
            <a:off x="5926349" y="2218777"/>
            <a:ext cx="90170" cy="1026794"/>
            <a:chOff x="6463284" y="2136648"/>
            <a:chExt cx="90170" cy="1026794"/>
          </a:xfrm>
        </p:grpSpPr>
        <p:sp>
          <p:nvSpPr>
            <p:cNvPr id="56" name="object 31">
              <a:extLst>
                <a:ext uri="{FF2B5EF4-FFF2-40B4-BE49-F238E27FC236}">
                  <a16:creationId xmlns:a16="http://schemas.microsoft.com/office/drawing/2014/main" id="{59072A6D-FCCE-4B21-A630-FCF1A34FBF49}"/>
                </a:ext>
              </a:extLst>
            </p:cNvPr>
            <p:cNvSpPr/>
            <p:nvPr/>
          </p:nvSpPr>
          <p:spPr>
            <a:xfrm>
              <a:off x="6497320" y="2136647"/>
              <a:ext cx="26670" cy="825500"/>
            </a:xfrm>
            <a:custGeom>
              <a:avLst/>
              <a:gdLst/>
              <a:ahLst/>
              <a:cxnLst/>
              <a:rect l="l" t="t" r="r" b="b"/>
              <a:pathLst>
                <a:path w="26670" h="825500">
                  <a:moveTo>
                    <a:pt x="22707" y="754608"/>
                  </a:moveTo>
                  <a:lnTo>
                    <a:pt x="0" y="754608"/>
                  </a:lnTo>
                  <a:lnTo>
                    <a:pt x="0" y="825500"/>
                  </a:lnTo>
                  <a:lnTo>
                    <a:pt x="22707" y="825500"/>
                  </a:lnTo>
                  <a:lnTo>
                    <a:pt x="22707" y="754608"/>
                  </a:lnTo>
                  <a:close/>
                </a:path>
                <a:path w="26670" h="825500">
                  <a:moveTo>
                    <a:pt x="23850" y="660882"/>
                  </a:moveTo>
                  <a:lnTo>
                    <a:pt x="0" y="660882"/>
                  </a:lnTo>
                  <a:lnTo>
                    <a:pt x="0" y="731774"/>
                  </a:lnTo>
                  <a:lnTo>
                    <a:pt x="23850" y="731774"/>
                  </a:lnTo>
                  <a:lnTo>
                    <a:pt x="23850" y="660882"/>
                  </a:lnTo>
                  <a:close/>
                </a:path>
                <a:path w="26670" h="825500">
                  <a:moveTo>
                    <a:pt x="23876" y="566039"/>
                  </a:moveTo>
                  <a:lnTo>
                    <a:pt x="1143" y="566039"/>
                  </a:lnTo>
                  <a:lnTo>
                    <a:pt x="0" y="636905"/>
                  </a:lnTo>
                  <a:lnTo>
                    <a:pt x="23876" y="636905"/>
                  </a:lnTo>
                  <a:lnTo>
                    <a:pt x="23876" y="566039"/>
                  </a:lnTo>
                  <a:close/>
                </a:path>
                <a:path w="26670" h="825500">
                  <a:moveTo>
                    <a:pt x="24993" y="377291"/>
                  </a:moveTo>
                  <a:lnTo>
                    <a:pt x="1143" y="377291"/>
                  </a:lnTo>
                  <a:lnTo>
                    <a:pt x="1143" y="448183"/>
                  </a:lnTo>
                  <a:lnTo>
                    <a:pt x="24993" y="448183"/>
                  </a:lnTo>
                  <a:lnTo>
                    <a:pt x="24993" y="377291"/>
                  </a:lnTo>
                  <a:close/>
                </a:path>
                <a:path w="26670" h="825500">
                  <a:moveTo>
                    <a:pt x="25019" y="472186"/>
                  </a:moveTo>
                  <a:lnTo>
                    <a:pt x="1143" y="472186"/>
                  </a:lnTo>
                  <a:lnTo>
                    <a:pt x="1143" y="543179"/>
                  </a:lnTo>
                  <a:lnTo>
                    <a:pt x="23876" y="543179"/>
                  </a:lnTo>
                  <a:lnTo>
                    <a:pt x="25019" y="472186"/>
                  </a:lnTo>
                  <a:close/>
                </a:path>
                <a:path w="26670" h="825500">
                  <a:moveTo>
                    <a:pt x="25019" y="283591"/>
                  </a:moveTo>
                  <a:lnTo>
                    <a:pt x="2286" y="283591"/>
                  </a:lnTo>
                  <a:lnTo>
                    <a:pt x="1143" y="354457"/>
                  </a:lnTo>
                  <a:lnTo>
                    <a:pt x="25019" y="354457"/>
                  </a:lnTo>
                  <a:lnTo>
                    <a:pt x="25019" y="283591"/>
                  </a:lnTo>
                  <a:close/>
                </a:path>
                <a:path w="26670" h="825500">
                  <a:moveTo>
                    <a:pt x="26136" y="94843"/>
                  </a:moveTo>
                  <a:lnTo>
                    <a:pt x="2286" y="94843"/>
                  </a:lnTo>
                  <a:lnTo>
                    <a:pt x="2286" y="165735"/>
                  </a:lnTo>
                  <a:lnTo>
                    <a:pt x="26136" y="165735"/>
                  </a:lnTo>
                  <a:lnTo>
                    <a:pt x="26136" y="94843"/>
                  </a:lnTo>
                  <a:close/>
                </a:path>
                <a:path w="26670" h="825500">
                  <a:moveTo>
                    <a:pt x="26149" y="188722"/>
                  </a:moveTo>
                  <a:lnTo>
                    <a:pt x="2286" y="188722"/>
                  </a:lnTo>
                  <a:lnTo>
                    <a:pt x="2286" y="259588"/>
                  </a:lnTo>
                  <a:lnTo>
                    <a:pt x="25019" y="259588"/>
                  </a:lnTo>
                  <a:lnTo>
                    <a:pt x="26149" y="188722"/>
                  </a:lnTo>
                  <a:close/>
                </a:path>
                <a:path w="26670" h="825500">
                  <a:moveTo>
                    <a:pt x="26149" y="0"/>
                  </a:moveTo>
                  <a:lnTo>
                    <a:pt x="3429" y="0"/>
                  </a:lnTo>
                  <a:lnTo>
                    <a:pt x="2286" y="70866"/>
                  </a:lnTo>
                  <a:lnTo>
                    <a:pt x="26149" y="70866"/>
                  </a:lnTo>
                  <a:lnTo>
                    <a:pt x="26149" y="0"/>
                  </a:lnTo>
                  <a:close/>
                </a:path>
              </a:pathLst>
            </a:custGeom>
            <a:solidFill>
              <a:srgbClr val="000000"/>
            </a:solidFill>
          </p:spPr>
          <p:txBody>
            <a:bodyPr wrap="square" lIns="0" tIns="0" rIns="0" bIns="0" rtlCol="0"/>
            <a:lstStyle/>
            <a:p>
              <a:endParaRPr/>
            </a:p>
          </p:txBody>
        </p:sp>
        <p:pic>
          <p:nvPicPr>
            <p:cNvPr id="57" name="object 32">
              <a:extLst>
                <a:ext uri="{FF2B5EF4-FFF2-40B4-BE49-F238E27FC236}">
                  <a16:creationId xmlns:a16="http://schemas.microsoft.com/office/drawing/2014/main" id="{CE3E8549-3EE3-46EB-B48D-72D3551F27BB}"/>
                </a:ext>
              </a:extLst>
            </p:cNvPr>
            <p:cNvPicPr/>
            <p:nvPr/>
          </p:nvPicPr>
          <p:blipFill>
            <a:blip r:embed="rId6" cstate="print"/>
            <a:stretch>
              <a:fillRect/>
            </a:stretch>
          </p:blipFill>
          <p:spPr>
            <a:xfrm>
              <a:off x="6463284" y="2986151"/>
              <a:ext cx="89788" cy="177291"/>
            </a:xfrm>
            <a:prstGeom prst="rect">
              <a:avLst/>
            </a:prstGeom>
          </p:spPr>
        </p:pic>
      </p:grpSp>
      <p:sp>
        <p:nvSpPr>
          <p:cNvPr id="58" name="object 33">
            <a:extLst>
              <a:ext uri="{FF2B5EF4-FFF2-40B4-BE49-F238E27FC236}">
                <a16:creationId xmlns:a16="http://schemas.microsoft.com/office/drawing/2014/main" id="{DFAB704F-F777-4910-B48D-474559F00978}"/>
              </a:ext>
            </a:extLst>
          </p:cNvPr>
          <p:cNvSpPr txBox="1"/>
          <p:nvPr/>
        </p:nvSpPr>
        <p:spPr>
          <a:xfrm>
            <a:off x="5449463" y="5894403"/>
            <a:ext cx="937895" cy="452047"/>
          </a:xfrm>
          <a:prstGeom prst="rect">
            <a:avLst/>
          </a:prstGeom>
        </p:spPr>
        <p:txBody>
          <a:bodyPr vert="horz" wrap="square" lIns="0" tIns="13335" rIns="0" bIns="0" rtlCol="0">
            <a:spAutoFit/>
          </a:bodyPr>
          <a:lstStyle/>
          <a:p>
            <a:pPr marL="12700">
              <a:lnSpc>
                <a:spcPct val="100000"/>
              </a:lnSpc>
              <a:spcBef>
                <a:spcPts val="105"/>
              </a:spcBef>
            </a:pPr>
            <a:r>
              <a:rPr sz="2850" b="1" spc="5" dirty="0">
                <a:latin typeface="Arial"/>
                <a:cs typeface="Arial"/>
              </a:rPr>
              <a:t>Α</a:t>
            </a:r>
            <a:r>
              <a:rPr sz="2850" b="1" spc="-305" dirty="0">
                <a:latin typeface="Arial"/>
                <a:cs typeface="Arial"/>
              </a:rPr>
              <a:t> </a:t>
            </a:r>
            <a:r>
              <a:rPr sz="2850" dirty="0">
                <a:latin typeface="Arial"/>
                <a:cs typeface="Arial"/>
              </a:rPr>
              <a:t>×</a:t>
            </a:r>
            <a:r>
              <a:rPr sz="2850" spc="-459" dirty="0">
                <a:latin typeface="Arial"/>
                <a:cs typeface="Arial"/>
              </a:rPr>
              <a:t> </a:t>
            </a:r>
            <a:r>
              <a:rPr sz="2850" b="1" spc="5" dirty="0">
                <a:latin typeface="Arial"/>
                <a:cs typeface="Arial"/>
              </a:rPr>
              <a:t>Χ</a:t>
            </a:r>
            <a:endParaRPr sz="2850" dirty="0">
              <a:latin typeface="Arial"/>
              <a:cs typeface="Arial"/>
            </a:endParaRPr>
          </a:p>
        </p:txBody>
      </p:sp>
      <p:sp>
        <p:nvSpPr>
          <p:cNvPr id="59" name="object 35">
            <a:extLst>
              <a:ext uri="{FF2B5EF4-FFF2-40B4-BE49-F238E27FC236}">
                <a16:creationId xmlns:a16="http://schemas.microsoft.com/office/drawing/2014/main" id="{B60AF03F-93AB-4CDA-8FDB-5ADA45A0DC2D}"/>
              </a:ext>
            </a:extLst>
          </p:cNvPr>
          <p:cNvSpPr txBox="1"/>
          <p:nvPr/>
        </p:nvSpPr>
        <p:spPr>
          <a:xfrm>
            <a:off x="3934226" y="1456326"/>
            <a:ext cx="6931025" cy="391774"/>
          </a:xfrm>
          <a:prstGeom prst="rect">
            <a:avLst/>
          </a:prstGeom>
        </p:spPr>
        <p:txBody>
          <a:bodyPr vert="horz" wrap="square" lIns="0" tIns="67945" rIns="0" bIns="0" rtlCol="0">
            <a:spAutoFit/>
          </a:bodyPr>
          <a:lstStyle/>
          <a:p>
            <a:pPr marL="12700">
              <a:lnSpc>
                <a:spcPct val="100000"/>
              </a:lnSpc>
              <a:spcBef>
                <a:spcPts val="535"/>
              </a:spcBef>
            </a:pPr>
            <a:r>
              <a:rPr sz="2100" spc="15" dirty="0">
                <a:latin typeface="Times New Roman"/>
                <a:cs typeface="Times New Roman"/>
              </a:rPr>
              <a:t>Access</a:t>
            </a:r>
            <a:r>
              <a:rPr sz="2100" spc="-75" dirty="0">
                <a:latin typeface="Times New Roman"/>
                <a:cs typeface="Times New Roman"/>
              </a:rPr>
              <a:t> </a:t>
            </a:r>
            <a:r>
              <a:rPr sz="2100" spc="15" dirty="0">
                <a:latin typeface="Times New Roman"/>
                <a:cs typeface="Times New Roman"/>
              </a:rPr>
              <a:t>Point</a:t>
            </a:r>
            <a:endParaRPr sz="2100" dirty="0">
              <a:latin typeface="Times New Roman"/>
              <a:cs typeface="Times New Roman"/>
            </a:endParaRPr>
          </a:p>
        </p:txBody>
      </p:sp>
      <p:sp>
        <p:nvSpPr>
          <p:cNvPr id="60" name="object 36">
            <a:extLst>
              <a:ext uri="{FF2B5EF4-FFF2-40B4-BE49-F238E27FC236}">
                <a16:creationId xmlns:a16="http://schemas.microsoft.com/office/drawing/2014/main" id="{16A95704-3FF4-4472-A13D-F01131288BC6}"/>
              </a:ext>
            </a:extLst>
          </p:cNvPr>
          <p:cNvSpPr/>
          <p:nvPr/>
        </p:nvSpPr>
        <p:spPr>
          <a:xfrm>
            <a:off x="7395993" y="2288754"/>
            <a:ext cx="798195" cy="495300"/>
          </a:xfrm>
          <a:custGeom>
            <a:avLst/>
            <a:gdLst/>
            <a:ahLst/>
            <a:cxnLst/>
            <a:rect l="l" t="t" r="r" b="b"/>
            <a:pathLst>
              <a:path w="798195" h="495300">
                <a:moveTo>
                  <a:pt x="279653" y="46862"/>
                </a:moveTo>
                <a:lnTo>
                  <a:pt x="327278" y="159130"/>
                </a:lnTo>
                <a:lnTo>
                  <a:pt x="703199" y="0"/>
                </a:lnTo>
                <a:lnTo>
                  <a:pt x="797941" y="223774"/>
                </a:lnTo>
                <a:lnTo>
                  <a:pt x="422021" y="383032"/>
                </a:lnTo>
                <a:lnTo>
                  <a:pt x="469519" y="495300"/>
                </a:lnTo>
                <a:lnTo>
                  <a:pt x="0" y="429260"/>
                </a:lnTo>
                <a:lnTo>
                  <a:pt x="279653" y="46862"/>
                </a:lnTo>
                <a:close/>
              </a:path>
            </a:pathLst>
          </a:custGeom>
          <a:ln w="45718">
            <a:solidFill>
              <a:srgbClr val="000000"/>
            </a:solidFill>
          </a:ln>
        </p:spPr>
        <p:txBody>
          <a:bodyPr wrap="square" lIns="0" tIns="0" rIns="0" bIns="0" rtlCol="0"/>
          <a:lstStyle/>
          <a:p>
            <a:endParaRPr/>
          </a:p>
        </p:txBody>
      </p:sp>
      <p:pic>
        <p:nvPicPr>
          <p:cNvPr id="61" name="图形 56">
            <a:extLst>
              <a:ext uri="{FF2B5EF4-FFF2-40B4-BE49-F238E27FC236}">
                <a16:creationId xmlns:a16="http://schemas.microsoft.com/office/drawing/2014/main" id="{8E1396FA-B076-41AE-B4F3-93D9AE0201FB}"/>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474561" y="1232214"/>
            <a:ext cx="798543" cy="798543"/>
          </a:xfrm>
          <a:prstGeom prst="rect">
            <a:avLst/>
          </a:prstGeom>
        </p:spPr>
      </p:pic>
      <p:sp>
        <p:nvSpPr>
          <p:cNvPr id="62" name="矩形 61">
            <a:extLst>
              <a:ext uri="{FF2B5EF4-FFF2-40B4-BE49-F238E27FC236}">
                <a16:creationId xmlns:a16="http://schemas.microsoft.com/office/drawing/2014/main" id="{95B5F17D-8FA8-469C-8C82-19A98F352A44}"/>
              </a:ext>
            </a:extLst>
          </p:cNvPr>
          <p:cNvSpPr/>
          <p:nvPr/>
        </p:nvSpPr>
        <p:spPr>
          <a:xfrm>
            <a:off x="4195085" y="1762320"/>
            <a:ext cx="7853358" cy="415498"/>
          </a:xfrm>
          <a:prstGeom prst="rect">
            <a:avLst/>
          </a:prstGeom>
        </p:spPr>
        <p:txBody>
          <a:bodyPr wrap="square">
            <a:spAutoFit/>
          </a:bodyPr>
          <a:lstStyle/>
          <a:p>
            <a:pPr marL="2752725" lvl="0">
              <a:spcBef>
                <a:spcPts val="400"/>
              </a:spcBef>
            </a:pPr>
            <a:r>
              <a:rPr lang="en-US" altLang="zh-CN" sz="2100" dirty="0">
                <a:solidFill>
                  <a:prstClr val="black"/>
                </a:solidFill>
                <a:latin typeface="Times New Roman"/>
                <a:cs typeface="Times New Roman"/>
              </a:rPr>
              <a:t>Reduce </a:t>
            </a:r>
            <a:r>
              <a:rPr lang="en-US" altLang="zh-CN" sz="2100" spc="-5" dirty="0">
                <a:solidFill>
                  <a:prstClr val="black"/>
                </a:solidFill>
                <a:latin typeface="Times New Roman"/>
                <a:cs typeface="Times New Roman"/>
              </a:rPr>
              <a:t>transmission </a:t>
            </a:r>
            <a:r>
              <a:rPr lang="en-US" altLang="zh-CN" sz="2100" dirty="0">
                <a:solidFill>
                  <a:prstClr val="black"/>
                </a:solidFill>
                <a:latin typeface="Times New Roman"/>
                <a:cs typeface="Times New Roman"/>
              </a:rPr>
              <a:t>loads using</a:t>
            </a:r>
            <a:r>
              <a:rPr lang="en-US" altLang="zh-CN" sz="2100" spc="-55" dirty="0">
                <a:solidFill>
                  <a:prstClr val="black"/>
                </a:solidFill>
                <a:latin typeface="Times New Roman"/>
                <a:cs typeface="Times New Roman"/>
              </a:rPr>
              <a:t> </a:t>
            </a:r>
            <a:r>
              <a:rPr lang="en-US" altLang="zh-CN" sz="2100" dirty="0">
                <a:solidFill>
                  <a:prstClr val="black"/>
                </a:solidFill>
                <a:latin typeface="Times New Roman"/>
                <a:cs typeface="Times New Roman"/>
              </a:rPr>
              <a:t>codes</a:t>
            </a:r>
          </a:p>
        </p:txBody>
      </p:sp>
      <p:sp>
        <p:nvSpPr>
          <p:cNvPr id="3" name="灯片编号占位符 2">
            <a:extLst>
              <a:ext uri="{FF2B5EF4-FFF2-40B4-BE49-F238E27FC236}">
                <a16:creationId xmlns:a16="http://schemas.microsoft.com/office/drawing/2014/main" id="{0C3153F6-F02A-46EB-94AE-4A95CA2ACAF9}"/>
              </a:ext>
            </a:extLst>
          </p:cNvPr>
          <p:cNvSpPr>
            <a:spLocks noGrp="1"/>
          </p:cNvSpPr>
          <p:nvPr>
            <p:ph type="sldNum" sz="quarter" idx="12"/>
          </p:nvPr>
        </p:nvSpPr>
        <p:spPr/>
        <p:txBody>
          <a:bodyPr/>
          <a:lstStyle/>
          <a:p>
            <a:fld id="{B125EA80-F692-46D2-AFCC-CA48803B46EF}" type="slidenum">
              <a:rPr lang="zh-CN" altLang="en-US" smtClean="0"/>
              <a:t>10</a:t>
            </a:fld>
            <a:endParaRPr lang="zh-CN" altLang="en-US" dirty="0"/>
          </a:p>
        </p:txBody>
      </p:sp>
    </p:spTree>
    <p:extLst>
      <p:ext uri="{BB962C8B-B14F-4D97-AF65-F5344CB8AC3E}">
        <p14:creationId xmlns:p14="http://schemas.microsoft.com/office/powerpoint/2010/main" val="2526159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500"/>
                                        <p:tgtEl>
                                          <p:spTgt spid="2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8"/>
                                        </p:tgtEl>
                                        <p:attrNameLst>
                                          <p:attrName>style.visibility</p:attrName>
                                        </p:attrNameLst>
                                      </p:cBhvr>
                                      <p:to>
                                        <p:strVal val="visible"/>
                                      </p:to>
                                    </p:set>
                                    <p:animEffect transition="in" filter="fade">
                                      <p:cBhvr>
                                        <p:cTn id="10" dur="500"/>
                                        <p:tgtEl>
                                          <p:spTgt spid="5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8"/>
                                        </p:tgtEl>
                                        <p:attrNameLst>
                                          <p:attrName>style.visibility</p:attrName>
                                        </p:attrNameLst>
                                      </p:cBhvr>
                                      <p:to>
                                        <p:strVal val="visible"/>
                                      </p:to>
                                    </p:set>
                                    <p:animEffect transition="in" filter="fade">
                                      <p:cBhvr>
                                        <p:cTn id="13" dur="500"/>
                                        <p:tgtEl>
                                          <p:spTgt spid="2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9"/>
                                        </p:tgtEl>
                                        <p:attrNameLst>
                                          <p:attrName>style.visibility</p:attrName>
                                        </p:attrNameLst>
                                      </p:cBhvr>
                                      <p:to>
                                        <p:strVal val="visible"/>
                                      </p:to>
                                    </p:set>
                                    <p:animEffect transition="in" filter="fade">
                                      <p:cBhvr>
                                        <p:cTn id="16" dur="500"/>
                                        <p:tgtEl>
                                          <p:spTgt spid="2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fade">
                                      <p:cBhvr>
                                        <p:cTn id="19" dur="500"/>
                                        <p:tgtEl>
                                          <p:spTgt spid="3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500"/>
                                        <p:tgtEl>
                                          <p:spTgt spid="3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2"/>
                                        </p:tgtEl>
                                        <p:attrNameLst>
                                          <p:attrName>style.visibility</p:attrName>
                                        </p:attrNameLst>
                                      </p:cBhvr>
                                      <p:to>
                                        <p:strVal val="visible"/>
                                      </p:to>
                                    </p:set>
                                    <p:animEffect transition="in" filter="fade">
                                      <p:cBhvr>
                                        <p:cTn id="25" dur="500"/>
                                        <p:tgtEl>
                                          <p:spTgt spid="3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3"/>
                                        </p:tgtEl>
                                        <p:attrNameLst>
                                          <p:attrName>style.visibility</p:attrName>
                                        </p:attrNameLst>
                                      </p:cBhvr>
                                      <p:to>
                                        <p:strVal val="visible"/>
                                      </p:to>
                                    </p:set>
                                    <p:animEffect transition="in" filter="fade">
                                      <p:cBhvr>
                                        <p:cTn id="28" dur="500"/>
                                        <p:tgtEl>
                                          <p:spTgt spid="33"/>
                                        </p:tgtEl>
                                      </p:cBhvr>
                                    </p:animEffect>
                                  </p:childTnLst>
                                </p:cTn>
                              </p:par>
                              <p:par>
                                <p:cTn id="29" presetID="10" presetClass="entr" presetSubtype="0" fill="hold" nodeType="with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fade">
                                      <p:cBhvr>
                                        <p:cTn id="31" dur="500"/>
                                        <p:tgtEl>
                                          <p:spTgt spid="6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59"/>
                                        </p:tgtEl>
                                        <p:attrNameLst>
                                          <p:attrName>style.visibility</p:attrName>
                                        </p:attrNameLst>
                                      </p:cBhvr>
                                      <p:to>
                                        <p:strVal val="visible"/>
                                      </p:to>
                                    </p:set>
                                    <p:animEffect transition="in" filter="fade">
                                      <p:cBhvr>
                                        <p:cTn id="34" dur="500"/>
                                        <p:tgtEl>
                                          <p:spTgt spid="59"/>
                                        </p:tgtEl>
                                      </p:cBhvr>
                                    </p:animEffect>
                                  </p:childTnLst>
                                </p:cTn>
                              </p:par>
                              <p:par>
                                <p:cTn id="35" presetID="10" presetClass="entr" presetSubtype="0" fill="hold"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7"/>
                                        </p:tgtEl>
                                        <p:attrNameLst>
                                          <p:attrName>style.visibility</p:attrName>
                                        </p:attrNameLst>
                                      </p:cBhvr>
                                      <p:to>
                                        <p:strVal val="visible"/>
                                      </p:to>
                                    </p:set>
                                    <p:animEffect transition="in" filter="fade">
                                      <p:cBhvr>
                                        <p:cTn id="42" dur="500"/>
                                        <p:tgtEl>
                                          <p:spTgt spid="3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fade">
                                      <p:cBhvr>
                                        <p:cTn id="45" dur="500"/>
                                        <p:tgtEl>
                                          <p:spTgt spid="3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9"/>
                                        </p:tgtEl>
                                        <p:attrNameLst>
                                          <p:attrName>style.visibility</p:attrName>
                                        </p:attrNameLst>
                                      </p:cBhvr>
                                      <p:to>
                                        <p:strVal val="visible"/>
                                      </p:to>
                                    </p:set>
                                    <p:animEffect transition="in" filter="fade">
                                      <p:cBhvr>
                                        <p:cTn id="48" dur="500"/>
                                        <p:tgtEl>
                                          <p:spTgt spid="3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0"/>
                                        </p:tgtEl>
                                        <p:attrNameLst>
                                          <p:attrName>style.visibility</p:attrName>
                                        </p:attrNameLst>
                                      </p:cBhvr>
                                      <p:to>
                                        <p:strVal val="visible"/>
                                      </p:to>
                                    </p:set>
                                    <p:animEffect transition="in" filter="fade">
                                      <p:cBhvr>
                                        <p:cTn id="51" dur="500"/>
                                        <p:tgtEl>
                                          <p:spTgt spid="4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500"/>
                                        <p:tgtEl>
                                          <p:spTgt spid="4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500"/>
                                        <p:tgtEl>
                                          <p:spTgt spid="4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3"/>
                                        </p:tgtEl>
                                        <p:attrNameLst>
                                          <p:attrName>style.visibility</p:attrName>
                                        </p:attrNameLst>
                                      </p:cBhvr>
                                      <p:to>
                                        <p:strVal val="visible"/>
                                      </p:to>
                                    </p:set>
                                    <p:animEffect transition="in" filter="fade">
                                      <p:cBhvr>
                                        <p:cTn id="60" dur="500"/>
                                        <p:tgtEl>
                                          <p:spTgt spid="4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44"/>
                                        </p:tgtEl>
                                        <p:attrNameLst>
                                          <p:attrName>style.visibility</p:attrName>
                                        </p:attrNameLst>
                                      </p:cBhvr>
                                      <p:to>
                                        <p:strVal val="visible"/>
                                      </p:to>
                                    </p:set>
                                    <p:animEffect transition="in" filter="fade">
                                      <p:cBhvr>
                                        <p:cTn id="63" dur="500"/>
                                        <p:tgtEl>
                                          <p:spTgt spid="4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45"/>
                                        </p:tgtEl>
                                        <p:attrNameLst>
                                          <p:attrName>style.visibility</p:attrName>
                                        </p:attrNameLst>
                                      </p:cBhvr>
                                      <p:to>
                                        <p:strVal val="visible"/>
                                      </p:to>
                                    </p:set>
                                    <p:animEffect transition="in" filter="fade">
                                      <p:cBhvr>
                                        <p:cTn id="66" dur="500"/>
                                        <p:tgtEl>
                                          <p:spTgt spid="45"/>
                                        </p:tgtEl>
                                      </p:cBhvr>
                                    </p:animEffect>
                                  </p:childTnLst>
                                </p:cTn>
                              </p:par>
                              <p:par>
                                <p:cTn id="67" presetID="10" presetClass="entr" presetSubtype="0" fill="hold" nodeType="withEffect">
                                  <p:stCondLst>
                                    <p:cond delay="0"/>
                                  </p:stCondLst>
                                  <p:childTnLst>
                                    <p:set>
                                      <p:cBhvr>
                                        <p:cTn id="68" dur="1" fill="hold">
                                          <p:stCondLst>
                                            <p:cond delay="0"/>
                                          </p:stCondLst>
                                        </p:cTn>
                                        <p:tgtEl>
                                          <p:spTgt spid="46"/>
                                        </p:tgtEl>
                                        <p:attrNameLst>
                                          <p:attrName>style.visibility</p:attrName>
                                        </p:attrNameLst>
                                      </p:cBhvr>
                                      <p:to>
                                        <p:strVal val="visible"/>
                                      </p:to>
                                    </p:set>
                                    <p:animEffect transition="in" filter="fade">
                                      <p:cBhvr>
                                        <p:cTn id="69" dur="500"/>
                                        <p:tgtEl>
                                          <p:spTgt spid="46"/>
                                        </p:tgtEl>
                                      </p:cBhvr>
                                    </p:animEffect>
                                  </p:childTnLst>
                                </p:cTn>
                              </p:par>
                              <p:par>
                                <p:cTn id="70" presetID="10" presetClass="entr" presetSubtype="0" fill="hold" nodeType="withEffect">
                                  <p:stCondLst>
                                    <p:cond delay="0"/>
                                  </p:stCondLst>
                                  <p:childTnLst>
                                    <p:set>
                                      <p:cBhvr>
                                        <p:cTn id="71" dur="1" fill="hold">
                                          <p:stCondLst>
                                            <p:cond delay="0"/>
                                          </p:stCondLst>
                                        </p:cTn>
                                        <p:tgtEl>
                                          <p:spTgt spid="49"/>
                                        </p:tgtEl>
                                        <p:attrNameLst>
                                          <p:attrName>style.visibility</p:attrName>
                                        </p:attrNameLst>
                                      </p:cBhvr>
                                      <p:to>
                                        <p:strVal val="visible"/>
                                      </p:to>
                                    </p:set>
                                    <p:animEffect transition="in" filter="fade">
                                      <p:cBhvr>
                                        <p:cTn id="72" dur="500"/>
                                        <p:tgtEl>
                                          <p:spTgt spid="49"/>
                                        </p:tgtEl>
                                      </p:cBhvr>
                                    </p:animEffect>
                                  </p:childTnLst>
                                </p:cTn>
                              </p:par>
                              <p:par>
                                <p:cTn id="73" presetID="10" presetClass="entr" presetSubtype="0" fill="hold" nodeType="withEffect">
                                  <p:stCondLst>
                                    <p:cond delay="0"/>
                                  </p:stCondLst>
                                  <p:childTnLst>
                                    <p:set>
                                      <p:cBhvr>
                                        <p:cTn id="74" dur="1" fill="hold">
                                          <p:stCondLst>
                                            <p:cond delay="0"/>
                                          </p:stCondLst>
                                        </p:cTn>
                                        <p:tgtEl>
                                          <p:spTgt spid="52"/>
                                        </p:tgtEl>
                                        <p:attrNameLst>
                                          <p:attrName>style.visibility</p:attrName>
                                        </p:attrNameLst>
                                      </p:cBhvr>
                                      <p:to>
                                        <p:strVal val="visible"/>
                                      </p:to>
                                    </p:set>
                                    <p:animEffect transition="in" filter="fade">
                                      <p:cBhvr>
                                        <p:cTn id="75" dur="500"/>
                                        <p:tgtEl>
                                          <p:spTgt spid="52"/>
                                        </p:tgtEl>
                                      </p:cBhvr>
                                    </p:animEffect>
                                  </p:childTnLst>
                                </p:cTn>
                              </p:par>
                              <p:par>
                                <p:cTn id="76" presetID="10" presetClass="entr" presetSubtype="0" fill="hold" nodeType="withEffect">
                                  <p:stCondLst>
                                    <p:cond delay="0"/>
                                  </p:stCondLst>
                                  <p:childTnLst>
                                    <p:set>
                                      <p:cBhvr>
                                        <p:cTn id="77" dur="1" fill="hold">
                                          <p:stCondLst>
                                            <p:cond delay="0"/>
                                          </p:stCondLst>
                                        </p:cTn>
                                        <p:tgtEl>
                                          <p:spTgt spid="55"/>
                                        </p:tgtEl>
                                        <p:attrNameLst>
                                          <p:attrName>style.visibility</p:attrName>
                                        </p:attrNameLst>
                                      </p:cBhvr>
                                      <p:to>
                                        <p:strVal val="visible"/>
                                      </p:to>
                                    </p:set>
                                    <p:animEffect transition="in" filter="fade">
                                      <p:cBhvr>
                                        <p:cTn id="78" dur="500"/>
                                        <p:tgtEl>
                                          <p:spTgt spid="55"/>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60"/>
                                        </p:tgtEl>
                                        <p:attrNameLst>
                                          <p:attrName>style.visibility</p:attrName>
                                        </p:attrNameLst>
                                      </p:cBhvr>
                                      <p:to>
                                        <p:strVal val="visible"/>
                                      </p:to>
                                    </p:set>
                                    <p:animEffect transition="in" filter="fade">
                                      <p:cBhvr>
                                        <p:cTn id="83" dur="500"/>
                                        <p:tgtEl>
                                          <p:spTgt spid="6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62"/>
                                        </p:tgtEl>
                                        <p:attrNameLst>
                                          <p:attrName>style.visibility</p:attrName>
                                        </p:attrNameLst>
                                      </p:cBhvr>
                                      <p:to>
                                        <p:strVal val="visible"/>
                                      </p:to>
                                    </p:set>
                                    <p:animEffect transition="in" filter="fade">
                                      <p:cBhvr>
                                        <p:cTn id="86" dur="500"/>
                                        <p:tgtEl>
                                          <p:spTgt spid="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8" grpId="0" animBg="1"/>
      <p:bldP spid="29" grpId="0"/>
      <p:bldP spid="30" grpId="0" animBg="1"/>
      <p:bldP spid="31" grpId="0"/>
      <p:bldP spid="32" grpId="0"/>
      <p:bldP spid="33" grpId="0" animBg="1"/>
      <p:bldP spid="37" grpId="0" animBg="1"/>
      <p:bldP spid="38" grpId="0"/>
      <p:bldP spid="39" grpId="0" animBg="1"/>
      <p:bldP spid="40" grpId="0"/>
      <p:bldP spid="41" grpId="0" animBg="1"/>
      <p:bldP spid="42" grpId="0"/>
      <p:bldP spid="43" grpId="0" animBg="1"/>
      <p:bldP spid="44" grpId="0"/>
      <p:bldP spid="45" grpId="0"/>
      <p:bldP spid="58" grpId="0"/>
      <p:bldP spid="59" grpId="0"/>
      <p:bldP spid="60" grpId="0" animBg="1"/>
      <p:bldP spid="6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a:lnSpc>
                <a:spcPts val="4400"/>
              </a:lnSpc>
            </a:pPr>
            <a:r>
              <a:rPr lang="en-US" altLang="zh-CN" sz="2800" b="1" dirty="0">
                <a:solidFill>
                  <a:schemeClr val="bg1"/>
                </a:solidFill>
              </a:rPr>
              <a:t> 3. </a:t>
            </a:r>
            <a:r>
              <a:rPr lang="zh-CN" altLang="en-US" sz="2800" b="1" dirty="0">
                <a:solidFill>
                  <a:schemeClr val="bg1"/>
                </a:solidFill>
              </a:rPr>
              <a:t>基于无线接入点的编码分布式矩阵</a:t>
            </a:r>
            <a:r>
              <a:rPr lang="en-US" altLang="zh-CN" sz="2800" b="1" dirty="0">
                <a:solidFill>
                  <a:schemeClr val="bg1"/>
                </a:solidFill>
              </a:rPr>
              <a:t>-</a:t>
            </a:r>
            <a:r>
              <a:rPr lang="zh-CN" altLang="en-US" sz="2800" b="1" dirty="0">
                <a:solidFill>
                  <a:schemeClr val="bg1"/>
                </a:solidFill>
              </a:rPr>
              <a:t>矩阵乘法运算框架（问题描述）</a:t>
            </a:r>
            <a:endParaRPr lang="en-US" altLang="zh-CN" sz="2800" b="1" dirty="0">
              <a:solidFill>
                <a:schemeClr val="bg1"/>
              </a:solidFill>
            </a:endParaRPr>
          </a:p>
          <a:p>
            <a:endParaRPr lang="en-US" altLang="zh-CN" sz="700" b="1" dirty="0">
              <a:solidFill>
                <a:schemeClr val="bg1"/>
              </a:solidFill>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27455" y="832104"/>
            <a:ext cx="11868912" cy="685444"/>
          </a:xfrm>
          <a:prstGeom prst="rect">
            <a:avLst/>
          </a:prstGeom>
          <a:noFill/>
        </p:spPr>
        <p:txBody>
          <a:bodyPr wrap="square" rtlCol="0">
            <a:spAutoFit/>
          </a:bodyPr>
          <a:lstStyle/>
          <a:p>
            <a:pPr marL="360000" lvl="1" indent="-285750">
              <a:lnSpc>
                <a:spcPts val="2400"/>
              </a:lnSpc>
              <a:buFont typeface="Wingdings" panose="05000000000000000000" pitchFamily="2" charset="2"/>
              <a:buChar char="Ø"/>
            </a:pPr>
            <a:r>
              <a:rPr lang="zh-CN" altLang="en-US" dirty="0">
                <a:solidFill>
                  <a:prstClr val="black"/>
                </a:solidFill>
              </a:rPr>
              <a:t>考虑基于</a:t>
            </a:r>
            <a:r>
              <a:rPr lang="en-US" altLang="zh-CN" dirty="0">
                <a:solidFill>
                  <a:prstClr val="black"/>
                </a:solidFill>
              </a:rPr>
              <a:t>MapReduce</a:t>
            </a:r>
            <a:r>
              <a:rPr lang="zh-CN" altLang="en-US" dirty="0">
                <a:solidFill>
                  <a:prstClr val="black"/>
                </a:solidFill>
              </a:rPr>
              <a:t>的分布式矩阵乘法任务                   ，其中                      是数据矩阵（      可能很大），</a:t>
            </a:r>
            <a:br>
              <a:rPr lang="en-US" altLang="zh-CN" sz="2000" dirty="0">
                <a:solidFill>
                  <a:prstClr val="black"/>
                </a:solidFill>
              </a:rPr>
            </a:br>
            <a:r>
              <a:rPr lang="en-US" altLang="zh-CN" dirty="0">
                <a:solidFill>
                  <a:prstClr val="black"/>
                </a:solidFill>
              </a:rPr>
              <a:t>           </a:t>
            </a:r>
            <a:r>
              <a:rPr lang="zh-CN" altLang="en-US" dirty="0">
                <a:solidFill>
                  <a:prstClr val="black"/>
                </a:solidFill>
              </a:rPr>
              <a:t>        是具有                      个输入向量的输入矩阵</a:t>
            </a:r>
            <a:endParaRPr lang="en-US" altLang="zh-CN" dirty="0">
              <a:solidFill>
                <a:prstClr val="black"/>
              </a:solidFill>
            </a:endParaRPr>
          </a:p>
        </p:txBody>
      </p:sp>
      <p:pic>
        <p:nvPicPr>
          <p:cNvPr id="62" name="图片 61">
            <a:extLst>
              <a:ext uri="{FF2B5EF4-FFF2-40B4-BE49-F238E27FC236}">
                <a16:creationId xmlns:a16="http://schemas.microsoft.com/office/drawing/2014/main" id="{8B142CA5-88BD-44C6-8170-E18ACA32D95C}"/>
              </a:ext>
            </a:extLst>
          </p:cNvPr>
          <p:cNvPicPr>
            <a:picLocks noChangeAspect="1"/>
          </p:cNvPicPr>
          <p:nvPr/>
        </p:nvPicPr>
        <p:blipFill>
          <a:blip r:embed="rId3"/>
          <a:stretch>
            <a:fillRect/>
          </a:stretch>
        </p:blipFill>
        <p:spPr>
          <a:xfrm>
            <a:off x="4998801" y="858384"/>
            <a:ext cx="1179480" cy="369332"/>
          </a:xfrm>
          <a:prstGeom prst="rect">
            <a:avLst/>
          </a:prstGeom>
        </p:spPr>
      </p:pic>
      <p:pic>
        <p:nvPicPr>
          <p:cNvPr id="63" name="图片 62">
            <a:extLst>
              <a:ext uri="{FF2B5EF4-FFF2-40B4-BE49-F238E27FC236}">
                <a16:creationId xmlns:a16="http://schemas.microsoft.com/office/drawing/2014/main" id="{D321DF05-0DE4-4A70-9897-9D8B27BDEF56}"/>
              </a:ext>
            </a:extLst>
          </p:cNvPr>
          <p:cNvPicPr>
            <a:picLocks noChangeAspect="1"/>
          </p:cNvPicPr>
          <p:nvPr/>
        </p:nvPicPr>
        <p:blipFill>
          <a:blip r:embed="rId4"/>
          <a:stretch>
            <a:fillRect/>
          </a:stretch>
        </p:blipFill>
        <p:spPr>
          <a:xfrm>
            <a:off x="6913259" y="879889"/>
            <a:ext cx="1334387" cy="345371"/>
          </a:xfrm>
          <a:prstGeom prst="rect">
            <a:avLst/>
          </a:prstGeom>
        </p:spPr>
      </p:pic>
      <p:pic>
        <p:nvPicPr>
          <p:cNvPr id="64" name="图片 63">
            <a:extLst>
              <a:ext uri="{FF2B5EF4-FFF2-40B4-BE49-F238E27FC236}">
                <a16:creationId xmlns:a16="http://schemas.microsoft.com/office/drawing/2014/main" id="{D3724F18-91DD-4D2F-BDAE-76B04852989A}"/>
              </a:ext>
            </a:extLst>
          </p:cNvPr>
          <p:cNvPicPr>
            <a:picLocks noChangeAspect="1"/>
          </p:cNvPicPr>
          <p:nvPr/>
        </p:nvPicPr>
        <p:blipFill>
          <a:blip r:embed="rId5"/>
          <a:stretch>
            <a:fillRect/>
          </a:stretch>
        </p:blipFill>
        <p:spPr>
          <a:xfrm>
            <a:off x="9645905" y="823052"/>
            <a:ext cx="404664" cy="404664"/>
          </a:xfrm>
          <a:prstGeom prst="rect">
            <a:avLst/>
          </a:prstGeom>
        </p:spPr>
      </p:pic>
      <p:pic>
        <p:nvPicPr>
          <p:cNvPr id="65" name="图片 64">
            <a:extLst>
              <a:ext uri="{FF2B5EF4-FFF2-40B4-BE49-F238E27FC236}">
                <a16:creationId xmlns:a16="http://schemas.microsoft.com/office/drawing/2014/main" id="{CC628F8E-55A4-4E59-A399-E3F136F99AA8}"/>
              </a:ext>
            </a:extLst>
          </p:cNvPr>
          <p:cNvPicPr>
            <a:picLocks noChangeAspect="1"/>
          </p:cNvPicPr>
          <p:nvPr/>
        </p:nvPicPr>
        <p:blipFill>
          <a:blip r:embed="rId6"/>
          <a:stretch>
            <a:fillRect/>
          </a:stretch>
        </p:blipFill>
        <p:spPr>
          <a:xfrm>
            <a:off x="584655" y="1135903"/>
            <a:ext cx="1161264" cy="373831"/>
          </a:xfrm>
          <a:prstGeom prst="rect">
            <a:avLst/>
          </a:prstGeom>
        </p:spPr>
      </p:pic>
      <p:pic>
        <p:nvPicPr>
          <p:cNvPr id="66" name="图片 65">
            <a:extLst>
              <a:ext uri="{FF2B5EF4-FFF2-40B4-BE49-F238E27FC236}">
                <a16:creationId xmlns:a16="http://schemas.microsoft.com/office/drawing/2014/main" id="{B25F4F33-A656-4718-A603-AE86DFC420DE}"/>
              </a:ext>
            </a:extLst>
          </p:cNvPr>
          <p:cNvPicPr>
            <a:picLocks noChangeAspect="1"/>
          </p:cNvPicPr>
          <p:nvPr/>
        </p:nvPicPr>
        <p:blipFill>
          <a:blip r:embed="rId7"/>
          <a:stretch>
            <a:fillRect/>
          </a:stretch>
        </p:blipFill>
        <p:spPr>
          <a:xfrm>
            <a:off x="2501510" y="1192883"/>
            <a:ext cx="263751" cy="288478"/>
          </a:xfrm>
          <a:prstGeom prst="rect">
            <a:avLst/>
          </a:prstGeom>
        </p:spPr>
      </p:pic>
      <p:pic>
        <p:nvPicPr>
          <p:cNvPr id="67" name="图片 66">
            <a:extLst>
              <a:ext uri="{FF2B5EF4-FFF2-40B4-BE49-F238E27FC236}">
                <a16:creationId xmlns:a16="http://schemas.microsoft.com/office/drawing/2014/main" id="{C2374C87-5C53-437D-9AB6-A5142FAA037B}"/>
              </a:ext>
            </a:extLst>
          </p:cNvPr>
          <p:cNvPicPr>
            <a:picLocks noChangeAspect="1"/>
          </p:cNvPicPr>
          <p:nvPr/>
        </p:nvPicPr>
        <p:blipFill>
          <a:blip r:embed="rId8"/>
          <a:stretch>
            <a:fillRect/>
          </a:stretch>
        </p:blipFill>
        <p:spPr>
          <a:xfrm>
            <a:off x="2736686" y="1202206"/>
            <a:ext cx="1071490" cy="288478"/>
          </a:xfrm>
          <a:prstGeom prst="rect">
            <a:avLst/>
          </a:prstGeom>
        </p:spPr>
      </p:pic>
      <p:pic>
        <p:nvPicPr>
          <p:cNvPr id="68" name="图片 67">
            <a:extLst>
              <a:ext uri="{FF2B5EF4-FFF2-40B4-BE49-F238E27FC236}">
                <a16:creationId xmlns:a16="http://schemas.microsoft.com/office/drawing/2014/main" id="{4772588F-352A-449D-9786-92FB4D444202}"/>
              </a:ext>
            </a:extLst>
          </p:cNvPr>
          <p:cNvPicPr>
            <a:picLocks noChangeAspect="1"/>
          </p:cNvPicPr>
          <p:nvPr/>
        </p:nvPicPr>
        <p:blipFill>
          <a:blip r:embed="rId9"/>
          <a:stretch>
            <a:fillRect/>
          </a:stretch>
        </p:blipFill>
        <p:spPr>
          <a:xfrm>
            <a:off x="80122" y="3121505"/>
            <a:ext cx="409575" cy="523875"/>
          </a:xfrm>
          <a:prstGeom prst="rect">
            <a:avLst/>
          </a:prstGeom>
        </p:spPr>
      </p:pic>
      <p:pic>
        <p:nvPicPr>
          <p:cNvPr id="69" name="图片 68">
            <a:extLst>
              <a:ext uri="{FF2B5EF4-FFF2-40B4-BE49-F238E27FC236}">
                <a16:creationId xmlns:a16="http://schemas.microsoft.com/office/drawing/2014/main" id="{C281DE9F-3C1C-40DA-BB8E-4F84FB8E3C6F}"/>
              </a:ext>
            </a:extLst>
          </p:cNvPr>
          <p:cNvPicPr>
            <a:picLocks noChangeAspect="1"/>
          </p:cNvPicPr>
          <p:nvPr/>
        </p:nvPicPr>
        <p:blipFill>
          <a:blip r:embed="rId10"/>
          <a:stretch>
            <a:fillRect/>
          </a:stretch>
        </p:blipFill>
        <p:spPr>
          <a:xfrm>
            <a:off x="1029335" y="3086217"/>
            <a:ext cx="1695450" cy="476250"/>
          </a:xfrm>
          <a:prstGeom prst="rect">
            <a:avLst/>
          </a:prstGeom>
        </p:spPr>
      </p:pic>
      <p:cxnSp>
        <p:nvCxnSpPr>
          <p:cNvPr id="70" name="直接箭头连接符 69">
            <a:extLst>
              <a:ext uri="{FF2B5EF4-FFF2-40B4-BE49-F238E27FC236}">
                <a16:creationId xmlns:a16="http://schemas.microsoft.com/office/drawing/2014/main" id="{AB2F5F94-6AC2-47FA-8CD8-B3B8732A1A39}"/>
              </a:ext>
            </a:extLst>
          </p:cNvPr>
          <p:cNvCxnSpPr>
            <a:cxnSpLocks/>
          </p:cNvCxnSpPr>
          <p:nvPr/>
        </p:nvCxnSpPr>
        <p:spPr>
          <a:xfrm>
            <a:off x="532236" y="3378491"/>
            <a:ext cx="404754" cy="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1" name="文本框 70">
            <a:extLst>
              <a:ext uri="{FF2B5EF4-FFF2-40B4-BE49-F238E27FC236}">
                <a16:creationId xmlns:a16="http://schemas.microsoft.com/office/drawing/2014/main" id="{FB1D0D13-B20D-4167-956B-4BC4A0084977}"/>
              </a:ext>
            </a:extLst>
          </p:cNvPr>
          <p:cNvSpPr txBox="1"/>
          <p:nvPr/>
        </p:nvSpPr>
        <p:spPr>
          <a:xfrm>
            <a:off x="307654" y="2830613"/>
            <a:ext cx="1057762" cy="338554"/>
          </a:xfrm>
          <a:prstGeom prst="rect">
            <a:avLst/>
          </a:prstGeom>
          <a:noFill/>
        </p:spPr>
        <p:txBody>
          <a:bodyPr wrap="square" rtlCol="0">
            <a:spAutoFit/>
          </a:bodyPr>
          <a:lstStyle/>
          <a:p>
            <a:r>
              <a:rPr lang="en-US" altLang="zh-CN" sz="1600" dirty="0">
                <a:solidFill>
                  <a:srgbClr val="FF0000"/>
                </a:solidFill>
              </a:rPr>
              <a:t>Encoding</a:t>
            </a:r>
            <a:endParaRPr lang="zh-CN" altLang="en-US" dirty="0">
              <a:solidFill>
                <a:srgbClr val="FF0000"/>
              </a:solidFill>
            </a:endParaRPr>
          </a:p>
        </p:txBody>
      </p:sp>
      <p:cxnSp>
        <p:nvCxnSpPr>
          <p:cNvPr id="72" name="直接箭头连接符 71">
            <a:extLst>
              <a:ext uri="{FF2B5EF4-FFF2-40B4-BE49-F238E27FC236}">
                <a16:creationId xmlns:a16="http://schemas.microsoft.com/office/drawing/2014/main" id="{FDABA047-FAF5-4E54-A0AE-18A7BADAC804}"/>
              </a:ext>
            </a:extLst>
          </p:cNvPr>
          <p:cNvCxnSpPr>
            <a:cxnSpLocks/>
          </p:cNvCxnSpPr>
          <p:nvPr/>
        </p:nvCxnSpPr>
        <p:spPr>
          <a:xfrm flipV="1">
            <a:off x="2859210" y="2257801"/>
            <a:ext cx="793292" cy="8960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3" name="直接箭头连接符 72">
            <a:extLst>
              <a:ext uri="{FF2B5EF4-FFF2-40B4-BE49-F238E27FC236}">
                <a16:creationId xmlns:a16="http://schemas.microsoft.com/office/drawing/2014/main" id="{4C7E045D-BE5A-478C-A00D-D4100B247082}"/>
              </a:ext>
            </a:extLst>
          </p:cNvPr>
          <p:cNvCxnSpPr>
            <a:cxnSpLocks/>
          </p:cNvCxnSpPr>
          <p:nvPr/>
        </p:nvCxnSpPr>
        <p:spPr>
          <a:xfrm flipV="1">
            <a:off x="2859210" y="2838960"/>
            <a:ext cx="793292" cy="48538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4" name="矩形 73">
            <a:extLst>
              <a:ext uri="{FF2B5EF4-FFF2-40B4-BE49-F238E27FC236}">
                <a16:creationId xmlns:a16="http://schemas.microsoft.com/office/drawing/2014/main" id="{0B340E4B-1BFC-4B49-AD29-1901FBE8CBF4}"/>
              </a:ext>
            </a:extLst>
          </p:cNvPr>
          <p:cNvSpPr/>
          <p:nvPr/>
        </p:nvSpPr>
        <p:spPr>
          <a:xfrm>
            <a:off x="3751436" y="2013027"/>
            <a:ext cx="793292" cy="395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5" name="图片 74">
            <a:extLst>
              <a:ext uri="{FF2B5EF4-FFF2-40B4-BE49-F238E27FC236}">
                <a16:creationId xmlns:a16="http://schemas.microsoft.com/office/drawing/2014/main" id="{1A27316A-C4FD-467C-B2AF-1E69C110E5C7}"/>
              </a:ext>
            </a:extLst>
          </p:cNvPr>
          <p:cNvPicPr>
            <a:picLocks noChangeAspect="1"/>
          </p:cNvPicPr>
          <p:nvPr/>
        </p:nvPicPr>
        <p:blipFill>
          <a:blip r:embed="rId11"/>
          <a:stretch>
            <a:fillRect/>
          </a:stretch>
        </p:blipFill>
        <p:spPr>
          <a:xfrm>
            <a:off x="3798570" y="2062621"/>
            <a:ext cx="678258" cy="296738"/>
          </a:xfrm>
          <a:prstGeom prst="rect">
            <a:avLst/>
          </a:prstGeom>
        </p:spPr>
      </p:pic>
      <p:sp>
        <p:nvSpPr>
          <p:cNvPr id="76" name="矩形 75">
            <a:extLst>
              <a:ext uri="{FF2B5EF4-FFF2-40B4-BE49-F238E27FC236}">
                <a16:creationId xmlns:a16="http://schemas.microsoft.com/office/drawing/2014/main" id="{CCD8FD2D-12C4-4E9F-921B-813E17073465}"/>
              </a:ext>
            </a:extLst>
          </p:cNvPr>
          <p:cNvSpPr/>
          <p:nvPr/>
        </p:nvSpPr>
        <p:spPr>
          <a:xfrm>
            <a:off x="3751511" y="2638815"/>
            <a:ext cx="793292" cy="395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7" name="图片 76">
            <a:extLst>
              <a:ext uri="{FF2B5EF4-FFF2-40B4-BE49-F238E27FC236}">
                <a16:creationId xmlns:a16="http://schemas.microsoft.com/office/drawing/2014/main" id="{2F8AB96B-7541-48EF-B026-C178381E0103}"/>
              </a:ext>
            </a:extLst>
          </p:cNvPr>
          <p:cNvPicPr>
            <a:picLocks noChangeAspect="1"/>
          </p:cNvPicPr>
          <p:nvPr/>
        </p:nvPicPr>
        <p:blipFill>
          <a:blip r:embed="rId12"/>
          <a:stretch>
            <a:fillRect/>
          </a:stretch>
        </p:blipFill>
        <p:spPr>
          <a:xfrm>
            <a:off x="3764828" y="2691265"/>
            <a:ext cx="760032" cy="343476"/>
          </a:xfrm>
          <a:prstGeom prst="rect">
            <a:avLst/>
          </a:prstGeom>
        </p:spPr>
      </p:pic>
      <p:sp>
        <p:nvSpPr>
          <p:cNvPr id="78" name="文本框 77">
            <a:extLst>
              <a:ext uri="{FF2B5EF4-FFF2-40B4-BE49-F238E27FC236}">
                <a16:creationId xmlns:a16="http://schemas.microsoft.com/office/drawing/2014/main" id="{B62122F8-71BE-4436-A3D9-DCED860B7210}"/>
              </a:ext>
            </a:extLst>
          </p:cNvPr>
          <p:cNvSpPr txBox="1"/>
          <p:nvPr/>
        </p:nvSpPr>
        <p:spPr>
          <a:xfrm>
            <a:off x="3986882" y="3723335"/>
            <a:ext cx="461665" cy="487763"/>
          </a:xfrm>
          <a:prstGeom prst="rect">
            <a:avLst/>
          </a:prstGeom>
          <a:noFill/>
        </p:spPr>
        <p:txBody>
          <a:bodyPr vert="eaVert" wrap="square" rtlCol="0">
            <a:spAutoFit/>
          </a:bodyPr>
          <a:lstStyle/>
          <a:p>
            <a:r>
              <a:rPr lang="en-US" altLang="zh-CN" dirty="0"/>
              <a:t>…</a:t>
            </a:r>
            <a:endParaRPr lang="zh-CN" altLang="en-US" dirty="0"/>
          </a:p>
        </p:txBody>
      </p:sp>
      <p:cxnSp>
        <p:nvCxnSpPr>
          <p:cNvPr id="79" name="直接箭头连接符 78">
            <a:extLst>
              <a:ext uri="{FF2B5EF4-FFF2-40B4-BE49-F238E27FC236}">
                <a16:creationId xmlns:a16="http://schemas.microsoft.com/office/drawing/2014/main" id="{F82FF43B-952C-47AE-814D-5A9CC13CD6F6}"/>
              </a:ext>
            </a:extLst>
          </p:cNvPr>
          <p:cNvCxnSpPr>
            <a:cxnSpLocks/>
          </p:cNvCxnSpPr>
          <p:nvPr/>
        </p:nvCxnSpPr>
        <p:spPr>
          <a:xfrm>
            <a:off x="2846216" y="3528397"/>
            <a:ext cx="793292" cy="7769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0" name="矩形 79">
            <a:extLst>
              <a:ext uri="{FF2B5EF4-FFF2-40B4-BE49-F238E27FC236}">
                <a16:creationId xmlns:a16="http://schemas.microsoft.com/office/drawing/2014/main" id="{00349EA3-92E5-4469-8580-3B6EF1B78C72}"/>
              </a:ext>
            </a:extLst>
          </p:cNvPr>
          <p:cNvSpPr/>
          <p:nvPr/>
        </p:nvSpPr>
        <p:spPr>
          <a:xfrm>
            <a:off x="3742009" y="3235808"/>
            <a:ext cx="793292" cy="395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矩形 80">
            <a:extLst>
              <a:ext uri="{FF2B5EF4-FFF2-40B4-BE49-F238E27FC236}">
                <a16:creationId xmlns:a16="http://schemas.microsoft.com/office/drawing/2014/main" id="{DA0BA9B4-FF1F-4A73-BCAC-852ACE1E570C}"/>
              </a:ext>
            </a:extLst>
          </p:cNvPr>
          <p:cNvSpPr/>
          <p:nvPr/>
        </p:nvSpPr>
        <p:spPr>
          <a:xfrm>
            <a:off x="3741053" y="4170631"/>
            <a:ext cx="793292" cy="39592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82" name="图片 81">
            <a:extLst>
              <a:ext uri="{FF2B5EF4-FFF2-40B4-BE49-F238E27FC236}">
                <a16:creationId xmlns:a16="http://schemas.microsoft.com/office/drawing/2014/main" id="{9297966F-D233-47DC-8CC4-8F593F4DF14A}"/>
              </a:ext>
            </a:extLst>
          </p:cNvPr>
          <p:cNvPicPr>
            <a:picLocks noChangeAspect="1"/>
          </p:cNvPicPr>
          <p:nvPr/>
        </p:nvPicPr>
        <p:blipFill>
          <a:blip r:embed="rId13"/>
          <a:stretch>
            <a:fillRect/>
          </a:stretch>
        </p:blipFill>
        <p:spPr>
          <a:xfrm>
            <a:off x="3770290" y="3290574"/>
            <a:ext cx="706538" cy="303812"/>
          </a:xfrm>
          <a:prstGeom prst="rect">
            <a:avLst/>
          </a:prstGeom>
        </p:spPr>
      </p:pic>
      <p:cxnSp>
        <p:nvCxnSpPr>
          <p:cNvPr id="83" name="直接箭头连接符 82">
            <a:extLst>
              <a:ext uri="{FF2B5EF4-FFF2-40B4-BE49-F238E27FC236}">
                <a16:creationId xmlns:a16="http://schemas.microsoft.com/office/drawing/2014/main" id="{03D439C6-4AE0-42E4-BE35-545298B007D2}"/>
              </a:ext>
            </a:extLst>
          </p:cNvPr>
          <p:cNvCxnSpPr>
            <a:cxnSpLocks/>
          </p:cNvCxnSpPr>
          <p:nvPr/>
        </p:nvCxnSpPr>
        <p:spPr>
          <a:xfrm>
            <a:off x="2859210" y="3388219"/>
            <a:ext cx="780298" cy="5426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pic>
        <p:nvPicPr>
          <p:cNvPr id="84" name="图片 83">
            <a:extLst>
              <a:ext uri="{FF2B5EF4-FFF2-40B4-BE49-F238E27FC236}">
                <a16:creationId xmlns:a16="http://schemas.microsoft.com/office/drawing/2014/main" id="{7D3CC266-ECC2-45E2-933C-FB74CB8390E8}"/>
              </a:ext>
            </a:extLst>
          </p:cNvPr>
          <p:cNvPicPr>
            <a:picLocks noChangeAspect="1"/>
          </p:cNvPicPr>
          <p:nvPr/>
        </p:nvPicPr>
        <p:blipFill>
          <a:blip r:embed="rId14"/>
          <a:stretch>
            <a:fillRect/>
          </a:stretch>
        </p:blipFill>
        <p:spPr>
          <a:xfrm>
            <a:off x="3823419" y="4196532"/>
            <a:ext cx="699347" cy="339077"/>
          </a:xfrm>
          <a:prstGeom prst="rect">
            <a:avLst/>
          </a:prstGeom>
        </p:spPr>
      </p:pic>
      <p:sp>
        <p:nvSpPr>
          <p:cNvPr id="85" name="矩形 84">
            <a:extLst>
              <a:ext uri="{FF2B5EF4-FFF2-40B4-BE49-F238E27FC236}">
                <a16:creationId xmlns:a16="http://schemas.microsoft.com/office/drawing/2014/main" id="{DCE974D2-F902-42B9-AD65-3EB2B1ED709E}"/>
              </a:ext>
            </a:extLst>
          </p:cNvPr>
          <p:cNvSpPr/>
          <p:nvPr/>
        </p:nvSpPr>
        <p:spPr>
          <a:xfrm>
            <a:off x="1773294" y="2313112"/>
            <a:ext cx="1563248" cy="584775"/>
          </a:xfrm>
          <a:prstGeom prst="rect">
            <a:avLst/>
          </a:prstGeom>
        </p:spPr>
        <p:txBody>
          <a:bodyPr wrap="none">
            <a:spAutoFit/>
          </a:bodyPr>
          <a:lstStyle/>
          <a:p>
            <a:r>
              <a:rPr lang="en-US" altLang="zh-CN" sz="1600" dirty="0">
                <a:solidFill>
                  <a:srgbClr val="FF0000"/>
                </a:solidFill>
              </a:rPr>
              <a:t>Storage design</a:t>
            </a:r>
          </a:p>
          <a:p>
            <a:endParaRPr lang="zh-CN" altLang="en-US" sz="1600" dirty="0"/>
          </a:p>
        </p:txBody>
      </p:sp>
      <p:pic>
        <p:nvPicPr>
          <p:cNvPr id="86" name="图片 85">
            <a:extLst>
              <a:ext uri="{FF2B5EF4-FFF2-40B4-BE49-F238E27FC236}">
                <a16:creationId xmlns:a16="http://schemas.microsoft.com/office/drawing/2014/main" id="{F267057B-2309-435B-9617-3D2F267E6666}"/>
              </a:ext>
            </a:extLst>
          </p:cNvPr>
          <p:cNvPicPr>
            <a:picLocks noChangeAspect="1"/>
          </p:cNvPicPr>
          <p:nvPr/>
        </p:nvPicPr>
        <p:blipFill>
          <a:blip r:embed="rId15"/>
          <a:stretch>
            <a:fillRect/>
          </a:stretch>
        </p:blipFill>
        <p:spPr>
          <a:xfrm>
            <a:off x="2924268" y="1555527"/>
            <a:ext cx="248987" cy="296093"/>
          </a:xfrm>
          <a:prstGeom prst="rect">
            <a:avLst/>
          </a:prstGeom>
        </p:spPr>
      </p:pic>
      <p:sp>
        <p:nvSpPr>
          <p:cNvPr id="87" name="文本框 86">
            <a:extLst>
              <a:ext uri="{FF2B5EF4-FFF2-40B4-BE49-F238E27FC236}">
                <a16:creationId xmlns:a16="http://schemas.microsoft.com/office/drawing/2014/main" id="{DED69D22-47C7-4CC8-A9E2-3D9F29EF50B1}"/>
              </a:ext>
            </a:extLst>
          </p:cNvPr>
          <p:cNvSpPr txBox="1"/>
          <p:nvPr/>
        </p:nvSpPr>
        <p:spPr>
          <a:xfrm>
            <a:off x="3119670" y="1551862"/>
            <a:ext cx="2685995" cy="338554"/>
          </a:xfrm>
          <a:prstGeom prst="rect">
            <a:avLst/>
          </a:prstGeom>
          <a:noFill/>
        </p:spPr>
        <p:txBody>
          <a:bodyPr wrap="square" rtlCol="0">
            <a:spAutoFit/>
          </a:bodyPr>
          <a:lstStyle/>
          <a:p>
            <a:r>
              <a:rPr lang="en-US" altLang="zh-CN" sz="1600" dirty="0"/>
              <a:t>devices with         rows</a:t>
            </a:r>
            <a:endParaRPr lang="zh-CN" altLang="en-US" sz="1600" dirty="0"/>
          </a:p>
        </p:txBody>
      </p:sp>
      <p:pic>
        <p:nvPicPr>
          <p:cNvPr id="88" name="图片 87">
            <a:extLst>
              <a:ext uri="{FF2B5EF4-FFF2-40B4-BE49-F238E27FC236}">
                <a16:creationId xmlns:a16="http://schemas.microsoft.com/office/drawing/2014/main" id="{89F2D6D3-8CAB-472D-A1AB-17887BAA0C54}"/>
              </a:ext>
            </a:extLst>
          </p:cNvPr>
          <p:cNvPicPr>
            <a:picLocks noChangeAspect="1"/>
          </p:cNvPicPr>
          <p:nvPr/>
        </p:nvPicPr>
        <p:blipFill>
          <a:blip r:embed="rId16"/>
          <a:stretch>
            <a:fillRect/>
          </a:stretch>
        </p:blipFill>
        <p:spPr>
          <a:xfrm>
            <a:off x="4634001" y="2023660"/>
            <a:ext cx="558061" cy="360593"/>
          </a:xfrm>
          <a:prstGeom prst="rect">
            <a:avLst/>
          </a:prstGeom>
        </p:spPr>
      </p:pic>
      <p:pic>
        <p:nvPicPr>
          <p:cNvPr id="89" name="图片 88">
            <a:extLst>
              <a:ext uri="{FF2B5EF4-FFF2-40B4-BE49-F238E27FC236}">
                <a16:creationId xmlns:a16="http://schemas.microsoft.com/office/drawing/2014/main" id="{CED7A6D8-712D-42DC-B15B-83814AC22204}"/>
              </a:ext>
            </a:extLst>
          </p:cNvPr>
          <p:cNvPicPr>
            <a:picLocks noChangeAspect="1"/>
          </p:cNvPicPr>
          <p:nvPr/>
        </p:nvPicPr>
        <p:blipFill>
          <a:blip r:embed="rId16"/>
          <a:stretch>
            <a:fillRect/>
          </a:stretch>
        </p:blipFill>
        <p:spPr>
          <a:xfrm>
            <a:off x="4634000" y="2675803"/>
            <a:ext cx="558061" cy="360593"/>
          </a:xfrm>
          <a:prstGeom prst="rect">
            <a:avLst/>
          </a:prstGeom>
        </p:spPr>
      </p:pic>
      <p:pic>
        <p:nvPicPr>
          <p:cNvPr id="90" name="图片 89">
            <a:extLst>
              <a:ext uri="{FF2B5EF4-FFF2-40B4-BE49-F238E27FC236}">
                <a16:creationId xmlns:a16="http://schemas.microsoft.com/office/drawing/2014/main" id="{92A319FE-D7F7-4F60-A1A1-207D2CEC5D70}"/>
              </a:ext>
            </a:extLst>
          </p:cNvPr>
          <p:cNvPicPr>
            <a:picLocks noChangeAspect="1"/>
          </p:cNvPicPr>
          <p:nvPr/>
        </p:nvPicPr>
        <p:blipFill>
          <a:blip r:embed="rId16"/>
          <a:stretch>
            <a:fillRect/>
          </a:stretch>
        </p:blipFill>
        <p:spPr>
          <a:xfrm>
            <a:off x="4634000" y="3236323"/>
            <a:ext cx="558061" cy="360593"/>
          </a:xfrm>
          <a:prstGeom prst="rect">
            <a:avLst/>
          </a:prstGeom>
        </p:spPr>
      </p:pic>
      <p:pic>
        <p:nvPicPr>
          <p:cNvPr id="91" name="图片 90">
            <a:extLst>
              <a:ext uri="{FF2B5EF4-FFF2-40B4-BE49-F238E27FC236}">
                <a16:creationId xmlns:a16="http://schemas.microsoft.com/office/drawing/2014/main" id="{C9E02C11-C20C-41D2-B85C-B33528922BD6}"/>
              </a:ext>
            </a:extLst>
          </p:cNvPr>
          <p:cNvPicPr>
            <a:picLocks noChangeAspect="1"/>
          </p:cNvPicPr>
          <p:nvPr/>
        </p:nvPicPr>
        <p:blipFill>
          <a:blip r:embed="rId16"/>
          <a:stretch>
            <a:fillRect/>
          </a:stretch>
        </p:blipFill>
        <p:spPr>
          <a:xfrm>
            <a:off x="4634000" y="4170049"/>
            <a:ext cx="558061" cy="360593"/>
          </a:xfrm>
          <a:prstGeom prst="rect">
            <a:avLst/>
          </a:prstGeom>
        </p:spPr>
      </p:pic>
      <p:pic>
        <p:nvPicPr>
          <p:cNvPr id="92" name="图片 91">
            <a:extLst>
              <a:ext uri="{FF2B5EF4-FFF2-40B4-BE49-F238E27FC236}">
                <a16:creationId xmlns:a16="http://schemas.microsoft.com/office/drawing/2014/main" id="{00B58575-D2FB-452E-B2E8-A69FED96F96D}"/>
              </a:ext>
            </a:extLst>
          </p:cNvPr>
          <p:cNvPicPr>
            <a:picLocks noChangeAspect="1"/>
          </p:cNvPicPr>
          <p:nvPr/>
        </p:nvPicPr>
        <p:blipFill>
          <a:blip r:embed="rId17"/>
          <a:stretch>
            <a:fillRect/>
          </a:stretch>
        </p:blipFill>
        <p:spPr>
          <a:xfrm>
            <a:off x="4351482" y="1540878"/>
            <a:ext cx="434374" cy="325780"/>
          </a:xfrm>
          <a:prstGeom prst="rect">
            <a:avLst/>
          </a:prstGeom>
        </p:spPr>
      </p:pic>
      <p:sp>
        <p:nvSpPr>
          <p:cNvPr id="93" name="矩形 92">
            <a:extLst>
              <a:ext uri="{FF2B5EF4-FFF2-40B4-BE49-F238E27FC236}">
                <a16:creationId xmlns:a16="http://schemas.microsoft.com/office/drawing/2014/main" id="{36111684-7EC8-49DB-92D9-FB5A94215EB0}"/>
              </a:ext>
            </a:extLst>
          </p:cNvPr>
          <p:cNvSpPr/>
          <p:nvPr/>
        </p:nvSpPr>
        <p:spPr>
          <a:xfrm>
            <a:off x="5301201" y="2098741"/>
            <a:ext cx="1202153" cy="25039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4" name="文本框 93">
            <a:extLst>
              <a:ext uri="{FF2B5EF4-FFF2-40B4-BE49-F238E27FC236}">
                <a16:creationId xmlns:a16="http://schemas.microsoft.com/office/drawing/2014/main" id="{DED019A0-FFF0-42EC-A4C7-0378C735E649}"/>
              </a:ext>
            </a:extLst>
          </p:cNvPr>
          <p:cNvSpPr txBox="1"/>
          <p:nvPr/>
        </p:nvSpPr>
        <p:spPr>
          <a:xfrm>
            <a:off x="5347997" y="2418711"/>
            <a:ext cx="1224181" cy="2139560"/>
          </a:xfrm>
          <a:prstGeom prst="rect">
            <a:avLst/>
          </a:prstGeom>
          <a:noFill/>
        </p:spPr>
        <p:txBody>
          <a:bodyPr wrap="square" rtlCol="0">
            <a:spAutoFit/>
          </a:bodyPr>
          <a:lstStyle/>
          <a:p>
            <a:r>
              <a:rPr lang="en-US" altLang="zh-CN" sz="1600" dirty="0"/>
              <a:t>Arbitrary</a:t>
            </a:r>
          </a:p>
          <a:p>
            <a:pPr>
              <a:lnSpc>
                <a:spcPct val="150000"/>
              </a:lnSpc>
            </a:pPr>
            <a:endParaRPr lang="en-US" altLang="zh-CN" sz="1600" dirty="0"/>
          </a:p>
          <a:p>
            <a:pPr>
              <a:lnSpc>
                <a:spcPct val="150000"/>
              </a:lnSpc>
            </a:pPr>
            <a:r>
              <a:rPr lang="en-US" altLang="zh-CN" sz="1600" dirty="0"/>
              <a:t>fastest</a:t>
            </a:r>
          </a:p>
          <a:p>
            <a:pPr>
              <a:lnSpc>
                <a:spcPct val="150000"/>
              </a:lnSpc>
            </a:pPr>
            <a:r>
              <a:rPr lang="en-US" altLang="zh-CN" sz="1600" dirty="0"/>
              <a:t>computing</a:t>
            </a:r>
          </a:p>
          <a:p>
            <a:pPr>
              <a:lnSpc>
                <a:spcPct val="150000"/>
              </a:lnSpc>
            </a:pPr>
            <a:r>
              <a:rPr lang="en-US" altLang="zh-CN" sz="1600" dirty="0"/>
              <a:t>devices</a:t>
            </a:r>
          </a:p>
          <a:p>
            <a:pPr>
              <a:lnSpc>
                <a:spcPct val="150000"/>
              </a:lnSpc>
            </a:pPr>
            <a:endParaRPr lang="en-US" altLang="zh-CN" sz="1600" dirty="0"/>
          </a:p>
        </p:txBody>
      </p:sp>
      <p:pic>
        <p:nvPicPr>
          <p:cNvPr id="95" name="图片 94">
            <a:extLst>
              <a:ext uri="{FF2B5EF4-FFF2-40B4-BE49-F238E27FC236}">
                <a16:creationId xmlns:a16="http://schemas.microsoft.com/office/drawing/2014/main" id="{90931096-3653-4E1A-BCC2-5BD279AE74FA}"/>
              </a:ext>
            </a:extLst>
          </p:cNvPr>
          <p:cNvPicPr>
            <a:picLocks noChangeAspect="1"/>
          </p:cNvPicPr>
          <p:nvPr/>
        </p:nvPicPr>
        <p:blipFill>
          <a:blip r:embed="rId18"/>
          <a:stretch>
            <a:fillRect/>
          </a:stretch>
        </p:blipFill>
        <p:spPr>
          <a:xfrm>
            <a:off x="5388436" y="2758745"/>
            <a:ext cx="227181" cy="294493"/>
          </a:xfrm>
          <a:prstGeom prst="rect">
            <a:avLst/>
          </a:prstGeom>
        </p:spPr>
      </p:pic>
      <p:cxnSp>
        <p:nvCxnSpPr>
          <p:cNvPr id="96" name="直接箭头连接符 95">
            <a:extLst>
              <a:ext uri="{FF2B5EF4-FFF2-40B4-BE49-F238E27FC236}">
                <a16:creationId xmlns:a16="http://schemas.microsoft.com/office/drawing/2014/main" id="{5A1B19EC-2B9F-4937-A0D9-6D4A86BDD7B9}"/>
              </a:ext>
            </a:extLst>
          </p:cNvPr>
          <p:cNvCxnSpPr>
            <a:cxnSpLocks/>
          </p:cNvCxnSpPr>
          <p:nvPr/>
        </p:nvCxnSpPr>
        <p:spPr>
          <a:xfrm>
            <a:off x="6625030" y="2467827"/>
            <a:ext cx="732020" cy="40669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7" name="直接箭头连接符 96">
            <a:extLst>
              <a:ext uri="{FF2B5EF4-FFF2-40B4-BE49-F238E27FC236}">
                <a16:creationId xmlns:a16="http://schemas.microsoft.com/office/drawing/2014/main" id="{E1D8EADD-9A6D-425F-9F84-0AA7CDE5C302}"/>
              </a:ext>
            </a:extLst>
          </p:cNvPr>
          <p:cNvCxnSpPr>
            <a:cxnSpLocks/>
          </p:cNvCxnSpPr>
          <p:nvPr/>
        </p:nvCxnSpPr>
        <p:spPr>
          <a:xfrm>
            <a:off x="6625030" y="3162899"/>
            <a:ext cx="73202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8" name="直接箭头连接符 97">
            <a:extLst>
              <a:ext uri="{FF2B5EF4-FFF2-40B4-BE49-F238E27FC236}">
                <a16:creationId xmlns:a16="http://schemas.microsoft.com/office/drawing/2014/main" id="{8F07BD20-36BC-4C1E-9CCD-49AB16E08018}"/>
              </a:ext>
            </a:extLst>
          </p:cNvPr>
          <p:cNvCxnSpPr>
            <a:cxnSpLocks/>
          </p:cNvCxnSpPr>
          <p:nvPr/>
        </p:nvCxnSpPr>
        <p:spPr>
          <a:xfrm flipV="1">
            <a:off x="6751075" y="3516045"/>
            <a:ext cx="623561" cy="5911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99" name="直接箭头连接符 98">
            <a:extLst>
              <a:ext uri="{FF2B5EF4-FFF2-40B4-BE49-F238E27FC236}">
                <a16:creationId xmlns:a16="http://schemas.microsoft.com/office/drawing/2014/main" id="{6C8E745E-51CC-49BB-AEDB-21E0D2B136D1}"/>
              </a:ext>
            </a:extLst>
          </p:cNvPr>
          <p:cNvCxnSpPr>
            <a:cxnSpLocks/>
          </p:cNvCxnSpPr>
          <p:nvPr/>
        </p:nvCxnSpPr>
        <p:spPr>
          <a:xfrm>
            <a:off x="8030990" y="3123164"/>
            <a:ext cx="89389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0" name="直接箭头连接符 99">
            <a:extLst>
              <a:ext uri="{FF2B5EF4-FFF2-40B4-BE49-F238E27FC236}">
                <a16:creationId xmlns:a16="http://schemas.microsoft.com/office/drawing/2014/main" id="{5CE20BE0-F3B1-43FD-AC8D-3729D2E86AA7}"/>
              </a:ext>
            </a:extLst>
          </p:cNvPr>
          <p:cNvCxnSpPr>
            <a:cxnSpLocks/>
          </p:cNvCxnSpPr>
          <p:nvPr/>
        </p:nvCxnSpPr>
        <p:spPr>
          <a:xfrm>
            <a:off x="8362508" y="3136076"/>
            <a:ext cx="424576" cy="91644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1" name="直接箭头连接符 100">
            <a:extLst>
              <a:ext uri="{FF2B5EF4-FFF2-40B4-BE49-F238E27FC236}">
                <a16:creationId xmlns:a16="http://schemas.microsoft.com/office/drawing/2014/main" id="{702DB316-C551-41E7-B22E-BB2D5D66BDB3}"/>
              </a:ext>
            </a:extLst>
          </p:cNvPr>
          <p:cNvCxnSpPr>
            <a:cxnSpLocks/>
          </p:cNvCxnSpPr>
          <p:nvPr/>
        </p:nvCxnSpPr>
        <p:spPr>
          <a:xfrm flipV="1">
            <a:off x="8353081" y="2605101"/>
            <a:ext cx="505816" cy="5164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2" name="矩形 101">
            <a:extLst>
              <a:ext uri="{FF2B5EF4-FFF2-40B4-BE49-F238E27FC236}">
                <a16:creationId xmlns:a16="http://schemas.microsoft.com/office/drawing/2014/main" id="{3E123005-A8FE-4B54-A96B-D9820F2A7FB5}"/>
              </a:ext>
            </a:extLst>
          </p:cNvPr>
          <p:cNvSpPr/>
          <p:nvPr/>
        </p:nvSpPr>
        <p:spPr>
          <a:xfrm>
            <a:off x="6660578" y="1857489"/>
            <a:ext cx="809837" cy="338554"/>
          </a:xfrm>
          <a:prstGeom prst="rect">
            <a:avLst/>
          </a:prstGeom>
        </p:spPr>
        <p:txBody>
          <a:bodyPr wrap="none">
            <a:spAutoFit/>
          </a:bodyPr>
          <a:lstStyle/>
          <a:p>
            <a:r>
              <a:rPr lang="en-US" altLang="zh-CN" sz="1600" dirty="0">
                <a:solidFill>
                  <a:srgbClr val="FF0000"/>
                </a:solidFill>
              </a:rPr>
              <a:t>Uplink </a:t>
            </a:r>
            <a:endParaRPr lang="zh-CN" altLang="en-US" sz="1600" dirty="0"/>
          </a:p>
        </p:txBody>
      </p:sp>
      <p:sp>
        <p:nvSpPr>
          <p:cNvPr id="103" name="矩形 102">
            <a:extLst>
              <a:ext uri="{FF2B5EF4-FFF2-40B4-BE49-F238E27FC236}">
                <a16:creationId xmlns:a16="http://schemas.microsoft.com/office/drawing/2014/main" id="{5C7538F0-19E6-4241-AA79-595CF96C16D2}"/>
              </a:ext>
            </a:extLst>
          </p:cNvPr>
          <p:cNvSpPr/>
          <p:nvPr/>
        </p:nvSpPr>
        <p:spPr>
          <a:xfrm>
            <a:off x="7877979" y="1853593"/>
            <a:ext cx="1071127" cy="338554"/>
          </a:xfrm>
          <a:prstGeom prst="rect">
            <a:avLst/>
          </a:prstGeom>
        </p:spPr>
        <p:txBody>
          <a:bodyPr wrap="none">
            <a:spAutoFit/>
          </a:bodyPr>
          <a:lstStyle/>
          <a:p>
            <a:r>
              <a:rPr lang="en-US" altLang="zh-CN" sz="1600" dirty="0">
                <a:solidFill>
                  <a:srgbClr val="FF0000"/>
                </a:solidFill>
              </a:rPr>
              <a:t>Downlink </a:t>
            </a:r>
            <a:endParaRPr lang="zh-CN" altLang="en-US" sz="1600" dirty="0"/>
          </a:p>
        </p:txBody>
      </p:sp>
      <p:pic>
        <p:nvPicPr>
          <p:cNvPr id="104" name="图片 103">
            <a:extLst>
              <a:ext uri="{FF2B5EF4-FFF2-40B4-BE49-F238E27FC236}">
                <a16:creationId xmlns:a16="http://schemas.microsoft.com/office/drawing/2014/main" id="{C6C4AE1B-BEBE-48D9-92AB-3C457E50001D}"/>
              </a:ext>
            </a:extLst>
          </p:cNvPr>
          <p:cNvPicPr>
            <a:picLocks noChangeAspect="1"/>
          </p:cNvPicPr>
          <p:nvPr/>
        </p:nvPicPr>
        <p:blipFill>
          <a:blip r:embed="rId19"/>
          <a:stretch>
            <a:fillRect/>
          </a:stretch>
        </p:blipFill>
        <p:spPr>
          <a:xfrm>
            <a:off x="6855836" y="2283917"/>
            <a:ext cx="308410" cy="322117"/>
          </a:xfrm>
          <a:prstGeom prst="rect">
            <a:avLst/>
          </a:prstGeom>
        </p:spPr>
      </p:pic>
      <p:sp>
        <p:nvSpPr>
          <p:cNvPr id="105" name="矩形 104">
            <a:extLst>
              <a:ext uri="{FF2B5EF4-FFF2-40B4-BE49-F238E27FC236}">
                <a16:creationId xmlns:a16="http://schemas.microsoft.com/office/drawing/2014/main" id="{31EBDBC0-ECB4-409E-8445-CF5FB222EB63}"/>
              </a:ext>
            </a:extLst>
          </p:cNvPr>
          <p:cNvSpPr/>
          <p:nvPr/>
        </p:nvSpPr>
        <p:spPr>
          <a:xfrm>
            <a:off x="7062856" y="2292559"/>
            <a:ext cx="561372" cy="338554"/>
          </a:xfrm>
          <a:prstGeom prst="rect">
            <a:avLst/>
          </a:prstGeom>
        </p:spPr>
        <p:txBody>
          <a:bodyPr wrap="none">
            <a:spAutoFit/>
          </a:bodyPr>
          <a:lstStyle/>
          <a:p>
            <a:r>
              <a:rPr lang="en-US" altLang="zh-CN" sz="1600" dirty="0"/>
              <a:t>bits</a:t>
            </a:r>
            <a:r>
              <a:rPr lang="en-US" altLang="zh-CN" sz="1600" dirty="0">
                <a:solidFill>
                  <a:srgbClr val="FF0000"/>
                </a:solidFill>
              </a:rPr>
              <a:t> </a:t>
            </a:r>
            <a:endParaRPr lang="zh-CN" altLang="en-US" sz="1600" dirty="0"/>
          </a:p>
        </p:txBody>
      </p:sp>
      <p:pic>
        <p:nvPicPr>
          <p:cNvPr id="106" name="图片 105">
            <a:extLst>
              <a:ext uri="{FF2B5EF4-FFF2-40B4-BE49-F238E27FC236}">
                <a16:creationId xmlns:a16="http://schemas.microsoft.com/office/drawing/2014/main" id="{8B612813-8DF6-48D0-8978-5EABE12DFBF5}"/>
              </a:ext>
            </a:extLst>
          </p:cNvPr>
          <p:cNvPicPr>
            <a:picLocks noChangeAspect="1"/>
          </p:cNvPicPr>
          <p:nvPr/>
        </p:nvPicPr>
        <p:blipFill>
          <a:blip r:embed="rId20"/>
          <a:stretch>
            <a:fillRect/>
          </a:stretch>
        </p:blipFill>
        <p:spPr>
          <a:xfrm>
            <a:off x="6718785" y="2840341"/>
            <a:ext cx="283520" cy="255168"/>
          </a:xfrm>
          <a:prstGeom prst="rect">
            <a:avLst/>
          </a:prstGeom>
        </p:spPr>
      </p:pic>
      <p:sp>
        <p:nvSpPr>
          <p:cNvPr id="107" name="矩形 106">
            <a:extLst>
              <a:ext uri="{FF2B5EF4-FFF2-40B4-BE49-F238E27FC236}">
                <a16:creationId xmlns:a16="http://schemas.microsoft.com/office/drawing/2014/main" id="{DA5E1CD0-9AD0-4DFE-986D-85D4D184E90F}"/>
              </a:ext>
            </a:extLst>
          </p:cNvPr>
          <p:cNvSpPr/>
          <p:nvPr/>
        </p:nvSpPr>
        <p:spPr>
          <a:xfrm>
            <a:off x="6932667" y="2804978"/>
            <a:ext cx="561372" cy="338554"/>
          </a:xfrm>
          <a:prstGeom prst="rect">
            <a:avLst/>
          </a:prstGeom>
        </p:spPr>
        <p:txBody>
          <a:bodyPr wrap="none">
            <a:spAutoFit/>
          </a:bodyPr>
          <a:lstStyle/>
          <a:p>
            <a:r>
              <a:rPr lang="en-US" altLang="zh-CN" sz="1600" dirty="0"/>
              <a:t>bits</a:t>
            </a:r>
            <a:r>
              <a:rPr lang="en-US" altLang="zh-CN" sz="1600" dirty="0">
                <a:solidFill>
                  <a:srgbClr val="FF0000"/>
                </a:solidFill>
              </a:rPr>
              <a:t> </a:t>
            </a:r>
            <a:endParaRPr lang="zh-CN" altLang="en-US" sz="1600" dirty="0"/>
          </a:p>
        </p:txBody>
      </p:sp>
      <p:sp>
        <p:nvSpPr>
          <p:cNvPr id="108" name="文本框 107">
            <a:extLst>
              <a:ext uri="{FF2B5EF4-FFF2-40B4-BE49-F238E27FC236}">
                <a16:creationId xmlns:a16="http://schemas.microsoft.com/office/drawing/2014/main" id="{AE6FC9BF-B1D9-4CCF-B6FC-CB434C26F5FE}"/>
              </a:ext>
            </a:extLst>
          </p:cNvPr>
          <p:cNvSpPr txBox="1"/>
          <p:nvPr/>
        </p:nvSpPr>
        <p:spPr>
          <a:xfrm>
            <a:off x="6895385" y="3272164"/>
            <a:ext cx="461665" cy="487763"/>
          </a:xfrm>
          <a:prstGeom prst="rect">
            <a:avLst/>
          </a:prstGeom>
          <a:noFill/>
        </p:spPr>
        <p:txBody>
          <a:bodyPr vert="eaVert" wrap="square" rtlCol="0">
            <a:spAutoFit/>
          </a:bodyPr>
          <a:lstStyle/>
          <a:p>
            <a:r>
              <a:rPr lang="en-US" altLang="zh-CN" dirty="0"/>
              <a:t>…</a:t>
            </a:r>
            <a:endParaRPr lang="zh-CN" altLang="en-US" dirty="0"/>
          </a:p>
        </p:txBody>
      </p:sp>
      <p:pic>
        <p:nvPicPr>
          <p:cNvPr id="109" name="图片 108">
            <a:extLst>
              <a:ext uri="{FF2B5EF4-FFF2-40B4-BE49-F238E27FC236}">
                <a16:creationId xmlns:a16="http://schemas.microsoft.com/office/drawing/2014/main" id="{3BB04736-6A45-465C-8988-6FEA5E830CE1}"/>
              </a:ext>
            </a:extLst>
          </p:cNvPr>
          <p:cNvPicPr>
            <a:picLocks noChangeAspect="1"/>
          </p:cNvPicPr>
          <p:nvPr/>
        </p:nvPicPr>
        <p:blipFill>
          <a:blip r:embed="rId21"/>
          <a:stretch>
            <a:fillRect/>
          </a:stretch>
        </p:blipFill>
        <p:spPr>
          <a:xfrm>
            <a:off x="6890592" y="3994381"/>
            <a:ext cx="310159" cy="289012"/>
          </a:xfrm>
          <a:prstGeom prst="rect">
            <a:avLst/>
          </a:prstGeom>
        </p:spPr>
      </p:pic>
      <p:sp>
        <p:nvSpPr>
          <p:cNvPr id="110" name="矩形 109">
            <a:extLst>
              <a:ext uri="{FF2B5EF4-FFF2-40B4-BE49-F238E27FC236}">
                <a16:creationId xmlns:a16="http://schemas.microsoft.com/office/drawing/2014/main" id="{7CB85AA8-16ED-469D-8CE9-70E2A733F925}"/>
              </a:ext>
            </a:extLst>
          </p:cNvPr>
          <p:cNvSpPr/>
          <p:nvPr/>
        </p:nvSpPr>
        <p:spPr>
          <a:xfrm>
            <a:off x="7127307" y="3969610"/>
            <a:ext cx="561372" cy="338554"/>
          </a:xfrm>
          <a:prstGeom prst="rect">
            <a:avLst/>
          </a:prstGeom>
        </p:spPr>
        <p:txBody>
          <a:bodyPr wrap="none">
            <a:spAutoFit/>
          </a:bodyPr>
          <a:lstStyle/>
          <a:p>
            <a:r>
              <a:rPr lang="en-US" altLang="zh-CN" sz="1600" dirty="0"/>
              <a:t>bits</a:t>
            </a:r>
            <a:r>
              <a:rPr lang="en-US" altLang="zh-CN" sz="1600" dirty="0">
                <a:solidFill>
                  <a:srgbClr val="FF0000"/>
                </a:solidFill>
              </a:rPr>
              <a:t> </a:t>
            </a:r>
            <a:endParaRPr lang="zh-CN" altLang="en-US" sz="1600" dirty="0"/>
          </a:p>
        </p:txBody>
      </p:sp>
      <p:pic>
        <p:nvPicPr>
          <p:cNvPr id="111" name="图片 110">
            <a:extLst>
              <a:ext uri="{FF2B5EF4-FFF2-40B4-BE49-F238E27FC236}">
                <a16:creationId xmlns:a16="http://schemas.microsoft.com/office/drawing/2014/main" id="{20AA429C-90BE-4964-B3EB-6626D2F47C91}"/>
              </a:ext>
            </a:extLst>
          </p:cNvPr>
          <p:cNvPicPr>
            <a:picLocks noChangeAspect="1"/>
          </p:cNvPicPr>
          <p:nvPr/>
        </p:nvPicPr>
        <p:blipFill>
          <a:blip r:embed="rId22"/>
          <a:stretch>
            <a:fillRect/>
          </a:stretch>
        </p:blipFill>
        <p:spPr>
          <a:xfrm>
            <a:off x="7762525" y="2531546"/>
            <a:ext cx="636532" cy="318266"/>
          </a:xfrm>
          <a:prstGeom prst="rect">
            <a:avLst/>
          </a:prstGeom>
        </p:spPr>
      </p:pic>
      <p:sp>
        <p:nvSpPr>
          <p:cNvPr id="112" name="矩形 111">
            <a:extLst>
              <a:ext uri="{FF2B5EF4-FFF2-40B4-BE49-F238E27FC236}">
                <a16:creationId xmlns:a16="http://schemas.microsoft.com/office/drawing/2014/main" id="{AB71F566-5A07-4924-A07D-ECC41D9B7682}"/>
              </a:ext>
            </a:extLst>
          </p:cNvPr>
          <p:cNvSpPr/>
          <p:nvPr/>
        </p:nvSpPr>
        <p:spPr>
          <a:xfrm>
            <a:off x="8289789" y="2540210"/>
            <a:ext cx="561372" cy="338554"/>
          </a:xfrm>
          <a:prstGeom prst="rect">
            <a:avLst/>
          </a:prstGeom>
        </p:spPr>
        <p:txBody>
          <a:bodyPr wrap="none">
            <a:spAutoFit/>
          </a:bodyPr>
          <a:lstStyle/>
          <a:p>
            <a:r>
              <a:rPr lang="en-US" altLang="zh-CN" sz="1600" dirty="0"/>
              <a:t>bits</a:t>
            </a:r>
            <a:r>
              <a:rPr lang="en-US" altLang="zh-CN" sz="1600" dirty="0">
                <a:solidFill>
                  <a:srgbClr val="FF0000"/>
                </a:solidFill>
              </a:rPr>
              <a:t> </a:t>
            </a:r>
            <a:endParaRPr lang="zh-CN" altLang="en-US" sz="1600" dirty="0"/>
          </a:p>
        </p:txBody>
      </p:sp>
      <p:sp>
        <p:nvSpPr>
          <p:cNvPr id="113" name="文本框 112">
            <a:extLst>
              <a:ext uri="{FF2B5EF4-FFF2-40B4-BE49-F238E27FC236}">
                <a16:creationId xmlns:a16="http://schemas.microsoft.com/office/drawing/2014/main" id="{182B7240-4638-4CAA-B88C-039F44604332}"/>
              </a:ext>
            </a:extLst>
          </p:cNvPr>
          <p:cNvSpPr txBox="1"/>
          <p:nvPr/>
        </p:nvSpPr>
        <p:spPr>
          <a:xfrm>
            <a:off x="8510774" y="3245837"/>
            <a:ext cx="461665" cy="487763"/>
          </a:xfrm>
          <a:prstGeom prst="rect">
            <a:avLst/>
          </a:prstGeom>
          <a:noFill/>
        </p:spPr>
        <p:txBody>
          <a:bodyPr vert="eaVert" wrap="square" rtlCol="0">
            <a:spAutoFit/>
          </a:bodyPr>
          <a:lstStyle/>
          <a:p>
            <a:r>
              <a:rPr lang="en-US" altLang="zh-CN" dirty="0"/>
              <a:t>…</a:t>
            </a:r>
            <a:endParaRPr lang="zh-CN" altLang="en-US" dirty="0"/>
          </a:p>
        </p:txBody>
      </p:sp>
      <p:cxnSp>
        <p:nvCxnSpPr>
          <p:cNvPr id="114" name="直接箭头连接符 113">
            <a:extLst>
              <a:ext uri="{FF2B5EF4-FFF2-40B4-BE49-F238E27FC236}">
                <a16:creationId xmlns:a16="http://schemas.microsoft.com/office/drawing/2014/main" id="{19943007-9D19-4097-A0DD-E239843AB322}"/>
              </a:ext>
            </a:extLst>
          </p:cNvPr>
          <p:cNvCxnSpPr>
            <a:cxnSpLocks/>
          </p:cNvCxnSpPr>
          <p:nvPr/>
        </p:nvCxnSpPr>
        <p:spPr>
          <a:xfrm>
            <a:off x="10280867" y="2631808"/>
            <a:ext cx="4702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5" name="直接箭头连接符 114">
            <a:extLst>
              <a:ext uri="{FF2B5EF4-FFF2-40B4-BE49-F238E27FC236}">
                <a16:creationId xmlns:a16="http://schemas.microsoft.com/office/drawing/2014/main" id="{6E81D646-0BDF-4397-BBEF-2ECA01634094}"/>
              </a:ext>
            </a:extLst>
          </p:cNvPr>
          <p:cNvCxnSpPr>
            <a:cxnSpLocks/>
          </p:cNvCxnSpPr>
          <p:nvPr/>
        </p:nvCxnSpPr>
        <p:spPr>
          <a:xfrm>
            <a:off x="10281807" y="3158874"/>
            <a:ext cx="4702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6" name="直接箭头连接符 115">
            <a:extLst>
              <a:ext uri="{FF2B5EF4-FFF2-40B4-BE49-F238E27FC236}">
                <a16:creationId xmlns:a16="http://schemas.microsoft.com/office/drawing/2014/main" id="{C252C413-11F3-43C8-9470-792348E4B271}"/>
              </a:ext>
            </a:extLst>
          </p:cNvPr>
          <p:cNvCxnSpPr>
            <a:cxnSpLocks/>
          </p:cNvCxnSpPr>
          <p:nvPr/>
        </p:nvCxnSpPr>
        <p:spPr>
          <a:xfrm>
            <a:off x="10280867" y="4040403"/>
            <a:ext cx="470290"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17" name="文本框 116">
            <a:extLst>
              <a:ext uri="{FF2B5EF4-FFF2-40B4-BE49-F238E27FC236}">
                <a16:creationId xmlns:a16="http://schemas.microsoft.com/office/drawing/2014/main" id="{5525A290-CE87-4358-BA29-ECC2DC0A1522}"/>
              </a:ext>
            </a:extLst>
          </p:cNvPr>
          <p:cNvSpPr txBox="1"/>
          <p:nvPr/>
        </p:nvSpPr>
        <p:spPr>
          <a:xfrm>
            <a:off x="10367089" y="3334109"/>
            <a:ext cx="461665" cy="487763"/>
          </a:xfrm>
          <a:prstGeom prst="rect">
            <a:avLst/>
          </a:prstGeom>
          <a:noFill/>
        </p:spPr>
        <p:txBody>
          <a:bodyPr vert="eaVert" wrap="square" rtlCol="0">
            <a:spAutoFit/>
          </a:bodyPr>
          <a:lstStyle/>
          <a:p>
            <a:r>
              <a:rPr lang="en-US" altLang="zh-CN" dirty="0"/>
              <a:t>…</a:t>
            </a:r>
            <a:endParaRPr lang="zh-CN" altLang="en-US" dirty="0"/>
          </a:p>
        </p:txBody>
      </p:sp>
      <p:sp>
        <p:nvSpPr>
          <p:cNvPr id="118" name="矩形 117">
            <a:extLst>
              <a:ext uri="{FF2B5EF4-FFF2-40B4-BE49-F238E27FC236}">
                <a16:creationId xmlns:a16="http://schemas.microsoft.com/office/drawing/2014/main" id="{2133CF56-D410-47A4-808C-4D761FB1BD7D}"/>
              </a:ext>
            </a:extLst>
          </p:cNvPr>
          <p:cNvSpPr/>
          <p:nvPr/>
        </p:nvSpPr>
        <p:spPr>
          <a:xfrm>
            <a:off x="10218550" y="1897325"/>
            <a:ext cx="1106393" cy="338554"/>
          </a:xfrm>
          <a:prstGeom prst="rect">
            <a:avLst/>
          </a:prstGeom>
        </p:spPr>
        <p:txBody>
          <a:bodyPr wrap="none">
            <a:spAutoFit/>
          </a:bodyPr>
          <a:lstStyle/>
          <a:p>
            <a:r>
              <a:rPr lang="en-US" altLang="zh-CN" sz="1600" dirty="0">
                <a:solidFill>
                  <a:srgbClr val="FF0000"/>
                </a:solidFill>
              </a:rPr>
              <a:t>Decoding </a:t>
            </a:r>
            <a:endParaRPr lang="zh-CN" altLang="en-US" sz="1600" dirty="0"/>
          </a:p>
        </p:txBody>
      </p:sp>
      <p:cxnSp>
        <p:nvCxnSpPr>
          <p:cNvPr id="119" name="直接连接符 118">
            <a:extLst>
              <a:ext uri="{FF2B5EF4-FFF2-40B4-BE49-F238E27FC236}">
                <a16:creationId xmlns:a16="http://schemas.microsoft.com/office/drawing/2014/main" id="{4103C6A4-5C02-426D-AD0E-40ACC79E74EC}"/>
              </a:ext>
            </a:extLst>
          </p:cNvPr>
          <p:cNvCxnSpPr>
            <a:cxnSpLocks/>
          </p:cNvCxnSpPr>
          <p:nvPr/>
        </p:nvCxnSpPr>
        <p:spPr>
          <a:xfrm>
            <a:off x="3677332" y="1826751"/>
            <a:ext cx="0" cy="3479715"/>
          </a:xfrm>
          <a:prstGeom prst="line">
            <a:avLst/>
          </a:prstGeom>
          <a:ln w="19050">
            <a:solidFill>
              <a:srgbClr val="0070C0"/>
            </a:solidFill>
            <a:prstDash val="lgDash"/>
          </a:ln>
        </p:spPr>
        <p:style>
          <a:lnRef idx="1">
            <a:schemeClr val="accent1"/>
          </a:lnRef>
          <a:fillRef idx="0">
            <a:schemeClr val="accent1"/>
          </a:fillRef>
          <a:effectRef idx="0">
            <a:schemeClr val="accent1"/>
          </a:effectRef>
          <a:fontRef idx="minor">
            <a:schemeClr val="tx1"/>
          </a:fontRef>
        </p:style>
      </p:cxnSp>
      <p:cxnSp>
        <p:nvCxnSpPr>
          <p:cNvPr id="120" name="直接连接符 119">
            <a:extLst>
              <a:ext uri="{FF2B5EF4-FFF2-40B4-BE49-F238E27FC236}">
                <a16:creationId xmlns:a16="http://schemas.microsoft.com/office/drawing/2014/main" id="{426FE9A4-9E9B-447F-8CCE-248CE56CFEC9}"/>
              </a:ext>
            </a:extLst>
          </p:cNvPr>
          <p:cNvCxnSpPr>
            <a:cxnSpLocks/>
          </p:cNvCxnSpPr>
          <p:nvPr/>
        </p:nvCxnSpPr>
        <p:spPr>
          <a:xfrm flipH="1">
            <a:off x="6603477" y="1788477"/>
            <a:ext cx="1" cy="3547173"/>
          </a:xfrm>
          <a:prstGeom prst="line">
            <a:avLst/>
          </a:prstGeom>
          <a:ln w="19050">
            <a:solidFill>
              <a:srgbClr val="0070C0"/>
            </a:solidFill>
            <a:prstDash val="lgDash"/>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322195CD-D136-41D3-AADE-97F92227155A}"/>
              </a:ext>
            </a:extLst>
          </p:cNvPr>
          <p:cNvCxnSpPr>
            <a:cxnSpLocks/>
          </p:cNvCxnSpPr>
          <p:nvPr/>
        </p:nvCxnSpPr>
        <p:spPr>
          <a:xfrm>
            <a:off x="8962711" y="1797172"/>
            <a:ext cx="0" cy="3467833"/>
          </a:xfrm>
          <a:prstGeom prst="line">
            <a:avLst/>
          </a:prstGeom>
          <a:ln w="19050">
            <a:solidFill>
              <a:srgbClr val="0070C0"/>
            </a:solidFill>
            <a:prstDash val="lgDash"/>
          </a:ln>
        </p:spPr>
        <p:style>
          <a:lnRef idx="1">
            <a:schemeClr val="accent1"/>
          </a:lnRef>
          <a:fillRef idx="0">
            <a:schemeClr val="accent1"/>
          </a:fillRef>
          <a:effectRef idx="0">
            <a:schemeClr val="accent1"/>
          </a:effectRef>
          <a:fontRef idx="minor">
            <a:schemeClr val="tx1"/>
          </a:fontRef>
        </p:style>
      </p:cxnSp>
      <p:sp>
        <p:nvSpPr>
          <p:cNvPr id="122" name="文本框 121">
            <a:extLst>
              <a:ext uri="{FF2B5EF4-FFF2-40B4-BE49-F238E27FC236}">
                <a16:creationId xmlns:a16="http://schemas.microsoft.com/office/drawing/2014/main" id="{B9AD98A7-B20E-4FB1-A53F-81EC672B14F7}"/>
              </a:ext>
            </a:extLst>
          </p:cNvPr>
          <p:cNvSpPr txBox="1"/>
          <p:nvPr/>
        </p:nvSpPr>
        <p:spPr>
          <a:xfrm>
            <a:off x="4264406" y="4933343"/>
            <a:ext cx="1524776" cy="400110"/>
          </a:xfrm>
          <a:prstGeom prst="rect">
            <a:avLst/>
          </a:prstGeom>
          <a:noFill/>
        </p:spPr>
        <p:txBody>
          <a:bodyPr wrap="none" rtlCol="0">
            <a:spAutoFit/>
          </a:bodyPr>
          <a:lstStyle/>
          <a:p>
            <a:r>
              <a:rPr lang="en-US" altLang="zh-CN" sz="2000" b="1" dirty="0">
                <a:solidFill>
                  <a:srgbClr val="0070C0"/>
                </a:solidFill>
              </a:rPr>
              <a:t>Map Phase</a:t>
            </a:r>
            <a:endParaRPr lang="zh-CN" altLang="en-US" sz="2000" b="1" dirty="0">
              <a:solidFill>
                <a:srgbClr val="0070C0"/>
              </a:solidFill>
            </a:endParaRPr>
          </a:p>
        </p:txBody>
      </p:sp>
      <p:sp>
        <p:nvSpPr>
          <p:cNvPr id="123" name="文本框 122">
            <a:extLst>
              <a:ext uri="{FF2B5EF4-FFF2-40B4-BE49-F238E27FC236}">
                <a16:creationId xmlns:a16="http://schemas.microsoft.com/office/drawing/2014/main" id="{AF4159ED-21F5-4859-BE4D-85F09AA575A7}"/>
              </a:ext>
            </a:extLst>
          </p:cNvPr>
          <p:cNvSpPr txBox="1"/>
          <p:nvPr/>
        </p:nvSpPr>
        <p:spPr>
          <a:xfrm>
            <a:off x="6831550" y="4930200"/>
            <a:ext cx="1880643" cy="400110"/>
          </a:xfrm>
          <a:prstGeom prst="rect">
            <a:avLst/>
          </a:prstGeom>
          <a:noFill/>
        </p:spPr>
        <p:txBody>
          <a:bodyPr wrap="none" rtlCol="0">
            <a:spAutoFit/>
          </a:bodyPr>
          <a:lstStyle/>
          <a:p>
            <a:r>
              <a:rPr lang="en-US" altLang="zh-CN" sz="2000" b="1" dirty="0">
                <a:solidFill>
                  <a:srgbClr val="0070C0"/>
                </a:solidFill>
              </a:rPr>
              <a:t>Shuffle Phase</a:t>
            </a:r>
            <a:endParaRPr lang="zh-CN" altLang="en-US" sz="2000" b="1" dirty="0">
              <a:solidFill>
                <a:srgbClr val="0070C0"/>
              </a:solidFill>
            </a:endParaRPr>
          </a:p>
        </p:txBody>
      </p:sp>
      <p:sp>
        <p:nvSpPr>
          <p:cNvPr id="124" name="文本框 123">
            <a:extLst>
              <a:ext uri="{FF2B5EF4-FFF2-40B4-BE49-F238E27FC236}">
                <a16:creationId xmlns:a16="http://schemas.microsoft.com/office/drawing/2014/main" id="{3AC7EC30-7B41-4023-BC0B-E93D5702958F}"/>
              </a:ext>
            </a:extLst>
          </p:cNvPr>
          <p:cNvSpPr txBox="1"/>
          <p:nvPr/>
        </p:nvSpPr>
        <p:spPr>
          <a:xfrm>
            <a:off x="9397111" y="4933343"/>
            <a:ext cx="1939955" cy="400110"/>
          </a:xfrm>
          <a:prstGeom prst="rect">
            <a:avLst/>
          </a:prstGeom>
          <a:noFill/>
        </p:spPr>
        <p:txBody>
          <a:bodyPr wrap="none" rtlCol="0">
            <a:spAutoFit/>
          </a:bodyPr>
          <a:lstStyle/>
          <a:p>
            <a:r>
              <a:rPr lang="en-US" altLang="zh-CN" sz="2000" b="1" dirty="0">
                <a:solidFill>
                  <a:srgbClr val="0070C0"/>
                </a:solidFill>
              </a:rPr>
              <a:t>Reduce Phase</a:t>
            </a:r>
            <a:endParaRPr lang="zh-CN" altLang="en-US" sz="2000" b="1" dirty="0">
              <a:solidFill>
                <a:srgbClr val="0070C0"/>
              </a:solidFill>
            </a:endParaRPr>
          </a:p>
        </p:txBody>
      </p:sp>
      <p:sp>
        <p:nvSpPr>
          <p:cNvPr id="125" name="矩形 124">
            <a:extLst>
              <a:ext uri="{FF2B5EF4-FFF2-40B4-BE49-F238E27FC236}">
                <a16:creationId xmlns:a16="http://schemas.microsoft.com/office/drawing/2014/main" id="{C0793B6B-4C2B-41F6-8308-146C6CC5554D}"/>
              </a:ext>
            </a:extLst>
          </p:cNvPr>
          <p:cNvSpPr/>
          <p:nvPr/>
        </p:nvSpPr>
        <p:spPr>
          <a:xfrm>
            <a:off x="9931101" y="4598563"/>
            <a:ext cx="2299412" cy="338554"/>
          </a:xfrm>
          <a:prstGeom prst="rect">
            <a:avLst/>
          </a:prstGeom>
        </p:spPr>
        <p:txBody>
          <a:bodyPr wrap="none">
            <a:spAutoFit/>
          </a:bodyPr>
          <a:lstStyle/>
          <a:p>
            <a:r>
              <a:rPr lang="en-US" altLang="zh-CN" sz="1600" b="1" dirty="0">
                <a:solidFill>
                  <a:srgbClr val="FF0000"/>
                </a:solidFill>
              </a:rPr>
              <a:t>Flexible Assignment </a:t>
            </a:r>
            <a:endParaRPr lang="zh-CN" altLang="en-US" sz="1600" b="1" dirty="0"/>
          </a:p>
        </p:txBody>
      </p:sp>
      <p:pic>
        <p:nvPicPr>
          <p:cNvPr id="126" name="图片 125">
            <a:extLst>
              <a:ext uri="{FF2B5EF4-FFF2-40B4-BE49-F238E27FC236}">
                <a16:creationId xmlns:a16="http://schemas.microsoft.com/office/drawing/2014/main" id="{FF39852D-5401-4EA2-9F07-1CAAC7B2E14E}"/>
              </a:ext>
            </a:extLst>
          </p:cNvPr>
          <p:cNvPicPr>
            <a:picLocks noChangeAspect="1"/>
          </p:cNvPicPr>
          <p:nvPr/>
        </p:nvPicPr>
        <p:blipFill>
          <a:blip r:embed="rId23"/>
          <a:stretch>
            <a:fillRect/>
          </a:stretch>
        </p:blipFill>
        <p:spPr>
          <a:xfrm>
            <a:off x="6117647" y="3841879"/>
            <a:ext cx="280912" cy="317874"/>
          </a:xfrm>
          <a:prstGeom prst="rect">
            <a:avLst/>
          </a:prstGeom>
        </p:spPr>
      </p:pic>
      <p:pic>
        <p:nvPicPr>
          <p:cNvPr id="127" name="图片 126">
            <a:extLst>
              <a:ext uri="{FF2B5EF4-FFF2-40B4-BE49-F238E27FC236}">
                <a16:creationId xmlns:a16="http://schemas.microsoft.com/office/drawing/2014/main" id="{11C2A9CF-710A-4282-AC66-ED34867DB802}"/>
              </a:ext>
            </a:extLst>
          </p:cNvPr>
          <p:cNvPicPr>
            <a:picLocks noChangeAspect="1"/>
          </p:cNvPicPr>
          <p:nvPr/>
        </p:nvPicPr>
        <p:blipFill>
          <a:blip r:embed="rId24"/>
          <a:stretch>
            <a:fillRect/>
          </a:stretch>
        </p:blipFill>
        <p:spPr>
          <a:xfrm>
            <a:off x="10767524" y="2495163"/>
            <a:ext cx="1215467" cy="283609"/>
          </a:xfrm>
          <a:prstGeom prst="rect">
            <a:avLst/>
          </a:prstGeom>
        </p:spPr>
      </p:pic>
      <p:pic>
        <p:nvPicPr>
          <p:cNvPr id="128" name="图片 127">
            <a:extLst>
              <a:ext uri="{FF2B5EF4-FFF2-40B4-BE49-F238E27FC236}">
                <a16:creationId xmlns:a16="http://schemas.microsoft.com/office/drawing/2014/main" id="{00E66E77-4180-4498-906A-DB12031EC6DE}"/>
              </a:ext>
            </a:extLst>
          </p:cNvPr>
          <p:cNvPicPr>
            <a:picLocks noChangeAspect="1"/>
          </p:cNvPicPr>
          <p:nvPr/>
        </p:nvPicPr>
        <p:blipFill>
          <a:blip r:embed="rId25"/>
          <a:stretch>
            <a:fillRect/>
          </a:stretch>
        </p:blipFill>
        <p:spPr>
          <a:xfrm>
            <a:off x="10800226" y="3030057"/>
            <a:ext cx="1215467" cy="258079"/>
          </a:xfrm>
          <a:prstGeom prst="rect">
            <a:avLst/>
          </a:prstGeom>
        </p:spPr>
      </p:pic>
      <p:pic>
        <p:nvPicPr>
          <p:cNvPr id="129" name="图片 128">
            <a:extLst>
              <a:ext uri="{FF2B5EF4-FFF2-40B4-BE49-F238E27FC236}">
                <a16:creationId xmlns:a16="http://schemas.microsoft.com/office/drawing/2014/main" id="{60108D79-5D8A-47B4-86C1-A3C51800567E}"/>
              </a:ext>
            </a:extLst>
          </p:cNvPr>
          <p:cNvPicPr>
            <a:picLocks noChangeAspect="1"/>
          </p:cNvPicPr>
          <p:nvPr/>
        </p:nvPicPr>
        <p:blipFill>
          <a:blip r:embed="rId26"/>
          <a:stretch>
            <a:fillRect/>
          </a:stretch>
        </p:blipFill>
        <p:spPr>
          <a:xfrm>
            <a:off x="10791202" y="3891944"/>
            <a:ext cx="1192635" cy="310085"/>
          </a:xfrm>
          <a:prstGeom prst="rect">
            <a:avLst/>
          </a:prstGeom>
        </p:spPr>
      </p:pic>
      <p:sp>
        <p:nvSpPr>
          <p:cNvPr id="130" name="矩形 129">
            <a:extLst>
              <a:ext uri="{FF2B5EF4-FFF2-40B4-BE49-F238E27FC236}">
                <a16:creationId xmlns:a16="http://schemas.microsoft.com/office/drawing/2014/main" id="{61F45533-D2B2-452B-A463-F6B404B142E1}"/>
              </a:ext>
            </a:extLst>
          </p:cNvPr>
          <p:cNvSpPr/>
          <p:nvPr/>
        </p:nvSpPr>
        <p:spPr>
          <a:xfrm>
            <a:off x="10751157" y="2313112"/>
            <a:ext cx="1264536" cy="2052544"/>
          </a:xfrm>
          <a:prstGeom prst="rect">
            <a:avLst/>
          </a:prstGeom>
          <a:noFill/>
          <a:ln w="28575">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31" name="图片 130">
            <a:extLst>
              <a:ext uri="{FF2B5EF4-FFF2-40B4-BE49-F238E27FC236}">
                <a16:creationId xmlns:a16="http://schemas.microsoft.com/office/drawing/2014/main" id="{B452FA4A-91F7-45D6-8A03-E7C1CD361CCF}"/>
              </a:ext>
            </a:extLst>
          </p:cNvPr>
          <p:cNvPicPr>
            <a:picLocks noChangeAspect="1"/>
          </p:cNvPicPr>
          <p:nvPr/>
        </p:nvPicPr>
        <p:blipFill>
          <a:blip r:embed="rId27"/>
          <a:stretch>
            <a:fillRect/>
          </a:stretch>
        </p:blipFill>
        <p:spPr>
          <a:xfrm>
            <a:off x="5609730" y="2768146"/>
            <a:ext cx="829223" cy="274179"/>
          </a:xfrm>
          <a:prstGeom prst="rect">
            <a:avLst/>
          </a:prstGeom>
        </p:spPr>
      </p:pic>
      <p:sp>
        <p:nvSpPr>
          <p:cNvPr id="132" name="矩形 131">
            <a:extLst>
              <a:ext uri="{FF2B5EF4-FFF2-40B4-BE49-F238E27FC236}">
                <a16:creationId xmlns:a16="http://schemas.microsoft.com/office/drawing/2014/main" id="{0C07834D-7A32-491D-8101-68B5A6E7868B}"/>
              </a:ext>
            </a:extLst>
          </p:cNvPr>
          <p:cNvSpPr/>
          <p:nvPr/>
        </p:nvSpPr>
        <p:spPr>
          <a:xfrm>
            <a:off x="9013910" y="2095410"/>
            <a:ext cx="1202153" cy="2503936"/>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3" name="文本框 132">
            <a:extLst>
              <a:ext uri="{FF2B5EF4-FFF2-40B4-BE49-F238E27FC236}">
                <a16:creationId xmlns:a16="http://schemas.microsoft.com/office/drawing/2014/main" id="{85825CF0-99E9-464F-8B17-0719EC8EBA1E}"/>
              </a:ext>
            </a:extLst>
          </p:cNvPr>
          <p:cNvSpPr txBox="1"/>
          <p:nvPr/>
        </p:nvSpPr>
        <p:spPr>
          <a:xfrm>
            <a:off x="9060706" y="2415380"/>
            <a:ext cx="1224181" cy="2139560"/>
          </a:xfrm>
          <a:prstGeom prst="rect">
            <a:avLst/>
          </a:prstGeom>
          <a:noFill/>
        </p:spPr>
        <p:txBody>
          <a:bodyPr wrap="square" rtlCol="0">
            <a:spAutoFit/>
          </a:bodyPr>
          <a:lstStyle/>
          <a:p>
            <a:r>
              <a:rPr lang="en-US" altLang="zh-CN" sz="1600" dirty="0"/>
              <a:t>The </a:t>
            </a:r>
          </a:p>
          <a:p>
            <a:pPr>
              <a:lnSpc>
                <a:spcPct val="150000"/>
              </a:lnSpc>
            </a:pPr>
            <a:endParaRPr lang="en-US" altLang="zh-CN" sz="1600" dirty="0"/>
          </a:p>
          <a:p>
            <a:pPr>
              <a:lnSpc>
                <a:spcPct val="150000"/>
              </a:lnSpc>
            </a:pPr>
            <a:r>
              <a:rPr lang="en-US" altLang="zh-CN" sz="1600" dirty="0"/>
              <a:t>fastest</a:t>
            </a:r>
          </a:p>
          <a:p>
            <a:pPr>
              <a:lnSpc>
                <a:spcPct val="150000"/>
              </a:lnSpc>
            </a:pPr>
            <a:r>
              <a:rPr lang="en-US" altLang="zh-CN" sz="1600" dirty="0"/>
              <a:t>computing</a:t>
            </a:r>
          </a:p>
          <a:p>
            <a:pPr>
              <a:lnSpc>
                <a:spcPct val="150000"/>
              </a:lnSpc>
            </a:pPr>
            <a:r>
              <a:rPr lang="en-US" altLang="zh-CN" sz="1600" dirty="0"/>
              <a:t>devices</a:t>
            </a:r>
          </a:p>
          <a:p>
            <a:pPr>
              <a:lnSpc>
                <a:spcPct val="150000"/>
              </a:lnSpc>
            </a:pPr>
            <a:endParaRPr lang="en-US" altLang="zh-CN" sz="1600" dirty="0"/>
          </a:p>
        </p:txBody>
      </p:sp>
      <p:pic>
        <p:nvPicPr>
          <p:cNvPr id="134" name="图片 133">
            <a:extLst>
              <a:ext uri="{FF2B5EF4-FFF2-40B4-BE49-F238E27FC236}">
                <a16:creationId xmlns:a16="http://schemas.microsoft.com/office/drawing/2014/main" id="{02562795-73FC-4698-A5B8-A8FEFB84FB40}"/>
              </a:ext>
            </a:extLst>
          </p:cNvPr>
          <p:cNvPicPr>
            <a:picLocks noChangeAspect="1"/>
          </p:cNvPicPr>
          <p:nvPr/>
        </p:nvPicPr>
        <p:blipFill>
          <a:blip r:embed="rId18"/>
          <a:stretch>
            <a:fillRect/>
          </a:stretch>
        </p:blipFill>
        <p:spPr>
          <a:xfrm>
            <a:off x="9101145" y="2755414"/>
            <a:ext cx="227181" cy="294493"/>
          </a:xfrm>
          <a:prstGeom prst="rect">
            <a:avLst/>
          </a:prstGeom>
        </p:spPr>
      </p:pic>
      <p:pic>
        <p:nvPicPr>
          <p:cNvPr id="135" name="图片 134">
            <a:extLst>
              <a:ext uri="{FF2B5EF4-FFF2-40B4-BE49-F238E27FC236}">
                <a16:creationId xmlns:a16="http://schemas.microsoft.com/office/drawing/2014/main" id="{9FE3EA27-1C85-4266-9258-8862F1C520E5}"/>
              </a:ext>
            </a:extLst>
          </p:cNvPr>
          <p:cNvPicPr>
            <a:picLocks noChangeAspect="1"/>
          </p:cNvPicPr>
          <p:nvPr/>
        </p:nvPicPr>
        <p:blipFill>
          <a:blip r:embed="rId27"/>
          <a:stretch>
            <a:fillRect/>
          </a:stretch>
        </p:blipFill>
        <p:spPr>
          <a:xfrm>
            <a:off x="9322439" y="2764815"/>
            <a:ext cx="829223" cy="274179"/>
          </a:xfrm>
          <a:prstGeom prst="rect">
            <a:avLst/>
          </a:prstGeom>
        </p:spPr>
      </p:pic>
      <p:pic>
        <p:nvPicPr>
          <p:cNvPr id="136" name="图片 135">
            <a:extLst>
              <a:ext uri="{FF2B5EF4-FFF2-40B4-BE49-F238E27FC236}">
                <a16:creationId xmlns:a16="http://schemas.microsoft.com/office/drawing/2014/main" id="{2B6F1B84-D518-4743-A651-0A5A7EBC26D2}"/>
              </a:ext>
            </a:extLst>
          </p:cNvPr>
          <p:cNvPicPr>
            <a:picLocks noChangeAspect="1"/>
          </p:cNvPicPr>
          <p:nvPr/>
        </p:nvPicPr>
        <p:blipFill>
          <a:blip r:embed="rId23"/>
          <a:stretch>
            <a:fillRect/>
          </a:stretch>
        </p:blipFill>
        <p:spPr>
          <a:xfrm>
            <a:off x="9840088" y="3839195"/>
            <a:ext cx="280912" cy="317874"/>
          </a:xfrm>
          <a:prstGeom prst="rect">
            <a:avLst/>
          </a:prstGeom>
        </p:spPr>
      </p:pic>
      <p:pic>
        <p:nvPicPr>
          <p:cNvPr id="137" name="图形 56">
            <a:extLst>
              <a:ext uri="{FF2B5EF4-FFF2-40B4-BE49-F238E27FC236}">
                <a16:creationId xmlns:a16="http://schemas.microsoft.com/office/drawing/2014/main" id="{1BA267F6-A3E6-4827-882A-A59EDFB53B31}"/>
              </a:ext>
            </a:extLst>
          </p:cNvPr>
          <p:cNvPicPr>
            <a:picLocks noChangeAspect="1"/>
          </p:cNvPicPr>
          <p:nvPr/>
        </p:nvPicPr>
        <p:blipFill>
          <a:blip r:embed="rId28" cstate="print">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7471512" y="2924407"/>
            <a:ext cx="448831" cy="448831"/>
          </a:xfrm>
          <a:prstGeom prst="rect">
            <a:avLst/>
          </a:prstGeom>
        </p:spPr>
      </p:pic>
      <p:sp>
        <p:nvSpPr>
          <p:cNvPr id="138" name="文本框 137">
            <a:extLst>
              <a:ext uri="{FF2B5EF4-FFF2-40B4-BE49-F238E27FC236}">
                <a16:creationId xmlns:a16="http://schemas.microsoft.com/office/drawing/2014/main" id="{C57EDBC9-315E-473B-A7A5-81FA3AAA742A}"/>
              </a:ext>
            </a:extLst>
          </p:cNvPr>
          <p:cNvSpPr txBox="1"/>
          <p:nvPr/>
        </p:nvSpPr>
        <p:spPr>
          <a:xfrm>
            <a:off x="155449" y="5314898"/>
            <a:ext cx="11821732" cy="1246495"/>
          </a:xfrm>
          <a:prstGeom prst="rect">
            <a:avLst/>
          </a:prstGeom>
          <a:noFill/>
        </p:spPr>
        <p:txBody>
          <a:bodyPr wrap="square" rtlCol="0">
            <a:spAutoFit/>
          </a:bodyPr>
          <a:lstStyle/>
          <a:p>
            <a:pPr marL="288000" indent="-288000">
              <a:lnSpc>
                <a:spcPct val="150000"/>
              </a:lnSpc>
              <a:buFont typeface="Wingdings" panose="05000000000000000000" pitchFamily="2" charset="2"/>
              <a:buChar char="p"/>
            </a:pPr>
            <a:r>
              <a:rPr lang="zh-CN" altLang="en-US" b="1" dirty="0">
                <a:solidFill>
                  <a:srgbClr val="FF0000"/>
                </a:solidFill>
              </a:rPr>
              <a:t>灵活的输出向量分配</a:t>
            </a:r>
            <a:endParaRPr lang="en-US" altLang="zh-CN" b="1" dirty="0">
              <a:solidFill>
                <a:srgbClr val="FF0000"/>
              </a:solidFill>
            </a:endParaRPr>
          </a:p>
          <a:p>
            <a:pPr marL="285750" indent="-285750">
              <a:buFont typeface="Arial" panose="020B0604020202020204" pitchFamily="34" charset="0"/>
              <a:buChar char="•"/>
            </a:pPr>
            <a:r>
              <a:rPr lang="zh-CN" altLang="en-US" sz="1600" dirty="0"/>
              <a:t>将快设备分组</a:t>
            </a:r>
            <a:r>
              <a:rPr lang="en-US" altLang="zh-CN" sz="1600" dirty="0"/>
              <a:t>     </a:t>
            </a:r>
            <a:r>
              <a:rPr lang="zh-CN" altLang="en-US" sz="1600" dirty="0"/>
              <a:t>分成      和      两个组；将    按列划分成    个子矩阵</a:t>
            </a:r>
            <a:endParaRPr lang="en-US" altLang="zh-CN" sz="1600" dirty="0"/>
          </a:p>
          <a:p>
            <a:pPr marL="285750" indent="-285750">
              <a:buFont typeface="Arial" panose="020B0604020202020204" pitchFamily="34" charset="0"/>
              <a:buChar char="•"/>
            </a:pPr>
            <a:r>
              <a:rPr lang="zh-CN" altLang="en-US" sz="1600" dirty="0"/>
              <a:t>前</a:t>
            </a:r>
            <a:r>
              <a:rPr lang="en-US" altLang="zh-CN" sz="1600" dirty="0"/>
              <a:t>             </a:t>
            </a:r>
            <a:r>
              <a:rPr lang="zh-CN" altLang="en-US" sz="1600" dirty="0"/>
              <a:t>个设备组成</a:t>
            </a:r>
            <a:r>
              <a:rPr lang="en-US" altLang="zh-CN" sz="1600" dirty="0"/>
              <a:t>     </a:t>
            </a:r>
            <a:r>
              <a:rPr lang="zh-CN" altLang="en-US" sz="1600" dirty="0"/>
              <a:t>，剩下的</a:t>
            </a:r>
            <a:r>
              <a:rPr lang="en-US" altLang="zh-CN" sz="1600" dirty="0"/>
              <a:t>                     </a:t>
            </a:r>
            <a:r>
              <a:rPr lang="zh-CN" altLang="en-US" sz="1600" dirty="0"/>
              <a:t>个设备组成</a:t>
            </a:r>
            <a:endParaRPr lang="en-US" altLang="zh-CN" sz="1600" dirty="0"/>
          </a:p>
          <a:p>
            <a:pPr marL="285750" indent="-285750">
              <a:buFont typeface="Arial" panose="020B0604020202020204" pitchFamily="34" charset="0"/>
              <a:buChar char="•"/>
            </a:pPr>
            <a:r>
              <a:rPr lang="zh-CN" altLang="en-US" sz="1600" dirty="0"/>
              <a:t>当             时，设备</a:t>
            </a:r>
            <a:r>
              <a:rPr lang="en-US" altLang="zh-CN" sz="1600" dirty="0"/>
              <a:t>    </a:t>
            </a:r>
            <a:r>
              <a:rPr lang="zh-CN" altLang="en-US" sz="1600" dirty="0"/>
              <a:t>负责输出基于     的输出向量，其中     包含      个输入向量；当             时，    包含       个输入向量     </a:t>
            </a:r>
          </a:p>
        </p:txBody>
      </p:sp>
      <p:pic>
        <p:nvPicPr>
          <p:cNvPr id="139" name="图片 138">
            <a:extLst>
              <a:ext uri="{FF2B5EF4-FFF2-40B4-BE49-F238E27FC236}">
                <a16:creationId xmlns:a16="http://schemas.microsoft.com/office/drawing/2014/main" id="{496AE76C-78E3-463B-89E0-5AD3CA5BA5BB}"/>
              </a:ext>
            </a:extLst>
          </p:cNvPr>
          <p:cNvPicPr>
            <a:picLocks noChangeAspect="1"/>
          </p:cNvPicPr>
          <p:nvPr/>
        </p:nvPicPr>
        <p:blipFill>
          <a:blip r:embed="rId23"/>
          <a:stretch>
            <a:fillRect/>
          </a:stretch>
        </p:blipFill>
        <p:spPr>
          <a:xfrm>
            <a:off x="1743461" y="5737707"/>
            <a:ext cx="233389" cy="264098"/>
          </a:xfrm>
          <a:prstGeom prst="rect">
            <a:avLst/>
          </a:prstGeom>
        </p:spPr>
      </p:pic>
      <p:pic>
        <p:nvPicPr>
          <p:cNvPr id="140" name="图片 139">
            <a:extLst>
              <a:ext uri="{FF2B5EF4-FFF2-40B4-BE49-F238E27FC236}">
                <a16:creationId xmlns:a16="http://schemas.microsoft.com/office/drawing/2014/main" id="{DC57F4A6-ED5B-4A60-966D-1FA20AB57373}"/>
              </a:ext>
            </a:extLst>
          </p:cNvPr>
          <p:cNvPicPr>
            <a:picLocks noChangeAspect="1"/>
          </p:cNvPicPr>
          <p:nvPr/>
        </p:nvPicPr>
        <p:blipFill>
          <a:blip r:embed="rId30"/>
          <a:stretch>
            <a:fillRect/>
          </a:stretch>
        </p:blipFill>
        <p:spPr>
          <a:xfrm>
            <a:off x="2459997" y="5756464"/>
            <a:ext cx="279589" cy="243121"/>
          </a:xfrm>
          <a:prstGeom prst="rect">
            <a:avLst/>
          </a:prstGeom>
        </p:spPr>
      </p:pic>
      <p:pic>
        <p:nvPicPr>
          <p:cNvPr id="141" name="图片 140">
            <a:extLst>
              <a:ext uri="{FF2B5EF4-FFF2-40B4-BE49-F238E27FC236}">
                <a16:creationId xmlns:a16="http://schemas.microsoft.com/office/drawing/2014/main" id="{7C401E0E-FD05-4DCC-ACB9-CBE1818CF7DA}"/>
              </a:ext>
            </a:extLst>
          </p:cNvPr>
          <p:cNvPicPr>
            <a:picLocks noChangeAspect="1"/>
          </p:cNvPicPr>
          <p:nvPr/>
        </p:nvPicPr>
        <p:blipFill>
          <a:blip r:embed="rId31"/>
          <a:stretch>
            <a:fillRect/>
          </a:stretch>
        </p:blipFill>
        <p:spPr>
          <a:xfrm>
            <a:off x="2977829" y="5758163"/>
            <a:ext cx="323988" cy="247755"/>
          </a:xfrm>
          <a:prstGeom prst="rect">
            <a:avLst/>
          </a:prstGeom>
        </p:spPr>
      </p:pic>
      <p:pic>
        <p:nvPicPr>
          <p:cNvPr id="142" name="图片 141">
            <a:extLst>
              <a:ext uri="{FF2B5EF4-FFF2-40B4-BE49-F238E27FC236}">
                <a16:creationId xmlns:a16="http://schemas.microsoft.com/office/drawing/2014/main" id="{916256CA-8B1A-4D13-A4B6-4163F78DC3B8}"/>
              </a:ext>
            </a:extLst>
          </p:cNvPr>
          <p:cNvPicPr>
            <a:picLocks noChangeAspect="1"/>
          </p:cNvPicPr>
          <p:nvPr/>
        </p:nvPicPr>
        <p:blipFill>
          <a:blip r:embed="rId32"/>
          <a:stretch>
            <a:fillRect/>
          </a:stretch>
        </p:blipFill>
        <p:spPr>
          <a:xfrm>
            <a:off x="4332468" y="5795418"/>
            <a:ext cx="245088" cy="186734"/>
          </a:xfrm>
          <a:prstGeom prst="rect">
            <a:avLst/>
          </a:prstGeom>
        </p:spPr>
      </p:pic>
      <p:pic>
        <p:nvPicPr>
          <p:cNvPr id="143" name="图片 142">
            <a:extLst>
              <a:ext uri="{FF2B5EF4-FFF2-40B4-BE49-F238E27FC236}">
                <a16:creationId xmlns:a16="http://schemas.microsoft.com/office/drawing/2014/main" id="{4D2EC697-3160-4B5F-907A-BB21CC649457}"/>
              </a:ext>
            </a:extLst>
          </p:cNvPr>
          <p:cNvPicPr>
            <a:picLocks noChangeAspect="1"/>
          </p:cNvPicPr>
          <p:nvPr/>
        </p:nvPicPr>
        <p:blipFill>
          <a:blip r:embed="rId33"/>
          <a:stretch>
            <a:fillRect/>
          </a:stretch>
        </p:blipFill>
        <p:spPr>
          <a:xfrm>
            <a:off x="5625547" y="5764822"/>
            <a:ext cx="175587" cy="243121"/>
          </a:xfrm>
          <a:prstGeom prst="rect">
            <a:avLst/>
          </a:prstGeom>
        </p:spPr>
      </p:pic>
      <p:pic>
        <p:nvPicPr>
          <p:cNvPr id="144" name="图片 143">
            <a:extLst>
              <a:ext uri="{FF2B5EF4-FFF2-40B4-BE49-F238E27FC236}">
                <a16:creationId xmlns:a16="http://schemas.microsoft.com/office/drawing/2014/main" id="{B9042ADC-D892-44E3-B4AB-02DA6F303945}"/>
              </a:ext>
            </a:extLst>
          </p:cNvPr>
          <p:cNvPicPr>
            <a:picLocks noChangeAspect="1"/>
          </p:cNvPicPr>
          <p:nvPr/>
        </p:nvPicPr>
        <p:blipFill>
          <a:blip r:embed="rId34"/>
          <a:stretch>
            <a:fillRect/>
          </a:stretch>
        </p:blipFill>
        <p:spPr>
          <a:xfrm>
            <a:off x="6652131" y="5762949"/>
            <a:ext cx="1305795" cy="262325"/>
          </a:xfrm>
          <a:prstGeom prst="rect">
            <a:avLst/>
          </a:prstGeom>
        </p:spPr>
      </p:pic>
      <p:pic>
        <p:nvPicPr>
          <p:cNvPr id="145" name="图片 144">
            <a:extLst>
              <a:ext uri="{FF2B5EF4-FFF2-40B4-BE49-F238E27FC236}">
                <a16:creationId xmlns:a16="http://schemas.microsoft.com/office/drawing/2014/main" id="{005EA428-7276-495F-AF5F-CBCB439A1ACD}"/>
              </a:ext>
            </a:extLst>
          </p:cNvPr>
          <p:cNvPicPr>
            <a:picLocks noChangeAspect="1"/>
          </p:cNvPicPr>
          <p:nvPr/>
        </p:nvPicPr>
        <p:blipFill>
          <a:blip r:embed="rId35"/>
          <a:stretch>
            <a:fillRect/>
          </a:stretch>
        </p:blipFill>
        <p:spPr>
          <a:xfrm>
            <a:off x="746819" y="6027907"/>
            <a:ext cx="723914" cy="239606"/>
          </a:xfrm>
          <a:prstGeom prst="rect">
            <a:avLst/>
          </a:prstGeom>
        </p:spPr>
      </p:pic>
      <p:pic>
        <p:nvPicPr>
          <p:cNvPr id="146" name="图片 145">
            <a:extLst>
              <a:ext uri="{FF2B5EF4-FFF2-40B4-BE49-F238E27FC236}">
                <a16:creationId xmlns:a16="http://schemas.microsoft.com/office/drawing/2014/main" id="{2B107AF0-1AC1-42FD-84EE-96974F3EFDF8}"/>
              </a:ext>
            </a:extLst>
          </p:cNvPr>
          <p:cNvPicPr>
            <a:picLocks noChangeAspect="1"/>
          </p:cNvPicPr>
          <p:nvPr/>
        </p:nvPicPr>
        <p:blipFill>
          <a:blip r:embed="rId30"/>
          <a:stretch>
            <a:fillRect/>
          </a:stretch>
        </p:blipFill>
        <p:spPr>
          <a:xfrm>
            <a:off x="2485287" y="5999585"/>
            <a:ext cx="286553" cy="249176"/>
          </a:xfrm>
          <a:prstGeom prst="rect">
            <a:avLst/>
          </a:prstGeom>
        </p:spPr>
      </p:pic>
      <p:pic>
        <p:nvPicPr>
          <p:cNvPr id="147" name="图片 146">
            <a:extLst>
              <a:ext uri="{FF2B5EF4-FFF2-40B4-BE49-F238E27FC236}">
                <a16:creationId xmlns:a16="http://schemas.microsoft.com/office/drawing/2014/main" id="{C402E233-A6EA-40EA-82CA-14C258D1CF9B}"/>
              </a:ext>
            </a:extLst>
          </p:cNvPr>
          <p:cNvPicPr>
            <a:picLocks noChangeAspect="1"/>
          </p:cNvPicPr>
          <p:nvPr/>
        </p:nvPicPr>
        <p:blipFill>
          <a:blip r:embed="rId36"/>
          <a:stretch>
            <a:fillRect/>
          </a:stretch>
        </p:blipFill>
        <p:spPr>
          <a:xfrm>
            <a:off x="3604677" y="6015067"/>
            <a:ext cx="1202811" cy="258548"/>
          </a:xfrm>
          <a:prstGeom prst="rect">
            <a:avLst/>
          </a:prstGeom>
        </p:spPr>
      </p:pic>
      <p:pic>
        <p:nvPicPr>
          <p:cNvPr id="148" name="图片 147">
            <a:extLst>
              <a:ext uri="{FF2B5EF4-FFF2-40B4-BE49-F238E27FC236}">
                <a16:creationId xmlns:a16="http://schemas.microsoft.com/office/drawing/2014/main" id="{DE6445F6-C853-40EF-873F-DD1738897E2C}"/>
              </a:ext>
            </a:extLst>
          </p:cNvPr>
          <p:cNvPicPr>
            <a:picLocks noChangeAspect="1"/>
          </p:cNvPicPr>
          <p:nvPr/>
        </p:nvPicPr>
        <p:blipFill>
          <a:blip r:embed="rId31"/>
          <a:stretch>
            <a:fillRect/>
          </a:stretch>
        </p:blipFill>
        <p:spPr>
          <a:xfrm>
            <a:off x="5854239" y="6005488"/>
            <a:ext cx="313331" cy="239606"/>
          </a:xfrm>
          <a:prstGeom prst="rect">
            <a:avLst/>
          </a:prstGeom>
        </p:spPr>
      </p:pic>
      <p:pic>
        <p:nvPicPr>
          <p:cNvPr id="149" name="图片 148">
            <a:extLst>
              <a:ext uri="{FF2B5EF4-FFF2-40B4-BE49-F238E27FC236}">
                <a16:creationId xmlns:a16="http://schemas.microsoft.com/office/drawing/2014/main" id="{63146934-4D92-42E3-8FA4-79CDA2C247B0}"/>
              </a:ext>
            </a:extLst>
          </p:cNvPr>
          <p:cNvPicPr>
            <a:picLocks noChangeAspect="1"/>
          </p:cNvPicPr>
          <p:nvPr/>
        </p:nvPicPr>
        <p:blipFill>
          <a:blip r:embed="rId37"/>
          <a:stretch>
            <a:fillRect/>
          </a:stretch>
        </p:blipFill>
        <p:spPr>
          <a:xfrm>
            <a:off x="2284485" y="6250920"/>
            <a:ext cx="219852" cy="245716"/>
          </a:xfrm>
          <a:prstGeom prst="rect">
            <a:avLst/>
          </a:prstGeom>
        </p:spPr>
      </p:pic>
      <p:pic>
        <p:nvPicPr>
          <p:cNvPr id="150" name="图片 149">
            <a:extLst>
              <a:ext uri="{FF2B5EF4-FFF2-40B4-BE49-F238E27FC236}">
                <a16:creationId xmlns:a16="http://schemas.microsoft.com/office/drawing/2014/main" id="{52E82090-064A-41EB-9127-22F671FC1F22}"/>
              </a:ext>
            </a:extLst>
          </p:cNvPr>
          <p:cNvPicPr>
            <a:picLocks noChangeAspect="1"/>
          </p:cNvPicPr>
          <p:nvPr/>
        </p:nvPicPr>
        <p:blipFill>
          <a:blip r:embed="rId38"/>
          <a:stretch>
            <a:fillRect/>
          </a:stretch>
        </p:blipFill>
        <p:spPr>
          <a:xfrm>
            <a:off x="3726315" y="6263270"/>
            <a:ext cx="284995" cy="233177"/>
          </a:xfrm>
          <a:prstGeom prst="rect">
            <a:avLst/>
          </a:prstGeom>
        </p:spPr>
      </p:pic>
      <p:pic>
        <p:nvPicPr>
          <p:cNvPr id="152" name="图片 151">
            <a:extLst>
              <a:ext uri="{FF2B5EF4-FFF2-40B4-BE49-F238E27FC236}">
                <a16:creationId xmlns:a16="http://schemas.microsoft.com/office/drawing/2014/main" id="{15C67BA9-BB8F-49A0-A55F-96164A1EF9BC}"/>
              </a:ext>
            </a:extLst>
          </p:cNvPr>
          <p:cNvPicPr>
            <a:picLocks noChangeAspect="1"/>
          </p:cNvPicPr>
          <p:nvPr/>
        </p:nvPicPr>
        <p:blipFill>
          <a:blip r:embed="rId39"/>
          <a:stretch>
            <a:fillRect/>
          </a:stretch>
        </p:blipFill>
        <p:spPr>
          <a:xfrm>
            <a:off x="727603" y="6268783"/>
            <a:ext cx="723915" cy="209990"/>
          </a:xfrm>
          <a:prstGeom prst="rect">
            <a:avLst/>
          </a:prstGeom>
        </p:spPr>
      </p:pic>
      <p:pic>
        <p:nvPicPr>
          <p:cNvPr id="153" name="图片 152">
            <a:extLst>
              <a:ext uri="{FF2B5EF4-FFF2-40B4-BE49-F238E27FC236}">
                <a16:creationId xmlns:a16="http://schemas.microsoft.com/office/drawing/2014/main" id="{F612C337-2945-447D-81C5-4F2861E6B283}"/>
              </a:ext>
            </a:extLst>
          </p:cNvPr>
          <p:cNvPicPr>
            <a:picLocks noChangeAspect="1"/>
          </p:cNvPicPr>
          <p:nvPr/>
        </p:nvPicPr>
        <p:blipFill>
          <a:blip r:embed="rId40"/>
          <a:stretch>
            <a:fillRect/>
          </a:stretch>
        </p:blipFill>
        <p:spPr>
          <a:xfrm>
            <a:off x="9932134" y="6257189"/>
            <a:ext cx="355355" cy="272069"/>
          </a:xfrm>
          <a:prstGeom prst="rect">
            <a:avLst/>
          </a:prstGeom>
        </p:spPr>
      </p:pic>
      <p:pic>
        <p:nvPicPr>
          <p:cNvPr id="155" name="图片 154">
            <a:extLst>
              <a:ext uri="{FF2B5EF4-FFF2-40B4-BE49-F238E27FC236}">
                <a16:creationId xmlns:a16="http://schemas.microsoft.com/office/drawing/2014/main" id="{B37F40EF-4C64-41E9-8C2D-A5F08BB001A4}"/>
              </a:ext>
            </a:extLst>
          </p:cNvPr>
          <p:cNvPicPr>
            <a:picLocks noChangeAspect="1"/>
          </p:cNvPicPr>
          <p:nvPr/>
        </p:nvPicPr>
        <p:blipFill>
          <a:blip r:embed="rId38"/>
          <a:stretch>
            <a:fillRect/>
          </a:stretch>
        </p:blipFill>
        <p:spPr>
          <a:xfrm>
            <a:off x="5636579" y="6263270"/>
            <a:ext cx="284995" cy="233177"/>
          </a:xfrm>
          <a:prstGeom prst="rect">
            <a:avLst/>
          </a:prstGeom>
        </p:spPr>
      </p:pic>
      <p:pic>
        <p:nvPicPr>
          <p:cNvPr id="3" name="图片 2">
            <a:extLst>
              <a:ext uri="{FF2B5EF4-FFF2-40B4-BE49-F238E27FC236}">
                <a16:creationId xmlns:a16="http://schemas.microsoft.com/office/drawing/2014/main" id="{357A3479-AD4C-44E3-81E8-18D67CA47AFD}"/>
              </a:ext>
            </a:extLst>
          </p:cNvPr>
          <p:cNvPicPr>
            <a:picLocks noChangeAspect="1"/>
          </p:cNvPicPr>
          <p:nvPr/>
        </p:nvPicPr>
        <p:blipFill>
          <a:blip r:embed="rId41"/>
          <a:stretch>
            <a:fillRect/>
          </a:stretch>
        </p:blipFill>
        <p:spPr>
          <a:xfrm>
            <a:off x="8100938" y="6266967"/>
            <a:ext cx="711710" cy="231074"/>
          </a:xfrm>
          <a:prstGeom prst="rect">
            <a:avLst/>
          </a:prstGeom>
        </p:spPr>
      </p:pic>
      <p:pic>
        <p:nvPicPr>
          <p:cNvPr id="156" name="图片 155">
            <a:extLst>
              <a:ext uri="{FF2B5EF4-FFF2-40B4-BE49-F238E27FC236}">
                <a16:creationId xmlns:a16="http://schemas.microsoft.com/office/drawing/2014/main" id="{2BB615AD-0FF4-4BC0-A40D-2373D609B1A8}"/>
              </a:ext>
            </a:extLst>
          </p:cNvPr>
          <p:cNvPicPr>
            <a:picLocks noChangeAspect="1"/>
          </p:cNvPicPr>
          <p:nvPr/>
        </p:nvPicPr>
        <p:blipFill>
          <a:blip r:embed="rId38"/>
          <a:stretch>
            <a:fillRect/>
          </a:stretch>
        </p:blipFill>
        <p:spPr>
          <a:xfrm>
            <a:off x="9175292" y="6254865"/>
            <a:ext cx="284995" cy="233177"/>
          </a:xfrm>
          <a:prstGeom prst="rect">
            <a:avLst/>
          </a:prstGeom>
        </p:spPr>
      </p:pic>
      <p:pic>
        <p:nvPicPr>
          <p:cNvPr id="157" name="图片 156">
            <a:extLst>
              <a:ext uri="{FF2B5EF4-FFF2-40B4-BE49-F238E27FC236}">
                <a16:creationId xmlns:a16="http://schemas.microsoft.com/office/drawing/2014/main" id="{3650EEF0-29C4-4D2D-BD1A-66F855FB327A}"/>
              </a:ext>
            </a:extLst>
          </p:cNvPr>
          <p:cNvPicPr>
            <a:picLocks noChangeAspect="1"/>
          </p:cNvPicPr>
          <p:nvPr/>
        </p:nvPicPr>
        <p:blipFill>
          <a:blip r:embed="rId42"/>
          <a:stretch>
            <a:fillRect/>
          </a:stretch>
        </p:blipFill>
        <p:spPr>
          <a:xfrm>
            <a:off x="6374340" y="6245094"/>
            <a:ext cx="318649" cy="297405"/>
          </a:xfrm>
          <a:prstGeom prst="rect">
            <a:avLst/>
          </a:prstGeom>
        </p:spPr>
      </p:pic>
      <p:sp>
        <p:nvSpPr>
          <p:cNvPr id="4" name="灯片编号占位符 3">
            <a:extLst>
              <a:ext uri="{FF2B5EF4-FFF2-40B4-BE49-F238E27FC236}">
                <a16:creationId xmlns:a16="http://schemas.microsoft.com/office/drawing/2014/main" id="{C1FC1952-FEE9-4CB8-BE14-1ADA08108071}"/>
              </a:ext>
            </a:extLst>
          </p:cNvPr>
          <p:cNvSpPr>
            <a:spLocks noGrp="1"/>
          </p:cNvSpPr>
          <p:nvPr>
            <p:ph type="sldNum" sz="quarter" idx="12"/>
          </p:nvPr>
        </p:nvSpPr>
        <p:spPr>
          <a:xfrm>
            <a:off x="8610600" y="6188392"/>
            <a:ext cx="2743200" cy="365125"/>
          </a:xfrm>
        </p:spPr>
        <p:txBody>
          <a:bodyPr/>
          <a:lstStyle/>
          <a:p>
            <a:fld id="{B125EA80-F692-46D2-AFCC-CA48803B46EF}" type="slidenum">
              <a:rPr lang="zh-CN" altLang="en-US" smtClean="0"/>
              <a:t>11</a:t>
            </a:fld>
            <a:endParaRPr lang="zh-CN" altLang="en-US" dirty="0"/>
          </a:p>
        </p:txBody>
      </p:sp>
    </p:spTree>
    <p:extLst>
      <p:ext uri="{BB962C8B-B14F-4D97-AF65-F5344CB8AC3E}">
        <p14:creationId xmlns:p14="http://schemas.microsoft.com/office/powerpoint/2010/main" val="4201885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a:lnSpc>
                <a:spcPts val="4400"/>
              </a:lnSpc>
            </a:pPr>
            <a:r>
              <a:rPr lang="en-US" altLang="zh-CN" sz="2800" b="1" dirty="0">
                <a:solidFill>
                  <a:schemeClr val="bg1"/>
                </a:solidFill>
              </a:rPr>
              <a:t> 3. </a:t>
            </a:r>
            <a:r>
              <a:rPr lang="zh-CN" altLang="en-US" sz="2800" b="1" dirty="0">
                <a:solidFill>
                  <a:schemeClr val="bg1"/>
                </a:solidFill>
              </a:rPr>
              <a:t>基于无线接入点的编码分布式矩阵</a:t>
            </a:r>
            <a:r>
              <a:rPr lang="en-US" altLang="zh-CN" sz="2800" b="1" dirty="0">
                <a:solidFill>
                  <a:schemeClr val="bg1"/>
                </a:solidFill>
              </a:rPr>
              <a:t>-</a:t>
            </a:r>
            <a:r>
              <a:rPr lang="zh-CN" altLang="en-US" sz="2800" b="1" dirty="0">
                <a:solidFill>
                  <a:schemeClr val="bg1"/>
                </a:solidFill>
              </a:rPr>
              <a:t>矩阵乘法运算框架（问题公式化）</a:t>
            </a:r>
            <a:endParaRPr lang="en-US" altLang="zh-CN" sz="2800" b="1" dirty="0">
              <a:solidFill>
                <a:schemeClr val="bg1"/>
              </a:solidFill>
            </a:endParaRPr>
          </a:p>
          <a:p>
            <a:endParaRPr lang="en-US" altLang="zh-CN" sz="700" b="1" dirty="0">
              <a:solidFill>
                <a:schemeClr val="bg1"/>
              </a:solidFill>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55448" y="717804"/>
            <a:ext cx="11868912" cy="5771452"/>
          </a:xfrm>
          <a:prstGeom prst="rect">
            <a:avLst/>
          </a:prstGeom>
          <a:noFill/>
        </p:spPr>
        <p:txBody>
          <a:bodyPr wrap="square" rtlCol="0">
            <a:spAutoFit/>
          </a:bodyPr>
          <a:lstStyle/>
          <a:p>
            <a:pPr marL="285750" lvl="0" indent="-285750">
              <a:lnSpc>
                <a:spcPct val="150000"/>
              </a:lnSpc>
              <a:buFont typeface="Wingdings" panose="05000000000000000000" pitchFamily="2" charset="2"/>
              <a:buChar char="p"/>
            </a:pPr>
            <a:r>
              <a:rPr lang="zh-CN" altLang="en-US" b="1" dirty="0">
                <a:solidFill>
                  <a:prstClr val="black"/>
                </a:solidFill>
              </a:rPr>
              <a:t>传输量定义（用       归一化）</a:t>
            </a:r>
            <a:endParaRPr lang="en-US" altLang="zh-CN" b="1" dirty="0">
              <a:solidFill>
                <a:prstClr val="black"/>
              </a:solidFill>
            </a:endParaRPr>
          </a:p>
          <a:p>
            <a:pPr marL="285750" lvl="0" indent="-285750">
              <a:lnSpc>
                <a:spcPts val="2700"/>
              </a:lnSpc>
              <a:buFont typeface="Wingdings" panose="05000000000000000000" pitchFamily="2" charset="2"/>
              <a:buChar char="p"/>
            </a:pPr>
            <a:endParaRPr lang="en-US" altLang="zh-CN" sz="2000" b="1" dirty="0">
              <a:solidFill>
                <a:prstClr val="black"/>
              </a:solidFill>
            </a:endParaRPr>
          </a:p>
          <a:p>
            <a:pPr marL="285750" lvl="0" indent="-285750">
              <a:lnSpc>
                <a:spcPct val="150000"/>
              </a:lnSpc>
              <a:buFont typeface="Wingdings" panose="05000000000000000000" pitchFamily="2" charset="2"/>
              <a:buChar char="p"/>
            </a:pPr>
            <a:r>
              <a:rPr lang="zh-CN" altLang="en-US" b="1" dirty="0"/>
              <a:t>时延定义（</a:t>
            </a:r>
            <a:r>
              <a:rPr lang="zh-CN" altLang="en-US" b="1" dirty="0">
                <a:solidFill>
                  <a:prstClr val="black"/>
                </a:solidFill>
              </a:rPr>
              <a:t>用       归一化</a:t>
            </a:r>
            <a:r>
              <a:rPr lang="zh-CN" altLang="en-US" b="1" dirty="0"/>
              <a:t>）</a:t>
            </a:r>
            <a:endParaRPr lang="en-US" altLang="zh-CN" b="1" dirty="0"/>
          </a:p>
          <a:p>
            <a:pPr marL="360000" lvl="1" indent="-285750">
              <a:lnSpc>
                <a:spcPts val="2400"/>
              </a:lnSpc>
              <a:buFont typeface="Wingdings" panose="05000000000000000000" pitchFamily="2" charset="2"/>
              <a:buChar char="Ø"/>
            </a:pPr>
            <a:r>
              <a:rPr lang="en-US" altLang="zh-CN" b="1" dirty="0">
                <a:solidFill>
                  <a:prstClr val="black"/>
                </a:solidFill>
              </a:rPr>
              <a:t>Map</a:t>
            </a:r>
            <a:r>
              <a:rPr lang="zh-CN" altLang="en-US" b="1" dirty="0">
                <a:solidFill>
                  <a:prstClr val="black"/>
                </a:solidFill>
              </a:rPr>
              <a:t>时延</a:t>
            </a:r>
            <a:endParaRPr lang="en-US" altLang="zh-CN" b="1" dirty="0">
              <a:solidFill>
                <a:prstClr val="black"/>
              </a:solidFill>
            </a:endParaRPr>
          </a:p>
          <a:p>
            <a:pPr marL="489150" lvl="1" indent="-342900">
              <a:lnSpc>
                <a:spcPts val="2400"/>
              </a:lnSpc>
              <a:buFont typeface="Arial" panose="020B0604020202020204" pitchFamily="34" charset="0"/>
              <a:buChar char="•"/>
            </a:pPr>
            <a:r>
              <a:rPr lang="zh-CN" altLang="en-US" sz="1600" dirty="0">
                <a:solidFill>
                  <a:prstClr val="black"/>
                </a:solidFill>
              </a:rPr>
              <a:t>设备                               在</a:t>
            </a:r>
            <a:r>
              <a:rPr lang="en-US" altLang="zh-CN" sz="1600" dirty="0">
                <a:solidFill>
                  <a:prstClr val="black"/>
                </a:solidFill>
              </a:rPr>
              <a:t>Map</a:t>
            </a:r>
            <a:r>
              <a:rPr lang="zh-CN" altLang="en-US" sz="1600" dirty="0">
                <a:solidFill>
                  <a:prstClr val="black"/>
                </a:solidFill>
              </a:rPr>
              <a:t>阶段的计算时延         被建模为服从移位指数分布的随机变量</a:t>
            </a:r>
            <a:r>
              <a:rPr lang="en-US" altLang="zh-CN" sz="1600" dirty="0">
                <a:solidFill>
                  <a:prstClr val="black"/>
                </a:solidFill>
              </a:rPr>
              <a:t>	</a:t>
            </a:r>
            <a:r>
              <a:rPr lang="zh-CN" altLang="en-US" sz="1600" dirty="0">
                <a:solidFill>
                  <a:prstClr val="black"/>
                </a:solidFill>
              </a:rPr>
              <a:t>，且有如下累积分布函数</a:t>
            </a:r>
            <a:endParaRPr lang="en-US" altLang="zh-CN" sz="1600" dirty="0">
              <a:solidFill>
                <a:prstClr val="black"/>
              </a:solidFill>
            </a:endParaRPr>
          </a:p>
          <a:p>
            <a:pPr marL="489150" lvl="1" indent="-342900">
              <a:lnSpc>
                <a:spcPts val="2400"/>
              </a:lnSpc>
              <a:buFont typeface="Arial" panose="020B0604020202020204" pitchFamily="34" charset="0"/>
              <a:buChar char="•"/>
            </a:pPr>
            <a:endParaRPr lang="en-US" altLang="zh-CN" sz="1600" dirty="0">
              <a:solidFill>
                <a:prstClr val="black"/>
              </a:solidFill>
            </a:endParaRPr>
          </a:p>
          <a:p>
            <a:pPr marL="489150" lvl="1" indent="-342900">
              <a:lnSpc>
                <a:spcPts val="2400"/>
              </a:lnSpc>
              <a:buFont typeface="Arial" panose="020B0604020202020204" pitchFamily="34" charset="0"/>
              <a:buChar char="•"/>
            </a:pPr>
            <a:r>
              <a:rPr lang="zh-CN" altLang="en-US" sz="1600" dirty="0">
                <a:solidFill>
                  <a:prstClr val="black"/>
                </a:solidFill>
              </a:rPr>
              <a:t>运用次序统计量知识，考虑                          中考虑第    小的变量，将其表示为         ，则有</a:t>
            </a:r>
            <a:endParaRPr lang="en-US" altLang="zh-CN" sz="1600" dirty="0">
              <a:solidFill>
                <a:prstClr val="black"/>
              </a:solidFill>
            </a:endParaRPr>
          </a:p>
          <a:p>
            <a:pPr marL="146250" lvl="1">
              <a:lnSpc>
                <a:spcPts val="2400"/>
              </a:lnSpc>
            </a:pPr>
            <a:endParaRPr lang="en-US" altLang="zh-CN" sz="1600" dirty="0">
              <a:solidFill>
                <a:prstClr val="black"/>
              </a:solidFill>
            </a:endParaRPr>
          </a:p>
          <a:p>
            <a:pPr marL="146250" lvl="1">
              <a:lnSpc>
                <a:spcPts val="2400"/>
              </a:lnSpc>
            </a:pPr>
            <a:endParaRPr lang="en-US" altLang="zh-CN" sz="1600" dirty="0">
              <a:solidFill>
                <a:prstClr val="black"/>
              </a:solidFill>
            </a:endParaRPr>
          </a:p>
          <a:p>
            <a:pPr marL="360000" lvl="1" indent="-285750">
              <a:lnSpc>
                <a:spcPts val="2400"/>
              </a:lnSpc>
              <a:buFont typeface="Wingdings" panose="05000000000000000000" pitchFamily="2" charset="2"/>
              <a:buChar char="Ø"/>
            </a:pPr>
            <a:r>
              <a:rPr lang="en-US" altLang="zh-CN" b="1" dirty="0">
                <a:solidFill>
                  <a:prstClr val="black"/>
                </a:solidFill>
              </a:rPr>
              <a:t>Shuffle</a:t>
            </a:r>
            <a:r>
              <a:rPr lang="zh-CN" altLang="en-US" b="1" dirty="0">
                <a:solidFill>
                  <a:prstClr val="black"/>
                </a:solidFill>
              </a:rPr>
              <a:t>时延</a:t>
            </a:r>
            <a:endParaRPr lang="en-US" altLang="zh-CN" b="1" dirty="0">
              <a:solidFill>
                <a:prstClr val="black"/>
              </a:solidFill>
            </a:endParaRPr>
          </a:p>
          <a:p>
            <a:pPr marL="489150" lvl="1" indent="-342900">
              <a:lnSpc>
                <a:spcPts val="2400"/>
              </a:lnSpc>
              <a:buFont typeface="Arial" panose="020B0604020202020204" pitchFamily="34" charset="0"/>
              <a:buChar char="•"/>
            </a:pPr>
            <a:r>
              <a:rPr lang="zh-CN" altLang="en-US" sz="1600" dirty="0">
                <a:solidFill>
                  <a:prstClr val="black"/>
                </a:solidFill>
              </a:rPr>
              <a:t>基于一个</a:t>
            </a:r>
            <a:r>
              <a:rPr lang="en-US" altLang="zh-CN" sz="1600" dirty="0">
                <a:solidFill>
                  <a:prstClr val="black"/>
                </a:solidFill>
              </a:rPr>
              <a:t>MAC</a:t>
            </a:r>
            <a:r>
              <a:rPr lang="zh-CN" altLang="en-US" sz="1600" dirty="0">
                <a:solidFill>
                  <a:prstClr val="black"/>
                </a:solidFill>
              </a:rPr>
              <a:t>层模型，我们考虑在一个时间段内只能有一个设备可以向接入点传输数据，并假设设备无间隔地依次向接入点发送数据，然后接入点再将数据广播给</a:t>
            </a:r>
            <a:r>
              <a:rPr lang="en-US" altLang="zh-CN" sz="1600" dirty="0">
                <a:solidFill>
                  <a:prstClr val="black"/>
                </a:solidFill>
              </a:rPr>
              <a:t>   </a:t>
            </a:r>
            <a:r>
              <a:rPr lang="zh-CN" altLang="en-US" sz="1600" dirty="0">
                <a:solidFill>
                  <a:prstClr val="black"/>
                </a:solidFill>
              </a:rPr>
              <a:t>个设备，则有</a:t>
            </a:r>
          </a:p>
          <a:p>
            <a:pPr lvl="0">
              <a:lnSpc>
                <a:spcPct val="150000"/>
              </a:lnSpc>
            </a:pPr>
            <a:r>
              <a:rPr lang="en-US" altLang="zh-CN" b="1" dirty="0"/>
              <a:t> </a:t>
            </a:r>
          </a:p>
          <a:p>
            <a:pPr marL="360000" lvl="1" indent="-285750">
              <a:lnSpc>
                <a:spcPts val="2400"/>
              </a:lnSpc>
              <a:buFont typeface="Wingdings" panose="05000000000000000000" pitchFamily="2" charset="2"/>
              <a:buChar char="Ø"/>
            </a:pPr>
            <a:r>
              <a:rPr lang="en-US" altLang="zh-CN" b="1" dirty="0">
                <a:solidFill>
                  <a:prstClr val="black"/>
                </a:solidFill>
              </a:rPr>
              <a:t>Reduce</a:t>
            </a:r>
            <a:r>
              <a:rPr lang="zh-CN" altLang="en-US" b="1" dirty="0">
                <a:solidFill>
                  <a:prstClr val="black"/>
                </a:solidFill>
              </a:rPr>
              <a:t>时延</a:t>
            </a:r>
            <a:endParaRPr lang="en-US" altLang="zh-CN" b="1" dirty="0">
              <a:solidFill>
                <a:prstClr val="black"/>
              </a:solidFill>
            </a:endParaRPr>
          </a:p>
          <a:p>
            <a:pPr marL="489150" lvl="1" indent="-342900">
              <a:lnSpc>
                <a:spcPts val="2400"/>
              </a:lnSpc>
              <a:buFont typeface="Arial" panose="020B0604020202020204" pitchFamily="34" charset="0"/>
              <a:buChar char="•"/>
            </a:pPr>
            <a:r>
              <a:rPr lang="zh-CN" altLang="en-US" sz="1600" dirty="0">
                <a:solidFill>
                  <a:prstClr val="black"/>
                </a:solidFill>
              </a:rPr>
              <a:t>由负责输出向量个数最多的那部分设备的输出子矩阵决定，也就是                      ，则有</a:t>
            </a:r>
          </a:p>
          <a:p>
            <a:pPr lvl="0">
              <a:lnSpc>
                <a:spcPct val="150000"/>
              </a:lnSpc>
            </a:pPr>
            <a:endParaRPr lang="en-US" altLang="zh-CN" b="1" dirty="0"/>
          </a:p>
          <a:p>
            <a:pPr marL="360000" lvl="1" indent="-285750">
              <a:lnSpc>
                <a:spcPts val="2400"/>
              </a:lnSpc>
              <a:buFont typeface="Wingdings" panose="05000000000000000000" pitchFamily="2" charset="2"/>
              <a:buChar char="Ø"/>
            </a:pPr>
            <a:r>
              <a:rPr lang="zh-CN" altLang="en-US" b="1" dirty="0">
                <a:solidFill>
                  <a:prstClr val="black"/>
                </a:solidFill>
              </a:rPr>
              <a:t>总体时延</a:t>
            </a:r>
            <a:endParaRPr lang="en-US" altLang="zh-CN" b="1" dirty="0">
              <a:solidFill>
                <a:prstClr val="black"/>
              </a:solidFill>
            </a:endParaRPr>
          </a:p>
        </p:txBody>
      </p:sp>
      <p:pic>
        <p:nvPicPr>
          <p:cNvPr id="151" name="图片 150">
            <a:extLst>
              <a:ext uri="{FF2B5EF4-FFF2-40B4-BE49-F238E27FC236}">
                <a16:creationId xmlns:a16="http://schemas.microsoft.com/office/drawing/2014/main" id="{8361C31A-D3DF-4006-B1A3-90A7A71249DA}"/>
              </a:ext>
            </a:extLst>
          </p:cNvPr>
          <p:cNvPicPr>
            <a:picLocks noChangeAspect="1"/>
          </p:cNvPicPr>
          <p:nvPr/>
        </p:nvPicPr>
        <p:blipFill>
          <a:blip r:embed="rId3"/>
          <a:stretch>
            <a:fillRect/>
          </a:stretch>
        </p:blipFill>
        <p:spPr>
          <a:xfrm>
            <a:off x="1889638" y="1099832"/>
            <a:ext cx="1814976" cy="506505"/>
          </a:xfrm>
          <a:prstGeom prst="rect">
            <a:avLst/>
          </a:prstGeom>
        </p:spPr>
      </p:pic>
      <p:sp>
        <p:nvSpPr>
          <p:cNvPr id="4" name="文本框 3">
            <a:extLst>
              <a:ext uri="{FF2B5EF4-FFF2-40B4-BE49-F238E27FC236}">
                <a16:creationId xmlns:a16="http://schemas.microsoft.com/office/drawing/2014/main" id="{027DDC7F-31F9-4367-8F38-49FCD073E2E9}"/>
              </a:ext>
            </a:extLst>
          </p:cNvPr>
          <p:cNvSpPr txBox="1"/>
          <p:nvPr/>
        </p:nvSpPr>
        <p:spPr>
          <a:xfrm>
            <a:off x="155448" y="1083020"/>
            <a:ext cx="2800350" cy="458459"/>
          </a:xfrm>
          <a:prstGeom prst="rect">
            <a:avLst/>
          </a:prstGeom>
          <a:noFill/>
        </p:spPr>
        <p:txBody>
          <a:bodyPr wrap="square" rtlCol="0">
            <a:spAutoFit/>
          </a:bodyPr>
          <a:lstStyle/>
          <a:p>
            <a:pPr marL="360000" lvl="1" indent="-285750">
              <a:lnSpc>
                <a:spcPct val="150000"/>
              </a:lnSpc>
              <a:buFont typeface="Wingdings" panose="05000000000000000000" pitchFamily="2" charset="2"/>
              <a:buChar char="Ø"/>
            </a:pPr>
            <a:r>
              <a:rPr lang="zh-CN" altLang="en-US" dirty="0">
                <a:solidFill>
                  <a:prstClr val="black"/>
                </a:solidFill>
              </a:rPr>
              <a:t>上行传输量</a:t>
            </a:r>
            <a:endParaRPr lang="en-US" altLang="zh-CN" dirty="0">
              <a:solidFill>
                <a:prstClr val="black"/>
              </a:solidFill>
            </a:endParaRPr>
          </a:p>
        </p:txBody>
      </p:sp>
      <p:sp>
        <p:nvSpPr>
          <p:cNvPr id="154" name="文本框 153">
            <a:extLst>
              <a:ext uri="{FF2B5EF4-FFF2-40B4-BE49-F238E27FC236}">
                <a16:creationId xmlns:a16="http://schemas.microsoft.com/office/drawing/2014/main" id="{96200634-9FB6-4ECA-8522-2E2615D3B8D4}"/>
              </a:ext>
            </a:extLst>
          </p:cNvPr>
          <p:cNvSpPr txBox="1"/>
          <p:nvPr/>
        </p:nvSpPr>
        <p:spPr>
          <a:xfrm>
            <a:off x="5013198" y="1083019"/>
            <a:ext cx="1959102" cy="458459"/>
          </a:xfrm>
          <a:prstGeom prst="rect">
            <a:avLst/>
          </a:prstGeom>
          <a:noFill/>
        </p:spPr>
        <p:txBody>
          <a:bodyPr wrap="square" rtlCol="0">
            <a:spAutoFit/>
          </a:bodyPr>
          <a:lstStyle/>
          <a:p>
            <a:pPr marL="360000" lvl="1" indent="-285750">
              <a:lnSpc>
                <a:spcPct val="150000"/>
              </a:lnSpc>
              <a:buFont typeface="Wingdings" panose="05000000000000000000" pitchFamily="2" charset="2"/>
              <a:buChar char="Ø"/>
            </a:pPr>
            <a:r>
              <a:rPr lang="zh-CN" altLang="en-US" dirty="0">
                <a:solidFill>
                  <a:prstClr val="black"/>
                </a:solidFill>
              </a:rPr>
              <a:t>下行传输量</a:t>
            </a:r>
            <a:endParaRPr lang="en-US" altLang="zh-CN" dirty="0">
              <a:solidFill>
                <a:prstClr val="black"/>
              </a:solidFill>
            </a:endParaRPr>
          </a:p>
        </p:txBody>
      </p:sp>
      <p:pic>
        <p:nvPicPr>
          <p:cNvPr id="158" name="图片 157">
            <a:extLst>
              <a:ext uri="{FF2B5EF4-FFF2-40B4-BE49-F238E27FC236}">
                <a16:creationId xmlns:a16="http://schemas.microsoft.com/office/drawing/2014/main" id="{2F43D934-74DE-41EB-973C-57DB4391F0AD}"/>
              </a:ext>
            </a:extLst>
          </p:cNvPr>
          <p:cNvPicPr>
            <a:picLocks noChangeAspect="1"/>
          </p:cNvPicPr>
          <p:nvPr/>
        </p:nvPicPr>
        <p:blipFill>
          <a:blip r:embed="rId4"/>
          <a:stretch>
            <a:fillRect/>
          </a:stretch>
        </p:blipFill>
        <p:spPr>
          <a:xfrm>
            <a:off x="6889380" y="1107366"/>
            <a:ext cx="1695755" cy="506616"/>
          </a:xfrm>
          <a:prstGeom prst="rect">
            <a:avLst/>
          </a:prstGeom>
        </p:spPr>
      </p:pic>
      <p:pic>
        <p:nvPicPr>
          <p:cNvPr id="159" name="图片 158">
            <a:extLst>
              <a:ext uri="{FF2B5EF4-FFF2-40B4-BE49-F238E27FC236}">
                <a16:creationId xmlns:a16="http://schemas.microsoft.com/office/drawing/2014/main" id="{17F34357-A5C7-4190-9246-8BE7FC1725FF}"/>
              </a:ext>
            </a:extLst>
          </p:cNvPr>
          <p:cNvPicPr>
            <a:picLocks noChangeAspect="1"/>
          </p:cNvPicPr>
          <p:nvPr/>
        </p:nvPicPr>
        <p:blipFill>
          <a:blip r:embed="rId5"/>
          <a:stretch>
            <a:fillRect/>
          </a:stretch>
        </p:blipFill>
        <p:spPr>
          <a:xfrm>
            <a:off x="1209987" y="2284507"/>
            <a:ext cx="1669611" cy="256357"/>
          </a:xfrm>
          <a:prstGeom prst="rect">
            <a:avLst/>
          </a:prstGeom>
        </p:spPr>
      </p:pic>
      <p:pic>
        <p:nvPicPr>
          <p:cNvPr id="160" name="图片 159">
            <a:extLst>
              <a:ext uri="{FF2B5EF4-FFF2-40B4-BE49-F238E27FC236}">
                <a16:creationId xmlns:a16="http://schemas.microsoft.com/office/drawing/2014/main" id="{7988AB0F-7720-4575-9BF2-C59597DD8D85}"/>
              </a:ext>
            </a:extLst>
          </p:cNvPr>
          <p:cNvPicPr>
            <a:picLocks noChangeAspect="1"/>
          </p:cNvPicPr>
          <p:nvPr/>
        </p:nvPicPr>
        <p:blipFill>
          <a:blip r:embed="rId6"/>
          <a:stretch>
            <a:fillRect/>
          </a:stretch>
        </p:blipFill>
        <p:spPr>
          <a:xfrm>
            <a:off x="4937855" y="2249244"/>
            <a:ext cx="472345" cy="282095"/>
          </a:xfrm>
          <a:prstGeom prst="rect">
            <a:avLst/>
          </a:prstGeom>
        </p:spPr>
      </p:pic>
      <p:pic>
        <p:nvPicPr>
          <p:cNvPr id="162" name="图片 161">
            <a:extLst>
              <a:ext uri="{FF2B5EF4-FFF2-40B4-BE49-F238E27FC236}">
                <a16:creationId xmlns:a16="http://schemas.microsoft.com/office/drawing/2014/main" id="{A1AE4F8D-06E8-4020-A635-783B20E5760F}"/>
              </a:ext>
            </a:extLst>
          </p:cNvPr>
          <p:cNvPicPr>
            <a:picLocks noChangeAspect="1"/>
          </p:cNvPicPr>
          <p:nvPr/>
        </p:nvPicPr>
        <p:blipFill>
          <a:blip r:embed="rId7"/>
          <a:stretch>
            <a:fillRect/>
          </a:stretch>
        </p:blipFill>
        <p:spPr>
          <a:xfrm>
            <a:off x="5505426" y="2890101"/>
            <a:ext cx="175587" cy="243121"/>
          </a:xfrm>
          <a:prstGeom prst="rect">
            <a:avLst/>
          </a:prstGeom>
        </p:spPr>
      </p:pic>
      <p:pic>
        <p:nvPicPr>
          <p:cNvPr id="163" name="图片 162">
            <a:extLst>
              <a:ext uri="{FF2B5EF4-FFF2-40B4-BE49-F238E27FC236}">
                <a16:creationId xmlns:a16="http://schemas.microsoft.com/office/drawing/2014/main" id="{6F5FF661-C1DF-47F0-BD4A-BF77A27F7307}"/>
              </a:ext>
            </a:extLst>
          </p:cNvPr>
          <p:cNvPicPr>
            <a:picLocks noChangeAspect="1"/>
          </p:cNvPicPr>
          <p:nvPr/>
        </p:nvPicPr>
        <p:blipFill>
          <a:blip r:embed="rId8"/>
          <a:stretch>
            <a:fillRect/>
          </a:stretch>
        </p:blipFill>
        <p:spPr>
          <a:xfrm>
            <a:off x="3231132" y="2864821"/>
            <a:ext cx="1388493" cy="307189"/>
          </a:xfrm>
          <a:prstGeom prst="rect">
            <a:avLst/>
          </a:prstGeom>
        </p:spPr>
      </p:pic>
      <p:pic>
        <p:nvPicPr>
          <p:cNvPr id="164" name="图片 163">
            <a:extLst>
              <a:ext uri="{FF2B5EF4-FFF2-40B4-BE49-F238E27FC236}">
                <a16:creationId xmlns:a16="http://schemas.microsoft.com/office/drawing/2014/main" id="{8DF03A41-2192-4EFF-9DD6-AE2F210F5FA6}"/>
              </a:ext>
            </a:extLst>
          </p:cNvPr>
          <p:cNvPicPr>
            <a:picLocks noChangeAspect="1"/>
          </p:cNvPicPr>
          <p:nvPr/>
        </p:nvPicPr>
        <p:blipFill>
          <a:blip r:embed="rId9"/>
          <a:stretch>
            <a:fillRect/>
          </a:stretch>
        </p:blipFill>
        <p:spPr>
          <a:xfrm>
            <a:off x="7744999" y="2871051"/>
            <a:ext cx="453657" cy="280551"/>
          </a:xfrm>
          <a:prstGeom prst="rect">
            <a:avLst/>
          </a:prstGeom>
        </p:spPr>
      </p:pic>
      <p:pic>
        <p:nvPicPr>
          <p:cNvPr id="165" name="图片 164">
            <a:extLst>
              <a:ext uri="{FF2B5EF4-FFF2-40B4-BE49-F238E27FC236}">
                <a16:creationId xmlns:a16="http://schemas.microsoft.com/office/drawing/2014/main" id="{CFA46100-B195-48F5-8300-6430738B0CE2}"/>
              </a:ext>
            </a:extLst>
          </p:cNvPr>
          <p:cNvPicPr>
            <a:picLocks noChangeAspect="1"/>
          </p:cNvPicPr>
          <p:nvPr/>
        </p:nvPicPr>
        <p:blipFill>
          <a:blip r:embed="rId10"/>
          <a:stretch>
            <a:fillRect/>
          </a:stretch>
        </p:blipFill>
        <p:spPr>
          <a:xfrm>
            <a:off x="4447002" y="3168256"/>
            <a:ext cx="3310191" cy="582504"/>
          </a:xfrm>
          <a:prstGeom prst="rect">
            <a:avLst/>
          </a:prstGeom>
        </p:spPr>
      </p:pic>
      <p:sp>
        <p:nvSpPr>
          <p:cNvPr id="166" name="文本框 165">
            <a:extLst>
              <a:ext uri="{FF2B5EF4-FFF2-40B4-BE49-F238E27FC236}">
                <a16:creationId xmlns:a16="http://schemas.microsoft.com/office/drawing/2014/main" id="{34857CF3-F9B7-45C2-8AAA-941C2B29618A}"/>
              </a:ext>
            </a:extLst>
          </p:cNvPr>
          <p:cNvSpPr txBox="1"/>
          <p:nvPr/>
        </p:nvSpPr>
        <p:spPr>
          <a:xfrm>
            <a:off x="7759087" y="3279227"/>
            <a:ext cx="2237362" cy="338554"/>
          </a:xfrm>
          <a:prstGeom prst="rect">
            <a:avLst/>
          </a:prstGeom>
          <a:noFill/>
        </p:spPr>
        <p:txBody>
          <a:bodyPr wrap="square" rtlCol="0">
            <a:spAutoFit/>
          </a:bodyPr>
          <a:lstStyle/>
          <a:p>
            <a:r>
              <a:rPr lang="zh-CN" altLang="en-US" sz="1600" dirty="0"/>
              <a:t>（</a:t>
            </a:r>
            <a:r>
              <a:rPr lang="en-US" altLang="zh-CN" sz="1600" dirty="0"/>
              <a:t>Map</a:t>
            </a:r>
            <a:r>
              <a:rPr lang="zh-CN" altLang="en-US" sz="1600" dirty="0"/>
              <a:t>时延参数</a:t>
            </a:r>
            <a:r>
              <a:rPr lang="en-US" altLang="zh-CN" sz="1600" dirty="0"/>
              <a:t>      </a:t>
            </a:r>
            <a:r>
              <a:rPr lang="zh-CN" altLang="en-US" sz="1600" dirty="0"/>
              <a:t>）</a:t>
            </a:r>
          </a:p>
        </p:txBody>
      </p:sp>
      <p:pic>
        <p:nvPicPr>
          <p:cNvPr id="167" name="图片 166">
            <a:extLst>
              <a:ext uri="{FF2B5EF4-FFF2-40B4-BE49-F238E27FC236}">
                <a16:creationId xmlns:a16="http://schemas.microsoft.com/office/drawing/2014/main" id="{3591779C-EC38-4E42-A305-7058B11745E4}"/>
              </a:ext>
            </a:extLst>
          </p:cNvPr>
          <p:cNvPicPr>
            <a:picLocks noChangeAspect="1"/>
          </p:cNvPicPr>
          <p:nvPr/>
        </p:nvPicPr>
        <p:blipFill>
          <a:blip r:embed="rId11"/>
          <a:stretch>
            <a:fillRect/>
          </a:stretch>
        </p:blipFill>
        <p:spPr>
          <a:xfrm>
            <a:off x="9282850" y="3290500"/>
            <a:ext cx="325604" cy="277955"/>
          </a:xfrm>
          <a:prstGeom prst="rect">
            <a:avLst/>
          </a:prstGeom>
        </p:spPr>
      </p:pic>
      <p:pic>
        <p:nvPicPr>
          <p:cNvPr id="5" name="图片 4">
            <a:extLst>
              <a:ext uri="{FF2B5EF4-FFF2-40B4-BE49-F238E27FC236}">
                <a16:creationId xmlns:a16="http://schemas.microsoft.com/office/drawing/2014/main" id="{AEB86533-975E-41C9-B599-B9DA92475D59}"/>
              </a:ext>
            </a:extLst>
          </p:cNvPr>
          <p:cNvPicPr>
            <a:picLocks noChangeAspect="1"/>
          </p:cNvPicPr>
          <p:nvPr/>
        </p:nvPicPr>
        <p:blipFill>
          <a:blip r:embed="rId12"/>
          <a:stretch>
            <a:fillRect/>
          </a:stretch>
        </p:blipFill>
        <p:spPr>
          <a:xfrm>
            <a:off x="4908155" y="2525352"/>
            <a:ext cx="2375689" cy="341857"/>
          </a:xfrm>
          <a:prstGeom prst="rect">
            <a:avLst/>
          </a:prstGeom>
        </p:spPr>
      </p:pic>
      <p:pic>
        <p:nvPicPr>
          <p:cNvPr id="168" name="图片 167">
            <a:extLst>
              <a:ext uri="{FF2B5EF4-FFF2-40B4-BE49-F238E27FC236}">
                <a16:creationId xmlns:a16="http://schemas.microsoft.com/office/drawing/2014/main" id="{7F34B760-8D93-449D-A27C-003C6DEFE0F1}"/>
              </a:ext>
            </a:extLst>
          </p:cNvPr>
          <p:cNvPicPr>
            <a:picLocks noChangeAspect="1"/>
          </p:cNvPicPr>
          <p:nvPr/>
        </p:nvPicPr>
        <p:blipFill>
          <a:blip r:embed="rId7"/>
          <a:stretch>
            <a:fillRect/>
          </a:stretch>
        </p:blipFill>
        <p:spPr>
          <a:xfrm>
            <a:off x="4200501" y="4412353"/>
            <a:ext cx="175587" cy="243121"/>
          </a:xfrm>
          <a:prstGeom prst="rect">
            <a:avLst/>
          </a:prstGeom>
        </p:spPr>
      </p:pic>
      <p:pic>
        <p:nvPicPr>
          <p:cNvPr id="169" name="图片 168">
            <a:extLst>
              <a:ext uri="{FF2B5EF4-FFF2-40B4-BE49-F238E27FC236}">
                <a16:creationId xmlns:a16="http://schemas.microsoft.com/office/drawing/2014/main" id="{2DC06E35-1155-4154-B473-A8144B0C3D49}"/>
              </a:ext>
            </a:extLst>
          </p:cNvPr>
          <p:cNvPicPr>
            <a:picLocks noChangeAspect="1"/>
          </p:cNvPicPr>
          <p:nvPr/>
        </p:nvPicPr>
        <p:blipFill>
          <a:blip r:embed="rId13"/>
          <a:stretch>
            <a:fillRect/>
          </a:stretch>
        </p:blipFill>
        <p:spPr>
          <a:xfrm>
            <a:off x="4908155" y="4636424"/>
            <a:ext cx="2352699" cy="399621"/>
          </a:xfrm>
          <a:prstGeom prst="rect">
            <a:avLst/>
          </a:prstGeom>
        </p:spPr>
      </p:pic>
      <p:sp>
        <p:nvSpPr>
          <p:cNvPr id="170" name="文本框 169">
            <a:extLst>
              <a:ext uri="{FF2B5EF4-FFF2-40B4-BE49-F238E27FC236}">
                <a16:creationId xmlns:a16="http://schemas.microsoft.com/office/drawing/2014/main" id="{2BCC0127-0B7B-4E82-A645-4C70FE9128A4}"/>
              </a:ext>
            </a:extLst>
          </p:cNvPr>
          <p:cNvSpPr txBox="1"/>
          <p:nvPr/>
        </p:nvSpPr>
        <p:spPr>
          <a:xfrm>
            <a:off x="7759087" y="4670562"/>
            <a:ext cx="2237362" cy="338554"/>
          </a:xfrm>
          <a:prstGeom prst="rect">
            <a:avLst/>
          </a:prstGeom>
          <a:noFill/>
        </p:spPr>
        <p:txBody>
          <a:bodyPr wrap="square" rtlCol="0">
            <a:spAutoFit/>
          </a:bodyPr>
          <a:lstStyle/>
          <a:p>
            <a:r>
              <a:rPr lang="zh-CN" altLang="en-US" sz="1600" dirty="0"/>
              <a:t>（</a:t>
            </a:r>
            <a:r>
              <a:rPr lang="en-US" altLang="zh-CN" sz="1600" dirty="0"/>
              <a:t>Shuffle</a:t>
            </a:r>
            <a:r>
              <a:rPr lang="zh-CN" altLang="en-US" sz="1600" dirty="0"/>
              <a:t>时延参数</a:t>
            </a:r>
            <a:r>
              <a:rPr lang="en-US" altLang="zh-CN" sz="1600" dirty="0"/>
              <a:t>     </a:t>
            </a:r>
            <a:r>
              <a:rPr lang="zh-CN" altLang="en-US" sz="1600" dirty="0"/>
              <a:t>）</a:t>
            </a:r>
          </a:p>
        </p:txBody>
      </p:sp>
      <p:pic>
        <p:nvPicPr>
          <p:cNvPr id="172" name="图片 171">
            <a:extLst>
              <a:ext uri="{FF2B5EF4-FFF2-40B4-BE49-F238E27FC236}">
                <a16:creationId xmlns:a16="http://schemas.microsoft.com/office/drawing/2014/main" id="{76BC60F3-8A98-47A1-BD1B-59780D64D334}"/>
              </a:ext>
            </a:extLst>
          </p:cNvPr>
          <p:cNvPicPr>
            <a:picLocks noChangeAspect="1"/>
          </p:cNvPicPr>
          <p:nvPr/>
        </p:nvPicPr>
        <p:blipFill>
          <a:blip r:embed="rId14"/>
          <a:stretch>
            <a:fillRect/>
          </a:stretch>
        </p:blipFill>
        <p:spPr>
          <a:xfrm>
            <a:off x="9500093" y="4685344"/>
            <a:ext cx="304077" cy="304077"/>
          </a:xfrm>
          <a:prstGeom prst="rect">
            <a:avLst/>
          </a:prstGeom>
        </p:spPr>
      </p:pic>
      <p:pic>
        <p:nvPicPr>
          <p:cNvPr id="173" name="图片 172">
            <a:extLst>
              <a:ext uri="{FF2B5EF4-FFF2-40B4-BE49-F238E27FC236}">
                <a16:creationId xmlns:a16="http://schemas.microsoft.com/office/drawing/2014/main" id="{942FAF12-5F6D-4636-9FF1-BDF1D7E8A0E6}"/>
              </a:ext>
            </a:extLst>
          </p:cNvPr>
          <p:cNvPicPr>
            <a:picLocks noChangeAspect="1"/>
          </p:cNvPicPr>
          <p:nvPr/>
        </p:nvPicPr>
        <p:blipFill>
          <a:blip r:embed="rId15"/>
          <a:stretch>
            <a:fillRect/>
          </a:stretch>
        </p:blipFill>
        <p:spPr>
          <a:xfrm>
            <a:off x="6669745" y="5363139"/>
            <a:ext cx="1163168" cy="321479"/>
          </a:xfrm>
          <a:prstGeom prst="rect">
            <a:avLst/>
          </a:prstGeom>
        </p:spPr>
      </p:pic>
      <p:pic>
        <p:nvPicPr>
          <p:cNvPr id="174" name="图片 173">
            <a:extLst>
              <a:ext uri="{FF2B5EF4-FFF2-40B4-BE49-F238E27FC236}">
                <a16:creationId xmlns:a16="http://schemas.microsoft.com/office/drawing/2014/main" id="{1C27B98A-4890-4B82-A0ED-827A67BF9FB4}"/>
              </a:ext>
            </a:extLst>
          </p:cNvPr>
          <p:cNvPicPr>
            <a:picLocks noChangeAspect="1"/>
          </p:cNvPicPr>
          <p:nvPr/>
        </p:nvPicPr>
        <p:blipFill>
          <a:blip r:embed="rId16"/>
          <a:stretch>
            <a:fillRect/>
          </a:stretch>
        </p:blipFill>
        <p:spPr>
          <a:xfrm>
            <a:off x="5411723" y="5695530"/>
            <a:ext cx="1368552" cy="355001"/>
          </a:xfrm>
          <a:prstGeom prst="rect">
            <a:avLst/>
          </a:prstGeom>
        </p:spPr>
      </p:pic>
      <p:pic>
        <p:nvPicPr>
          <p:cNvPr id="175" name="图片 174">
            <a:extLst>
              <a:ext uri="{FF2B5EF4-FFF2-40B4-BE49-F238E27FC236}">
                <a16:creationId xmlns:a16="http://schemas.microsoft.com/office/drawing/2014/main" id="{0C402CF8-6780-46AB-B25D-7FA1D701DF2D}"/>
              </a:ext>
            </a:extLst>
          </p:cNvPr>
          <p:cNvPicPr>
            <a:picLocks noChangeAspect="1"/>
          </p:cNvPicPr>
          <p:nvPr/>
        </p:nvPicPr>
        <p:blipFill>
          <a:blip r:embed="rId17"/>
          <a:stretch>
            <a:fillRect/>
          </a:stretch>
        </p:blipFill>
        <p:spPr>
          <a:xfrm>
            <a:off x="4371730" y="6135295"/>
            <a:ext cx="3425548" cy="284935"/>
          </a:xfrm>
          <a:prstGeom prst="rect">
            <a:avLst/>
          </a:prstGeom>
        </p:spPr>
      </p:pic>
      <p:pic>
        <p:nvPicPr>
          <p:cNvPr id="176" name="图片 175">
            <a:extLst>
              <a:ext uri="{FF2B5EF4-FFF2-40B4-BE49-F238E27FC236}">
                <a16:creationId xmlns:a16="http://schemas.microsoft.com/office/drawing/2014/main" id="{1C0EF6E8-8324-456F-9D01-D788995C82B4}"/>
              </a:ext>
            </a:extLst>
          </p:cNvPr>
          <p:cNvPicPr>
            <a:picLocks noChangeAspect="1"/>
          </p:cNvPicPr>
          <p:nvPr/>
        </p:nvPicPr>
        <p:blipFill>
          <a:blip r:embed="rId18"/>
          <a:stretch>
            <a:fillRect/>
          </a:stretch>
        </p:blipFill>
        <p:spPr>
          <a:xfrm>
            <a:off x="2131986" y="827378"/>
            <a:ext cx="448901" cy="314901"/>
          </a:xfrm>
          <a:prstGeom prst="rect">
            <a:avLst/>
          </a:prstGeom>
        </p:spPr>
      </p:pic>
      <p:pic>
        <p:nvPicPr>
          <p:cNvPr id="177" name="图片 176">
            <a:extLst>
              <a:ext uri="{FF2B5EF4-FFF2-40B4-BE49-F238E27FC236}">
                <a16:creationId xmlns:a16="http://schemas.microsoft.com/office/drawing/2014/main" id="{A0CA6BCC-FA3D-4415-9A70-82638832423E}"/>
              </a:ext>
            </a:extLst>
          </p:cNvPr>
          <p:cNvPicPr>
            <a:picLocks noChangeAspect="1"/>
          </p:cNvPicPr>
          <p:nvPr/>
        </p:nvPicPr>
        <p:blipFill>
          <a:blip r:embed="rId18"/>
          <a:stretch>
            <a:fillRect/>
          </a:stretch>
        </p:blipFill>
        <p:spPr>
          <a:xfrm>
            <a:off x="1899163" y="1590794"/>
            <a:ext cx="448901" cy="314901"/>
          </a:xfrm>
          <a:prstGeom prst="rect">
            <a:avLst/>
          </a:prstGeom>
        </p:spPr>
      </p:pic>
      <p:cxnSp>
        <p:nvCxnSpPr>
          <p:cNvPr id="7" name="直接连接符 6">
            <a:extLst>
              <a:ext uri="{FF2B5EF4-FFF2-40B4-BE49-F238E27FC236}">
                <a16:creationId xmlns:a16="http://schemas.microsoft.com/office/drawing/2014/main" id="{F399CA7C-501E-408F-947F-AFF64FE7FD7E}"/>
              </a:ext>
            </a:extLst>
          </p:cNvPr>
          <p:cNvCxnSpPr>
            <a:cxnSpLocks/>
          </p:cNvCxnSpPr>
          <p:nvPr/>
        </p:nvCxnSpPr>
        <p:spPr>
          <a:xfrm>
            <a:off x="352425" y="3731710"/>
            <a:ext cx="11449050"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78" name="直接连接符 177">
            <a:extLst>
              <a:ext uri="{FF2B5EF4-FFF2-40B4-BE49-F238E27FC236}">
                <a16:creationId xmlns:a16="http://schemas.microsoft.com/office/drawing/2014/main" id="{B8E905F0-63E9-4A10-937D-1080DF11011E}"/>
              </a:ext>
            </a:extLst>
          </p:cNvPr>
          <p:cNvCxnSpPr>
            <a:cxnSpLocks/>
          </p:cNvCxnSpPr>
          <p:nvPr/>
        </p:nvCxnSpPr>
        <p:spPr>
          <a:xfrm>
            <a:off x="371475" y="5057548"/>
            <a:ext cx="11449050" cy="0"/>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79" name="直接连接符 178">
            <a:extLst>
              <a:ext uri="{FF2B5EF4-FFF2-40B4-BE49-F238E27FC236}">
                <a16:creationId xmlns:a16="http://schemas.microsoft.com/office/drawing/2014/main" id="{621FCE06-D9F2-4FC3-8E8D-9C3E76BB6350}"/>
              </a:ext>
            </a:extLst>
          </p:cNvPr>
          <p:cNvCxnSpPr>
            <a:cxnSpLocks/>
          </p:cNvCxnSpPr>
          <p:nvPr/>
        </p:nvCxnSpPr>
        <p:spPr>
          <a:xfrm>
            <a:off x="352425" y="6062940"/>
            <a:ext cx="11449050" cy="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180" name="文本框 179">
            <a:extLst>
              <a:ext uri="{FF2B5EF4-FFF2-40B4-BE49-F238E27FC236}">
                <a16:creationId xmlns:a16="http://schemas.microsoft.com/office/drawing/2014/main" id="{9525A86A-39D5-4D21-8781-91F1C76379D2}"/>
              </a:ext>
            </a:extLst>
          </p:cNvPr>
          <p:cNvSpPr txBox="1"/>
          <p:nvPr/>
        </p:nvSpPr>
        <p:spPr>
          <a:xfrm>
            <a:off x="7759087" y="5667310"/>
            <a:ext cx="2480288" cy="338554"/>
          </a:xfrm>
          <a:prstGeom prst="rect">
            <a:avLst/>
          </a:prstGeom>
          <a:noFill/>
        </p:spPr>
        <p:txBody>
          <a:bodyPr wrap="square" rtlCol="0">
            <a:spAutoFit/>
          </a:bodyPr>
          <a:lstStyle/>
          <a:p>
            <a:r>
              <a:rPr lang="zh-CN" altLang="en-US" sz="1600" dirty="0"/>
              <a:t>（</a:t>
            </a:r>
            <a:r>
              <a:rPr lang="en-US" altLang="zh-CN" sz="1600" dirty="0"/>
              <a:t>Reduce</a:t>
            </a:r>
            <a:r>
              <a:rPr lang="zh-CN" altLang="en-US" sz="1600" dirty="0"/>
              <a:t>时延参数</a:t>
            </a:r>
            <a:r>
              <a:rPr lang="en-US" altLang="zh-CN" sz="1600" dirty="0"/>
              <a:t>     </a:t>
            </a:r>
            <a:r>
              <a:rPr lang="zh-CN" altLang="en-US" sz="1600" dirty="0"/>
              <a:t>）</a:t>
            </a:r>
          </a:p>
        </p:txBody>
      </p:sp>
      <p:pic>
        <p:nvPicPr>
          <p:cNvPr id="182" name="图片 181">
            <a:extLst>
              <a:ext uri="{FF2B5EF4-FFF2-40B4-BE49-F238E27FC236}">
                <a16:creationId xmlns:a16="http://schemas.microsoft.com/office/drawing/2014/main" id="{15DBCF34-FC49-44AD-85C7-CDC5CC48C080}"/>
              </a:ext>
            </a:extLst>
          </p:cNvPr>
          <p:cNvPicPr>
            <a:picLocks noChangeAspect="1"/>
          </p:cNvPicPr>
          <p:nvPr/>
        </p:nvPicPr>
        <p:blipFill>
          <a:blip r:embed="rId19"/>
          <a:stretch>
            <a:fillRect/>
          </a:stretch>
        </p:blipFill>
        <p:spPr>
          <a:xfrm>
            <a:off x="9553410" y="5703353"/>
            <a:ext cx="297289" cy="268976"/>
          </a:xfrm>
          <a:prstGeom prst="rect">
            <a:avLst/>
          </a:prstGeom>
        </p:spPr>
      </p:pic>
      <p:sp>
        <p:nvSpPr>
          <p:cNvPr id="3" name="灯片编号占位符 2">
            <a:extLst>
              <a:ext uri="{FF2B5EF4-FFF2-40B4-BE49-F238E27FC236}">
                <a16:creationId xmlns:a16="http://schemas.microsoft.com/office/drawing/2014/main" id="{61672997-E34C-42EC-B40F-AA9736EB6567}"/>
              </a:ext>
            </a:extLst>
          </p:cNvPr>
          <p:cNvSpPr>
            <a:spLocks noGrp="1"/>
          </p:cNvSpPr>
          <p:nvPr>
            <p:ph type="sldNum" sz="quarter" idx="12"/>
          </p:nvPr>
        </p:nvSpPr>
        <p:spPr>
          <a:xfrm>
            <a:off x="8610600" y="5991289"/>
            <a:ext cx="2743200" cy="365125"/>
          </a:xfrm>
        </p:spPr>
        <p:txBody>
          <a:bodyPr/>
          <a:lstStyle/>
          <a:p>
            <a:fld id="{B125EA80-F692-46D2-AFCC-CA48803B46EF}" type="slidenum">
              <a:rPr lang="zh-CN" altLang="en-US" smtClean="0"/>
              <a:t>12</a:t>
            </a:fld>
            <a:endParaRPr lang="zh-CN" altLang="en-US" dirty="0"/>
          </a:p>
        </p:txBody>
      </p:sp>
    </p:spTree>
    <p:extLst>
      <p:ext uri="{BB962C8B-B14F-4D97-AF65-F5344CB8AC3E}">
        <p14:creationId xmlns:p14="http://schemas.microsoft.com/office/powerpoint/2010/main" val="21177848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文本框 36">
            <a:extLst>
              <a:ext uri="{FF2B5EF4-FFF2-40B4-BE49-F238E27FC236}">
                <a16:creationId xmlns:a16="http://schemas.microsoft.com/office/drawing/2014/main" id="{0958B43D-C704-4E75-A7E2-FDFF1D78C753}"/>
              </a:ext>
            </a:extLst>
          </p:cNvPr>
          <p:cNvSpPr txBox="1"/>
          <p:nvPr/>
        </p:nvSpPr>
        <p:spPr>
          <a:xfrm>
            <a:off x="294668" y="1324061"/>
            <a:ext cx="5614718" cy="1831271"/>
          </a:xfrm>
          <a:prstGeom prst="rect">
            <a:avLst/>
          </a:prstGeom>
          <a:noFill/>
        </p:spPr>
        <p:txBody>
          <a:bodyPr wrap="square" rtlCol="0">
            <a:spAutoFit/>
          </a:bodyPr>
          <a:lstStyle/>
          <a:p>
            <a:pPr marL="342900" indent="-342900">
              <a:lnSpc>
                <a:spcPct val="150000"/>
              </a:lnSpc>
              <a:buFont typeface="Wingdings" panose="05000000000000000000" pitchFamily="2" charset="2"/>
              <a:buChar char="Ø"/>
            </a:pPr>
            <a:r>
              <a:rPr lang="en-US" altLang="zh-CN" sz="1400" dirty="0"/>
              <a:t>                             </a:t>
            </a:r>
            <a:r>
              <a:rPr lang="zh-CN" altLang="en-US" sz="1400" dirty="0"/>
              <a:t>表示基于   这一轮传输（由算法 </a:t>
            </a:r>
            <a:r>
              <a:rPr lang="en-US" altLang="zh-CN" sz="1400" dirty="0"/>
              <a:t>3.2 </a:t>
            </a:r>
            <a:r>
              <a:rPr lang="zh-CN" altLang="en-US" sz="1400" dirty="0"/>
              <a:t>和 </a:t>
            </a:r>
            <a:r>
              <a:rPr lang="en-US" altLang="zh-CN" sz="1400" dirty="0"/>
              <a:t>3.3 </a:t>
            </a:r>
            <a:r>
              <a:rPr lang="zh-CN" altLang="en-US" sz="1400" dirty="0"/>
              <a:t>中的第一个“</a:t>
            </a:r>
            <a:r>
              <a:rPr lang="en-US" altLang="zh-CN" sz="1400" dirty="0"/>
              <a:t>for</a:t>
            </a:r>
            <a:r>
              <a:rPr lang="zh-CN" altLang="en-US" sz="1400" dirty="0"/>
              <a:t>”循环描述）每个设备能够从其他设备发送的数据中得到的基于 </a:t>
            </a:r>
            <a:r>
              <a:rPr lang="en-US" altLang="zh-CN" sz="1400" dirty="0"/>
              <a:t>1 </a:t>
            </a:r>
            <a:r>
              <a:rPr lang="zh-CN" altLang="en-US" sz="1400" dirty="0"/>
              <a:t>个输出向量的内积数量</a:t>
            </a:r>
            <a:endParaRPr lang="en-US" altLang="zh-CN" sz="1400" dirty="0"/>
          </a:p>
          <a:p>
            <a:pPr>
              <a:lnSpc>
                <a:spcPct val="150000"/>
              </a:lnSpc>
            </a:pPr>
            <a:endParaRPr lang="en-US" altLang="zh-CN" sz="700" dirty="0"/>
          </a:p>
          <a:p>
            <a:pPr marL="342900" indent="-342900">
              <a:lnSpc>
                <a:spcPct val="150000"/>
              </a:lnSpc>
              <a:buFont typeface="Wingdings" panose="05000000000000000000" pitchFamily="2" charset="2"/>
              <a:buChar char="Ø"/>
            </a:pPr>
            <a:r>
              <a:rPr lang="en-US" altLang="zh-CN" sz="1400" dirty="0"/>
              <a:t>                                                    </a:t>
            </a:r>
            <a:r>
              <a:rPr lang="zh-CN" altLang="en-US" sz="1400" dirty="0"/>
              <a:t>决定传输的轮数（直到每个节点收到基于</a:t>
            </a:r>
            <a:r>
              <a:rPr lang="en-US" altLang="zh-CN" sz="1400" dirty="0"/>
              <a:t>1</a:t>
            </a:r>
            <a:r>
              <a:rPr lang="zh-CN" altLang="en-US" sz="1400" dirty="0"/>
              <a:t>个输出向量的其他               个内积）</a:t>
            </a:r>
            <a:r>
              <a:rPr lang="en-US" altLang="zh-CN" sz="1400" dirty="0"/>
              <a:t> </a:t>
            </a:r>
          </a:p>
        </p:txBody>
      </p:sp>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a:lnSpc>
                <a:spcPts val="4400"/>
              </a:lnSpc>
            </a:pPr>
            <a:r>
              <a:rPr lang="en-US" altLang="zh-CN" sz="2800" b="1" dirty="0">
                <a:solidFill>
                  <a:schemeClr val="bg1"/>
                </a:solidFill>
              </a:rPr>
              <a:t> 3. </a:t>
            </a:r>
            <a:r>
              <a:rPr lang="zh-CN" altLang="en-US" sz="2800" b="1" dirty="0">
                <a:solidFill>
                  <a:schemeClr val="bg1"/>
                </a:solidFill>
              </a:rPr>
              <a:t>基于无线接入点的编码分布式矩阵</a:t>
            </a:r>
            <a:r>
              <a:rPr lang="en-US" altLang="zh-CN" sz="2800" b="1" dirty="0">
                <a:solidFill>
                  <a:schemeClr val="bg1"/>
                </a:solidFill>
              </a:rPr>
              <a:t>-</a:t>
            </a:r>
            <a:r>
              <a:rPr lang="zh-CN" altLang="en-US" sz="2800" b="1" dirty="0">
                <a:solidFill>
                  <a:schemeClr val="bg1"/>
                </a:solidFill>
              </a:rPr>
              <a:t>矩阵乘法运算框架（主要结果）</a:t>
            </a:r>
            <a:endParaRPr lang="en-US" altLang="zh-CN" sz="2800" b="1" dirty="0">
              <a:solidFill>
                <a:schemeClr val="bg1"/>
              </a:solidFill>
            </a:endParaRPr>
          </a:p>
          <a:p>
            <a:endParaRPr lang="en-US" altLang="zh-CN" sz="700" b="1" dirty="0">
              <a:solidFill>
                <a:schemeClr val="bg1"/>
              </a:solidFill>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55448" y="794396"/>
            <a:ext cx="11868912" cy="400110"/>
          </a:xfrm>
          <a:prstGeom prst="rect">
            <a:avLst/>
          </a:prstGeom>
          <a:noFill/>
        </p:spPr>
        <p:txBody>
          <a:bodyPr wrap="square" rtlCol="0">
            <a:spAutoFit/>
          </a:bodyPr>
          <a:lstStyle/>
          <a:p>
            <a:pPr marL="342900" indent="-342900">
              <a:buFont typeface="Wingdings" panose="05000000000000000000" pitchFamily="2" charset="2"/>
              <a:buChar char="l"/>
            </a:pPr>
            <a:r>
              <a:rPr lang="zh-CN" altLang="en-US" sz="2000" b="1" dirty="0"/>
              <a:t>主要算法（贪心策略）</a:t>
            </a:r>
            <a:endParaRPr lang="en-US" altLang="zh-CN" sz="2000" b="1" dirty="0"/>
          </a:p>
        </p:txBody>
      </p:sp>
      <p:sp>
        <p:nvSpPr>
          <p:cNvPr id="3" name="灯片编号占位符 2">
            <a:extLst>
              <a:ext uri="{FF2B5EF4-FFF2-40B4-BE49-F238E27FC236}">
                <a16:creationId xmlns:a16="http://schemas.microsoft.com/office/drawing/2014/main" id="{1B328CE2-EF05-4947-BCD2-4798A4FB7DB6}"/>
              </a:ext>
            </a:extLst>
          </p:cNvPr>
          <p:cNvSpPr>
            <a:spLocks noGrp="1"/>
          </p:cNvSpPr>
          <p:nvPr>
            <p:ph type="sldNum" sz="quarter" idx="12"/>
          </p:nvPr>
        </p:nvSpPr>
        <p:spPr/>
        <p:txBody>
          <a:bodyPr/>
          <a:lstStyle/>
          <a:p>
            <a:fld id="{B125EA80-F692-46D2-AFCC-CA48803B46EF}" type="slidenum">
              <a:rPr lang="zh-CN" altLang="en-US" smtClean="0"/>
              <a:t>13</a:t>
            </a:fld>
            <a:endParaRPr lang="zh-CN" altLang="en-US" dirty="0"/>
          </a:p>
        </p:txBody>
      </p:sp>
      <p:pic>
        <p:nvPicPr>
          <p:cNvPr id="6" name="图片 5">
            <a:extLst>
              <a:ext uri="{FF2B5EF4-FFF2-40B4-BE49-F238E27FC236}">
                <a16:creationId xmlns:a16="http://schemas.microsoft.com/office/drawing/2014/main" id="{7FB83F5D-A6EB-4A41-9891-03DB840651CB}"/>
              </a:ext>
            </a:extLst>
          </p:cNvPr>
          <p:cNvPicPr>
            <a:picLocks noChangeAspect="1"/>
          </p:cNvPicPr>
          <p:nvPr/>
        </p:nvPicPr>
        <p:blipFill>
          <a:blip r:embed="rId3"/>
          <a:stretch>
            <a:fillRect/>
          </a:stretch>
        </p:blipFill>
        <p:spPr>
          <a:xfrm>
            <a:off x="231756" y="3336095"/>
            <a:ext cx="5864244" cy="3180445"/>
          </a:xfrm>
          <a:prstGeom prst="rect">
            <a:avLst/>
          </a:prstGeom>
        </p:spPr>
      </p:pic>
      <p:pic>
        <p:nvPicPr>
          <p:cNvPr id="7" name="图片 6">
            <a:extLst>
              <a:ext uri="{FF2B5EF4-FFF2-40B4-BE49-F238E27FC236}">
                <a16:creationId xmlns:a16="http://schemas.microsoft.com/office/drawing/2014/main" id="{1F753B7B-9C2A-4440-8342-91E0C18BF047}"/>
              </a:ext>
            </a:extLst>
          </p:cNvPr>
          <p:cNvPicPr>
            <a:picLocks noChangeAspect="1"/>
          </p:cNvPicPr>
          <p:nvPr/>
        </p:nvPicPr>
        <p:blipFill>
          <a:blip r:embed="rId4"/>
          <a:stretch>
            <a:fillRect/>
          </a:stretch>
        </p:blipFill>
        <p:spPr>
          <a:xfrm>
            <a:off x="6029658" y="794395"/>
            <a:ext cx="5823872" cy="3180445"/>
          </a:xfrm>
          <a:prstGeom prst="rect">
            <a:avLst/>
          </a:prstGeom>
        </p:spPr>
      </p:pic>
      <p:pic>
        <p:nvPicPr>
          <p:cNvPr id="8" name="图片 7">
            <a:extLst>
              <a:ext uri="{FF2B5EF4-FFF2-40B4-BE49-F238E27FC236}">
                <a16:creationId xmlns:a16="http://schemas.microsoft.com/office/drawing/2014/main" id="{8A1E87A8-A0AA-41DA-87BA-97210766821E}"/>
              </a:ext>
            </a:extLst>
          </p:cNvPr>
          <p:cNvPicPr>
            <a:picLocks noChangeAspect="1"/>
          </p:cNvPicPr>
          <p:nvPr/>
        </p:nvPicPr>
        <p:blipFill>
          <a:blip r:embed="rId5"/>
          <a:stretch>
            <a:fillRect/>
          </a:stretch>
        </p:blipFill>
        <p:spPr>
          <a:xfrm>
            <a:off x="6107180" y="3919807"/>
            <a:ext cx="5706152" cy="2853076"/>
          </a:xfrm>
          <a:prstGeom prst="rect">
            <a:avLst/>
          </a:prstGeom>
        </p:spPr>
      </p:pic>
      <p:pic>
        <p:nvPicPr>
          <p:cNvPr id="9" name="图片 8">
            <a:extLst>
              <a:ext uri="{FF2B5EF4-FFF2-40B4-BE49-F238E27FC236}">
                <a16:creationId xmlns:a16="http://schemas.microsoft.com/office/drawing/2014/main" id="{62FB73A5-5A11-45C4-81D1-15FE0AE9ABD4}"/>
              </a:ext>
            </a:extLst>
          </p:cNvPr>
          <p:cNvPicPr>
            <a:picLocks noChangeAspect="1"/>
          </p:cNvPicPr>
          <p:nvPr/>
        </p:nvPicPr>
        <p:blipFill>
          <a:blip r:embed="rId6"/>
          <a:stretch>
            <a:fillRect/>
          </a:stretch>
        </p:blipFill>
        <p:spPr>
          <a:xfrm>
            <a:off x="547216" y="1369742"/>
            <a:ext cx="1397215" cy="400780"/>
          </a:xfrm>
          <a:prstGeom prst="rect">
            <a:avLst/>
          </a:prstGeom>
        </p:spPr>
      </p:pic>
      <p:pic>
        <p:nvPicPr>
          <p:cNvPr id="10" name="图片 9">
            <a:extLst>
              <a:ext uri="{FF2B5EF4-FFF2-40B4-BE49-F238E27FC236}">
                <a16:creationId xmlns:a16="http://schemas.microsoft.com/office/drawing/2014/main" id="{9FE8B48C-FCE4-4CCB-89BB-8D296794F9B8}"/>
              </a:ext>
            </a:extLst>
          </p:cNvPr>
          <p:cNvPicPr>
            <a:picLocks noChangeAspect="1"/>
          </p:cNvPicPr>
          <p:nvPr/>
        </p:nvPicPr>
        <p:blipFill>
          <a:blip r:embed="rId7"/>
          <a:stretch>
            <a:fillRect/>
          </a:stretch>
        </p:blipFill>
        <p:spPr>
          <a:xfrm>
            <a:off x="1944431" y="1387734"/>
            <a:ext cx="389731" cy="338554"/>
          </a:xfrm>
          <a:prstGeom prst="rect">
            <a:avLst/>
          </a:prstGeom>
        </p:spPr>
      </p:pic>
      <p:pic>
        <p:nvPicPr>
          <p:cNvPr id="11" name="图片 10">
            <a:extLst>
              <a:ext uri="{FF2B5EF4-FFF2-40B4-BE49-F238E27FC236}">
                <a16:creationId xmlns:a16="http://schemas.microsoft.com/office/drawing/2014/main" id="{C8A340B6-17FE-4BB8-AE52-00526BB0EAAB}"/>
              </a:ext>
            </a:extLst>
          </p:cNvPr>
          <p:cNvPicPr>
            <a:picLocks noChangeAspect="1"/>
          </p:cNvPicPr>
          <p:nvPr/>
        </p:nvPicPr>
        <p:blipFill>
          <a:blip r:embed="rId8"/>
          <a:stretch>
            <a:fillRect/>
          </a:stretch>
        </p:blipFill>
        <p:spPr>
          <a:xfrm>
            <a:off x="616373" y="2481764"/>
            <a:ext cx="2618792" cy="335143"/>
          </a:xfrm>
          <a:prstGeom prst="rect">
            <a:avLst/>
          </a:prstGeom>
        </p:spPr>
      </p:pic>
      <p:pic>
        <p:nvPicPr>
          <p:cNvPr id="12" name="图片 11">
            <a:extLst>
              <a:ext uri="{FF2B5EF4-FFF2-40B4-BE49-F238E27FC236}">
                <a16:creationId xmlns:a16="http://schemas.microsoft.com/office/drawing/2014/main" id="{7CBC64B0-7BB3-4B00-8B56-8612C8FA37EE}"/>
              </a:ext>
            </a:extLst>
          </p:cNvPr>
          <p:cNvPicPr>
            <a:picLocks noChangeAspect="1"/>
          </p:cNvPicPr>
          <p:nvPr/>
        </p:nvPicPr>
        <p:blipFill>
          <a:blip r:embed="rId9"/>
          <a:stretch>
            <a:fillRect/>
          </a:stretch>
        </p:blipFill>
        <p:spPr>
          <a:xfrm>
            <a:off x="2860458" y="1441336"/>
            <a:ext cx="146948" cy="222521"/>
          </a:xfrm>
          <a:prstGeom prst="rect">
            <a:avLst/>
          </a:prstGeom>
        </p:spPr>
      </p:pic>
      <p:pic>
        <p:nvPicPr>
          <p:cNvPr id="13" name="图片 12">
            <a:extLst>
              <a:ext uri="{FF2B5EF4-FFF2-40B4-BE49-F238E27FC236}">
                <a16:creationId xmlns:a16="http://schemas.microsoft.com/office/drawing/2014/main" id="{9152FF33-1F2E-4F5A-93C8-4150DCE940B1}"/>
              </a:ext>
            </a:extLst>
          </p:cNvPr>
          <p:cNvPicPr>
            <a:picLocks noChangeAspect="1"/>
          </p:cNvPicPr>
          <p:nvPr/>
        </p:nvPicPr>
        <p:blipFill>
          <a:blip r:embed="rId10"/>
          <a:stretch>
            <a:fillRect/>
          </a:stretch>
        </p:blipFill>
        <p:spPr>
          <a:xfrm>
            <a:off x="2962940" y="2889938"/>
            <a:ext cx="694660" cy="206837"/>
          </a:xfrm>
          <a:prstGeom prst="rect">
            <a:avLst/>
          </a:prstGeom>
        </p:spPr>
      </p:pic>
    </p:spTree>
    <p:extLst>
      <p:ext uri="{BB962C8B-B14F-4D97-AF65-F5344CB8AC3E}">
        <p14:creationId xmlns:p14="http://schemas.microsoft.com/office/powerpoint/2010/main" val="1233119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a:lnSpc>
                <a:spcPts val="4400"/>
              </a:lnSpc>
            </a:pPr>
            <a:r>
              <a:rPr lang="en-US" altLang="zh-CN" sz="2800" b="1" dirty="0">
                <a:solidFill>
                  <a:schemeClr val="bg1"/>
                </a:solidFill>
              </a:rPr>
              <a:t> 3. </a:t>
            </a:r>
            <a:r>
              <a:rPr lang="zh-CN" altLang="en-US" sz="2800" b="1" dirty="0">
                <a:solidFill>
                  <a:schemeClr val="bg1"/>
                </a:solidFill>
              </a:rPr>
              <a:t>基于无线接入点的编码分布式矩阵</a:t>
            </a:r>
            <a:r>
              <a:rPr lang="en-US" altLang="zh-CN" sz="2800" b="1" dirty="0">
                <a:solidFill>
                  <a:schemeClr val="bg1"/>
                </a:solidFill>
              </a:rPr>
              <a:t>-</a:t>
            </a:r>
            <a:r>
              <a:rPr lang="zh-CN" altLang="en-US" sz="2800" b="1" dirty="0">
                <a:solidFill>
                  <a:schemeClr val="bg1"/>
                </a:solidFill>
              </a:rPr>
              <a:t>矩阵乘法运算框架（主要结果）</a:t>
            </a:r>
            <a:endParaRPr lang="en-US" altLang="zh-CN" sz="2800" b="1" dirty="0">
              <a:solidFill>
                <a:schemeClr val="bg1"/>
              </a:solidFill>
            </a:endParaRPr>
          </a:p>
          <a:p>
            <a:endParaRPr lang="en-US" altLang="zh-CN" sz="700" b="1" dirty="0">
              <a:solidFill>
                <a:schemeClr val="bg1"/>
              </a:solidFill>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55448" y="794396"/>
            <a:ext cx="11868912" cy="5519460"/>
          </a:xfrm>
          <a:prstGeom prst="rect">
            <a:avLst/>
          </a:prstGeom>
          <a:noFill/>
        </p:spPr>
        <p:txBody>
          <a:bodyPr wrap="square" rtlCol="0">
            <a:spAutoFit/>
          </a:bodyPr>
          <a:lstStyle/>
          <a:p>
            <a:pPr marL="342900" indent="-342900">
              <a:buFont typeface="Wingdings" panose="05000000000000000000" pitchFamily="2" charset="2"/>
              <a:buChar char="l"/>
            </a:pPr>
            <a:r>
              <a:rPr lang="zh-CN" altLang="en-US" sz="2000" b="1" dirty="0"/>
              <a:t>主要结果</a:t>
            </a:r>
            <a:endParaRPr lang="en-US" altLang="zh-CN" sz="2000" b="1" dirty="0"/>
          </a:p>
          <a:p>
            <a:pPr marL="285750" lvl="0" indent="-285750">
              <a:lnSpc>
                <a:spcPct val="150000"/>
              </a:lnSpc>
              <a:buFont typeface="Wingdings" panose="05000000000000000000" pitchFamily="2" charset="2"/>
              <a:buChar char="p"/>
            </a:pPr>
            <a:r>
              <a:rPr lang="zh-CN" altLang="en-US" b="1" dirty="0">
                <a:solidFill>
                  <a:prstClr val="black"/>
                </a:solidFill>
              </a:rPr>
              <a:t>框架下的可达传输量</a:t>
            </a:r>
            <a:endParaRPr lang="en-US" altLang="zh-CN" b="1" dirty="0">
              <a:solidFill>
                <a:prstClr val="black"/>
              </a:solidFill>
            </a:endParaRPr>
          </a:p>
          <a:p>
            <a:pPr marL="285750" lvl="0" indent="-285750">
              <a:lnSpc>
                <a:spcPct val="150000"/>
              </a:lnSpc>
              <a:buFont typeface="Wingdings" panose="05000000000000000000" pitchFamily="2" charset="2"/>
              <a:buChar char="p"/>
            </a:pPr>
            <a:endParaRPr lang="en-US" altLang="zh-CN" b="1" dirty="0">
              <a:solidFill>
                <a:prstClr val="black"/>
              </a:solidFill>
            </a:endParaRPr>
          </a:p>
          <a:p>
            <a:pPr marL="285750" lvl="0" indent="-285750">
              <a:lnSpc>
                <a:spcPct val="150000"/>
              </a:lnSpc>
              <a:buFont typeface="Wingdings" panose="05000000000000000000" pitchFamily="2" charset="2"/>
              <a:buChar char="p"/>
            </a:pPr>
            <a:endParaRPr lang="en-US" altLang="zh-CN" b="1" dirty="0">
              <a:solidFill>
                <a:prstClr val="black"/>
              </a:solidFill>
            </a:endParaRPr>
          </a:p>
          <a:p>
            <a:pPr marL="285750" lvl="0" indent="-285750">
              <a:lnSpc>
                <a:spcPct val="150000"/>
              </a:lnSpc>
              <a:buFont typeface="Wingdings" panose="05000000000000000000" pitchFamily="2" charset="2"/>
              <a:buChar char="p"/>
            </a:pPr>
            <a:endParaRPr lang="en-US" altLang="zh-CN" b="1" dirty="0">
              <a:solidFill>
                <a:prstClr val="black"/>
              </a:solidFill>
            </a:endParaRPr>
          </a:p>
          <a:p>
            <a:pPr marL="285750" lvl="0" indent="-285750">
              <a:lnSpc>
                <a:spcPct val="150000"/>
              </a:lnSpc>
              <a:buFont typeface="Wingdings" panose="05000000000000000000" pitchFamily="2" charset="2"/>
              <a:buChar char="p"/>
            </a:pPr>
            <a:endParaRPr lang="en-US" altLang="zh-CN" b="1" dirty="0">
              <a:solidFill>
                <a:prstClr val="black"/>
              </a:solidFill>
            </a:endParaRPr>
          </a:p>
          <a:p>
            <a:pPr marL="285750" lvl="0" indent="-285750">
              <a:lnSpc>
                <a:spcPct val="150000"/>
              </a:lnSpc>
              <a:buFont typeface="Wingdings" panose="05000000000000000000" pitchFamily="2" charset="2"/>
              <a:buChar char="p"/>
            </a:pPr>
            <a:endParaRPr lang="en-US" altLang="zh-CN" b="1" dirty="0">
              <a:solidFill>
                <a:prstClr val="black"/>
              </a:solidFill>
            </a:endParaRPr>
          </a:p>
          <a:p>
            <a:pPr marL="285750" lvl="0" indent="-285750">
              <a:lnSpc>
                <a:spcPct val="150000"/>
              </a:lnSpc>
              <a:buFont typeface="Wingdings" panose="05000000000000000000" pitchFamily="2" charset="2"/>
              <a:buChar char="p"/>
            </a:pPr>
            <a:endParaRPr lang="en-US" altLang="zh-CN" b="1" dirty="0">
              <a:solidFill>
                <a:prstClr val="black"/>
              </a:solidFill>
            </a:endParaRPr>
          </a:p>
          <a:p>
            <a:pPr marL="285750" lvl="0" indent="-285750">
              <a:lnSpc>
                <a:spcPct val="150000"/>
              </a:lnSpc>
              <a:buFont typeface="Wingdings" panose="05000000000000000000" pitchFamily="2" charset="2"/>
              <a:buChar char="p"/>
            </a:pPr>
            <a:r>
              <a:rPr lang="zh-CN" altLang="en-US" b="1" dirty="0">
                <a:solidFill>
                  <a:prstClr val="black"/>
                </a:solidFill>
              </a:rPr>
              <a:t>整体时延</a:t>
            </a:r>
            <a:endParaRPr lang="en-US" altLang="zh-CN" b="1" dirty="0">
              <a:solidFill>
                <a:prstClr val="black"/>
              </a:solidFill>
            </a:endParaRPr>
          </a:p>
          <a:p>
            <a:pPr lvl="0">
              <a:lnSpc>
                <a:spcPct val="150000"/>
              </a:lnSpc>
            </a:pPr>
            <a:endParaRPr lang="en-US" altLang="zh-CN" sz="2000" b="1" dirty="0">
              <a:solidFill>
                <a:prstClr val="black"/>
              </a:solidFill>
            </a:endParaRPr>
          </a:p>
          <a:p>
            <a:pPr marL="285750" lvl="0" indent="-285750">
              <a:lnSpc>
                <a:spcPct val="150000"/>
              </a:lnSpc>
              <a:buFont typeface="Wingdings" panose="05000000000000000000" pitchFamily="2" charset="2"/>
              <a:buChar char="p"/>
            </a:pPr>
            <a:r>
              <a:rPr lang="zh-CN" altLang="en-US" b="1" dirty="0">
                <a:solidFill>
                  <a:prstClr val="black"/>
                </a:solidFill>
              </a:rPr>
              <a:t>基于灵活输出向量分配的上行、下行传输量信息理论下界</a:t>
            </a:r>
            <a:endParaRPr lang="en-US" altLang="zh-CN" b="1" dirty="0">
              <a:solidFill>
                <a:prstClr val="black"/>
              </a:solidFill>
            </a:endParaRPr>
          </a:p>
          <a:p>
            <a:pPr lvl="0">
              <a:lnSpc>
                <a:spcPct val="150000"/>
              </a:lnSpc>
            </a:pPr>
            <a:endParaRPr lang="en-US" altLang="zh-CN" sz="2400" b="1" dirty="0">
              <a:solidFill>
                <a:prstClr val="black"/>
              </a:solidFill>
            </a:endParaRPr>
          </a:p>
          <a:p>
            <a:pPr marL="285750" lvl="0" indent="-285750">
              <a:lnSpc>
                <a:spcPct val="150000"/>
              </a:lnSpc>
              <a:buFont typeface="Wingdings" panose="05000000000000000000" pitchFamily="2" charset="2"/>
              <a:buChar char="p"/>
            </a:pPr>
            <a:r>
              <a:rPr lang="zh-CN" altLang="en-US" b="1" dirty="0">
                <a:solidFill>
                  <a:prstClr val="black"/>
                </a:solidFill>
              </a:rPr>
              <a:t>当满足条件                 和           时，上、下行可达传输量与对应下界的距离相差常数倍</a:t>
            </a:r>
            <a:endParaRPr lang="en-US" altLang="zh-CN" b="1" dirty="0">
              <a:solidFill>
                <a:prstClr val="black"/>
              </a:solidFill>
            </a:endParaRPr>
          </a:p>
        </p:txBody>
      </p:sp>
      <p:pic>
        <p:nvPicPr>
          <p:cNvPr id="41" name="图片 40">
            <a:extLst>
              <a:ext uri="{FF2B5EF4-FFF2-40B4-BE49-F238E27FC236}">
                <a16:creationId xmlns:a16="http://schemas.microsoft.com/office/drawing/2014/main" id="{AA216782-9B7A-4B5D-AE47-28F47B392499}"/>
              </a:ext>
            </a:extLst>
          </p:cNvPr>
          <p:cNvPicPr>
            <a:picLocks noChangeAspect="1"/>
          </p:cNvPicPr>
          <p:nvPr/>
        </p:nvPicPr>
        <p:blipFill>
          <a:blip r:embed="rId3"/>
          <a:stretch>
            <a:fillRect/>
          </a:stretch>
        </p:blipFill>
        <p:spPr>
          <a:xfrm>
            <a:off x="417788" y="1560631"/>
            <a:ext cx="4745984" cy="1562601"/>
          </a:xfrm>
          <a:prstGeom prst="rect">
            <a:avLst/>
          </a:prstGeom>
        </p:spPr>
      </p:pic>
      <p:pic>
        <p:nvPicPr>
          <p:cNvPr id="42" name="图片 41">
            <a:extLst>
              <a:ext uri="{FF2B5EF4-FFF2-40B4-BE49-F238E27FC236}">
                <a16:creationId xmlns:a16="http://schemas.microsoft.com/office/drawing/2014/main" id="{1C50BB45-D731-4925-A270-704A04BCA662}"/>
              </a:ext>
            </a:extLst>
          </p:cNvPr>
          <p:cNvPicPr>
            <a:picLocks noChangeAspect="1"/>
          </p:cNvPicPr>
          <p:nvPr/>
        </p:nvPicPr>
        <p:blipFill>
          <a:blip r:embed="rId4"/>
          <a:stretch>
            <a:fillRect/>
          </a:stretch>
        </p:blipFill>
        <p:spPr>
          <a:xfrm>
            <a:off x="5860920" y="2022909"/>
            <a:ext cx="4893824" cy="636197"/>
          </a:xfrm>
          <a:prstGeom prst="rect">
            <a:avLst/>
          </a:prstGeom>
        </p:spPr>
      </p:pic>
      <p:sp>
        <p:nvSpPr>
          <p:cNvPr id="43" name="文本框 42">
            <a:extLst>
              <a:ext uri="{FF2B5EF4-FFF2-40B4-BE49-F238E27FC236}">
                <a16:creationId xmlns:a16="http://schemas.microsoft.com/office/drawing/2014/main" id="{1A34BBD9-43FB-4A81-8052-1771914561F0}"/>
              </a:ext>
            </a:extLst>
          </p:cNvPr>
          <p:cNvSpPr txBox="1"/>
          <p:nvPr/>
        </p:nvSpPr>
        <p:spPr>
          <a:xfrm>
            <a:off x="167640" y="3233920"/>
            <a:ext cx="11034207" cy="646331"/>
          </a:xfrm>
          <a:prstGeom prst="rect">
            <a:avLst/>
          </a:prstGeom>
          <a:noFill/>
        </p:spPr>
        <p:txBody>
          <a:bodyPr wrap="square" rtlCol="0">
            <a:spAutoFit/>
          </a:bodyPr>
          <a:lstStyle/>
          <a:p>
            <a:r>
              <a:rPr lang="en-US" altLang="zh-CN" dirty="0"/>
              <a:t>  where              ,                              ,                                   ,                                  for                        ,</a:t>
            </a:r>
          </a:p>
          <a:p>
            <a:r>
              <a:rPr lang="zh-CN" altLang="en-US" dirty="0"/>
              <a:t>                                      </a:t>
            </a:r>
            <a:r>
              <a:rPr lang="en-US" altLang="zh-CN" dirty="0"/>
              <a:t>,                                                     </a:t>
            </a:r>
            <a:endParaRPr lang="zh-CN" altLang="en-US" dirty="0"/>
          </a:p>
        </p:txBody>
      </p:sp>
      <p:pic>
        <p:nvPicPr>
          <p:cNvPr id="55" name="图片 54">
            <a:extLst>
              <a:ext uri="{FF2B5EF4-FFF2-40B4-BE49-F238E27FC236}">
                <a16:creationId xmlns:a16="http://schemas.microsoft.com/office/drawing/2014/main" id="{7EED960D-48DD-4145-8A69-F19047F02F69}"/>
              </a:ext>
            </a:extLst>
          </p:cNvPr>
          <p:cNvPicPr>
            <a:picLocks noChangeAspect="1"/>
          </p:cNvPicPr>
          <p:nvPr/>
        </p:nvPicPr>
        <p:blipFill>
          <a:blip r:embed="rId5"/>
          <a:stretch>
            <a:fillRect/>
          </a:stretch>
        </p:blipFill>
        <p:spPr>
          <a:xfrm>
            <a:off x="2011132" y="3071774"/>
            <a:ext cx="1781175" cy="504825"/>
          </a:xfrm>
          <a:prstGeom prst="rect">
            <a:avLst/>
          </a:prstGeom>
        </p:spPr>
      </p:pic>
      <p:pic>
        <p:nvPicPr>
          <p:cNvPr id="56" name="图片 55">
            <a:extLst>
              <a:ext uri="{FF2B5EF4-FFF2-40B4-BE49-F238E27FC236}">
                <a16:creationId xmlns:a16="http://schemas.microsoft.com/office/drawing/2014/main" id="{3AC9F0CB-559C-4D0E-A923-A82B3E3A90C7}"/>
              </a:ext>
            </a:extLst>
          </p:cNvPr>
          <p:cNvPicPr>
            <a:picLocks noChangeAspect="1"/>
          </p:cNvPicPr>
          <p:nvPr/>
        </p:nvPicPr>
        <p:blipFill>
          <a:blip r:embed="rId6"/>
          <a:stretch>
            <a:fillRect/>
          </a:stretch>
        </p:blipFill>
        <p:spPr>
          <a:xfrm>
            <a:off x="1076468" y="3251308"/>
            <a:ext cx="847725" cy="314325"/>
          </a:xfrm>
          <a:prstGeom prst="rect">
            <a:avLst/>
          </a:prstGeom>
        </p:spPr>
      </p:pic>
      <p:pic>
        <p:nvPicPr>
          <p:cNvPr id="57" name="图片 56">
            <a:extLst>
              <a:ext uri="{FF2B5EF4-FFF2-40B4-BE49-F238E27FC236}">
                <a16:creationId xmlns:a16="http://schemas.microsoft.com/office/drawing/2014/main" id="{F523190B-AB08-40F2-A0A0-9FE802DFAA63}"/>
              </a:ext>
            </a:extLst>
          </p:cNvPr>
          <p:cNvPicPr>
            <a:picLocks noChangeAspect="1"/>
          </p:cNvPicPr>
          <p:nvPr/>
        </p:nvPicPr>
        <p:blipFill>
          <a:blip r:embed="rId7"/>
          <a:stretch>
            <a:fillRect/>
          </a:stretch>
        </p:blipFill>
        <p:spPr>
          <a:xfrm>
            <a:off x="3964159" y="3237556"/>
            <a:ext cx="2173049" cy="341828"/>
          </a:xfrm>
          <a:prstGeom prst="rect">
            <a:avLst/>
          </a:prstGeom>
        </p:spPr>
      </p:pic>
      <p:pic>
        <p:nvPicPr>
          <p:cNvPr id="58" name="图片 57">
            <a:extLst>
              <a:ext uri="{FF2B5EF4-FFF2-40B4-BE49-F238E27FC236}">
                <a16:creationId xmlns:a16="http://schemas.microsoft.com/office/drawing/2014/main" id="{B92F7845-FF2A-441F-AF1C-BE77BFD456D0}"/>
              </a:ext>
            </a:extLst>
          </p:cNvPr>
          <p:cNvPicPr>
            <a:picLocks noChangeAspect="1"/>
          </p:cNvPicPr>
          <p:nvPr/>
        </p:nvPicPr>
        <p:blipFill>
          <a:blip r:embed="rId8"/>
          <a:stretch>
            <a:fillRect/>
          </a:stretch>
        </p:blipFill>
        <p:spPr>
          <a:xfrm>
            <a:off x="6250695" y="3179871"/>
            <a:ext cx="2042760" cy="462761"/>
          </a:xfrm>
          <a:prstGeom prst="rect">
            <a:avLst/>
          </a:prstGeom>
        </p:spPr>
      </p:pic>
      <p:pic>
        <p:nvPicPr>
          <p:cNvPr id="59" name="图片 58">
            <a:extLst>
              <a:ext uri="{FF2B5EF4-FFF2-40B4-BE49-F238E27FC236}">
                <a16:creationId xmlns:a16="http://schemas.microsoft.com/office/drawing/2014/main" id="{2EC2D373-DD9B-439A-9624-DBD72C238EAA}"/>
              </a:ext>
            </a:extLst>
          </p:cNvPr>
          <p:cNvPicPr>
            <a:picLocks noChangeAspect="1"/>
          </p:cNvPicPr>
          <p:nvPr/>
        </p:nvPicPr>
        <p:blipFill>
          <a:blip r:embed="rId9"/>
          <a:stretch>
            <a:fillRect/>
          </a:stretch>
        </p:blipFill>
        <p:spPr>
          <a:xfrm>
            <a:off x="8678731" y="3260832"/>
            <a:ext cx="1485900" cy="295275"/>
          </a:xfrm>
          <a:prstGeom prst="rect">
            <a:avLst/>
          </a:prstGeom>
        </p:spPr>
      </p:pic>
      <p:pic>
        <p:nvPicPr>
          <p:cNvPr id="60" name="图片 59">
            <a:extLst>
              <a:ext uri="{FF2B5EF4-FFF2-40B4-BE49-F238E27FC236}">
                <a16:creationId xmlns:a16="http://schemas.microsoft.com/office/drawing/2014/main" id="{BA989BA8-09C7-4E53-966B-D1428EC629AE}"/>
              </a:ext>
            </a:extLst>
          </p:cNvPr>
          <p:cNvPicPr>
            <a:picLocks noChangeAspect="1"/>
          </p:cNvPicPr>
          <p:nvPr/>
        </p:nvPicPr>
        <p:blipFill>
          <a:blip r:embed="rId10"/>
          <a:stretch>
            <a:fillRect/>
          </a:stretch>
        </p:blipFill>
        <p:spPr>
          <a:xfrm>
            <a:off x="306784" y="3517195"/>
            <a:ext cx="2340718" cy="561131"/>
          </a:xfrm>
          <a:prstGeom prst="rect">
            <a:avLst/>
          </a:prstGeom>
        </p:spPr>
      </p:pic>
      <p:pic>
        <p:nvPicPr>
          <p:cNvPr id="61" name="图片 60">
            <a:extLst>
              <a:ext uri="{FF2B5EF4-FFF2-40B4-BE49-F238E27FC236}">
                <a16:creationId xmlns:a16="http://schemas.microsoft.com/office/drawing/2014/main" id="{2BE36FCD-6C25-4766-A572-598D68F2E739}"/>
              </a:ext>
            </a:extLst>
          </p:cNvPr>
          <p:cNvPicPr>
            <a:picLocks noChangeAspect="1"/>
          </p:cNvPicPr>
          <p:nvPr/>
        </p:nvPicPr>
        <p:blipFill>
          <a:blip r:embed="rId11"/>
          <a:stretch>
            <a:fillRect/>
          </a:stretch>
        </p:blipFill>
        <p:spPr>
          <a:xfrm>
            <a:off x="2793500" y="3556970"/>
            <a:ext cx="3285340" cy="391249"/>
          </a:xfrm>
          <a:prstGeom prst="rect">
            <a:avLst/>
          </a:prstGeom>
        </p:spPr>
      </p:pic>
      <p:sp>
        <p:nvSpPr>
          <p:cNvPr id="62" name="文本框 61">
            <a:extLst>
              <a:ext uri="{FF2B5EF4-FFF2-40B4-BE49-F238E27FC236}">
                <a16:creationId xmlns:a16="http://schemas.microsoft.com/office/drawing/2014/main" id="{88CB1936-4615-4E34-AE25-EEA1CE14C048}"/>
              </a:ext>
            </a:extLst>
          </p:cNvPr>
          <p:cNvSpPr txBox="1"/>
          <p:nvPr/>
        </p:nvSpPr>
        <p:spPr>
          <a:xfrm>
            <a:off x="208167" y="2120499"/>
            <a:ext cx="595035" cy="369332"/>
          </a:xfrm>
          <a:prstGeom prst="rect">
            <a:avLst/>
          </a:prstGeom>
          <a:noFill/>
        </p:spPr>
        <p:txBody>
          <a:bodyPr wrap="none" rtlCol="0">
            <a:spAutoFit/>
          </a:bodyPr>
          <a:lstStyle/>
          <a:p>
            <a:pPr marL="342900" indent="-342900">
              <a:buFont typeface="Wingdings" panose="05000000000000000000" pitchFamily="2" charset="2"/>
              <a:buChar char="Ø"/>
            </a:pPr>
            <a:r>
              <a:rPr lang="en-US" altLang="zh-CN" dirty="0"/>
              <a:t> </a:t>
            </a:r>
            <a:endParaRPr lang="zh-CN" altLang="en-US" dirty="0"/>
          </a:p>
        </p:txBody>
      </p:sp>
      <p:sp>
        <p:nvSpPr>
          <p:cNvPr id="64" name="文本框 63">
            <a:extLst>
              <a:ext uri="{FF2B5EF4-FFF2-40B4-BE49-F238E27FC236}">
                <a16:creationId xmlns:a16="http://schemas.microsoft.com/office/drawing/2014/main" id="{E460834F-EFB1-4B28-92B3-A667F3CB2CD5}"/>
              </a:ext>
            </a:extLst>
          </p:cNvPr>
          <p:cNvSpPr txBox="1"/>
          <p:nvPr/>
        </p:nvSpPr>
        <p:spPr>
          <a:xfrm>
            <a:off x="6004033" y="3578887"/>
            <a:ext cx="1793159" cy="369332"/>
          </a:xfrm>
          <a:prstGeom prst="rect">
            <a:avLst/>
          </a:prstGeom>
          <a:noFill/>
        </p:spPr>
        <p:txBody>
          <a:bodyPr wrap="square" rtlCol="0">
            <a:spAutoFit/>
          </a:bodyPr>
          <a:lstStyle/>
          <a:p>
            <a:r>
              <a:rPr lang="en-US" altLang="zh-CN" dirty="0"/>
              <a:t>, </a:t>
            </a:r>
            <a:endParaRPr lang="zh-CN" altLang="en-US" dirty="0"/>
          </a:p>
        </p:txBody>
      </p:sp>
      <p:pic>
        <p:nvPicPr>
          <p:cNvPr id="65" name="图片 64">
            <a:extLst>
              <a:ext uri="{FF2B5EF4-FFF2-40B4-BE49-F238E27FC236}">
                <a16:creationId xmlns:a16="http://schemas.microsoft.com/office/drawing/2014/main" id="{FDA86BAC-1E42-4F32-AC40-A3AE39D12F5B}"/>
              </a:ext>
            </a:extLst>
          </p:cNvPr>
          <p:cNvPicPr>
            <a:picLocks noChangeAspect="1"/>
          </p:cNvPicPr>
          <p:nvPr/>
        </p:nvPicPr>
        <p:blipFill>
          <a:blip r:embed="rId12"/>
          <a:stretch>
            <a:fillRect/>
          </a:stretch>
        </p:blipFill>
        <p:spPr>
          <a:xfrm>
            <a:off x="6196256" y="3629558"/>
            <a:ext cx="1219200" cy="285750"/>
          </a:xfrm>
          <a:prstGeom prst="rect">
            <a:avLst/>
          </a:prstGeom>
        </p:spPr>
      </p:pic>
      <p:sp>
        <p:nvSpPr>
          <p:cNvPr id="67" name="文本框 66">
            <a:extLst>
              <a:ext uri="{FF2B5EF4-FFF2-40B4-BE49-F238E27FC236}">
                <a16:creationId xmlns:a16="http://schemas.microsoft.com/office/drawing/2014/main" id="{8C037207-6C66-454A-8E03-DDCB4B07E9E2}"/>
              </a:ext>
            </a:extLst>
          </p:cNvPr>
          <p:cNvSpPr txBox="1"/>
          <p:nvPr/>
        </p:nvSpPr>
        <p:spPr>
          <a:xfrm>
            <a:off x="5563402" y="2101225"/>
            <a:ext cx="595035" cy="369332"/>
          </a:xfrm>
          <a:prstGeom prst="rect">
            <a:avLst/>
          </a:prstGeom>
          <a:noFill/>
        </p:spPr>
        <p:txBody>
          <a:bodyPr wrap="none" rtlCol="0">
            <a:spAutoFit/>
          </a:bodyPr>
          <a:lstStyle/>
          <a:p>
            <a:pPr marL="342900" indent="-342900">
              <a:buFont typeface="Wingdings" panose="05000000000000000000" pitchFamily="2" charset="2"/>
              <a:buChar char="Ø"/>
            </a:pPr>
            <a:r>
              <a:rPr lang="en-US" altLang="zh-CN" dirty="0"/>
              <a:t> </a:t>
            </a:r>
            <a:endParaRPr lang="zh-CN" altLang="en-US" dirty="0"/>
          </a:p>
        </p:txBody>
      </p:sp>
      <p:pic>
        <p:nvPicPr>
          <p:cNvPr id="68" name="图片 67">
            <a:extLst>
              <a:ext uri="{FF2B5EF4-FFF2-40B4-BE49-F238E27FC236}">
                <a16:creationId xmlns:a16="http://schemas.microsoft.com/office/drawing/2014/main" id="{B6FBBC98-BE61-40C4-8F8D-017B71B93573}"/>
              </a:ext>
            </a:extLst>
          </p:cNvPr>
          <p:cNvPicPr>
            <a:picLocks noChangeAspect="1"/>
          </p:cNvPicPr>
          <p:nvPr/>
        </p:nvPicPr>
        <p:blipFill>
          <a:blip r:embed="rId13"/>
          <a:stretch>
            <a:fillRect/>
          </a:stretch>
        </p:blipFill>
        <p:spPr>
          <a:xfrm>
            <a:off x="505684" y="4371460"/>
            <a:ext cx="4895952" cy="593449"/>
          </a:xfrm>
          <a:prstGeom prst="rect">
            <a:avLst/>
          </a:prstGeom>
        </p:spPr>
      </p:pic>
      <p:sp>
        <p:nvSpPr>
          <p:cNvPr id="4" name="矩形 3">
            <a:extLst>
              <a:ext uri="{FF2B5EF4-FFF2-40B4-BE49-F238E27FC236}">
                <a16:creationId xmlns:a16="http://schemas.microsoft.com/office/drawing/2014/main" id="{D4EC3656-5005-4DC2-84F2-85CF23676936}"/>
              </a:ext>
            </a:extLst>
          </p:cNvPr>
          <p:cNvSpPr/>
          <p:nvPr/>
        </p:nvSpPr>
        <p:spPr>
          <a:xfrm>
            <a:off x="208167" y="4479718"/>
            <a:ext cx="595035" cy="369332"/>
          </a:xfrm>
          <a:prstGeom prst="rect">
            <a:avLst/>
          </a:prstGeom>
        </p:spPr>
        <p:txBody>
          <a:bodyPr wrap="none">
            <a:spAutoFit/>
          </a:bodyPr>
          <a:lstStyle/>
          <a:p>
            <a:pPr marL="342900" indent="-342900">
              <a:buFont typeface="Wingdings" panose="05000000000000000000" pitchFamily="2" charset="2"/>
              <a:buChar char="Ø"/>
            </a:pPr>
            <a:r>
              <a:rPr lang="en-US" altLang="zh-CN" dirty="0"/>
              <a:t> </a:t>
            </a:r>
            <a:endParaRPr lang="zh-CN" altLang="en-US" dirty="0"/>
          </a:p>
        </p:txBody>
      </p:sp>
      <p:pic>
        <p:nvPicPr>
          <p:cNvPr id="69" name="图片 68">
            <a:extLst>
              <a:ext uri="{FF2B5EF4-FFF2-40B4-BE49-F238E27FC236}">
                <a16:creationId xmlns:a16="http://schemas.microsoft.com/office/drawing/2014/main" id="{84D3AACB-F7F8-4E0D-B1BD-7A3A4318F696}"/>
              </a:ext>
            </a:extLst>
          </p:cNvPr>
          <p:cNvPicPr>
            <a:picLocks noChangeAspect="1"/>
          </p:cNvPicPr>
          <p:nvPr/>
        </p:nvPicPr>
        <p:blipFill>
          <a:blip r:embed="rId14"/>
          <a:stretch>
            <a:fillRect/>
          </a:stretch>
        </p:blipFill>
        <p:spPr>
          <a:xfrm>
            <a:off x="505684" y="5322094"/>
            <a:ext cx="4505116" cy="579560"/>
          </a:xfrm>
          <a:prstGeom prst="rect">
            <a:avLst/>
          </a:prstGeom>
        </p:spPr>
      </p:pic>
      <p:pic>
        <p:nvPicPr>
          <p:cNvPr id="70" name="图片 69">
            <a:extLst>
              <a:ext uri="{FF2B5EF4-FFF2-40B4-BE49-F238E27FC236}">
                <a16:creationId xmlns:a16="http://schemas.microsoft.com/office/drawing/2014/main" id="{854DA55E-BE94-4AF9-9411-6D57FABFFB48}"/>
              </a:ext>
            </a:extLst>
          </p:cNvPr>
          <p:cNvPicPr>
            <a:picLocks noChangeAspect="1"/>
          </p:cNvPicPr>
          <p:nvPr/>
        </p:nvPicPr>
        <p:blipFill>
          <a:blip r:embed="rId15"/>
          <a:stretch>
            <a:fillRect/>
          </a:stretch>
        </p:blipFill>
        <p:spPr>
          <a:xfrm>
            <a:off x="5863246" y="5337334"/>
            <a:ext cx="4247746" cy="549080"/>
          </a:xfrm>
          <a:prstGeom prst="rect">
            <a:avLst/>
          </a:prstGeom>
        </p:spPr>
      </p:pic>
      <p:sp>
        <p:nvSpPr>
          <p:cNvPr id="71" name="矩形 70">
            <a:extLst>
              <a:ext uri="{FF2B5EF4-FFF2-40B4-BE49-F238E27FC236}">
                <a16:creationId xmlns:a16="http://schemas.microsoft.com/office/drawing/2014/main" id="{3D09D19D-47D1-4107-824A-C7F17E78AE03}"/>
              </a:ext>
            </a:extLst>
          </p:cNvPr>
          <p:cNvSpPr/>
          <p:nvPr/>
        </p:nvSpPr>
        <p:spPr>
          <a:xfrm>
            <a:off x="208167" y="5355561"/>
            <a:ext cx="595035" cy="369332"/>
          </a:xfrm>
          <a:prstGeom prst="rect">
            <a:avLst/>
          </a:prstGeom>
        </p:spPr>
        <p:txBody>
          <a:bodyPr wrap="none">
            <a:spAutoFit/>
          </a:bodyPr>
          <a:lstStyle/>
          <a:p>
            <a:pPr marL="342900" indent="-342900">
              <a:buFont typeface="Wingdings" panose="05000000000000000000" pitchFamily="2" charset="2"/>
              <a:buChar char="Ø"/>
            </a:pPr>
            <a:r>
              <a:rPr lang="en-US" altLang="zh-CN" dirty="0"/>
              <a:t> </a:t>
            </a:r>
            <a:endParaRPr lang="zh-CN" altLang="en-US" dirty="0"/>
          </a:p>
        </p:txBody>
      </p:sp>
      <p:sp>
        <p:nvSpPr>
          <p:cNvPr id="72" name="矩形 71">
            <a:extLst>
              <a:ext uri="{FF2B5EF4-FFF2-40B4-BE49-F238E27FC236}">
                <a16:creationId xmlns:a16="http://schemas.microsoft.com/office/drawing/2014/main" id="{ED52053D-CB66-4105-8A1C-841A50C416CA}"/>
              </a:ext>
            </a:extLst>
          </p:cNvPr>
          <p:cNvSpPr/>
          <p:nvPr/>
        </p:nvSpPr>
        <p:spPr>
          <a:xfrm>
            <a:off x="5563402" y="5355927"/>
            <a:ext cx="595035" cy="369332"/>
          </a:xfrm>
          <a:prstGeom prst="rect">
            <a:avLst/>
          </a:prstGeom>
        </p:spPr>
        <p:txBody>
          <a:bodyPr wrap="none">
            <a:spAutoFit/>
          </a:bodyPr>
          <a:lstStyle/>
          <a:p>
            <a:pPr marL="342900" indent="-342900">
              <a:buFont typeface="Wingdings" panose="05000000000000000000" pitchFamily="2" charset="2"/>
              <a:buChar char="Ø"/>
            </a:pPr>
            <a:r>
              <a:rPr lang="en-US" altLang="zh-CN" dirty="0"/>
              <a:t> </a:t>
            </a:r>
            <a:endParaRPr lang="zh-CN" altLang="en-US" dirty="0"/>
          </a:p>
        </p:txBody>
      </p:sp>
      <p:pic>
        <p:nvPicPr>
          <p:cNvPr id="73" name="图片 72">
            <a:extLst>
              <a:ext uri="{FF2B5EF4-FFF2-40B4-BE49-F238E27FC236}">
                <a16:creationId xmlns:a16="http://schemas.microsoft.com/office/drawing/2014/main" id="{61F2D746-D10C-41FD-BEE0-6BA450AD4998}"/>
              </a:ext>
            </a:extLst>
          </p:cNvPr>
          <p:cNvPicPr>
            <a:picLocks noChangeAspect="1"/>
          </p:cNvPicPr>
          <p:nvPr/>
        </p:nvPicPr>
        <p:blipFill>
          <a:blip r:embed="rId16"/>
          <a:stretch>
            <a:fillRect/>
          </a:stretch>
        </p:blipFill>
        <p:spPr>
          <a:xfrm>
            <a:off x="1729119" y="5912045"/>
            <a:ext cx="997895" cy="346044"/>
          </a:xfrm>
          <a:prstGeom prst="rect">
            <a:avLst/>
          </a:prstGeom>
        </p:spPr>
      </p:pic>
      <p:pic>
        <p:nvPicPr>
          <p:cNvPr id="74" name="图片 73">
            <a:extLst>
              <a:ext uri="{FF2B5EF4-FFF2-40B4-BE49-F238E27FC236}">
                <a16:creationId xmlns:a16="http://schemas.microsoft.com/office/drawing/2014/main" id="{4F497232-A712-4D80-98E8-89EAB598CD0D}"/>
              </a:ext>
            </a:extLst>
          </p:cNvPr>
          <p:cNvPicPr>
            <a:picLocks noChangeAspect="1"/>
          </p:cNvPicPr>
          <p:nvPr/>
        </p:nvPicPr>
        <p:blipFill>
          <a:blip r:embed="rId17"/>
          <a:stretch>
            <a:fillRect/>
          </a:stretch>
        </p:blipFill>
        <p:spPr>
          <a:xfrm>
            <a:off x="3052548" y="5921035"/>
            <a:ext cx="572404" cy="278252"/>
          </a:xfrm>
          <a:prstGeom prst="rect">
            <a:avLst/>
          </a:prstGeom>
        </p:spPr>
      </p:pic>
      <p:pic>
        <p:nvPicPr>
          <p:cNvPr id="75" name="图片 74">
            <a:extLst>
              <a:ext uri="{FF2B5EF4-FFF2-40B4-BE49-F238E27FC236}">
                <a16:creationId xmlns:a16="http://schemas.microsoft.com/office/drawing/2014/main" id="{7D26CCB5-9810-4F0D-9F00-F4F60D124531}"/>
              </a:ext>
            </a:extLst>
          </p:cNvPr>
          <p:cNvPicPr>
            <a:picLocks noChangeAspect="1"/>
          </p:cNvPicPr>
          <p:nvPr/>
        </p:nvPicPr>
        <p:blipFill>
          <a:blip r:embed="rId18"/>
          <a:stretch>
            <a:fillRect/>
          </a:stretch>
        </p:blipFill>
        <p:spPr>
          <a:xfrm>
            <a:off x="505684" y="6261910"/>
            <a:ext cx="1418509" cy="453338"/>
          </a:xfrm>
          <a:prstGeom prst="rect">
            <a:avLst/>
          </a:prstGeom>
        </p:spPr>
      </p:pic>
      <p:pic>
        <p:nvPicPr>
          <p:cNvPr id="76" name="图片 75">
            <a:extLst>
              <a:ext uri="{FF2B5EF4-FFF2-40B4-BE49-F238E27FC236}">
                <a16:creationId xmlns:a16="http://schemas.microsoft.com/office/drawing/2014/main" id="{F1CB5784-2DC6-4471-AA28-C3BC8A871693}"/>
              </a:ext>
            </a:extLst>
          </p:cNvPr>
          <p:cNvPicPr>
            <a:picLocks noChangeAspect="1"/>
          </p:cNvPicPr>
          <p:nvPr/>
        </p:nvPicPr>
        <p:blipFill>
          <a:blip r:embed="rId19"/>
          <a:stretch>
            <a:fillRect/>
          </a:stretch>
        </p:blipFill>
        <p:spPr>
          <a:xfrm>
            <a:off x="5921980" y="6272135"/>
            <a:ext cx="1474622" cy="443113"/>
          </a:xfrm>
          <a:prstGeom prst="rect">
            <a:avLst/>
          </a:prstGeom>
        </p:spPr>
      </p:pic>
      <p:sp>
        <p:nvSpPr>
          <p:cNvPr id="77" name="矩形 76">
            <a:extLst>
              <a:ext uri="{FF2B5EF4-FFF2-40B4-BE49-F238E27FC236}">
                <a16:creationId xmlns:a16="http://schemas.microsoft.com/office/drawing/2014/main" id="{63AE8D90-1F3F-428C-AB48-D3211FA454BF}"/>
              </a:ext>
            </a:extLst>
          </p:cNvPr>
          <p:cNvSpPr/>
          <p:nvPr/>
        </p:nvSpPr>
        <p:spPr>
          <a:xfrm>
            <a:off x="208167" y="6301709"/>
            <a:ext cx="595035" cy="369332"/>
          </a:xfrm>
          <a:prstGeom prst="rect">
            <a:avLst/>
          </a:prstGeom>
        </p:spPr>
        <p:txBody>
          <a:bodyPr wrap="none">
            <a:spAutoFit/>
          </a:bodyPr>
          <a:lstStyle/>
          <a:p>
            <a:pPr marL="342900" indent="-342900">
              <a:buFont typeface="Wingdings" panose="05000000000000000000" pitchFamily="2" charset="2"/>
              <a:buChar char="Ø"/>
            </a:pPr>
            <a:r>
              <a:rPr lang="en-US" altLang="zh-CN" dirty="0"/>
              <a:t> </a:t>
            </a:r>
            <a:endParaRPr lang="zh-CN" altLang="en-US" dirty="0"/>
          </a:p>
        </p:txBody>
      </p:sp>
      <p:sp>
        <p:nvSpPr>
          <p:cNvPr id="5" name="矩形 4">
            <a:extLst>
              <a:ext uri="{FF2B5EF4-FFF2-40B4-BE49-F238E27FC236}">
                <a16:creationId xmlns:a16="http://schemas.microsoft.com/office/drawing/2014/main" id="{EE9C3E3C-0E66-4370-8717-2262D15D02B6}"/>
              </a:ext>
            </a:extLst>
          </p:cNvPr>
          <p:cNvSpPr/>
          <p:nvPr/>
        </p:nvSpPr>
        <p:spPr>
          <a:xfrm>
            <a:off x="5563402" y="6302262"/>
            <a:ext cx="595035" cy="369332"/>
          </a:xfrm>
          <a:prstGeom prst="rect">
            <a:avLst/>
          </a:prstGeom>
        </p:spPr>
        <p:txBody>
          <a:bodyPr wrap="none">
            <a:spAutoFit/>
          </a:bodyPr>
          <a:lstStyle/>
          <a:p>
            <a:pPr marL="342900" indent="-342900">
              <a:buFont typeface="Wingdings" panose="05000000000000000000" pitchFamily="2" charset="2"/>
              <a:buChar char="Ø"/>
            </a:pPr>
            <a:r>
              <a:rPr lang="en-US" altLang="zh-CN" dirty="0"/>
              <a:t> </a:t>
            </a:r>
            <a:endParaRPr lang="zh-CN" altLang="en-US" dirty="0"/>
          </a:p>
        </p:txBody>
      </p:sp>
      <p:sp>
        <p:nvSpPr>
          <p:cNvPr id="3" name="灯片编号占位符 2">
            <a:extLst>
              <a:ext uri="{FF2B5EF4-FFF2-40B4-BE49-F238E27FC236}">
                <a16:creationId xmlns:a16="http://schemas.microsoft.com/office/drawing/2014/main" id="{1B328CE2-EF05-4947-BCD2-4798A4FB7DB6}"/>
              </a:ext>
            </a:extLst>
          </p:cNvPr>
          <p:cNvSpPr>
            <a:spLocks noGrp="1"/>
          </p:cNvSpPr>
          <p:nvPr>
            <p:ph type="sldNum" sz="quarter" idx="12"/>
          </p:nvPr>
        </p:nvSpPr>
        <p:spPr/>
        <p:txBody>
          <a:bodyPr/>
          <a:lstStyle/>
          <a:p>
            <a:fld id="{B125EA80-F692-46D2-AFCC-CA48803B46EF}" type="slidenum">
              <a:rPr lang="zh-CN" altLang="en-US" smtClean="0"/>
              <a:t>14</a:t>
            </a:fld>
            <a:endParaRPr lang="zh-CN" altLang="en-US" dirty="0"/>
          </a:p>
        </p:txBody>
      </p:sp>
    </p:spTree>
    <p:extLst>
      <p:ext uri="{BB962C8B-B14F-4D97-AF65-F5344CB8AC3E}">
        <p14:creationId xmlns:p14="http://schemas.microsoft.com/office/powerpoint/2010/main" val="389782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marL="0" marR="0" lvl="0" indent="0" algn="l" defTabSz="457200" rtl="0" eaLnBrk="1" fontAlgn="auto" latinLnBrk="0" hangingPunct="1">
              <a:lnSpc>
                <a:spcPts val="44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 3. </a:t>
            </a:r>
            <a:r>
              <a:rPr kumimoji="0" lang="zh-CN" altLang="en-US" sz="2800" b="1" i="0" u="none" strike="noStrike" kern="1200" cap="none" spc="0" normalizeH="0" baseline="0" noProof="0" dirty="0">
                <a:ln>
                  <a:noFill/>
                </a:ln>
                <a:solidFill>
                  <a:prstClr val="white"/>
                </a:solidFill>
                <a:effectLst/>
                <a:uLnTx/>
                <a:uFillTx/>
                <a:latin typeface="Arial"/>
                <a:ea typeface="微软雅黑"/>
                <a:cs typeface="+mn-cs"/>
              </a:rPr>
              <a:t>基于无线接入点的编码分布式矩阵</a:t>
            </a: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a:t>
            </a:r>
            <a:r>
              <a:rPr kumimoji="0" lang="zh-CN" altLang="en-US" sz="2800" b="1" i="0" u="none" strike="noStrike" kern="1200" cap="none" spc="0" normalizeH="0" baseline="0" noProof="0" dirty="0">
                <a:ln>
                  <a:noFill/>
                </a:ln>
                <a:solidFill>
                  <a:prstClr val="white"/>
                </a:solidFill>
                <a:effectLst/>
                <a:uLnTx/>
                <a:uFillTx/>
                <a:latin typeface="Arial"/>
                <a:ea typeface="微软雅黑"/>
                <a:cs typeface="+mn-cs"/>
              </a:rPr>
              <a:t>矩阵乘法运算框架（数值仿真）</a:t>
            </a:r>
            <a:endParaRPr kumimoji="0" lang="en-US" altLang="zh-CN" sz="2800" b="1" i="0" u="none" strike="noStrike" kern="1200" cap="none" spc="0" normalizeH="0" baseline="0" noProof="0" dirty="0">
              <a:ln>
                <a:noFill/>
              </a:ln>
              <a:solidFill>
                <a:prstClr val="white"/>
              </a:solidFill>
              <a:effectLst/>
              <a:uLnTx/>
              <a:uFillTx/>
              <a:latin typeface="Arial"/>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0" normalizeH="0" baseline="0" noProof="0" dirty="0">
              <a:ln>
                <a:noFill/>
              </a:ln>
              <a:solidFill>
                <a:prstClr val="white"/>
              </a:solidFill>
              <a:effectLst/>
              <a:uLnTx/>
              <a:uFillTx/>
              <a:latin typeface="Arial"/>
              <a:ea typeface="微软雅黑"/>
              <a:cs typeface="+mn-cs"/>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55448" y="832104"/>
            <a:ext cx="11868912" cy="683520"/>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000" b="1" dirty="0">
                <a:solidFill>
                  <a:prstClr val="black"/>
                </a:solidFill>
                <a:latin typeface="Arial"/>
                <a:ea typeface="微软雅黑"/>
              </a:rPr>
              <a:t>数值仿真</a:t>
            </a:r>
            <a:endParaRPr kumimoji="0" lang="en-US" altLang="zh-CN" sz="1800" b="0" i="0" u="none" strike="noStrike" kern="1200" cap="none" spc="0" normalizeH="0" baseline="0" noProof="0" dirty="0">
              <a:ln>
                <a:noFill/>
              </a:ln>
              <a:solidFill>
                <a:prstClr val="black"/>
              </a:solidFill>
              <a:effectLst/>
              <a:uLnTx/>
              <a:uFillTx/>
              <a:latin typeface="Arial"/>
              <a:ea typeface="微软雅黑"/>
              <a:cs typeface="+mn-cs"/>
            </a:endParaRPr>
          </a:p>
          <a:p>
            <a:pPr marL="74250" marR="0" lvl="1" indent="0" algn="l" defTabSz="457200" rtl="0" eaLnBrk="1" fontAlgn="auto" latinLnBrk="0" hangingPunct="1">
              <a:lnSpc>
                <a:spcPts val="24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Arial"/>
              <a:ea typeface="微软雅黑"/>
              <a:cs typeface="+mn-cs"/>
            </a:endParaRPr>
          </a:p>
        </p:txBody>
      </p:sp>
      <p:pic>
        <p:nvPicPr>
          <p:cNvPr id="55" name="图片 54">
            <a:extLst>
              <a:ext uri="{FF2B5EF4-FFF2-40B4-BE49-F238E27FC236}">
                <a16:creationId xmlns:a16="http://schemas.microsoft.com/office/drawing/2014/main" id="{4F5DDE46-CFE9-4554-8057-EBD14C3AD216}"/>
              </a:ext>
            </a:extLst>
          </p:cNvPr>
          <p:cNvPicPr>
            <a:picLocks noChangeAspect="1"/>
          </p:cNvPicPr>
          <p:nvPr/>
        </p:nvPicPr>
        <p:blipFill>
          <a:blip r:embed="rId3"/>
          <a:stretch>
            <a:fillRect/>
          </a:stretch>
        </p:blipFill>
        <p:spPr>
          <a:xfrm>
            <a:off x="575026" y="1333556"/>
            <a:ext cx="1904409" cy="267748"/>
          </a:xfrm>
          <a:prstGeom prst="rect">
            <a:avLst/>
          </a:prstGeom>
        </p:spPr>
      </p:pic>
      <p:pic>
        <p:nvPicPr>
          <p:cNvPr id="56" name="图片 55">
            <a:extLst>
              <a:ext uri="{FF2B5EF4-FFF2-40B4-BE49-F238E27FC236}">
                <a16:creationId xmlns:a16="http://schemas.microsoft.com/office/drawing/2014/main" id="{7A48AEC5-5943-4A16-BF89-42DD6CB0D4FB}"/>
              </a:ext>
            </a:extLst>
          </p:cNvPr>
          <p:cNvPicPr>
            <a:picLocks noChangeAspect="1"/>
          </p:cNvPicPr>
          <p:nvPr/>
        </p:nvPicPr>
        <p:blipFill>
          <a:blip r:embed="rId4"/>
          <a:stretch>
            <a:fillRect/>
          </a:stretch>
        </p:blipFill>
        <p:spPr>
          <a:xfrm>
            <a:off x="2514104" y="1290508"/>
            <a:ext cx="699508" cy="336800"/>
          </a:xfrm>
          <a:prstGeom prst="rect">
            <a:avLst/>
          </a:prstGeom>
        </p:spPr>
      </p:pic>
      <p:pic>
        <p:nvPicPr>
          <p:cNvPr id="57" name="图片 56">
            <a:extLst>
              <a:ext uri="{FF2B5EF4-FFF2-40B4-BE49-F238E27FC236}">
                <a16:creationId xmlns:a16="http://schemas.microsoft.com/office/drawing/2014/main" id="{3981CB31-334B-4685-9281-52939B53C085}"/>
              </a:ext>
            </a:extLst>
          </p:cNvPr>
          <p:cNvPicPr>
            <a:picLocks noChangeAspect="1"/>
          </p:cNvPicPr>
          <p:nvPr/>
        </p:nvPicPr>
        <p:blipFill>
          <a:blip r:embed="rId5"/>
          <a:stretch>
            <a:fillRect/>
          </a:stretch>
        </p:blipFill>
        <p:spPr>
          <a:xfrm>
            <a:off x="3272724" y="1333556"/>
            <a:ext cx="2751164" cy="250106"/>
          </a:xfrm>
          <a:prstGeom prst="rect">
            <a:avLst/>
          </a:prstGeom>
        </p:spPr>
      </p:pic>
      <p:sp>
        <p:nvSpPr>
          <p:cNvPr id="3" name="矩形 2">
            <a:extLst>
              <a:ext uri="{FF2B5EF4-FFF2-40B4-BE49-F238E27FC236}">
                <a16:creationId xmlns:a16="http://schemas.microsoft.com/office/drawing/2014/main" id="{B2D394EB-C765-4E6A-9BD9-4A394300EAC4}"/>
              </a:ext>
            </a:extLst>
          </p:cNvPr>
          <p:cNvSpPr/>
          <p:nvPr/>
        </p:nvSpPr>
        <p:spPr>
          <a:xfrm>
            <a:off x="277508" y="1273943"/>
            <a:ext cx="595035" cy="369332"/>
          </a:xfrm>
          <a:prstGeom prst="rect">
            <a:avLst/>
          </a:prstGeom>
        </p:spPr>
        <p:txBody>
          <a:bodyPr wrap="none">
            <a:spAutoFit/>
          </a:bodyPr>
          <a:lstStyle/>
          <a:p>
            <a:pPr marL="342900" indent="-342900">
              <a:buFont typeface="Wingdings" panose="05000000000000000000" pitchFamily="2" charset="2"/>
              <a:buChar char="Ø"/>
            </a:pPr>
            <a:r>
              <a:rPr lang="en-US" altLang="zh-CN" dirty="0"/>
              <a:t> </a:t>
            </a:r>
            <a:endParaRPr lang="zh-CN" altLang="en-US" dirty="0"/>
          </a:p>
        </p:txBody>
      </p:sp>
      <p:pic>
        <p:nvPicPr>
          <p:cNvPr id="58" name="图片 57">
            <a:extLst>
              <a:ext uri="{FF2B5EF4-FFF2-40B4-BE49-F238E27FC236}">
                <a16:creationId xmlns:a16="http://schemas.microsoft.com/office/drawing/2014/main" id="{39A465F8-31D0-46F2-9A4D-61A1877D8625}"/>
              </a:ext>
            </a:extLst>
          </p:cNvPr>
          <p:cNvPicPr>
            <a:picLocks noChangeAspect="1"/>
          </p:cNvPicPr>
          <p:nvPr/>
        </p:nvPicPr>
        <p:blipFill>
          <a:blip r:embed="rId6"/>
          <a:stretch>
            <a:fillRect/>
          </a:stretch>
        </p:blipFill>
        <p:spPr>
          <a:xfrm>
            <a:off x="493721" y="1606707"/>
            <a:ext cx="5051040" cy="4056434"/>
          </a:xfrm>
          <a:prstGeom prst="rect">
            <a:avLst/>
          </a:prstGeom>
        </p:spPr>
      </p:pic>
      <p:pic>
        <p:nvPicPr>
          <p:cNvPr id="59" name="图片 58">
            <a:extLst>
              <a:ext uri="{FF2B5EF4-FFF2-40B4-BE49-F238E27FC236}">
                <a16:creationId xmlns:a16="http://schemas.microsoft.com/office/drawing/2014/main" id="{4211559E-2E31-45D6-AF87-DD0878CCFA1A}"/>
              </a:ext>
            </a:extLst>
          </p:cNvPr>
          <p:cNvPicPr>
            <a:picLocks noChangeAspect="1"/>
          </p:cNvPicPr>
          <p:nvPr/>
        </p:nvPicPr>
        <p:blipFill>
          <a:blip r:embed="rId7"/>
          <a:stretch>
            <a:fillRect/>
          </a:stretch>
        </p:blipFill>
        <p:spPr>
          <a:xfrm>
            <a:off x="5772947" y="1606167"/>
            <a:ext cx="5160942" cy="4056435"/>
          </a:xfrm>
          <a:prstGeom prst="rect">
            <a:avLst/>
          </a:prstGeom>
        </p:spPr>
      </p:pic>
      <p:pic>
        <p:nvPicPr>
          <p:cNvPr id="60" name="图片 59">
            <a:extLst>
              <a:ext uri="{FF2B5EF4-FFF2-40B4-BE49-F238E27FC236}">
                <a16:creationId xmlns:a16="http://schemas.microsoft.com/office/drawing/2014/main" id="{A56C9D7F-295E-402A-9E06-F54D4F4592C7}"/>
              </a:ext>
            </a:extLst>
          </p:cNvPr>
          <p:cNvPicPr>
            <a:picLocks noChangeAspect="1"/>
          </p:cNvPicPr>
          <p:nvPr/>
        </p:nvPicPr>
        <p:blipFill>
          <a:blip r:embed="rId8"/>
          <a:stretch>
            <a:fillRect/>
          </a:stretch>
        </p:blipFill>
        <p:spPr>
          <a:xfrm>
            <a:off x="369651" y="6103418"/>
            <a:ext cx="10564238" cy="370531"/>
          </a:xfrm>
          <a:prstGeom prst="rect">
            <a:avLst/>
          </a:prstGeom>
        </p:spPr>
      </p:pic>
      <p:sp>
        <p:nvSpPr>
          <p:cNvPr id="61" name="文本框 60">
            <a:extLst>
              <a:ext uri="{FF2B5EF4-FFF2-40B4-BE49-F238E27FC236}">
                <a16:creationId xmlns:a16="http://schemas.microsoft.com/office/drawing/2014/main" id="{19F1C60A-51D2-4812-9023-32FDD4304A59}"/>
              </a:ext>
            </a:extLst>
          </p:cNvPr>
          <p:cNvSpPr txBox="1"/>
          <p:nvPr/>
        </p:nvSpPr>
        <p:spPr>
          <a:xfrm>
            <a:off x="7884028" y="1319643"/>
            <a:ext cx="2188723" cy="36933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FF0000"/>
                </a:solidFill>
                <a:effectLst/>
                <a:uLnTx/>
                <a:uFillTx/>
                <a:latin typeface="Arial"/>
                <a:ea typeface="微软雅黑"/>
                <a:cs typeface="+mn-cs"/>
              </a:rPr>
              <a:t>Special Case</a:t>
            </a:r>
            <a:endParaRPr kumimoji="0" lang="zh-CN" altLang="en-US" sz="1800" b="1" i="0" u="none" strike="noStrike" kern="1200" cap="none" spc="0" normalizeH="0" baseline="0" noProof="0" dirty="0">
              <a:ln>
                <a:noFill/>
              </a:ln>
              <a:solidFill>
                <a:srgbClr val="FF0000"/>
              </a:solidFill>
              <a:effectLst/>
              <a:uLnTx/>
              <a:uFillTx/>
              <a:latin typeface="Arial"/>
              <a:ea typeface="微软雅黑"/>
              <a:cs typeface="+mn-cs"/>
            </a:endParaRPr>
          </a:p>
        </p:txBody>
      </p:sp>
      <p:pic>
        <p:nvPicPr>
          <p:cNvPr id="62" name="图片 61">
            <a:extLst>
              <a:ext uri="{FF2B5EF4-FFF2-40B4-BE49-F238E27FC236}">
                <a16:creationId xmlns:a16="http://schemas.microsoft.com/office/drawing/2014/main" id="{D80E0FE1-3479-4798-8DD6-7104CAEBCB98}"/>
              </a:ext>
            </a:extLst>
          </p:cNvPr>
          <p:cNvPicPr>
            <a:picLocks noChangeAspect="1"/>
          </p:cNvPicPr>
          <p:nvPr/>
        </p:nvPicPr>
        <p:blipFill>
          <a:blip r:embed="rId9"/>
          <a:stretch>
            <a:fillRect/>
          </a:stretch>
        </p:blipFill>
        <p:spPr>
          <a:xfrm>
            <a:off x="2943219" y="5643180"/>
            <a:ext cx="386107" cy="288470"/>
          </a:xfrm>
          <a:prstGeom prst="rect">
            <a:avLst/>
          </a:prstGeom>
        </p:spPr>
      </p:pic>
      <p:pic>
        <p:nvPicPr>
          <p:cNvPr id="63" name="图片 62">
            <a:extLst>
              <a:ext uri="{FF2B5EF4-FFF2-40B4-BE49-F238E27FC236}">
                <a16:creationId xmlns:a16="http://schemas.microsoft.com/office/drawing/2014/main" id="{15F536D7-3AE3-4547-9127-355BC637898E}"/>
              </a:ext>
            </a:extLst>
          </p:cNvPr>
          <p:cNvPicPr>
            <a:picLocks noChangeAspect="1"/>
          </p:cNvPicPr>
          <p:nvPr/>
        </p:nvPicPr>
        <p:blipFill>
          <a:blip r:embed="rId10"/>
          <a:stretch>
            <a:fillRect/>
          </a:stretch>
        </p:blipFill>
        <p:spPr>
          <a:xfrm>
            <a:off x="8433028" y="5652908"/>
            <a:ext cx="341421" cy="273137"/>
          </a:xfrm>
          <a:prstGeom prst="rect">
            <a:avLst/>
          </a:prstGeom>
        </p:spPr>
      </p:pic>
      <p:sp>
        <p:nvSpPr>
          <p:cNvPr id="4" name="灯片编号占位符 3">
            <a:extLst>
              <a:ext uri="{FF2B5EF4-FFF2-40B4-BE49-F238E27FC236}">
                <a16:creationId xmlns:a16="http://schemas.microsoft.com/office/drawing/2014/main" id="{1E019A02-8251-424A-AD21-16CB42F405A1}"/>
              </a:ext>
            </a:extLst>
          </p:cNvPr>
          <p:cNvSpPr>
            <a:spLocks noGrp="1"/>
          </p:cNvSpPr>
          <p:nvPr>
            <p:ph type="sldNum" sz="quarter" idx="12"/>
          </p:nvPr>
        </p:nvSpPr>
        <p:spPr/>
        <p:txBody>
          <a:bodyPr/>
          <a:lstStyle/>
          <a:p>
            <a:fld id="{B125EA80-F692-46D2-AFCC-CA48803B46EF}" type="slidenum">
              <a:rPr lang="zh-CN" altLang="en-US" smtClean="0"/>
              <a:t>15</a:t>
            </a:fld>
            <a:endParaRPr lang="zh-CN" altLang="en-US" dirty="0"/>
          </a:p>
        </p:txBody>
      </p:sp>
    </p:spTree>
    <p:extLst>
      <p:ext uri="{BB962C8B-B14F-4D97-AF65-F5344CB8AC3E}">
        <p14:creationId xmlns:p14="http://schemas.microsoft.com/office/powerpoint/2010/main" val="1008220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marL="0" marR="0" lvl="0" indent="0" algn="l" defTabSz="457200" rtl="0" eaLnBrk="1" fontAlgn="auto" latinLnBrk="0" hangingPunct="1">
              <a:lnSpc>
                <a:spcPts val="44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 3. </a:t>
            </a:r>
            <a:r>
              <a:rPr kumimoji="0" lang="zh-CN" altLang="en-US" sz="2800" b="1" i="0" u="none" strike="noStrike" kern="1200" cap="none" spc="0" normalizeH="0" baseline="0" noProof="0" dirty="0">
                <a:ln>
                  <a:noFill/>
                </a:ln>
                <a:solidFill>
                  <a:prstClr val="white"/>
                </a:solidFill>
                <a:effectLst/>
                <a:uLnTx/>
                <a:uFillTx/>
                <a:latin typeface="Arial"/>
                <a:ea typeface="微软雅黑"/>
                <a:cs typeface="+mn-cs"/>
              </a:rPr>
              <a:t>基于无线接入点的编码分布式矩阵</a:t>
            </a: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a:t>
            </a:r>
            <a:r>
              <a:rPr kumimoji="0" lang="zh-CN" altLang="en-US" sz="2800" b="1" i="0" u="none" strike="noStrike" kern="1200" cap="none" spc="0" normalizeH="0" baseline="0" noProof="0" dirty="0">
                <a:ln>
                  <a:noFill/>
                </a:ln>
                <a:solidFill>
                  <a:prstClr val="white"/>
                </a:solidFill>
                <a:effectLst/>
                <a:uLnTx/>
                <a:uFillTx/>
                <a:latin typeface="Arial"/>
                <a:ea typeface="微软雅黑"/>
                <a:cs typeface="+mn-cs"/>
              </a:rPr>
              <a:t>矩阵乘法运算框架（数值仿真）</a:t>
            </a:r>
            <a:endParaRPr kumimoji="0" lang="en-US" altLang="zh-CN" sz="2800" b="1" i="0" u="none" strike="noStrike" kern="1200" cap="none" spc="0" normalizeH="0" baseline="0" noProof="0" dirty="0">
              <a:ln>
                <a:noFill/>
              </a:ln>
              <a:solidFill>
                <a:prstClr val="white"/>
              </a:solidFill>
              <a:effectLst/>
              <a:uLnTx/>
              <a:uFillTx/>
              <a:latin typeface="Arial"/>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0" normalizeH="0" baseline="0" noProof="0" dirty="0">
              <a:ln>
                <a:noFill/>
              </a:ln>
              <a:solidFill>
                <a:prstClr val="white"/>
              </a:solidFill>
              <a:effectLst/>
              <a:uLnTx/>
              <a:uFillTx/>
              <a:latin typeface="Arial"/>
              <a:ea typeface="微软雅黑"/>
              <a:cs typeface="+mn-cs"/>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55448" y="832104"/>
            <a:ext cx="11868912" cy="683520"/>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000" b="1" dirty="0">
                <a:solidFill>
                  <a:prstClr val="black"/>
                </a:solidFill>
                <a:latin typeface="Arial"/>
                <a:ea typeface="微软雅黑"/>
              </a:rPr>
              <a:t>数值仿真（更大的矩阵）</a:t>
            </a:r>
            <a:endParaRPr kumimoji="0" lang="en-US" altLang="zh-CN" sz="1800" b="0" i="0" u="none" strike="noStrike" kern="1200" cap="none" spc="0" normalizeH="0" baseline="0" noProof="0" dirty="0">
              <a:ln>
                <a:noFill/>
              </a:ln>
              <a:solidFill>
                <a:prstClr val="black"/>
              </a:solidFill>
              <a:effectLst/>
              <a:uLnTx/>
              <a:uFillTx/>
              <a:latin typeface="Arial"/>
              <a:ea typeface="微软雅黑"/>
              <a:cs typeface="+mn-cs"/>
            </a:endParaRPr>
          </a:p>
          <a:p>
            <a:pPr marL="74250" marR="0" lvl="1" indent="0" algn="l" defTabSz="457200" rtl="0" eaLnBrk="1" fontAlgn="auto" latinLnBrk="0" hangingPunct="1">
              <a:lnSpc>
                <a:spcPts val="2400"/>
              </a:lnSpc>
              <a:spcBef>
                <a:spcPts val="0"/>
              </a:spcBef>
              <a:spcAft>
                <a:spcPts val="0"/>
              </a:spcAft>
              <a:buClrTx/>
              <a:buSzTx/>
              <a:buFontTx/>
              <a:buNone/>
              <a:tabLst/>
              <a:defRPr/>
            </a:pPr>
            <a:endParaRPr kumimoji="0" lang="en-US" altLang="zh-CN" sz="1800" b="0" i="0" u="none" strike="noStrike" kern="1200" cap="none" spc="0" normalizeH="0" baseline="0" noProof="0" dirty="0">
              <a:ln>
                <a:noFill/>
              </a:ln>
              <a:solidFill>
                <a:prstClr val="black"/>
              </a:solidFill>
              <a:effectLst/>
              <a:uLnTx/>
              <a:uFillTx/>
              <a:latin typeface="Arial"/>
              <a:ea typeface="微软雅黑"/>
              <a:cs typeface="+mn-cs"/>
            </a:endParaRPr>
          </a:p>
        </p:txBody>
      </p:sp>
      <p:sp>
        <p:nvSpPr>
          <p:cNvPr id="3" name="矩形 2">
            <a:extLst>
              <a:ext uri="{FF2B5EF4-FFF2-40B4-BE49-F238E27FC236}">
                <a16:creationId xmlns:a16="http://schemas.microsoft.com/office/drawing/2014/main" id="{B2D394EB-C765-4E6A-9BD9-4A394300EAC4}"/>
              </a:ext>
            </a:extLst>
          </p:cNvPr>
          <p:cNvSpPr/>
          <p:nvPr/>
        </p:nvSpPr>
        <p:spPr>
          <a:xfrm>
            <a:off x="277508" y="1273943"/>
            <a:ext cx="595035" cy="369332"/>
          </a:xfrm>
          <a:prstGeom prst="rect">
            <a:avLst/>
          </a:prstGeom>
        </p:spPr>
        <p:txBody>
          <a:bodyPr wrap="none">
            <a:spAutoFit/>
          </a:bodyPr>
          <a:lstStyle/>
          <a:p>
            <a:pPr marL="342900" indent="-342900">
              <a:buFont typeface="Wingdings" panose="05000000000000000000" pitchFamily="2" charset="2"/>
              <a:buChar char="Ø"/>
            </a:pPr>
            <a:r>
              <a:rPr lang="en-US" altLang="zh-CN" dirty="0"/>
              <a:t> </a:t>
            </a:r>
            <a:endParaRPr lang="zh-CN" altLang="en-US" dirty="0"/>
          </a:p>
        </p:txBody>
      </p:sp>
      <p:pic>
        <p:nvPicPr>
          <p:cNvPr id="34" name="图片 33">
            <a:extLst>
              <a:ext uri="{FF2B5EF4-FFF2-40B4-BE49-F238E27FC236}">
                <a16:creationId xmlns:a16="http://schemas.microsoft.com/office/drawing/2014/main" id="{82A59432-011E-4B70-83AB-45A91217B3F6}"/>
              </a:ext>
            </a:extLst>
          </p:cNvPr>
          <p:cNvPicPr>
            <a:picLocks noChangeAspect="1"/>
          </p:cNvPicPr>
          <p:nvPr/>
        </p:nvPicPr>
        <p:blipFill>
          <a:blip r:embed="rId3"/>
          <a:stretch>
            <a:fillRect/>
          </a:stretch>
        </p:blipFill>
        <p:spPr>
          <a:xfrm>
            <a:off x="668371" y="1327679"/>
            <a:ext cx="3495067" cy="288756"/>
          </a:xfrm>
          <a:prstGeom prst="rect">
            <a:avLst/>
          </a:prstGeom>
        </p:spPr>
      </p:pic>
      <p:pic>
        <p:nvPicPr>
          <p:cNvPr id="35" name="图片 34">
            <a:extLst>
              <a:ext uri="{FF2B5EF4-FFF2-40B4-BE49-F238E27FC236}">
                <a16:creationId xmlns:a16="http://schemas.microsoft.com/office/drawing/2014/main" id="{F6803E85-8AE9-4018-BC73-8A4F76F37FC8}"/>
              </a:ext>
            </a:extLst>
          </p:cNvPr>
          <p:cNvPicPr>
            <a:picLocks noChangeAspect="1"/>
          </p:cNvPicPr>
          <p:nvPr/>
        </p:nvPicPr>
        <p:blipFill rotWithShape="1">
          <a:blip r:embed="rId4"/>
          <a:srcRect t="1639" b="-1402"/>
          <a:stretch/>
        </p:blipFill>
        <p:spPr>
          <a:xfrm>
            <a:off x="372669" y="1616435"/>
            <a:ext cx="5141099" cy="4084109"/>
          </a:xfrm>
          <a:prstGeom prst="rect">
            <a:avLst/>
          </a:prstGeom>
        </p:spPr>
      </p:pic>
      <p:pic>
        <p:nvPicPr>
          <p:cNvPr id="36" name="图片 35">
            <a:extLst>
              <a:ext uri="{FF2B5EF4-FFF2-40B4-BE49-F238E27FC236}">
                <a16:creationId xmlns:a16="http://schemas.microsoft.com/office/drawing/2014/main" id="{1B36B97C-5140-4BDF-866B-54B13C5A7002}"/>
              </a:ext>
            </a:extLst>
          </p:cNvPr>
          <p:cNvPicPr>
            <a:picLocks noChangeAspect="1"/>
          </p:cNvPicPr>
          <p:nvPr/>
        </p:nvPicPr>
        <p:blipFill>
          <a:blip r:embed="rId5"/>
          <a:stretch>
            <a:fillRect/>
          </a:stretch>
        </p:blipFill>
        <p:spPr>
          <a:xfrm>
            <a:off x="5961540" y="1570509"/>
            <a:ext cx="5141098" cy="4039434"/>
          </a:xfrm>
          <a:prstGeom prst="rect">
            <a:avLst/>
          </a:prstGeom>
        </p:spPr>
      </p:pic>
      <p:sp>
        <p:nvSpPr>
          <p:cNvPr id="37" name="椭圆 36">
            <a:extLst>
              <a:ext uri="{FF2B5EF4-FFF2-40B4-BE49-F238E27FC236}">
                <a16:creationId xmlns:a16="http://schemas.microsoft.com/office/drawing/2014/main" id="{264AA5E2-E876-455F-BF80-D29F6EEED12E}"/>
              </a:ext>
            </a:extLst>
          </p:cNvPr>
          <p:cNvSpPr/>
          <p:nvPr/>
        </p:nvSpPr>
        <p:spPr>
          <a:xfrm>
            <a:off x="9085634" y="4795736"/>
            <a:ext cx="252919" cy="622570"/>
          </a:xfrm>
          <a:prstGeom prst="ellipse">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Arial"/>
              <a:ea typeface="微软雅黑"/>
              <a:cs typeface="+mn-cs"/>
            </a:endParaRPr>
          </a:p>
        </p:txBody>
      </p:sp>
      <p:pic>
        <p:nvPicPr>
          <p:cNvPr id="38" name="图片 37">
            <a:extLst>
              <a:ext uri="{FF2B5EF4-FFF2-40B4-BE49-F238E27FC236}">
                <a16:creationId xmlns:a16="http://schemas.microsoft.com/office/drawing/2014/main" id="{9A75BC63-FED8-412C-A45B-748A4A66DCB8}"/>
              </a:ext>
            </a:extLst>
          </p:cNvPr>
          <p:cNvPicPr>
            <a:picLocks noChangeAspect="1"/>
          </p:cNvPicPr>
          <p:nvPr/>
        </p:nvPicPr>
        <p:blipFill>
          <a:blip r:embed="rId6"/>
          <a:stretch>
            <a:fillRect/>
          </a:stretch>
        </p:blipFill>
        <p:spPr>
          <a:xfrm>
            <a:off x="2943219" y="5643180"/>
            <a:ext cx="386107" cy="288470"/>
          </a:xfrm>
          <a:prstGeom prst="rect">
            <a:avLst/>
          </a:prstGeom>
        </p:spPr>
      </p:pic>
      <p:pic>
        <p:nvPicPr>
          <p:cNvPr id="39" name="图片 38">
            <a:extLst>
              <a:ext uri="{FF2B5EF4-FFF2-40B4-BE49-F238E27FC236}">
                <a16:creationId xmlns:a16="http://schemas.microsoft.com/office/drawing/2014/main" id="{B30FBD2D-7EF7-4A95-8AED-CD4683514DFE}"/>
              </a:ext>
            </a:extLst>
          </p:cNvPr>
          <p:cNvPicPr>
            <a:picLocks noChangeAspect="1"/>
          </p:cNvPicPr>
          <p:nvPr/>
        </p:nvPicPr>
        <p:blipFill>
          <a:blip r:embed="rId7"/>
          <a:stretch>
            <a:fillRect/>
          </a:stretch>
        </p:blipFill>
        <p:spPr>
          <a:xfrm>
            <a:off x="8588671" y="5563976"/>
            <a:ext cx="341421" cy="273137"/>
          </a:xfrm>
          <a:prstGeom prst="rect">
            <a:avLst/>
          </a:prstGeom>
        </p:spPr>
      </p:pic>
      <p:pic>
        <p:nvPicPr>
          <p:cNvPr id="40" name="图片 39">
            <a:extLst>
              <a:ext uri="{FF2B5EF4-FFF2-40B4-BE49-F238E27FC236}">
                <a16:creationId xmlns:a16="http://schemas.microsoft.com/office/drawing/2014/main" id="{A498E121-F485-4F74-93BF-B04AC7358EEB}"/>
              </a:ext>
            </a:extLst>
          </p:cNvPr>
          <p:cNvPicPr>
            <a:picLocks noChangeAspect="1"/>
          </p:cNvPicPr>
          <p:nvPr/>
        </p:nvPicPr>
        <p:blipFill rotWithShape="1">
          <a:blip r:embed="rId8"/>
          <a:srcRect/>
          <a:stretch/>
        </p:blipFill>
        <p:spPr>
          <a:xfrm>
            <a:off x="6311405" y="5790490"/>
            <a:ext cx="4895952" cy="593449"/>
          </a:xfrm>
          <a:prstGeom prst="rect">
            <a:avLst/>
          </a:prstGeom>
        </p:spPr>
      </p:pic>
      <p:pic>
        <p:nvPicPr>
          <p:cNvPr id="41" name="图片 40">
            <a:extLst>
              <a:ext uri="{FF2B5EF4-FFF2-40B4-BE49-F238E27FC236}">
                <a16:creationId xmlns:a16="http://schemas.microsoft.com/office/drawing/2014/main" id="{DEA722AF-11A5-4A9B-B81D-BCE56C895A61}"/>
              </a:ext>
            </a:extLst>
          </p:cNvPr>
          <p:cNvPicPr>
            <a:picLocks noChangeAspect="1"/>
          </p:cNvPicPr>
          <p:nvPr/>
        </p:nvPicPr>
        <p:blipFill>
          <a:blip r:embed="rId9"/>
          <a:stretch>
            <a:fillRect/>
          </a:stretch>
        </p:blipFill>
        <p:spPr>
          <a:xfrm>
            <a:off x="7882342" y="6394817"/>
            <a:ext cx="2095500" cy="238125"/>
          </a:xfrm>
          <a:prstGeom prst="rect">
            <a:avLst/>
          </a:prstGeom>
        </p:spPr>
      </p:pic>
      <p:sp>
        <p:nvSpPr>
          <p:cNvPr id="4" name="灯片编号占位符 3">
            <a:extLst>
              <a:ext uri="{FF2B5EF4-FFF2-40B4-BE49-F238E27FC236}">
                <a16:creationId xmlns:a16="http://schemas.microsoft.com/office/drawing/2014/main" id="{A7DCAC59-24A9-45AB-830D-04F3811C525B}"/>
              </a:ext>
            </a:extLst>
          </p:cNvPr>
          <p:cNvSpPr>
            <a:spLocks noGrp="1"/>
          </p:cNvSpPr>
          <p:nvPr>
            <p:ph type="sldNum" sz="quarter" idx="12"/>
          </p:nvPr>
        </p:nvSpPr>
        <p:spPr/>
        <p:txBody>
          <a:bodyPr/>
          <a:lstStyle/>
          <a:p>
            <a:fld id="{B125EA80-F692-46D2-AFCC-CA48803B46EF}" type="slidenum">
              <a:rPr lang="zh-CN" altLang="en-US" smtClean="0"/>
              <a:t>16</a:t>
            </a:fld>
            <a:endParaRPr lang="zh-CN" altLang="en-US" dirty="0"/>
          </a:p>
        </p:txBody>
      </p:sp>
    </p:spTree>
    <p:extLst>
      <p:ext uri="{BB962C8B-B14F-4D97-AF65-F5344CB8AC3E}">
        <p14:creationId xmlns:p14="http://schemas.microsoft.com/office/powerpoint/2010/main" val="52750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8D2B8C-5F4B-4F53-9772-57647BCD59D8}"/>
              </a:ext>
            </a:extLst>
          </p:cNvPr>
          <p:cNvSpPr>
            <a:spLocks noGrp="1"/>
          </p:cNvSpPr>
          <p:nvPr>
            <p:ph type="ctrTitle"/>
          </p:nvPr>
        </p:nvSpPr>
        <p:spPr>
          <a:xfrm>
            <a:off x="0" y="539496"/>
            <a:ext cx="2350007" cy="535485"/>
          </a:xfrm>
          <a:solidFill>
            <a:srgbClr val="0070C0"/>
          </a:solidFill>
        </p:spPr>
        <p:txBody>
          <a:bodyPr>
            <a:normAutofit fontScale="90000"/>
          </a:bodyPr>
          <a:lstStyle/>
          <a:p>
            <a:pPr>
              <a:lnSpc>
                <a:spcPct val="100000"/>
              </a:lnSpc>
            </a:pPr>
            <a:r>
              <a:rPr lang="zh-CN" altLang="en-US" sz="3600" b="1" dirty="0">
                <a:solidFill>
                  <a:schemeClr val="bg1"/>
                </a:solidFill>
              </a:rPr>
              <a:t>目录</a:t>
            </a:r>
          </a:p>
        </p:txBody>
      </p:sp>
      <p:sp>
        <p:nvSpPr>
          <p:cNvPr id="3" name="文本框 2"/>
          <p:cNvSpPr txBox="1"/>
          <p:nvPr/>
        </p:nvSpPr>
        <p:spPr>
          <a:xfrm>
            <a:off x="1021080" y="1713928"/>
            <a:ext cx="10369296" cy="2796407"/>
          </a:xfrm>
          <a:prstGeom prst="rect">
            <a:avLst/>
          </a:prstGeom>
          <a:noFill/>
        </p:spPr>
        <p:txBody>
          <a:bodyPr wrap="square" rtlCol="0">
            <a:spAutoFit/>
          </a:bodyPr>
          <a:lstStyle/>
          <a:p>
            <a:pPr marL="342900" indent="-342900">
              <a:lnSpc>
                <a:spcPct val="150000"/>
              </a:lnSpc>
              <a:buFont typeface="+mj-lt"/>
              <a:buAutoNum type="arabicPeriod"/>
            </a:pPr>
            <a:r>
              <a:rPr lang="zh-CN" altLang="en-US" sz="2400" b="1" dirty="0"/>
              <a:t>绪论</a:t>
            </a:r>
            <a:endParaRPr lang="en-US" altLang="zh-CN" sz="2400" b="1" dirty="0"/>
          </a:p>
          <a:p>
            <a:pPr marL="342900" indent="-342900">
              <a:lnSpc>
                <a:spcPct val="150000"/>
              </a:lnSpc>
              <a:buFont typeface="+mj-lt"/>
              <a:buAutoNum type="arabicPeriod"/>
            </a:pPr>
            <a:r>
              <a:rPr lang="zh-CN" altLang="en-US" sz="2400" b="1" dirty="0"/>
              <a:t>编码计算基础</a:t>
            </a:r>
            <a:endParaRPr lang="en-US" altLang="zh-CN" sz="2400" b="1" dirty="0"/>
          </a:p>
          <a:p>
            <a:pPr marL="342900" indent="-342900">
              <a:lnSpc>
                <a:spcPct val="150000"/>
              </a:lnSpc>
              <a:buFont typeface="+mj-lt"/>
              <a:buAutoNum type="arabicPeriod"/>
            </a:pPr>
            <a:r>
              <a:rPr lang="zh-CN" altLang="en-US" sz="2400" b="1" dirty="0"/>
              <a:t>基于无线接入点的编码分布式矩阵</a:t>
            </a:r>
            <a:r>
              <a:rPr lang="en-US" altLang="zh-CN" sz="2400" b="1" dirty="0"/>
              <a:t>-</a:t>
            </a:r>
            <a:r>
              <a:rPr lang="zh-CN" altLang="en-US" sz="2400" b="1" dirty="0"/>
              <a:t>矩阵乘法运算框架</a:t>
            </a:r>
            <a:endParaRPr lang="en-US" altLang="zh-CN" sz="2400" b="1" dirty="0"/>
          </a:p>
          <a:p>
            <a:pPr marL="342900" indent="-342900">
              <a:lnSpc>
                <a:spcPct val="150000"/>
              </a:lnSpc>
              <a:buFont typeface="+mj-lt"/>
              <a:buAutoNum type="arabicPeriod"/>
            </a:pPr>
            <a:r>
              <a:rPr lang="zh-CN" altLang="en-US" sz="2400" b="1" dirty="0">
                <a:solidFill>
                  <a:srgbClr val="FF0000"/>
                </a:solidFill>
              </a:rPr>
              <a:t>雾网络下基于压缩编码技术的分布式矩阵</a:t>
            </a:r>
            <a:r>
              <a:rPr lang="en-US" altLang="zh-CN" sz="2400" b="1" dirty="0">
                <a:solidFill>
                  <a:srgbClr val="FF0000"/>
                </a:solidFill>
              </a:rPr>
              <a:t>-</a:t>
            </a:r>
            <a:r>
              <a:rPr lang="zh-CN" altLang="en-US" sz="2400" b="1" dirty="0">
                <a:solidFill>
                  <a:srgbClr val="FF0000"/>
                </a:solidFill>
              </a:rPr>
              <a:t>向量乘法运算算法</a:t>
            </a:r>
            <a:endParaRPr lang="en-US" altLang="zh-CN" sz="2400" b="1" dirty="0">
              <a:solidFill>
                <a:srgbClr val="FF0000"/>
              </a:solidFill>
            </a:endParaRPr>
          </a:p>
          <a:p>
            <a:pPr marL="342900" indent="-342900">
              <a:lnSpc>
                <a:spcPct val="150000"/>
              </a:lnSpc>
              <a:buFont typeface="+mj-lt"/>
              <a:buAutoNum type="arabicPeriod"/>
            </a:pPr>
            <a:r>
              <a:rPr lang="zh-CN" altLang="en-US" sz="2400" b="1" dirty="0"/>
              <a:t>总结</a:t>
            </a:r>
            <a:endParaRPr lang="en-US" altLang="zh-CN" sz="2400" b="1" dirty="0"/>
          </a:p>
        </p:txBody>
      </p:sp>
      <p:sp>
        <p:nvSpPr>
          <p:cNvPr id="4" name="灯片编号占位符 3">
            <a:extLst>
              <a:ext uri="{FF2B5EF4-FFF2-40B4-BE49-F238E27FC236}">
                <a16:creationId xmlns:a16="http://schemas.microsoft.com/office/drawing/2014/main" id="{4C8EE081-C23A-4372-B9C3-AA4B834197B0}"/>
              </a:ext>
            </a:extLst>
          </p:cNvPr>
          <p:cNvSpPr>
            <a:spLocks noGrp="1"/>
          </p:cNvSpPr>
          <p:nvPr>
            <p:ph type="sldNum" sz="quarter" idx="12"/>
          </p:nvPr>
        </p:nvSpPr>
        <p:spPr/>
        <p:txBody>
          <a:bodyPr/>
          <a:lstStyle/>
          <a:p>
            <a:fld id="{B125EA80-F692-46D2-AFCC-CA48803B46EF}" type="slidenum">
              <a:rPr lang="zh-CN" altLang="en-US" smtClean="0"/>
              <a:t>17</a:t>
            </a:fld>
            <a:endParaRPr lang="zh-CN" altLang="en-US" dirty="0"/>
          </a:p>
        </p:txBody>
      </p:sp>
    </p:spTree>
    <p:extLst>
      <p:ext uri="{BB962C8B-B14F-4D97-AF65-F5344CB8AC3E}">
        <p14:creationId xmlns:p14="http://schemas.microsoft.com/office/powerpoint/2010/main" val="34633833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lvl="0">
              <a:lnSpc>
                <a:spcPts val="4400"/>
              </a:lnSpc>
              <a:defRPr/>
            </a:pP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 4. </a:t>
            </a:r>
            <a:r>
              <a:rPr lang="zh-CN" altLang="en-US" sz="2800" b="1" dirty="0">
                <a:solidFill>
                  <a:prstClr val="white"/>
                </a:solidFill>
              </a:rPr>
              <a:t>雾网络下基于压缩编码技术的分布式矩阵</a:t>
            </a:r>
            <a:r>
              <a:rPr lang="en-US" altLang="zh-CN" sz="2800" b="1" dirty="0">
                <a:solidFill>
                  <a:prstClr val="white"/>
                </a:solidFill>
              </a:rPr>
              <a:t>-</a:t>
            </a:r>
            <a:r>
              <a:rPr lang="zh-CN" altLang="en-US" sz="2800" b="1" dirty="0">
                <a:solidFill>
                  <a:prstClr val="white"/>
                </a:solidFill>
              </a:rPr>
              <a:t>向量乘法运算算法</a:t>
            </a:r>
            <a:endParaRPr kumimoji="0" lang="en-US" altLang="zh-CN" sz="2800" b="1" i="0" u="none" strike="noStrike" kern="1200" cap="none" spc="0" normalizeH="0" baseline="0" noProof="0" dirty="0">
              <a:ln>
                <a:noFill/>
              </a:ln>
              <a:solidFill>
                <a:prstClr val="white"/>
              </a:solidFill>
              <a:effectLst/>
              <a:uLnTx/>
              <a:uFillTx/>
              <a:latin typeface="Arial"/>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0" normalizeH="0" baseline="0" noProof="0" dirty="0">
              <a:ln>
                <a:noFill/>
              </a:ln>
              <a:solidFill>
                <a:prstClr val="white"/>
              </a:solidFill>
              <a:effectLst/>
              <a:uLnTx/>
              <a:uFillTx/>
              <a:latin typeface="Arial"/>
              <a:ea typeface="微软雅黑"/>
              <a:cs typeface="+mn-cs"/>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55448" y="794004"/>
            <a:ext cx="11868912" cy="5988499"/>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000" b="1" dirty="0">
                <a:solidFill>
                  <a:prstClr val="black"/>
                </a:solidFill>
                <a:latin typeface="Arial"/>
                <a:ea typeface="微软雅黑"/>
              </a:rPr>
              <a:t>压缩技术</a:t>
            </a:r>
            <a:endParaRPr lang="en-US" altLang="zh-CN" dirty="0">
              <a:solidFill>
                <a:prstClr val="black"/>
              </a:solidFill>
              <a:latin typeface="Arial"/>
              <a:ea typeface="微软雅黑"/>
            </a:endParaRPr>
          </a:p>
          <a:p>
            <a:pPr marL="285750" lvl="0" indent="-285750">
              <a:lnSpc>
                <a:spcPct val="150000"/>
              </a:lnSpc>
              <a:buFont typeface="Wingdings" panose="05000000000000000000" pitchFamily="2" charset="2"/>
              <a:buChar char="p"/>
            </a:pPr>
            <a:r>
              <a:rPr lang="zh-CN" altLang="en-US" sz="1600" dirty="0">
                <a:solidFill>
                  <a:prstClr val="black"/>
                </a:solidFill>
              </a:rPr>
              <a:t>压缩技术通过尽可能多地组合中间结果来减少网络中的通信负载。例如在</a:t>
            </a:r>
            <a:r>
              <a:rPr lang="en-US" altLang="zh-CN" sz="1600" dirty="0">
                <a:solidFill>
                  <a:prstClr val="black"/>
                </a:solidFill>
              </a:rPr>
              <a:t>MapReduce</a:t>
            </a:r>
            <a:r>
              <a:rPr lang="zh-CN" altLang="en-US" sz="1600" dirty="0">
                <a:solidFill>
                  <a:prstClr val="black"/>
                </a:solidFill>
              </a:rPr>
              <a:t>分布式编程模型中，当</a:t>
            </a:r>
            <a:r>
              <a:rPr lang="en-US" altLang="zh-CN" sz="1600" dirty="0">
                <a:solidFill>
                  <a:prstClr val="black"/>
                </a:solidFill>
              </a:rPr>
              <a:t>Reduce</a:t>
            </a:r>
            <a:r>
              <a:rPr lang="zh-CN" altLang="en-US" sz="1600" dirty="0">
                <a:solidFill>
                  <a:prstClr val="black"/>
                </a:solidFill>
              </a:rPr>
              <a:t>函数具有可交换性和可结合性时，</a:t>
            </a:r>
            <a:r>
              <a:rPr lang="en-US" altLang="zh-CN" sz="1600" dirty="0">
                <a:solidFill>
                  <a:prstClr val="black"/>
                </a:solidFill>
              </a:rPr>
              <a:t>Combiner</a:t>
            </a:r>
            <a:r>
              <a:rPr lang="zh-CN" altLang="en-US" sz="1600" dirty="0">
                <a:solidFill>
                  <a:prstClr val="black"/>
                </a:solidFill>
              </a:rPr>
              <a:t>函数被用于对</a:t>
            </a:r>
            <a:r>
              <a:rPr lang="en-US" altLang="zh-CN" sz="1600" dirty="0">
                <a:solidFill>
                  <a:prstClr val="black"/>
                </a:solidFill>
              </a:rPr>
              <a:t>Map</a:t>
            </a:r>
            <a:r>
              <a:rPr lang="zh-CN" altLang="en-US" sz="1600" dirty="0">
                <a:solidFill>
                  <a:prstClr val="black"/>
                </a:solidFill>
              </a:rPr>
              <a:t>函数产生的中间结果进行预压缩处理，在</a:t>
            </a:r>
            <a:r>
              <a:rPr lang="en-US" altLang="zh-CN" sz="1600" dirty="0">
                <a:solidFill>
                  <a:prstClr val="black"/>
                </a:solidFill>
              </a:rPr>
              <a:t>Shuffle</a:t>
            </a:r>
            <a:r>
              <a:rPr lang="zh-CN" altLang="en-US" sz="1600" dirty="0">
                <a:solidFill>
                  <a:prstClr val="black"/>
                </a:solidFill>
              </a:rPr>
              <a:t>阶段，节点无需传输一个</a:t>
            </a:r>
            <a:r>
              <a:rPr lang="en-US" altLang="zh-CN" sz="1600" dirty="0">
                <a:solidFill>
                  <a:prstClr val="black"/>
                </a:solidFill>
              </a:rPr>
              <a:t>Reduce</a:t>
            </a:r>
            <a:r>
              <a:rPr lang="zh-CN" altLang="en-US" sz="1600" dirty="0">
                <a:solidFill>
                  <a:prstClr val="black"/>
                </a:solidFill>
              </a:rPr>
              <a:t>函数所需的多个中间结果而只需传输</a:t>
            </a:r>
            <a:r>
              <a:rPr lang="en-US" altLang="zh-CN" sz="1600" dirty="0">
                <a:solidFill>
                  <a:prstClr val="black"/>
                </a:solidFill>
              </a:rPr>
              <a:t>1</a:t>
            </a:r>
            <a:r>
              <a:rPr lang="zh-CN" altLang="en-US" sz="1600" dirty="0">
                <a:solidFill>
                  <a:prstClr val="black"/>
                </a:solidFill>
              </a:rPr>
              <a:t>个中间结果大小的数据给目标节点，进而显著减少了集群中的带宽消耗</a:t>
            </a:r>
            <a:endParaRPr lang="en-US" altLang="zh-CN" sz="1600" dirty="0">
              <a:solidFill>
                <a:prstClr val="black"/>
              </a:solidFill>
            </a:endParaRPr>
          </a:p>
          <a:p>
            <a:pPr lvl="0">
              <a:lnSpc>
                <a:spcPct val="150000"/>
              </a:lnSpc>
            </a:pPr>
            <a:endParaRPr lang="en-US" altLang="zh-CN" sz="1600" b="1" dirty="0">
              <a:solidFill>
                <a:prstClr val="black"/>
              </a:solidFill>
            </a:endParaRPr>
          </a:p>
          <a:p>
            <a:pPr lvl="0">
              <a:lnSpc>
                <a:spcPct val="150000"/>
              </a:lnSpc>
            </a:pPr>
            <a:endParaRPr lang="en-US" altLang="zh-CN" sz="1600" b="1" dirty="0">
              <a:solidFill>
                <a:prstClr val="black"/>
              </a:solidFill>
            </a:endParaRPr>
          </a:p>
          <a:p>
            <a:pPr lvl="0">
              <a:lnSpc>
                <a:spcPct val="150000"/>
              </a:lnSpc>
            </a:pPr>
            <a:endParaRPr lang="en-US" altLang="zh-CN" sz="1600" b="1" dirty="0">
              <a:solidFill>
                <a:prstClr val="black"/>
              </a:solidFill>
            </a:endParaRPr>
          </a:p>
          <a:p>
            <a:pPr lvl="0">
              <a:lnSpc>
                <a:spcPct val="150000"/>
              </a:lnSpc>
            </a:pPr>
            <a:endParaRPr lang="en-US" altLang="zh-CN" sz="1600" b="1" dirty="0">
              <a:solidFill>
                <a:prstClr val="black"/>
              </a:solidFill>
            </a:endParaRPr>
          </a:p>
          <a:p>
            <a:pPr lvl="0">
              <a:lnSpc>
                <a:spcPct val="150000"/>
              </a:lnSpc>
            </a:pPr>
            <a:endParaRPr lang="en-US" altLang="zh-CN" sz="1600" b="1" dirty="0">
              <a:solidFill>
                <a:prstClr val="black"/>
              </a:solidFill>
            </a:endParaRPr>
          </a:p>
          <a:p>
            <a:pPr lvl="0">
              <a:lnSpc>
                <a:spcPct val="150000"/>
              </a:lnSpc>
            </a:pPr>
            <a:endParaRPr lang="en-US" altLang="zh-CN" sz="1600" b="1" dirty="0">
              <a:solidFill>
                <a:prstClr val="black"/>
              </a:solidFill>
            </a:endParaRPr>
          </a:p>
          <a:p>
            <a:pPr lvl="0">
              <a:lnSpc>
                <a:spcPct val="150000"/>
              </a:lnSpc>
            </a:pPr>
            <a:endParaRPr lang="en-US" altLang="zh-CN" sz="1600" b="1" dirty="0">
              <a:solidFill>
                <a:prstClr val="black"/>
              </a:solidFill>
            </a:endParaRPr>
          </a:p>
          <a:p>
            <a:pPr lvl="0">
              <a:lnSpc>
                <a:spcPct val="150000"/>
              </a:lnSpc>
            </a:pPr>
            <a:endParaRPr lang="en-US" altLang="zh-CN" sz="1600" b="1" dirty="0">
              <a:solidFill>
                <a:prstClr val="black"/>
              </a:solidFill>
            </a:endParaRPr>
          </a:p>
          <a:p>
            <a:pPr lvl="0">
              <a:lnSpc>
                <a:spcPct val="150000"/>
              </a:lnSpc>
            </a:pPr>
            <a:endParaRPr lang="en-US" altLang="zh-CN" sz="1600" b="1" dirty="0">
              <a:solidFill>
                <a:prstClr val="black"/>
              </a:solidFill>
            </a:endParaRPr>
          </a:p>
          <a:p>
            <a:pPr lvl="0">
              <a:lnSpc>
                <a:spcPct val="150000"/>
              </a:lnSpc>
            </a:pPr>
            <a:endParaRPr lang="en-US" altLang="zh-CN" sz="1600" b="1" dirty="0">
              <a:solidFill>
                <a:prstClr val="black"/>
              </a:solidFill>
            </a:endParaRPr>
          </a:p>
          <a:p>
            <a:pPr lvl="0">
              <a:lnSpc>
                <a:spcPct val="150000"/>
              </a:lnSpc>
            </a:pPr>
            <a:endParaRPr lang="en-US" altLang="zh-CN" sz="2000" b="1" dirty="0">
              <a:solidFill>
                <a:prstClr val="black"/>
              </a:solidFill>
            </a:endParaRPr>
          </a:p>
          <a:p>
            <a:pPr marL="285750" lvl="0" indent="-285750">
              <a:lnSpc>
                <a:spcPct val="150000"/>
              </a:lnSpc>
              <a:buFont typeface="Wingdings" panose="05000000000000000000" pitchFamily="2" charset="2"/>
              <a:buChar char="p"/>
            </a:pPr>
            <a:r>
              <a:rPr lang="zh-CN" altLang="en-US" sz="1600" b="1" dirty="0">
                <a:solidFill>
                  <a:prstClr val="black"/>
                </a:solidFill>
              </a:rPr>
              <a:t>我们将演示压缩与编码技术如何</a:t>
            </a:r>
            <a:r>
              <a:rPr lang="zh-CN" altLang="en-US" sz="1600" b="1" dirty="0">
                <a:solidFill>
                  <a:srgbClr val="FF0000"/>
                </a:solidFill>
              </a:rPr>
              <a:t>有机结合</a:t>
            </a:r>
            <a:r>
              <a:rPr lang="zh-CN" altLang="en-US" sz="1600" b="1" dirty="0">
                <a:solidFill>
                  <a:prstClr val="black"/>
                </a:solidFill>
              </a:rPr>
              <a:t>来提高多个</a:t>
            </a:r>
            <a:r>
              <a:rPr lang="en-US" altLang="zh-CN" sz="1600" b="1" dirty="0">
                <a:solidFill>
                  <a:prstClr val="black"/>
                </a:solidFill>
              </a:rPr>
              <a:t>MapReduce</a:t>
            </a:r>
            <a:r>
              <a:rPr lang="zh-CN" altLang="en-US" sz="1600" b="1" dirty="0">
                <a:solidFill>
                  <a:prstClr val="black"/>
                </a:solidFill>
              </a:rPr>
              <a:t>作业下的分布式矩阵</a:t>
            </a:r>
            <a:r>
              <a:rPr lang="en-US" altLang="zh-CN" sz="1600" b="1" dirty="0">
                <a:solidFill>
                  <a:prstClr val="black"/>
                </a:solidFill>
              </a:rPr>
              <a:t>-</a:t>
            </a:r>
            <a:r>
              <a:rPr lang="zh-CN" altLang="en-US" sz="1600" b="1" dirty="0">
                <a:solidFill>
                  <a:prstClr val="black"/>
                </a:solidFill>
              </a:rPr>
              <a:t>向量乘法运算的性能。</a:t>
            </a:r>
          </a:p>
        </p:txBody>
      </p:sp>
      <p:pic>
        <p:nvPicPr>
          <p:cNvPr id="3" name="图片 2">
            <a:extLst>
              <a:ext uri="{FF2B5EF4-FFF2-40B4-BE49-F238E27FC236}">
                <a16:creationId xmlns:a16="http://schemas.microsoft.com/office/drawing/2014/main" id="{48B840F2-6DB5-46D5-BE52-CB56F6A40931}"/>
              </a:ext>
            </a:extLst>
          </p:cNvPr>
          <p:cNvPicPr>
            <a:picLocks noChangeAspect="1"/>
          </p:cNvPicPr>
          <p:nvPr/>
        </p:nvPicPr>
        <p:blipFill>
          <a:blip r:embed="rId3"/>
          <a:stretch>
            <a:fillRect/>
          </a:stretch>
        </p:blipFill>
        <p:spPr>
          <a:xfrm>
            <a:off x="3863111" y="2252612"/>
            <a:ext cx="4265048" cy="3831997"/>
          </a:xfrm>
          <a:prstGeom prst="rect">
            <a:avLst/>
          </a:prstGeom>
        </p:spPr>
      </p:pic>
      <p:sp>
        <p:nvSpPr>
          <p:cNvPr id="4" name="椭圆 3">
            <a:extLst>
              <a:ext uri="{FF2B5EF4-FFF2-40B4-BE49-F238E27FC236}">
                <a16:creationId xmlns:a16="http://schemas.microsoft.com/office/drawing/2014/main" id="{E71911FC-3CBC-41D7-A108-AE70CC0CF030}"/>
              </a:ext>
            </a:extLst>
          </p:cNvPr>
          <p:cNvSpPr/>
          <p:nvPr/>
        </p:nvSpPr>
        <p:spPr>
          <a:xfrm>
            <a:off x="4147795" y="3429000"/>
            <a:ext cx="1659116" cy="426563"/>
          </a:xfrm>
          <a:prstGeom prst="ellipse">
            <a:avLst/>
          </a:prstGeom>
          <a:noFill/>
          <a:ln w="28575">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 name="矩形 5">
            <a:extLst>
              <a:ext uri="{FF2B5EF4-FFF2-40B4-BE49-F238E27FC236}">
                <a16:creationId xmlns:a16="http://schemas.microsoft.com/office/drawing/2014/main" id="{9806F898-9CDA-4829-9A66-542C4C3E7604}"/>
              </a:ext>
            </a:extLst>
          </p:cNvPr>
          <p:cNvSpPr/>
          <p:nvPr/>
        </p:nvSpPr>
        <p:spPr>
          <a:xfrm>
            <a:off x="3236536" y="5982752"/>
            <a:ext cx="6096000" cy="577081"/>
          </a:xfrm>
          <a:prstGeom prst="rect">
            <a:avLst/>
          </a:prstGeom>
        </p:spPr>
        <p:txBody>
          <a:bodyPr>
            <a:spAutoFit/>
          </a:bodyPr>
          <a:lstStyle/>
          <a:p>
            <a:pPr lvl="0"/>
            <a:r>
              <a:rPr lang="zh-CN" altLang="en-US" sz="1050" dirty="0">
                <a:solidFill>
                  <a:prstClr val="black"/>
                </a:solidFill>
              </a:rPr>
              <a:t>引自</a:t>
            </a:r>
            <a:r>
              <a:rPr lang="en-US" altLang="zh-CN" sz="1050" dirty="0">
                <a:solidFill>
                  <a:prstClr val="black"/>
                </a:solidFill>
              </a:rPr>
              <a:t>LEE K-H, LEE Y-J, CHOI H, et al. Parallel data processing with MapReduce: a survey[J]. </a:t>
            </a:r>
            <a:r>
              <a:rPr lang="en-US" altLang="zh-CN" sz="1050" dirty="0" err="1">
                <a:solidFill>
                  <a:prstClr val="black"/>
                </a:solidFill>
              </a:rPr>
              <a:t>AcM</a:t>
            </a:r>
            <a:r>
              <a:rPr lang="en-US" altLang="zh-CN" sz="1050" dirty="0">
                <a:solidFill>
                  <a:prstClr val="black"/>
                </a:solidFill>
              </a:rPr>
              <a:t> </a:t>
            </a:r>
            <a:r>
              <a:rPr lang="en-US" altLang="zh-CN" sz="1050" dirty="0" err="1">
                <a:solidFill>
                  <a:prstClr val="black"/>
                </a:solidFill>
              </a:rPr>
              <a:t>sIG</a:t>
            </a:r>
            <a:r>
              <a:rPr lang="en-US" altLang="zh-CN" sz="1050" dirty="0">
                <a:solidFill>
                  <a:prstClr val="black"/>
                </a:solidFill>
              </a:rPr>
              <a:t>-MoD Record, 2012, 40(4): 11–20.</a:t>
            </a:r>
          </a:p>
          <a:p>
            <a:pPr lvl="0"/>
            <a:endParaRPr lang="zh-CN" altLang="en-US" sz="1050" dirty="0">
              <a:solidFill>
                <a:prstClr val="black"/>
              </a:solidFill>
            </a:endParaRPr>
          </a:p>
        </p:txBody>
      </p:sp>
      <p:sp>
        <p:nvSpPr>
          <p:cNvPr id="5" name="灯片编号占位符 4">
            <a:extLst>
              <a:ext uri="{FF2B5EF4-FFF2-40B4-BE49-F238E27FC236}">
                <a16:creationId xmlns:a16="http://schemas.microsoft.com/office/drawing/2014/main" id="{5641C951-EA71-4C73-8F5F-1D8766D212AA}"/>
              </a:ext>
            </a:extLst>
          </p:cNvPr>
          <p:cNvSpPr>
            <a:spLocks noGrp="1"/>
          </p:cNvSpPr>
          <p:nvPr>
            <p:ph type="sldNum" sz="quarter" idx="12"/>
          </p:nvPr>
        </p:nvSpPr>
        <p:spPr/>
        <p:txBody>
          <a:bodyPr/>
          <a:lstStyle/>
          <a:p>
            <a:fld id="{B125EA80-F692-46D2-AFCC-CA48803B46EF}" type="slidenum">
              <a:rPr lang="zh-CN" altLang="en-US" smtClean="0"/>
              <a:t>18</a:t>
            </a:fld>
            <a:endParaRPr lang="zh-CN" altLang="en-US" dirty="0"/>
          </a:p>
        </p:txBody>
      </p:sp>
    </p:spTree>
    <p:extLst>
      <p:ext uri="{BB962C8B-B14F-4D97-AF65-F5344CB8AC3E}">
        <p14:creationId xmlns:p14="http://schemas.microsoft.com/office/powerpoint/2010/main" val="1095347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lvl="0">
              <a:lnSpc>
                <a:spcPts val="4400"/>
              </a:lnSpc>
              <a:defRPr/>
            </a:pP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 4. </a:t>
            </a:r>
            <a:r>
              <a:rPr lang="zh-CN" altLang="en-US" sz="2800" b="1" dirty="0">
                <a:solidFill>
                  <a:prstClr val="white"/>
                </a:solidFill>
              </a:rPr>
              <a:t>雾网络下基于压缩编码技术的分布式矩阵</a:t>
            </a:r>
            <a:r>
              <a:rPr lang="en-US" altLang="zh-CN" sz="2800" b="1" dirty="0">
                <a:solidFill>
                  <a:prstClr val="white"/>
                </a:solidFill>
              </a:rPr>
              <a:t>-</a:t>
            </a:r>
            <a:r>
              <a:rPr lang="zh-CN" altLang="en-US" sz="2800" b="1" dirty="0">
                <a:solidFill>
                  <a:prstClr val="white"/>
                </a:solidFill>
              </a:rPr>
              <a:t>向量乘法运算算法（系统模型）</a:t>
            </a:r>
            <a:endParaRPr kumimoji="0" lang="en-US" altLang="zh-CN" sz="2800" b="1" i="0" u="none" strike="noStrike" kern="1200" cap="none" spc="0" normalizeH="0" baseline="0" noProof="0" dirty="0">
              <a:ln>
                <a:noFill/>
              </a:ln>
              <a:solidFill>
                <a:prstClr val="white"/>
              </a:solidFill>
              <a:effectLst/>
              <a:uLnTx/>
              <a:uFillTx/>
              <a:latin typeface="Arial"/>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0" normalizeH="0" baseline="0" noProof="0" dirty="0">
              <a:ln>
                <a:noFill/>
              </a:ln>
              <a:solidFill>
                <a:prstClr val="white"/>
              </a:solidFill>
              <a:effectLst/>
              <a:uLnTx/>
              <a:uFillTx/>
              <a:latin typeface="Arial"/>
              <a:ea typeface="微软雅黑"/>
              <a:cs typeface="+mn-cs"/>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869762B-3FC4-422B-8D7C-B74731649032}"/>
                  </a:ext>
                </a:extLst>
              </p:cNvPr>
              <p:cNvSpPr txBox="1"/>
              <p:nvPr/>
            </p:nvSpPr>
            <p:spPr>
              <a:xfrm>
                <a:off x="155448" y="832104"/>
                <a:ext cx="11868912" cy="5742278"/>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000" b="1" dirty="0">
                    <a:solidFill>
                      <a:prstClr val="black"/>
                    </a:solidFill>
                    <a:latin typeface="Arial"/>
                    <a:ea typeface="微软雅黑"/>
                  </a:rPr>
                  <a:t>系统模型</a:t>
                </a:r>
                <a:endParaRPr lang="en-US" altLang="zh-CN" sz="2000" b="1"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sz="300" dirty="0">
                  <a:solidFill>
                    <a:prstClr val="black"/>
                  </a:solidFill>
                  <a:latin typeface="Arial"/>
                  <a:ea typeface="微软雅黑"/>
                </a:endParaRPr>
              </a:p>
              <a:p>
                <a:pPr marL="360000" lvl="0" indent="-285750">
                  <a:lnSpc>
                    <a:spcPct val="200000"/>
                  </a:lnSpc>
                  <a:buFont typeface="Wingdings" panose="05000000000000000000" pitchFamily="2" charset="2"/>
                  <a:buChar char="Ø"/>
                </a:pPr>
                <a:r>
                  <a:rPr lang="zh-CN" altLang="en-US" sz="1600" dirty="0">
                    <a:solidFill>
                      <a:prstClr val="black"/>
                    </a:solidFill>
                  </a:rPr>
                  <a:t>考虑雾网络中由     个边缘节点组成的分布式系统，并行执行     个</a:t>
                </a:r>
                <a:r>
                  <a:rPr lang="en-US" altLang="zh-CN" sz="1600" dirty="0">
                    <a:solidFill>
                      <a:prstClr val="black"/>
                    </a:solidFill>
                  </a:rPr>
                  <a:t>MapReduce</a:t>
                </a:r>
                <a:r>
                  <a:rPr lang="zh-CN" altLang="en-US" sz="1600" dirty="0">
                    <a:solidFill>
                      <a:prstClr val="black"/>
                    </a:solidFill>
                  </a:rPr>
                  <a:t>作业</a:t>
                </a:r>
                <a:endParaRPr lang="en-US" altLang="zh-CN" sz="1600" dirty="0">
                  <a:solidFill>
                    <a:prstClr val="black"/>
                  </a:solidFill>
                </a:endParaRPr>
              </a:p>
              <a:p>
                <a:pPr marL="360000" lvl="0" indent="-285750">
                  <a:lnSpc>
                    <a:spcPct val="200000"/>
                  </a:lnSpc>
                  <a:buFont typeface="Wingdings" panose="05000000000000000000" pitchFamily="2" charset="2"/>
                  <a:buChar char="Ø"/>
                </a:pPr>
                <a:r>
                  <a:rPr lang="zh-CN" altLang="en-US" sz="1600" dirty="0">
                    <a:solidFill>
                      <a:prstClr val="black"/>
                    </a:solidFill>
                  </a:rPr>
                  <a:t>每个作业                              都有自己的大规模数据矩阵                                                  （列数</a:t>
                </a:r>
                <a14:m>
                  <m:oMath xmlns:m="http://schemas.openxmlformats.org/officeDocument/2006/math">
                    <m:r>
                      <a:rPr lang="en-US" altLang="zh-CN" sz="1600" b="0" i="1" smtClean="0">
                        <a:solidFill>
                          <a:prstClr val="black"/>
                        </a:solidFill>
                        <a:latin typeface="Cambria Math" panose="02040503050406030204" pitchFamily="18" charset="0"/>
                      </a:rPr>
                      <m:t>𝑝</m:t>
                    </m:r>
                  </m:oMath>
                </a14:m>
                <a:r>
                  <a:rPr lang="zh-CN" altLang="en-US" sz="1600" dirty="0">
                    <a:solidFill>
                      <a:prstClr val="black"/>
                    </a:solidFill>
                  </a:rPr>
                  <a:t>可能很大）和输入向量</a:t>
                </a:r>
                <a:endParaRPr lang="en-US" altLang="zh-CN" sz="1600" dirty="0">
                  <a:solidFill>
                    <a:prstClr val="black"/>
                  </a:solidFill>
                </a:endParaRPr>
              </a:p>
              <a:p>
                <a:pPr marL="360000" lvl="0" indent="-285750">
                  <a:lnSpc>
                    <a:spcPct val="200000"/>
                  </a:lnSpc>
                  <a:buFont typeface="Wingdings" panose="05000000000000000000" pitchFamily="2" charset="2"/>
                  <a:buChar char="Ø"/>
                </a:pPr>
                <a:endParaRPr lang="en-US" altLang="zh-CN" sz="1600" dirty="0">
                  <a:solidFill>
                    <a:prstClr val="black"/>
                  </a:solidFill>
                </a:endParaRPr>
              </a:p>
              <a:p>
                <a:pPr marL="360000" lvl="0" indent="-285750">
                  <a:lnSpc>
                    <a:spcPct val="200000"/>
                  </a:lnSpc>
                  <a:buFont typeface="Wingdings" panose="05000000000000000000" pitchFamily="2" charset="2"/>
                  <a:buChar char="Ø"/>
                </a:pPr>
                <a:r>
                  <a:rPr lang="zh-CN" altLang="en-US" sz="1600" dirty="0">
                    <a:solidFill>
                      <a:prstClr val="black"/>
                    </a:solidFill>
                  </a:rPr>
                  <a:t>每个作业                              都希望通过     个节点进行分布式计算得到</a:t>
                </a:r>
                <a:endParaRPr lang="en-US" altLang="zh-CN" sz="1600" dirty="0">
                  <a:solidFill>
                    <a:prstClr val="black"/>
                  </a:solidFill>
                </a:endParaRPr>
              </a:p>
              <a:p>
                <a:pPr marL="360000" lvl="0" indent="-285750">
                  <a:lnSpc>
                    <a:spcPct val="200000"/>
                  </a:lnSpc>
                  <a:buFont typeface="Wingdings" panose="05000000000000000000" pitchFamily="2" charset="2"/>
                  <a:buChar char="Ø"/>
                </a:pPr>
                <a:r>
                  <a:rPr lang="zh-CN" altLang="en-US" sz="1600" dirty="0">
                    <a:solidFill>
                      <a:prstClr val="black"/>
                    </a:solidFill>
                  </a:rPr>
                  <a:t>对于整个分布式系统而言，我们希望得到基于     个</a:t>
                </a:r>
                <a:r>
                  <a:rPr lang="en-US" altLang="zh-CN" sz="1600" dirty="0">
                    <a:solidFill>
                      <a:prstClr val="black"/>
                    </a:solidFill>
                  </a:rPr>
                  <a:t>MapReduce</a:t>
                </a:r>
                <a:r>
                  <a:rPr lang="zh-CN" altLang="en-US" sz="1600" dirty="0">
                    <a:solidFill>
                      <a:prstClr val="black"/>
                    </a:solidFill>
                  </a:rPr>
                  <a:t>作业的整体计算结果</a:t>
                </a:r>
                <a:endParaRPr lang="en-US" altLang="zh-CN" sz="1600" dirty="0">
                  <a:solidFill>
                    <a:prstClr val="black"/>
                  </a:solidFill>
                </a:endParaRPr>
              </a:p>
              <a:p>
                <a:pPr marL="74250" lvl="0">
                  <a:lnSpc>
                    <a:spcPct val="200000"/>
                  </a:lnSpc>
                </a:pPr>
                <a:endParaRPr lang="en-US" altLang="zh-CN" sz="1200" dirty="0">
                  <a:solidFill>
                    <a:prstClr val="black"/>
                  </a:solidFill>
                </a:endParaRPr>
              </a:p>
              <a:p>
                <a:pPr marL="360000" lvl="0" indent="-285750">
                  <a:lnSpc>
                    <a:spcPct val="200000"/>
                  </a:lnSpc>
                  <a:buFont typeface="Wingdings" panose="05000000000000000000" pitchFamily="2" charset="2"/>
                  <a:buChar char="Ø"/>
                </a:pPr>
                <a:r>
                  <a:rPr lang="zh-CN" altLang="en-US" sz="1600" dirty="0">
                    <a:solidFill>
                      <a:prstClr val="black"/>
                    </a:solidFill>
                  </a:rPr>
                  <a:t>令                                           表示全局数据矩阵，其中</a:t>
                </a:r>
                <a:endParaRPr lang="en-US" altLang="zh-CN" sz="1600" dirty="0">
                  <a:solidFill>
                    <a:prstClr val="black"/>
                  </a:solidFill>
                </a:endParaRPr>
              </a:p>
              <a:p>
                <a:pPr marL="360000" lvl="0" indent="-285750">
                  <a:lnSpc>
                    <a:spcPct val="200000"/>
                  </a:lnSpc>
                  <a:buFont typeface="Wingdings" panose="05000000000000000000" pitchFamily="2" charset="2"/>
                  <a:buChar char="Ø"/>
                </a:pPr>
                <a:r>
                  <a:rPr lang="zh-CN" altLang="en-US" sz="1600" dirty="0">
                    <a:solidFill>
                      <a:prstClr val="black"/>
                    </a:solidFill>
                  </a:rPr>
                  <a:t>令                                                表示全局输入向量，其中</a:t>
                </a:r>
                <a:endParaRPr lang="en-US" altLang="zh-CN" sz="1600" dirty="0">
                  <a:solidFill>
                    <a:prstClr val="black"/>
                  </a:solidFill>
                </a:endParaRPr>
              </a:p>
              <a:p>
                <a:pPr marL="74250" lvl="0">
                  <a:lnSpc>
                    <a:spcPct val="200000"/>
                  </a:lnSpc>
                </a:pPr>
                <a:endParaRPr lang="en-US" altLang="zh-CN" sz="1200" dirty="0">
                  <a:solidFill>
                    <a:prstClr val="black"/>
                  </a:solidFill>
                </a:endParaRPr>
              </a:p>
              <a:p>
                <a:pPr marL="360000" lvl="0" indent="-285750">
                  <a:lnSpc>
                    <a:spcPct val="200000"/>
                  </a:lnSpc>
                  <a:buFont typeface="Wingdings" panose="05000000000000000000" pitchFamily="2" charset="2"/>
                  <a:buChar char="Ø"/>
                </a:pPr>
                <a:r>
                  <a:rPr lang="zh-CN" altLang="en-US" sz="1600" dirty="0">
                    <a:solidFill>
                      <a:prstClr val="black"/>
                    </a:solidFill>
                  </a:rPr>
                  <a:t>由于存储大小限制，我们假设每个节点存储              比特数据来完成本地计算，其中     表示存储率。考虑按列分块的分布式存储方式，通过某种特定的分配策略，每个节点              存储全局数据矩阵     的         列数据，构成本地数据矩阵</a:t>
                </a:r>
                <a:endParaRPr lang="en-US" altLang="zh-CN" sz="1600" b="1" dirty="0">
                  <a:solidFill>
                    <a:prstClr val="black"/>
                  </a:solidFill>
                </a:endParaRPr>
              </a:p>
            </p:txBody>
          </p:sp>
        </mc:Choice>
        <mc:Fallback xmlns="">
          <p:sp>
            <p:nvSpPr>
              <p:cNvPr id="2" name="文本框 1">
                <a:extLst>
                  <a:ext uri="{FF2B5EF4-FFF2-40B4-BE49-F238E27FC236}">
                    <a16:creationId xmlns:a16="http://schemas.microsoft.com/office/drawing/2014/main" id="{A869762B-3FC4-422B-8D7C-B74731649032}"/>
                  </a:ext>
                </a:extLst>
              </p:cNvPr>
              <p:cNvSpPr txBox="1">
                <a:spLocks noRot="1" noChangeAspect="1" noMove="1" noResize="1" noEditPoints="1" noAdjustHandles="1" noChangeArrowheads="1" noChangeShapeType="1" noTextEdit="1"/>
              </p:cNvSpPr>
              <p:nvPr/>
            </p:nvSpPr>
            <p:spPr>
              <a:xfrm>
                <a:off x="155448" y="832104"/>
                <a:ext cx="11868912" cy="5742278"/>
              </a:xfrm>
              <a:prstGeom prst="rect">
                <a:avLst/>
              </a:prstGeom>
              <a:blipFill>
                <a:blip r:embed="rId3"/>
                <a:stretch>
                  <a:fillRect l="-462" t="-638"/>
                </a:stretch>
              </a:blipFill>
            </p:spPr>
            <p:txBody>
              <a:bodyPr/>
              <a:lstStyle/>
              <a:p>
                <a:r>
                  <a:rPr lang="zh-CN" altLang="en-US">
                    <a:noFill/>
                  </a:rPr>
                  <a:t> </a:t>
                </a:r>
              </a:p>
            </p:txBody>
          </p:sp>
        </mc:Fallback>
      </mc:AlternateContent>
      <p:pic>
        <p:nvPicPr>
          <p:cNvPr id="5" name="图片 4">
            <a:extLst>
              <a:ext uri="{FF2B5EF4-FFF2-40B4-BE49-F238E27FC236}">
                <a16:creationId xmlns:a16="http://schemas.microsoft.com/office/drawing/2014/main" id="{DA262229-DDFF-47FC-AC8B-97E5AE865659}"/>
              </a:ext>
            </a:extLst>
          </p:cNvPr>
          <p:cNvPicPr>
            <a:picLocks noChangeAspect="1"/>
          </p:cNvPicPr>
          <p:nvPr/>
        </p:nvPicPr>
        <p:blipFill>
          <a:blip r:embed="rId4"/>
          <a:stretch>
            <a:fillRect/>
          </a:stretch>
        </p:blipFill>
        <p:spPr>
          <a:xfrm>
            <a:off x="2042036" y="1386897"/>
            <a:ext cx="286836" cy="237664"/>
          </a:xfrm>
          <a:prstGeom prst="rect">
            <a:avLst/>
          </a:prstGeom>
        </p:spPr>
      </p:pic>
      <p:pic>
        <p:nvPicPr>
          <p:cNvPr id="7" name="图片 6">
            <a:extLst>
              <a:ext uri="{FF2B5EF4-FFF2-40B4-BE49-F238E27FC236}">
                <a16:creationId xmlns:a16="http://schemas.microsoft.com/office/drawing/2014/main" id="{193D685A-C6CD-45D4-899E-90CB11325BF0}"/>
              </a:ext>
            </a:extLst>
          </p:cNvPr>
          <p:cNvPicPr>
            <a:picLocks noChangeAspect="1"/>
          </p:cNvPicPr>
          <p:nvPr/>
        </p:nvPicPr>
        <p:blipFill>
          <a:blip r:embed="rId5"/>
          <a:stretch>
            <a:fillRect/>
          </a:stretch>
        </p:blipFill>
        <p:spPr>
          <a:xfrm>
            <a:off x="5967728" y="1396324"/>
            <a:ext cx="263206" cy="247091"/>
          </a:xfrm>
          <a:prstGeom prst="rect">
            <a:avLst/>
          </a:prstGeom>
        </p:spPr>
      </p:pic>
      <p:pic>
        <p:nvPicPr>
          <p:cNvPr id="8" name="图片 7">
            <a:extLst>
              <a:ext uri="{FF2B5EF4-FFF2-40B4-BE49-F238E27FC236}">
                <a16:creationId xmlns:a16="http://schemas.microsoft.com/office/drawing/2014/main" id="{93E6F8AB-C01F-463D-BA45-8605E72B4BCD}"/>
              </a:ext>
            </a:extLst>
          </p:cNvPr>
          <p:cNvPicPr>
            <a:picLocks noChangeAspect="1"/>
          </p:cNvPicPr>
          <p:nvPr/>
        </p:nvPicPr>
        <p:blipFill>
          <a:blip r:embed="rId6"/>
          <a:stretch>
            <a:fillRect/>
          </a:stretch>
        </p:blipFill>
        <p:spPr>
          <a:xfrm>
            <a:off x="5590900" y="1830119"/>
            <a:ext cx="2884111" cy="336618"/>
          </a:xfrm>
          <a:prstGeom prst="rect">
            <a:avLst/>
          </a:prstGeom>
        </p:spPr>
      </p:pic>
      <p:pic>
        <p:nvPicPr>
          <p:cNvPr id="9" name="图片 8">
            <a:extLst>
              <a:ext uri="{FF2B5EF4-FFF2-40B4-BE49-F238E27FC236}">
                <a16:creationId xmlns:a16="http://schemas.microsoft.com/office/drawing/2014/main" id="{B5886E15-D8B7-43CB-B2E7-4307331E0DEE}"/>
              </a:ext>
            </a:extLst>
          </p:cNvPr>
          <p:cNvPicPr>
            <a:picLocks noChangeAspect="1"/>
          </p:cNvPicPr>
          <p:nvPr/>
        </p:nvPicPr>
        <p:blipFill>
          <a:blip r:embed="rId7"/>
          <a:stretch>
            <a:fillRect/>
          </a:stretch>
        </p:blipFill>
        <p:spPr>
          <a:xfrm>
            <a:off x="557826" y="2251580"/>
            <a:ext cx="2949566" cy="336617"/>
          </a:xfrm>
          <a:prstGeom prst="rect">
            <a:avLst/>
          </a:prstGeom>
        </p:spPr>
      </p:pic>
      <p:pic>
        <p:nvPicPr>
          <p:cNvPr id="10" name="图片 9">
            <a:extLst>
              <a:ext uri="{FF2B5EF4-FFF2-40B4-BE49-F238E27FC236}">
                <a16:creationId xmlns:a16="http://schemas.microsoft.com/office/drawing/2014/main" id="{BA274205-390F-4526-B9D0-BEAA3EFAEE42}"/>
              </a:ext>
            </a:extLst>
          </p:cNvPr>
          <p:cNvPicPr>
            <a:picLocks noChangeAspect="1"/>
          </p:cNvPicPr>
          <p:nvPr/>
        </p:nvPicPr>
        <p:blipFill>
          <a:blip r:embed="rId8"/>
          <a:stretch>
            <a:fillRect/>
          </a:stretch>
        </p:blipFill>
        <p:spPr>
          <a:xfrm>
            <a:off x="1419901" y="1838726"/>
            <a:ext cx="1697703" cy="319404"/>
          </a:xfrm>
          <a:prstGeom prst="rect">
            <a:avLst/>
          </a:prstGeom>
        </p:spPr>
      </p:pic>
      <p:pic>
        <p:nvPicPr>
          <p:cNvPr id="12" name="图片 11">
            <a:extLst>
              <a:ext uri="{FF2B5EF4-FFF2-40B4-BE49-F238E27FC236}">
                <a16:creationId xmlns:a16="http://schemas.microsoft.com/office/drawing/2014/main" id="{F9580CCA-9B59-452B-BFF3-737E5642C9BD}"/>
              </a:ext>
            </a:extLst>
          </p:cNvPr>
          <p:cNvPicPr>
            <a:picLocks noChangeAspect="1"/>
          </p:cNvPicPr>
          <p:nvPr/>
        </p:nvPicPr>
        <p:blipFill>
          <a:blip r:embed="rId8"/>
          <a:stretch>
            <a:fillRect/>
          </a:stretch>
        </p:blipFill>
        <p:spPr>
          <a:xfrm>
            <a:off x="1419900" y="2804933"/>
            <a:ext cx="1697703" cy="319404"/>
          </a:xfrm>
          <a:prstGeom prst="rect">
            <a:avLst/>
          </a:prstGeom>
        </p:spPr>
      </p:pic>
      <p:pic>
        <p:nvPicPr>
          <p:cNvPr id="13" name="图片 12">
            <a:extLst>
              <a:ext uri="{FF2B5EF4-FFF2-40B4-BE49-F238E27FC236}">
                <a16:creationId xmlns:a16="http://schemas.microsoft.com/office/drawing/2014/main" id="{A0018726-65B2-47D2-BC0A-E3F5C5069F93}"/>
              </a:ext>
            </a:extLst>
          </p:cNvPr>
          <p:cNvPicPr>
            <a:picLocks noChangeAspect="1"/>
          </p:cNvPicPr>
          <p:nvPr/>
        </p:nvPicPr>
        <p:blipFill>
          <a:blip r:embed="rId4"/>
          <a:stretch>
            <a:fillRect/>
          </a:stretch>
        </p:blipFill>
        <p:spPr>
          <a:xfrm>
            <a:off x="4160286" y="2851182"/>
            <a:ext cx="273852" cy="226906"/>
          </a:xfrm>
          <a:prstGeom prst="rect">
            <a:avLst/>
          </a:prstGeom>
        </p:spPr>
      </p:pic>
      <p:pic>
        <p:nvPicPr>
          <p:cNvPr id="11" name="图片 10">
            <a:extLst>
              <a:ext uri="{FF2B5EF4-FFF2-40B4-BE49-F238E27FC236}">
                <a16:creationId xmlns:a16="http://schemas.microsoft.com/office/drawing/2014/main" id="{3D211E2F-7691-4D01-B26F-8688E1A07EB8}"/>
              </a:ext>
            </a:extLst>
          </p:cNvPr>
          <p:cNvPicPr>
            <a:picLocks noChangeAspect="1"/>
          </p:cNvPicPr>
          <p:nvPr/>
        </p:nvPicPr>
        <p:blipFill>
          <a:blip r:embed="rId9"/>
          <a:stretch>
            <a:fillRect/>
          </a:stretch>
        </p:blipFill>
        <p:spPr>
          <a:xfrm>
            <a:off x="6858590" y="2784227"/>
            <a:ext cx="1470708" cy="301051"/>
          </a:xfrm>
          <a:prstGeom prst="rect">
            <a:avLst/>
          </a:prstGeom>
        </p:spPr>
      </p:pic>
      <p:pic>
        <p:nvPicPr>
          <p:cNvPr id="15" name="图片 14">
            <a:extLst>
              <a:ext uri="{FF2B5EF4-FFF2-40B4-BE49-F238E27FC236}">
                <a16:creationId xmlns:a16="http://schemas.microsoft.com/office/drawing/2014/main" id="{2DB46A81-9A3C-44CA-B557-6BA3F140BB3D}"/>
              </a:ext>
            </a:extLst>
          </p:cNvPr>
          <p:cNvPicPr>
            <a:picLocks noChangeAspect="1"/>
          </p:cNvPicPr>
          <p:nvPr/>
        </p:nvPicPr>
        <p:blipFill>
          <a:blip r:embed="rId5"/>
          <a:stretch>
            <a:fillRect/>
          </a:stretch>
        </p:blipFill>
        <p:spPr>
          <a:xfrm>
            <a:off x="4683526" y="3339821"/>
            <a:ext cx="263206" cy="247091"/>
          </a:xfrm>
          <a:prstGeom prst="rect">
            <a:avLst/>
          </a:prstGeom>
        </p:spPr>
      </p:pic>
      <p:pic>
        <p:nvPicPr>
          <p:cNvPr id="14" name="图片 13">
            <a:extLst>
              <a:ext uri="{FF2B5EF4-FFF2-40B4-BE49-F238E27FC236}">
                <a16:creationId xmlns:a16="http://schemas.microsoft.com/office/drawing/2014/main" id="{0681109C-7A28-4F40-BBD7-DC3E9C8D6732}"/>
              </a:ext>
            </a:extLst>
          </p:cNvPr>
          <p:cNvPicPr>
            <a:picLocks noChangeAspect="1"/>
          </p:cNvPicPr>
          <p:nvPr/>
        </p:nvPicPr>
        <p:blipFill>
          <a:blip r:embed="rId10"/>
          <a:stretch>
            <a:fillRect/>
          </a:stretch>
        </p:blipFill>
        <p:spPr>
          <a:xfrm>
            <a:off x="8080014" y="3285048"/>
            <a:ext cx="2112938" cy="374339"/>
          </a:xfrm>
          <a:prstGeom prst="rect">
            <a:avLst/>
          </a:prstGeom>
        </p:spPr>
      </p:pic>
      <p:pic>
        <p:nvPicPr>
          <p:cNvPr id="16" name="图片 15">
            <a:extLst>
              <a:ext uri="{FF2B5EF4-FFF2-40B4-BE49-F238E27FC236}">
                <a16:creationId xmlns:a16="http://schemas.microsoft.com/office/drawing/2014/main" id="{DFCBE82E-470F-436F-A9DB-1C25D08EED7D}"/>
              </a:ext>
            </a:extLst>
          </p:cNvPr>
          <p:cNvPicPr>
            <a:picLocks noChangeAspect="1"/>
          </p:cNvPicPr>
          <p:nvPr/>
        </p:nvPicPr>
        <p:blipFill>
          <a:blip r:embed="rId11"/>
          <a:stretch>
            <a:fillRect/>
          </a:stretch>
        </p:blipFill>
        <p:spPr>
          <a:xfrm>
            <a:off x="842085" y="4166706"/>
            <a:ext cx="2343339" cy="298661"/>
          </a:xfrm>
          <a:prstGeom prst="rect">
            <a:avLst/>
          </a:prstGeom>
        </p:spPr>
      </p:pic>
      <p:pic>
        <p:nvPicPr>
          <p:cNvPr id="17" name="图片 16">
            <a:extLst>
              <a:ext uri="{FF2B5EF4-FFF2-40B4-BE49-F238E27FC236}">
                <a16:creationId xmlns:a16="http://schemas.microsoft.com/office/drawing/2014/main" id="{42C7CD0E-9A53-4E65-98A0-751423935E64}"/>
              </a:ext>
            </a:extLst>
          </p:cNvPr>
          <p:cNvPicPr>
            <a:picLocks noChangeAspect="1"/>
          </p:cNvPicPr>
          <p:nvPr/>
        </p:nvPicPr>
        <p:blipFill>
          <a:blip r:embed="rId12"/>
          <a:stretch>
            <a:fillRect/>
          </a:stretch>
        </p:blipFill>
        <p:spPr>
          <a:xfrm>
            <a:off x="5537044" y="4157258"/>
            <a:ext cx="1061350" cy="332973"/>
          </a:xfrm>
          <a:prstGeom prst="rect">
            <a:avLst/>
          </a:prstGeom>
        </p:spPr>
      </p:pic>
      <p:pic>
        <p:nvPicPr>
          <p:cNvPr id="18" name="图片 17">
            <a:extLst>
              <a:ext uri="{FF2B5EF4-FFF2-40B4-BE49-F238E27FC236}">
                <a16:creationId xmlns:a16="http://schemas.microsoft.com/office/drawing/2014/main" id="{3897C408-447B-4BF8-B089-45F5A4C7C97A}"/>
              </a:ext>
            </a:extLst>
          </p:cNvPr>
          <p:cNvPicPr>
            <a:picLocks noChangeAspect="1"/>
          </p:cNvPicPr>
          <p:nvPr/>
        </p:nvPicPr>
        <p:blipFill>
          <a:blip r:embed="rId13"/>
          <a:stretch>
            <a:fillRect/>
          </a:stretch>
        </p:blipFill>
        <p:spPr>
          <a:xfrm>
            <a:off x="871654" y="4622209"/>
            <a:ext cx="2665307" cy="327702"/>
          </a:xfrm>
          <a:prstGeom prst="rect">
            <a:avLst/>
          </a:prstGeom>
        </p:spPr>
      </p:pic>
      <p:pic>
        <p:nvPicPr>
          <p:cNvPr id="19" name="图片 18">
            <a:extLst>
              <a:ext uri="{FF2B5EF4-FFF2-40B4-BE49-F238E27FC236}">
                <a16:creationId xmlns:a16="http://schemas.microsoft.com/office/drawing/2014/main" id="{FE2E1310-7F76-4280-B97E-706B88C02F4B}"/>
              </a:ext>
            </a:extLst>
          </p:cNvPr>
          <p:cNvPicPr>
            <a:picLocks noChangeAspect="1"/>
          </p:cNvPicPr>
          <p:nvPr/>
        </p:nvPicPr>
        <p:blipFill>
          <a:blip r:embed="rId14"/>
          <a:stretch>
            <a:fillRect/>
          </a:stretch>
        </p:blipFill>
        <p:spPr>
          <a:xfrm>
            <a:off x="5780766" y="4631636"/>
            <a:ext cx="817628" cy="349737"/>
          </a:xfrm>
          <a:prstGeom prst="rect">
            <a:avLst/>
          </a:prstGeom>
        </p:spPr>
      </p:pic>
      <p:sp>
        <p:nvSpPr>
          <p:cNvPr id="20" name="右大括号 19">
            <a:extLst>
              <a:ext uri="{FF2B5EF4-FFF2-40B4-BE49-F238E27FC236}">
                <a16:creationId xmlns:a16="http://schemas.microsoft.com/office/drawing/2014/main" id="{0752EAD7-FD20-4E48-B585-21F48EAE17DC}"/>
              </a:ext>
            </a:extLst>
          </p:cNvPr>
          <p:cNvSpPr/>
          <p:nvPr/>
        </p:nvSpPr>
        <p:spPr>
          <a:xfrm>
            <a:off x="6693031" y="4242122"/>
            <a:ext cx="414779" cy="626285"/>
          </a:xfrm>
          <a:prstGeom prst="rightBrace">
            <a:avLst>
              <a:gd name="adj1" fmla="val 21969"/>
              <a:gd name="adj2" fmla="val 50000"/>
            </a:avLst>
          </a:prstGeom>
          <a:ln w="28575">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solidFill>
                <a:srgbClr val="FF0000"/>
              </a:solidFill>
            </a:endParaRPr>
          </a:p>
        </p:txBody>
      </p:sp>
      <p:sp>
        <p:nvSpPr>
          <p:cNvPr id="21" name="文本框 20">
            <a:extLst>
              <a:ext uri="{FF2B5EF4-FFF2-40B4-BE49-F238E27FC236}">
                <a16:creationId xmlns:a16="http://schemas.microsoft.com/office/drawing/2014/main" id="{198384AA-6CD6-4738-8635-D59CFD552059}"/>
              </a:ext>
            </a:extLst>
          </p:cNvPr>
          <p:cNvSpPr txBox="1"/>
          <p:nvPr/>
        </p:nvSpPr>
        <p:spPr>
          <a:xfrm>
            <a:off x="7288759" y="4397872"/>
            <a:ext cx="4193087" cy="338554"/>
          </a:xfrm>
          <a:prstGeom prst="rect">
            <a:avLst/>
          </a:prstGeom>
          <a:noFill/>
        </p:spPr>
        <p:txBody>
          <a:bodyPr wrap="square" rtlCol="0">
            <a:spAutoFit/>
          </a:bodyPr>
          <a:lstStyle/>
          <a:p>
            <a:r>
              <a:rPr lang="zh-CN" altLang="en-US" sz="1600" dirty="0"/>
              <a:t>令     中的每一列与    中每一行元素一一对应  </a:t>
            </a:r>
            <a:endParaRPr lang="zh-CN" altLang="en-US" dirty="0"/>
          </a:p>
        </p:txBody>
      </p:sp>
      <p:pic>
        <p:nvPicPr>
          <p:cNvPr id="23" name="图片 22">
            <a:extLst>
              <a:ext uri="{FF2B5EF4-FFF2-40B4-BE49-F238E27FC236}">
                <a16:creationId xmlns:a16="http://schemas.microsoft.com/office/drawing/2014/main" id="{670DC85F-0CCB-4CFE-BC0D-237535B27BED}"/>
              </a:ext>
            </a:extLst>
          </p:cNvPr>
          <p:cNvPicPr>
            <a:picLocks noChangeAspect="1"/>
          </p:cNvPicPr>
          <p:nvPr/>
        </p:nvPicPr>
        <p:blipFill>
          <a:blip r:embed="rId15"/>
          <a:stretch>
            <a:fillRect/>
          </a:stretch>
        </p:blipFill>
        <p:spPr>
          <a:xfrm>
            <a:off x="7607444" y="4418103"/>
            <a:ext cx="232246" cy="258341"/>
          </a:xfrm>
          <a:prstGeom prst="rect">
            <a:avLst/>
          </a:prstGeom>
        </p:spPr>
      </p:pic>
      <p:pic>
        <p:nvPicPr>
          <p:cNvPr id="24" name="图片 23">
            <a:extLst>
              <a:ext uri="{FF2B5EF4-FFF2-40B4-BE49-F238E27FC236}">
                <a16:creationId xmlns:a16="http://schemas.microsoft.com/office/drawing/2014/main" id="{C2948097-597A-4387-A1C3-CAF3D35222B9}"/>
              </a:ext>
            </a:extLst>
          </p:cNvPr>
          <p:cNvPicPr>
            <a:picLocks noChangeAspect="1"/>
          </p:cNvPicPr>
          <p:nvPr/>
        </p:nvPicPr>
        <p:blipFill>
          <a:blip r:embed="rId16"/>
          <a:stretch>
            <a:fillRect/>
          </a:stretch>
        </p:blipFill>
        <p:spPr>
          <a:xfrm>
            <a:off x="9102692" y="4469923"/>
            <a:ext cx="180706" cy="206521"/>
          </a:xfrm>
          <a:prstGeom prst="rect">
            <a:avLst/>
          </a:prstGeom>
        </p:spPr>
      </p:pic>
      <p:pic>
        <p:nvPicPr>
          <p:cNvPr id="25" name="图片 24">
            <a:extLst>
              <a:ext uri="{FF2B5EF4-FFF2-40B4-BE49-F238E27FC236}">
                <a16:creationId xmlns:a16="http://schemas.microsoft.com/office/drawing/2014/main" id="{7E66ABAD-28ED-4E5D-B793-66416A9ECBB1}"/>
              </a:ext>
            </a:extLst>
          </p:cNvPr>
          <p:cNvPicPr>
            <a:picLocks noChangeAspect="1"/>
          </p:cNvPicPr>
          <p:nvPr/>
        </p:nvPicPr>
        <p:blipFill>
          <a:blip r:embed="rId17"/>
          <a:stretch>
            <a:fillRect/>
          </a:stretch>
        </p:blipFill>
        <p:spPr>
          <a:xfrm>
            <a:off x="4493542" y="5515907"/>
            <a:ext cx="755740" cy="253053"/>
          </a:xfrm>
          <a:prstGeom prst="rect">
            <a:avLst/>
          </a:prstGeom>
        </p:spPr>
      </p:pic>
      <p:pic>
        <p:nvPicPr>
          <p:cNvPr id="26" name="图片 25">
            <a:extLst>
              <a:ext uri="{FF2B5EF4-FFF2-40B4-BE49-F238E27FC236}">
                <a16:creationId xmlns:a16="http://schemas.microsoft.com/office/drawing/2014/main" id="{C502265A-4FC1-490E-8F1E-57AFDE3A75CF}"/>
              </a:ext>
            </a:extLst>
          </p:cNvPr>
          <p:cNvPicPr>
            <a:picLocks noChangeAspect="1"/>
          </p:cNvPicPr>
          <p:nvPr/>
        </p:nvPicPr>
        <p:blipFill>
          <a:blip r:embed="rId18"/>
          <a:stretch>
            <a:fillRect/>
          </a:stretch>
        </p:blipFill>
        <p:spPr>
          <a:xfrm>
            <a:off x="8114622" y="5518663"/>
            <a:ext cx="267240" cy="267240"/>
          </a:xfrm>
          <a:prstGeom prst="rect">
            <a:avLst/>
          </a:prstGeom>
        </p:spPr>
      </p:pic>
      <p:pic>
        <p:nvPicPr>
          <p:cNvPr id="28" name="图片 27">
            <a:extLst>
              <a:ext uri="{FF2B5EF4-FFF2-40B4-BE49-F238E27FC236}">
                <a16:creationId xmlns:a16="http://schemas.microsoft.com/office/drawing/2014/main" id="{D225778A-7737-45A4-975D-126F0BC08CC4}"/>
              </a:ext>
            </a:extLst>
          </p:cNvPr>
          <p:cNvPicPr>
            <a:picLocks noChangeAspect="1"/>
          </p:cNvPicPr>
          <p:nvPr/>
        </p:nvPicPr>
        <p:blipFill>
          <a:blip r:embed="rId19"/>
          <a:stretch>
            <a:fillRect/>
          </a:stretch>
        </p:blipFill>
        <p:spPr>
          <a:xfrm>
            <a:off x="4702378" y="6023055"/>
            <a:ext cx="755739" cy="254172"/>
          </a:xfrm>
          <a:prstGeom prst="rect">
            <a:avLst/>
          </a:prstGeom>
        </p:spPr>
      </p:pic>
      <p:pic>
        <p:nvPicPr>
          <p:cNvPr id="29" name="图片 28">
            <a:extLst>
              <a:ext uri="{FF2B5EF4-FFF2-40B4-BE49-F238E27FC236}">
                <a16:creationId xmlns:a16="http://schemas.microsoft.com/office/drawing/2014/main" id="{47C2D988-B1AB-40B6-A926-03C62E4BB890}"/>
              </a:ext>
            </a:extLst>
          </p:cNvPr>
          <p:cNvPicPr>
            <a:picLocks noChangeAspect="1"/>
          </p:cNvPicPr>
          <p:nvPr/>
        </p:nvPicPr>
        <p:blipFill>
          <a:blip r:embed="rId15"/>
          <a:stretch>
            <a:fillRect/>
          </a:stretch>
        </p:blipFill>
        <p:spPr>
          <a:xfrm>
            <a:off x="7107810" y="6001808"/>
            <a:ext cx="232246" cy="258341"/>
          </a:xfrm>
          <a:prstGeom prst="rect">
            <a:avLst/>
          </a:prstGeom>
        </p:spPr>
      </p:pic>
      <p:pic>
        <p:nvPicPr>
          <p:cNvPr id="30" name="图片 29">
            <a:extLst>
              <a:ext uri="{FF2B5EF4-FFF2-40B4-BE49-F238E27FC236}">
                <a16:creationId xmlns:a16="http://schemas.microsoft.com/office/drawing/2014/main" id="{B1949303-68DA-4288-A9B0-C8CC56D8B6B1}"/>
              </a:ext>
            </a:extLst>
          </p:cNvPr>
          <p:cNvPicPr>
            <a:picLocks noChangeAspect="1"/>
          </p:cNvPicPr>
          <p:nvPr/>
        </p:nvPicPr>
        <p:blipFill>
          <a:blip r:embed="rId20"/>
          <a:stretch>
            <a:fillRect/>
          </a:stretch>
        </p:blipFill>
        <p:spPr>
          <a:xfrm>
            <a:off x="7623031" y="6011235"/>
            <a:ext cx="447485" cy="258342"/>
          </a:xfrm>
          <a:prstGeom prst="rect">
            <a:avLst/>
          </a:prstGeom>
        </p:spPr>
      </p:pic>
      <p:pic>
        <p:nvPicPr>
          <p:cNvPr id="31" name="图片 30">
            <a:extLst>
              <a:ext uri="{FF2B5EF4-FFF2-40B4-BE49-F238E27FC236}">
                <a16:creationId xmlns:a16="http://schemas.microsoft.com/office/drawing/2014/main" id="{202C8A59-BE10-49C7-AB5A-E7D03DA3A82A}"/>
              </a:ext>
            </a:extLst>
          </p:cNvPr>
          <p:cNvPicPr>
            <a:picLocks noChangeAspect="1"/>
          </p:cNvPicPr>
          <p:nvPr/>
        </p:nvPicPr>
        <p:blipFill>
          <a:blip r:embed="rId21"/>
          <a:stretch>
            <a:fillRect/>
          </a:stretch>
        </p:blipFill>
        <p:spPr>
          <a:xfrm>
            <a:off x="10561712" y="5970899"/>
            <a:ext cx="1328456" cy="338554"/>
          </a:xfrm>
          <a:prstGeom prst="rect">
            <a:avLst/>
          </a:prstGeom>
        </p:spPr>
      </p:pic>
      <p:sp>
        <p:nvSpPr>
          <p:cNvPr id="3" name="灯片编号占位符 2">
            <a:extLst>
              <a:ext uri="{FF2B5EF4-FFF2-40B4-BE49-F238E27FC236}">
                <a16:creationId xmlns:a16="http://schemas.microsoft.com/office/drawing/2014/main" id="{18E8719A-1823-4DDD-BA7C-467B5A53D409}"/>
              </a:ext>
            </a:extLst>
          </p:cNvPr>
          <p:cNvSpPr>
            <a:spLocks noGrp="1"/>
          </p:cNvSpPr>
          <p:nvPr>
            <p:ph type="sldNum" sz="quarter" idx="12"/>
          </p:nvPr>
        </p:nvSpPr>
        <p:spPr/>
        <p:txBody>
          <a:bodyPr/>
          <a:lstStyle/>
          <a:p>
            <a:fld id="{B125EA80-F692-46D2-AFCC-CA48803B46EF}" type="slidenum">
              <a:rPr lang="zh-CN" altLang="en-US" smtClean="0"/>
              <a:t>19</a:t>
            </a:fld>
            <a:endParaRPr lang="zh-CN" altLang="en-US" dirty="0"/>
          </a:p>
        </p:txBody>
      </p:sp>
    </p:spTree>
    <p:extLst>
      <p:ext uri="{BB962C8B-B14F-4D97-AF65-F5344CB8AC3E}">
        <p14:creationId xmlns:p14="http://schemas.microsoft.com/office/powerpoint/2010/main" val="19069513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5" name="图片 54">
            <a:extLst>
              <a:ext uri="{FF2B5EF4-FFF2-40B4-BE49-F238E27FC236}">
                <a16:creationId xmlns:a16="http://schemas.microsoft.com/office/drawing/2014/main" id="{77CE46DA-A058-40B7-BA9F-AF70C4F26B05}"/>
              </a:ext>
            </a:extLst>
          </p:cNvPr>
          <p:cNvPicPr>
            <a:picLocks noChangeAspect="1"/>
          </p:cNvPicPr>
          <p:nvPr/>
        </p:nvPicPr>
        <p:blipFill>
          <a:blip r:embed="rId3"/>
          <a:stretch>
            <a:fillRect/>
          </a:stretch>
        </p:blipFill>
        <p:spPr>
          <a:xfrm>
            <a:off x="10029921" y="2673338"/>
            <a:ext cx="2149446" cy="479373"/>
          </a:xfrm>
          <a:prstGeom prst="rect">
            <a:avLst/>
          </a:prstGeom>
        </p:spPr>
      </p:pic>
      <p:sp>
        <p:nvSpPr>
          <p:cNvPr id="27" name="文本框 26">
            <a:extLst>
              <a:ext uri="{FF2B5EF4-FFF2-40B4-BE49-F238E27FC236}">
                <a16:creationId xmlns:a16="http://schemas.microsoft.com/office/drawing/2014/main" id="{663C2739-4499-48DE-BBF6-DC56B01690F3}"/>
              </a:ext>
            </a:extLst>
          </p:cNvPr>
          <p:cNvSpPr txBox="1"/>
          <p:nvPr/>
        </p:nvSpPr>
        <p:spPr>
          <a:xfrm>
            <a:off x="0" y="-46655"/>
            <a:ext cx="12192000" cy="764312"/>
          </a:xfrm>
          <a:prstGeom prst="rect">
            <a:avLst/>
          </a:prstGeom>
          <a:solidFill>
            <a:srgbClr val="0070C0"/>
          </a:solidFill>
        </p:spPr>
        <p:txBody>
          <a:bodyPr wrap="square" rtlCol="0">
            <a:spAutoFit/>
          </a:bodyPr>
          <a:lstStyle/>
          <a:p>
            <a:pPr lvl="0">
              <a:lnSpc>
                <a:spcPts val="4400"/>
              </a:lnSpc>
              <a:defRPr/>
            </a:pP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 4. </a:t>
            </a:r>
            <a:r>
              <a:rPr lang="zh-CN" altLang="en-US" sz="2800" b="1" dirty="0">
                <a:solidFill>
                  <a:prstClr val="white"/>
                </a:solidFill>
              </a:rPr>
              <a:t>雾网络下基于压缩编码技术的分布式矩阵</a:t>
            </a:r>
            <a:r>
              <a:rPr lang="en-US" altLang="zh-CN" sz="2800" b="1" dirty="0">
                <a:solidFill>
                  <a:prstClr val="white"/>
                </a:solidFill>
              </a:rPr>
              <a:t>-</a:t>
            </a:r>
            <a:r>
              <a:rPr lang="zh-CN" altLang="en-US" sz="2800" b="1" dirty="0">
                <a:solidFill>
                  <a:prstClr val="white"/>
                </a:solidFill>
              </a:rPr>
              <a:t>向量乘法运算算法（系统模型）</a:t>
            </a:r>
            <a:endParaRPr kumimoji="0" lang="en-US" altLang="zh-CN" sz="2800" b="1" i="0" u="none" strike="noStrike" kern="1200" cap="none" spc="0" normalizeH="0" baseline="0" noProof="0" dirty="0">
              <a:ln>
                <a:noFill/>
              </a:ln>
              <a:solidFill>
                <a:prstClr val="white"/>
              </a:solidFill>
              <a:effectLst/>
              <a:uLnTx/>
              <a:uFillTx/>
              <a:latin typeface="Arial"/>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0" normalizeH="0" baseline="0" noProof="0" dirty="0">
              <a:ln>
                <a:noFill/>
              </a:ln>
              <a:solidFill>
                <a:prstClr val="white"/>
              </a:solidFill>
              <a:effectLst/>
              <a:uLnTx/>
              <a:uFillTx/>
              <a:latin typeface="Arial"/>
              <a:ea typeface="微软雅黑"/>
              <a:cs typeface="+mn-cs"/>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55448" y="606624"/>
            <a:ext cx="11868912" cy="5971571"/>
          </a:xfrm>
          <a:prstGeom prst="rect">
            <a:avLst/>
          </a:prstGeom>
          <a:noFill/>
        </p:spPr>
        <p:txBody>
          <a:bodyPr wrap="square" rtlCol="0">
            <a:spAutoFit/>
          </a:bodyPr>
          <a:lstStyle/>
          <a:p>
            <a:pPr marL="285750" lvl="0" indent="-285750">
              <a:lnSpc>
                <a:spcPct val="150000"/>
              </a:lnSpc>
              <a:buFont typeface="Wingdings" panose="05000000000000000000" pitchFamily="2" charset="2"/>
              <a:buChar char="p"/>
            </a:pPr>
            <a:r>
              <a:rPr lang="en-US" altLang="zh-CN" sz="1600" b="1" dirty="0">
                <a:solidFill>
                  <a:prstClr val="black"/>
                </a:solidFill>
              </a:rPr>
              <a:t>Map</a:t>
            </a:r>
            <a:r>
              <a:rPr lang="zh-CN" altLang="en-US" sz="1600" b="1" dirty="0">
                <a:solidFill>
                  <a:prstClr val="black"/>
                </a:solidFill>
              </a:rPr>
              <a:t>阶段</a:t>
            </a:r>
            <a:endParaRPr lang="en-US" altLang="zh-CN" sz="1600" b="1" dirty="0">
              <a:solidFill>
                <a:prstClr val="black"/>
              </a:solidFill>
            </a:endParaRPr>
          </a:p>
          <a:p>
            <a:pPr marL="360000" lvl="1" indent="-285750">
              <a:lnSpc>
                <a:spcPts val="2400"/>
              </a:lnSpc>
              <a:buFont typeface="Wingdings" panose="05000000000000000000" pitchFamily="2" charset="2"/>
              <a:buChar char="Ø"/>
            </a:pPr>
            <a:r>
              <a:rPr lang="zh-CN" altLang="en-US" sz="1600" dirty="0">
                <a:solidFill>
                  <a:prstClr val="black"/>
                </a:solidFill>
              </a:rPr>
              <a:t>    个作业并行执行，每个节点</a:t>
            </a:r>
            <a:r>
              <a:rPr lang="en-US" altLang="zh-CN" sz="1600" dirty="0">
                <a:solidFill>
                  <a:prstClr val="black"/>
                </a:solidFill>
              </a:rPr>
              <a:t>              </a:t>
            </a:r>
            <a:r>
              <a:rPr lang="zh-CN" altLang="en-US" sz="1600" dirty="0">
                <a:solidFill>
                  <a:prstClr val="black"/>
                </a:solidFill>
              </a:rPr>
              <a:t>将其本地数据矩阵      的每一列元素与全局输入向量   中对应的元素相乘，得到             个中间值</a:t>
            </a:r>
            <a:r>
              <a:rPr lang="en-US" altLang="zh-CN" sz="1600" dirty="0">
                <a:solidFill>
                  <a:prstClr val="black"/>
                </a:solidFill>
              </a:rPr>
              <a:t>                          </a:t>
            </a:r>
            <a:r>
              <a:rPr lang="zh-CN" altLang="en-US" sz="1600" dirty="0">
                <a:solidFill>
                  <a:prstClr val="black"/>
                </a:solidFill>
              </a:rPr>
              <a:t>，其中              代表      中的列向量，              表示    中与列   对应的行元素</a:t>
            </a:r>
            <a:endParaRPr lang="en-US" altLang="zh-CN" sz="1600" dirty="0">
              <a:solidFill>
                <a:prstClr val="black"/>
              </a:solidFill>
            </a:endParaRPr>
          </a:p>
          <a:p>
            <a:pPr marL="360000" lvl="1" indent="-285750">
              <a:lnSpc>
                <a:spcPct val="150000"/>
              </a:lnSpc>
              <a:buFont typeface="Wingdings" panose="05000000000000000000" pitchFamily="2" charset="2"/>
              <a:buChar char="Ø"/>
            </a:pPr>
            <a:r>
              <a:rPr lang="zh-CN" altLang="en-US" sz="1600" dirty="0">
                <a:solidFill>
                  <a:prstClr val="black"/>
                </a:solidFill>
              </a:rPr>
              <a:t>对于每个作业            ，对于                          ，我们将每一列       按行分块</a:t>
            </a:r>
            <a:endParaRPr lang="en-US" altLang="zh-CN" sz="1600" dirty="0">
              <a:solidFill>
                <a:prstClr val="black"/>
              </a:solidFill>
            </a:endParaRPr>
          </a:p>
          <a:p>
            <a:pPr marL="360000" lvl="1" indent="-285750">
              <a:lnSpc>
                <a:spcPct val="150000"/>
              </a:lnSpc>
              <a:buFont typeface="Wingdings" panose="05000000000000000000" pitchFamily="2" charset="2"/>
              <a:buChar char="Ø"/>
            </a:pPr>
            <a:endParaRPr lang="en-US" altLang="zh-CN" sz="1600" b="1" dirty="0">
              <a:solidFill>
                <a:prstClr val="black"/>
              </a:solidFill>
              <a:latin typeface="Arial"/>
              <a:ea typeface="微软雅黑"/>
            </a:endParaRPr>
          </a:p>
          <a:p>
            <a:pPr marL="360000" lvl="1" indent="-285750">
              <a:lnSpc>
                <a:spcPct val="150000"/>
              </a:lnSpc>
              <a:buFont typeface="Wingdings" panose="05000000000000000000" pitchFamily="2" charset="2"/>
              <a:buChar char="Ø"/>
            </a:pPr>
            <a:endParaRPr lang="en-US" altLang="zh-CN" sz="1600" b="1" dirty="0">
              <a:solidFill>
                <a:prstClr val="black"/>
              </a:solidFill>
              <a:latin typeface="Arial"/>
              <a:ea typeface="微软雅黑"/>
            </a:endParaRPr>
          </a:p>
          <a:p>
            <a:pPr marL="360000" lvl="1" indent="-285750">
              <a:lnSpc>
                <a:spcPct val="150000"/>
              </a:lnSpc>
              <a:buFont typeface="Wingdings" panose="05000000000000000000" pitchFamily="2" charset="2"/>
              <a:buChar char="Ø"/>
            </a:pPr>
            <a:endParaRPr lang="en-US" altLang="zh-CN" sz="1600" b="1" dirty="0">
              <a:solidFill>
                <a:prstClr val="black"/>
              </a:solidFill>
              <a:latin typeface="Arial"/>
              <a:ea typeface="微软雅黑"/>
            </a:endParaRPr>
          </a:p>
          <a:p>
            <a:pPr marL="360000" lvl="1" indent="-285750">
              <a:lnSpc>
                <a:spcPct val="150000"/>
              </a:lnSpc>
              <a:buFont typeface="Wingdings" panose="05000000000000000000" pitchFamily="2" charset="2"/>
              <a:buChar char="Ø"/>
            </a:pPr>
            <a:endParaRPr lang="en-US" altLang="zh-CN" sz="1600" b="1" dirty="0">
              <a:solidFill>
                <a:prstClr val="black"/>
              </a:solidFill>
              <a:latin typeface="Arial"/>
              <a:ea typeface="微软雅黑"/>
            </a:endParaRPr>
          </a:p>
          <a:p>
            <a:pPr marL="285750" lvl="0" indent="-285750">
              <a:lnSpc>
                <a:spcPct val="150000"/>
              </a:lnSpc>
              <a:buFont typeface="Wingdings" panose="05000000000000000000" pitchFamily="2" charset="2"/>
              <a:buChar char="p"/>
            </a:pPr>
            <a:r>
              <a:rPr lang="en-US" altLang="zh-CN" sz="1600" b="1" dirty="0">
                <a:solidFill>
                  <a:prstClr val="black"/>
                </a:solidFill>
              </a:rPr>
              <a:t>Shuffle</a:t>
            </a:r>
            <a:r>
              <a:rPr lang="zh-CN" altLang="en-US" sz="1600" b="1" dirty="0">
                <a:solidFill>
                  <a:prstClr val="black"/>
                </a:solidFill>
              </a:rPr>
              <a:t>阶段</a:t>
            </a:r>
            <a:endParaRPr lang="en-US" altLang="zh-CN" sz="1600" b="1" dirty="0">
              <a:solidFill>
                <a:prstClr val="black"/>
              </a:solidFill>
            </a:endParaRPr>
          </a:p>
          <a:p>
            <a:pPr marL="360000" lvl="1" indent="-285750">
              <a:lnSpc>
                <a:spcPct val="150000"/>
              </a:lnSpc>
              <a:buFont typeface="Wingdings" panose="05000000000000000000" pitchFamily="2" charset="2"/>
              <a:buChar char="Ø"/>
            </a:pPr>
            <a:r>
              <a:rPr lang="zh-CN" altLang="en-US" sz="1600" dirty="0">
                <a:solidFill>
                  <a:prstClr val="black"/>
                </a:solidFill>
              </a:rPr>
              <a:t>节点              产生一个大小为    比特的传输信息      ，并将其广播给其他节点。在此定义传输量（用          归一化）</a:t>
            </a:r>
            <a:endParaRPr lang="en-US" altLang="zh-CN" sz="1600" b="1" dirty="0">
              <a:solidFill>
                <a:prstClr val="black"/>
              </a:solidFill>
            </a:endParaRPr>
          </a:p>
          <a:p>
            <a:pPr marL="74250" lvl="1">
              <a:lnSpc>
                <a:spcPct val="150000"/>
              </a:lnSpc>
            </a:pPr>
            <a:endParaRPr lang="en-US" altLang="zh-CN" sz="1050" b="1" dirty="0">
              <a:solidFill>
                <a:prstClr val="black"/>
              </a:solidFill>
              <a:latin typeface="Arial"/>
              <a:ea typeface="微软雅黑"/>
            </a:endParaRPr>
          </a:p>
          <a:p>
            <a:pPr marL="285750" lvl="0" indent="-285750">
              <a:lnSpc>
                <a:spcPct val="150000"/>
              </a:lnSpc>
              <a:buFont typeface="Wingdings" panose="05000000000000000000" pitchFamily="2" charset="2"/>
              <a:buChar char="p"/>
            </a:pPr>
            <a:r>
              <a:rPr lang="en-US" altLang="zh-CN" sz="1600" b="1" dirty="0">
                <a:solidFill>
                  <a:prstClr val="black"/>
                </a:solidFill>
              </a:rPr>
              <a:t>Reduce</a:t>
            </a:r>
            <a:r>
              <a:rPr lang="zh-CN" altLang="en-US" sz="1600" b="1" dirty="0">
                <a:solidFill>
                  <a:prstClr val="black"/>
                </a:solidFill>
              </a:rPr>
              <a:t>阶段</a:t>
            </a:r>
            <a:endParaRPr lang="en-US" altLang="zh-CN" sz="1600" b="1" dirty="0">
              <a:solidFill>
                <a:prstClr val="black"/>
              </a:solidFill>
            </a:endParaRPr>
          </a:p>
          <a:p>
            <a:pPr marL="360000" lvl="1" indent="-285750">
              <a:lnSpc>
                <a:spcPct val="150000"/>
              </a:lnSpc>
              <a:buFont typeface="Wingdings" panose="05000000000000000000" pitchFamily="2" charset="2"/>
              <a:buChar char="Ø"/>
            </a:pPr>
            <a:r>
              <a:rPr lang="zh-CN" altLang="en-US" sz="1600" dirty="0">
                <a:solidFill>
                  <a:prstClr val="black"/>
                </a:solidFill>
              </a:rPr>
              <a:t>节点              利用其在</a:t>
            </a:r>
            <a:r>
              <a:rPr lang="en-US" altLang="zh-CN" sz="1600" dirty="0">
                <a:solidFill>
                  <a:prstClr val="black"/>
                </a:solidFill>
              </a:rPr>
              <a:t>Map</a:t>
            </a:r>
            <a:r>
              <a:rPr lang="zh-CN" altLang="en-US" sz="1600" dirty="0">
                <a:solidFill>
                  <a:prstClr val="black"/>
                </a:solidFill>
              </a:rPr>
              <a:t>阶段本地计算得到的中间值和</a:t>
            </a:r>
            <a:r>
              <a:rPr lang="en-US" altLang="zh-CN" sz="1600" dirty="0">
                <a:solidFill>
                  <a:prstClr val="black"/>
                </a:solidFill>
              </a:rPr>
              <a:t>Shuffle</a:t>
            </a:r>
            <a:r>
              <a:rPr lang="zh-CN" altLang="en-US" sz="1600" dirty="0">
                <a:solidFill>
                  <a:prstClr val="black"/>
                </a:solidFill>
              </a:rPr>
              <a:t>阶段从其他节点广播的信息还原并输出相应的输出子矩阵</a:t>
            </a:r>
            <a:endParaRPr lang="en-US" altLang="zh-CN" sz="1600" b="1" dirty="0">
              <a:solidFill>
                <a:prstClr val="black"/>
              </a:solidFill>
            </a:endParaRPr>
          </a:p>
          <a:p>
            <a:pPr marL="74250" lvl="1">
              <a:lnSpc>
                <a:spcPct val="150000"/>
              </a:lnSpc>
            </a:pPr>
            <a:endParaRPr lang="en-US" altLang="zh-CN" sz="2000" b="1" dirty="0">
              <a:solidFill>
                <a:prstClr val="black"/>
              </a:solidFill>
              <a:latin typeface="Arial"/>
              <a:ea typeface="微软雅黑"/>
            </a:endParaRPr>
          </a:p>
          <a:p>
            <a:pPr marL="74250" lvl="1">
              <a:lnSpc>
                <a:spcPct val="150000"/>
              </a:lnSpc>
            </a:pPr>
            <a:endParaRPr lang="en-US" altLang="zh-CN" sz="2000" b="1" dirty="0">
              <a:solidFill>
                <a:prstClr val="black"/>
              </a:solidFill>
              <a:latin typeface="Arial"/>
              <a:ea typeface="微软雅黑"/>
            </a:endParaRPr>
          </a:p>
          <a:p>
            <a:pPr marL="74250" lvl="1">
              <a:lnSpc>
                <a:spcPct val="150000"/>
              </a:lnSpc>
            </a:pPr>
            <a:endParaRPr lang="en-US" altLang="zh-CN" sz="2000" b="1" dirty="0">
              <a:solidFill>
                <a:prstClr val="black"/>
              </a:solidFill>
              <a:latin typeface="Arial"/>
              <a:ea typeface="微软雅黑"/>
            </a:endParaRPr>
          </a:p>
        </p:txBody>
      </p:sp>
      <p:pic>
        <p:nvPicPr>
          <p:cNvPr id="32" name="图片 31">
            <a:extLst>
              <a:ext uri="{FF2B5EF4-FFF2-40B4-BE49-F238E27FC236}">
                <a16:creationId xmlns:a16="http://schemas.microsoft.com/office/drawing/2014/main" id="{8BED5157-ABA8-4D0D-BF22-DBAF463B5B73}"/>
              </a:ext>
            </a:extLst>
          </p:cNvPr>
          <p:cNvPicPr>
            <a:picLocks noChangeAspect="1"/>
          </p:cNvPicPr>
          <p:nvPr/>
        </p:nvPicPr>
        <p:blipFill>
          <a:blip r:embed="rId4"/>
          <a:stretch>
            <a:fillRect/>
          </a:stretch>
        </p:blipFill>
        <p:spPr>
          <a:xfrm>
            <a:off x="585024" y="1047131"/>
            <a:ext cx="241701" cy="226903"/>
          </a:xfrm>
          <a:prstGeom prst="rect">
            <a:avLst/>
          </a:prstGeom>
        </p:spPr>
      </p:pic>
      <p:pic>
        <p:nvPicPr>
          <p:cNvPr id="3" name="图片 2">
            <a:extLst>
              <a:ext uri="{FF2B5EF4-FFF2-40B4-BE49-F238E27FC236}">
                <a16:creationId xmlns:a16="http://schemas.microsoft.com/office/drawing/2014/main" id="{8C72D5C3-840E-4C1C-8603-54347F48EA37}"/>
              </a:ext>
            </a:extLst>
          </p:cNvPr>
          <p:cNvPicPr>
            <a:picLocks noChangeAspect="1"/>
          </p:cNvPicPr>
          <p:nvPr/>
        </p:nvPicPr>
        <p:blipFill>
          <a:blip r:embed="rId5"/>
          <a:stretch>
            <a:fillRect/>
          </a:stretch>
        </p:blipFill>
        <p:spPr>
          <a:xfrm>
            <a:off x="3318775" y="1037703"/>
            <a:ext cx="719714" cy="277073"/>
          </a:xfrm>
          <a:prstGeom prst="rect">
            <a:avLst/>
          </a:prstGeom>
        </p:spPr>
      </p:pic>
      <p:pic>
        <p:nvPicPr>
          <p:cNvPr id="4" name="图片 3">
            <a:extLst>
              <a:ext uri="{FF2B5EF4-FFF2-40B4-BE49-F238E27FC236}">
                <a16:creationId xmlns:a16="http://schemas.microsoft.com/office/drawing/2014/main" id="{1784F7A6-6AC6-4E59-9F9E-17BDB3400A6B}"/>
              </a:ext>
            </a:extLst>
          </p:cNvPr>
          <p:cNvPicPr>
            <a:picLocks noChangeAspect="1"/>
          </p:cNvPicPr>
          <p:nvPr/>
        </p:nvPicPr>
        <p:blipFill>
          <a:blip r:embed="rId6"/>
          <a:stretch>
            <a:fillRect/>
          </a:stretch>
        </p:blipFill>
        <p:spPr>
          <a:xfrm>
            <a:off x="5690696" y="1056557"/>
            <a:ext cx="314263" cy="255843"/>
          </a:xfrm>
          <a:prstGeom prst="rect">
            <a:avLst/>
          </a:prstGeom>
        </p:spPr>
      </p:pic>
      <p:pic>
        <p:nvPicPr>
          <p:cNvPr id="33" name="图片 32">
            <a:extLst>
              <a:ext uri="{FF2B5EF4-FFF2-40B4-BE49-F238E27FC236}">
                <a16:creationId xmlns:a16="http://schemas.microsoft.com/office/drawing/2014/main" id="{F8E7829A-DA01-4323-99B7-6A78E9D4DE40}"/>
              </a:ext>
            </a:extLst>
          </p:cNvPr>
          <p:cNvPicPr>
            <a:picLocks noChangeAspect="1"/>
          </p:cNvPicPr>
          <p:nvPr/>
        </p:nvPicPr>
        <p:blipFill>
          <a:blip r:embed="rId7"/>
          <a:stretch>
            <a:fillRect/>
          </a:stretch>
        </p:blipFill>
        <p:spPr>
          <a:xfrm>
            <a:off x="8687038" y="1067513"/>
            <a:ext cx="180706" cy="206521"/>
          </a:xfrm>
          <a:prstGeom prst="rect">
            <a:avLst/>
          </a:prstGeom>
        </p:spPr>
      </p:pic>
      <p:pic>
        <p:nvPicPr>
          <p:cNvPr id="6" name="图片 5">
            <a:extLst>
              <a:ext uri="{FF2B5EF4-FFF2-40B4-BE49-F238E27FC236}">
                <a16:creationId xmlns:a16="http://schemas.microsoft.com/office/drawing/2014/main" id="{E89A4F31-B4F8-4AE2-8773-46E7D16632A3}"/>
              </a:ext>
            </a:extLst>
          </p:cNvPr>
          <p:cNvPicPr>
            <a:picLocks noChangeAspect="1"/>
          </p:cNvPicPr>
          <p:nvPr/>
        </p:nvPicPr>
        <p:blipFill>
          <a:blip r:embed="rId8"/>
          <a:stretch>
            <a:fillRect/>
          </a:stretch>
        </p:blipFill>
        <p:spPr>
          <a:xfrm>
            <a:off x="11095217" y="1039717"/>
            <a:ext cx="929143" cy="269057"/>
          </a:xfrm>
          <a:prstGeom prst="rect">
            <a:avLst/>
          </a:prstGeom>
        </p:spPr>
      </p:pic>
      <p:pic>
        <p:nvPicPr>
          <p:cNvPr id="22" name="图片 21">
            <a:extLst>
              <a:ext uri="{FF2B5EF4-FFF2-40B4-BE49-F238E27FC236}">
                <a16:creationId xmlns:a16="http://schemas.microsoft.com/office/drawing/2014/main" id="{7B00D5C2-9A4E-4288-829A-5B8F9E916709}"/>
              </a:ext>
            </a:extLst>
          </p:cNvPr>
          <p:cNvPicPr>
            <a:picLocks noChangeAspect="1"/>
          </p:cNvPicPr>
          <p:nvPr/>
        </p:nvPicPr>
        <p:blipFill>
          <a:blip r:embed="rId9"/>
          <a:stretch>
            <a:fillRect/>
          </a:stretch>
        </p:blipFill>
        <p:spPr>
          <a:xfrm>
            <a:off x="1469476" y="1347548"/>
            <a:ext cx="1452382" cy="298804"/>
          </a:xfrm>
          <a:prstGeom prst="rect">
            <a:avLst/>
          </a:prstGeom>
        </p:spPr>
      </p:pic>
      <p:pic>
        <p:nvPicPr>
          <p:cNvPr id="34" name="图片 33">
            <a:extLst>
              <a:ext uri="{FF2B5EF4-FFF2-40B4-BE49-F238E27FC236}">
                <a16:creationId xmlns:a16="http://schemas.microsoft.com/office/drawing/2014/main" id="{D6E22981-3CED-476C-8D97-3E40E1FFE8C1}"/>
              </a:ext>
            </a:extLst>
          </p:cNvPr>
          <p:cNvPicPr>
            <a:picLocks noChangeAspect="1"/>
          </p:cNvPicPr>
          <p:nvPr/>
        </p:nvPicPr>
        <p:blipFill>
          <a:blip r:embed="rId10"/>
          <a:stretch>
            <a:fillRect/>
          </a:stretch>
        </p:blipFill>
        <p:spPr>
          <a:xfrm>
            <a:off x="3549880" y="1334220"/>
            <a:ext cx="701610" cy="300690"/>
          </a:xfrm>
          <a:prstGeom prst="rect">
            <a:avLst/>
          </a:prstGeom>
        </p:spPr>
      </p:pic>
      <p:pic>
        <p:nvPicPr>
          <p:cNvPr id="35" name="图片 34">
            <a:extLst>
              <a:ext uri="{FF2B5EF4-FFF2-40B4-BE49-F238E27FC236}">
                <a16:creationId xmlns:a16="http://schemas.microsoft.com/office/drawing/2014/main" id="{AB6628EA-599F-4C6D-A33F-D5626C49BE12}"/>
              </a:ext>
            </a:extLst>
          </p:cNvPr>
          <p:cNvPicPr>
            <a:picLocks noChangeAspect="1"/>
          </p:cNvPicPr>
          <p:nvPr/>
        </p:nvPicPr>
        <p:blipFill>
          <a:blip r:embed="rId6"/>
          <a:stretch>
            <a:fillRect/>
          </a:stretch>
        </p:blipFill>
        <p:spPr>
          <a:xfrm>
            <a:off x="4740162" y="1356643"/>
            <a:ext cx="314263" cy="255843"/>
          </a:xfrm>
          <a:prstGeom prst="rect">
            <a:avLst/>
          </a:prstGeom>
        </p:spPr>
      </p:pic>
      <p:pic>
        <p:nvPicPr>
          <p:cNvPr id="36" name="图片 35">
            <a:extLst>
              <a:ext uri="{FF2B5EF4-FFF2-40B4-BE49-F238E27FC236}">
                <a16:creationId xmlns:a16="http://schemas.microsoft.com/office/drawing/2014/main" id="{CA24AC5B-BAB7-4644-8B71-237D733A3E36}"/>
              </a:ext>
            </a:extLst>
          </p:cNvPr>
          <p:cNvPicPr>
            <a:picLocks noChangeAspect="1"/>
          </p:cNvPicPr>
          <p:nvPr/>
        </p:nvPicPr>
        <p:blipFill>
          <a:blip r:embed="rId11"/>
          <a:stretch>
            <a:fillRect/>
          </a:stretch>
        </p:blipFill>
        <p:spPr>
          <a:xfrm>
            <a:off x="6176737" y="1341586"/>
            <a:ext cx="890160" cy="284851"/>
          </a:xfrm>
          <a:prstGeom prst="rect">
            <a:avLst/>
          </a:prstGeom>
        </p:spPr>
      </p:pic>
      <p:pic>
        <p:nvPicPr>
          <p:cNvPr id="37" name="图片 36">
            <a:extLst>
              <a:ext uri="{FF2B5EF4-FFF2-40B4-BE49-F238E27FC236}">
                <a16:creationId xmlns:a16="http://schemas.microsoft.com/office/drawing/2014/main" id="{1ABFB472-8009-4461-8792-500FCA233D64}"/>
              </a:ext>
            </a:extLst>
          </p:cNvPr>
          <p:cNvPicPr>
            <a:picLocks noChangeAspect="1"/>
          </p:cNvPicPr>
          <p:nvPr/>
        </p:nvPicPr>
        <p:blipFill>
          <a:blip r:embed="rId7"/>
          <a:stretch>
            <a:fillRect/>
          </a:stretch>
        </p:blipFill>
        <p:spPr>
          <a:xfrm>
            <a:off x="7519961" y="1390177"/>
            <a:ext cx="180706" cy="206521"/>
          </a:xfrm>
          <a:prstGeom prst="rect">
            <a:avLst/>
          </a:prstGeom>
        </p:spPr>
      </p:pic>
      <p:pic>
        <p:nvPicPr>
          <p:cNvPr id="38" name="图片 37">
            <a:extLst>
              <a:ext uri="{FF2B5EF4-FFF2-40B4-BE49-F238E27FC236}">
                <a16:creationId xmlns:a16="http://schemas.microsoft.com/office/drawing/2014/main" id="{D8E4EB89-F6F5-4F8D-81AD-3A05B02D711B}"/>
              </a:ext>
            </a:extLst>
          </p:cNvPr>
          <p:cNvPicPr>
            <a:picLocks noChangeAspect="1"/>
          </p:cNvPicPr>
          <p:nvPr/>
        </p:nvPicPr>
        <p:blipFill>
          <a:blip r:embed="rId12"/>
          <a:stretch>
            <a:fillRect/>
          </a:stretch>
        </p:blipFill>
        <p:spPr>
          <a:xfrm>
            <a:off x="8355359" y="1428217"/>
            <a:ext cx="129539" cy="123443"/>
          </a:xfrm>
          <a:prstGeom prst="rect">
            <a:avLst/>
          </a:prstGeom>
        </p:spPr>
      </p:pic>
      <p:pic>
        <p:nvPicPr>
          <p:cNvPr id="39" name="图片 38">
            <a:extLst>
              <a:ext uri="{FF2B5EF4-FFF2-40B4-BE49-F238E27FC236}">
                <a16:creationId xmlns:a16="http://schemas.microsoft.com/office/drawing/2014/main" id="{76CA2645-B2EE-46AC-977C-1BD92C5CC70F}"/>
              </a:ext>
            </a:extLst>
          </p:cNvPr>
          <p:cNvPicPr>
            <a:picLocks noChangeAspect="1"/>
          </p:cNvPicPr>
          <p:nvPr/>
        </p:nvPicPr>
        <p:blipFill>
          <a:blip r:embed="rId13"/>
          <a:stretch>
            <a:fillRect/>
          </a:stretch>
        </p:blipFill>
        <p:spPr>
          <a:xfrm>
            <a:off x="1857017" y="1706952"/>
            <a:ext cx="661595" cy="263288"/>
          </a:xfrm>
          <a:prstGeom prst="rect">
            <a:avLst/>
          </a:prstGeom>
        </p:spPr>
      </p:pic>
      <p:pic>
        <p:nvPicPr>
          <p:cNvPr id="41" name="图片 40">
            <a:extLst>
              <a:ext uri="{FF2B5EF4-FFF2-40B4-BE49-F238E27FC236}">
                <a16:creationId xmlns:a16="http://schemas.microsoft.com/office/drawing/2014/main" id="{72C98A13-6A0E-46A0-B3B2-044BE8AF7324}"/>
              </a:ext>
            </a:extLst>
          </p:cNvPr>
          <p:cNvPicPr>
            <a:picLocks noChangeAspect="1"/>
          </p:cNvPicPr>
          <p:nvPr/>
        </p:nvPicPr>
        <p:blipFill>
          <a:blip r:embed="rId14"/>
          <a:stretch>
            <a:fillRect/>
          </a:stretch>
        </p:blipFill>
        <p:spPr>
          <a:xfrm>
            <a:off x="3146905" y="1736177"/>
            <a:ext cx="1387996" cy="234063"/>
          </a:xfrm>
          <a:prstGeom prst="rect">
            <a:avLst/>
          </a:prstGeom>
        </p:spPr>
      </p:pic>
      <p:pic>
        <p:nvPicPr>
          <p:cNvPr id="42" name="图片 41">
            <a:extLst>
              <a:ext uri="{FF2B5EF4-FFF2-40B4-BE49-F238E27FC236}">
                <a16:creationId xmlns:a16="http://schemas.microsoft.com/office/drawing/2014/main" id="{170F6F2B-6A8C-45F6-B5C6-FDAC81D7D7AD}"/>
              </a:ext>
            </a:extLst>
          </p:cNvPr>
          <p:cNvPicPr>
            <a:picLocks noChangeAspect="1"/>
          </p:cNvPicPr>
          <p:nvPr/>
        </p:nvPicPr>
        <p:blipFill>
          <a:blip r:embed="rId15"/>
          <a:stretch>
            <a:fillRect/>
          </a:stretch>
        </p:blipFill>
        <p:spPr>
          <a:xfrm>
            <a:off x="6037183" y="1688098"/>
            <a:ext cx="369084" cy="300272"/>
          </a:xfrm>
          <a:prstGeom prst="rect">
            <a:avLst/>
          </a:prstGeom>
        </p:spPr>
      </p:pic>
      <p:pic>
        <p:nvPicPr>
          <p:cNvPr id="43" name="图片 42">
            <a:extLst>
              <a:ext uri="{FF2B5EF4-FFF2-40B4-BE49-F238E27FC236}">
                <a16:creationId xmlns:a16="http://schemas.microsoft.com/office/drawing/2014/main" id="{4881C321-5EFC-463F-9A60-6A64136099DE}"/>
              </a:ext>
            </a:extLst>
          </p:cNvPr>
          <p:cNvPicPr>
            <a:picLocks noChangeAspect="1"/>
          </p:cNvPicPr>
          <p:nvPr/>
        </p:nvPicPr>
        <p:blipFill>
          <a:blip r:embed="rId16"/>
          <a:stretch>
            <a:fillRect/>
          </a:stretch>
        </p:blipFill>
        <p:spPr>
          <a:xfrm>
            <a:off x="219803" y="2010240"/>
            <a:ext cx="1179109" cy="1476863"/>
          </a:xfrm>
          <a:prstGeom prst="rect">
            <a:avLst/>
          </a:prstGeom>
        </p:spPr>
      </p:pic>
      <p:pic>
        <p:nvPicPr>
          <p:cNvPr id="45" name="图片 44">
            <a:extLst>
              <a:ext uri="{FF2B5EF4-FFF2-40B4-BE49-F238E27FC236}">
                <a16:creationId xmlns:a16="http://schemas.microsoft.com/office/drawing/2014/main" id="{E17300DF-F49E-44C2-9B54-84645BE3D825}"/>
              </a:ext>
            </a:extLst>
          </p:cNvPr>
          <p:cNvPicPr>
            <a:picLocks noChangeAspect="1"/>
          </p:cNvPicPr>
          <p:nvPr/>
        </p:nvPicPr>
        <p:blipFill>
          <a:blip r:embed="rId17"/>
          <a:stretch>
            <a:fillRect/>
          </a:stretch>
        </p:blipFill>
        <p:spPr>
          <a:xfrm>
            <a:off x="3177370" y="2027988"/>
            <a:ext cx="2844775" cy="1476862"/>
          </a:xfrm>
          <a:prstGeom prst="rect">
            <a:avLst/>
          </a:prstGeom>
        </p:spPr>
      </p:pic>
      <p:sp>
        <p:nvSpPr>
          <p:cNvPr id="46" name="文本框 45">
            <a:extLst>
              <a:ext uri="{FF2B5EF4-FFF2-40B4-BE49-F238E27FC236}">
                <a16:creationId xmlns:a16="http://schemas.microsoft.com/office/drawing/2014/main" id="{8CDC394B-A4F7-4EC6-8F89-2846B0D8F161}"/>
              </a:ext>
            </a:extLst>
          </p:cNvPr>
          <p:cNvSpPr txBox="1"/>
          <p:nvPr/>
        </p:nvSpPr>
        <p:spPr>
          <a:xfrm>
            <a:off x="1418532" y="2168312"/>
            <a:ext cx="2041168" cy="523220"/>
          </a:xfrm>
          <a:prstGeom prst="rect">
            <a:avLst/>
          </a:prstGeom>
          <a:noFill/>
        </p:spPr>
        <p:txBody>
          <a:bodyPr wrap="square" rtlCol="0">
            <a:spAutoFit/>
          </a:bodyPr>
          <a:lstStyle/>
          <a:p>
            <a:r>
              <a:rPr lang="zh-CN" altLang="en-US" sz="1400" dirty="0"/>
              <a:t>希望通过</a:t>
            </a:r>
            <a:r>
              <a:rPr lang="en-US" altLang="zh-CN" sz="1400" dirty="0"/>
              <a:t>    </a:t>
            </a:r>
            <a:r>
              <a:rPr lang="zh-CN" altLang="en-US" sz="1400" dirty="0"/>
              <a:t>个节点协同输出</a:t>
            </a:r>
            <a:r>
              <a:rPr lang="zh-CN" altLang="en-US" sz="1400" b="1" dirty="0"/>
              <a:t>作业</a:t>
            </a:r>
            <a:r>
              <a:rPr lang="en-US" altLang="zh-CN" sz="1400" b="1" dirty="0"/>
              <a:t> </a:t>
            </a:r>
            <a:r>
              <a:rPr lang="en-US" altLang="zh-CN" sz="1400" dirty="0"/>
              <a:t>  </a:t>
            </a:r>
            <a:r>
              <a:rPr lang="zh-CN" altLang="en-US" sz="1400" dirty="0"/>
              <a:t>的输出向量</a:t>
            </a:r>
            <a:endParaRPr lang="zh-CN" altLang="en-US" sz="1600" dirty="0"/>
          </a:p>
        </p:txBody>
      </p:sp>
      <p:pic>
        <p:nvPicPr>
          <p:cNvPr id="47" name="图片 46">
            <a:extLst>
              <a:ext uri="{FF2B5EF4-FFF2-40B4-BE49-F238E27FC236}">
                <a16:creationId xmlns:a16="http://schemas.microsoft.com/office/drawing/2014/main" id="{1B74E4A1-7716-4762-B52E-606B0C5F9472}"/>
              </a:ext>
            </a:extLst>
          </p:cNvPr>
          <p:cNvPicPr>
            <a:picLocks noChangeAspect="1"/>
          </p:cNvPicPr>
          <p:nvPr/>
        </p:nvPicPr>
        <p:blipFill>
          <a:blip r:embed="rId18"/>
          <a:stretch>
            <a:fillRect/>
          </a:stretch>
        </p:blipFill>
        <p:spPr>
          <a:xfrm>
            <a:off x="2235170" y="2236446"/>
            <a:ext cx="187634" cy="155468"/>
          </a:xfrm>
          <a:prstGeom prst="rect">
            <a:avLst/>
          </a:prstGeom>
        </p:spPr>
      </p:pic>
      <p:pic>
        <p:nvPicPr>
          <p:cNvPr id="49" name="图片 48">
            <a:extLst>
              <a:ext uri="{FF2B5EF4-FFF2-40B4-BE49-F238E27FC236}">
                <a16:creationId xmlns:a16="http://schemas.microsoft.com/office/drawing/2014/main" id="{345C8892-8337-4364-9818-8AFB7355DC77}"/>
              </a:ext>
            </a:extLst>
          </p:cNvPr>
          <p:cNvPicPr>
            <a:picLocks noChangeAspect="1"/>
          </p:cNvPicPr>
          <p:nvPr/>
        </p:nvPicPr>
        <p:blipFill>
          <a:blip r:embed="rId19"/>
          <a:stretch>
            <a:fillRect/>
          </a:stretch>
        </p:blipFill>
        <p:spPr>
          <a:xfrm>
            <a:off x="2229561" y="2441194"/>
            <a:ext cx="125838" cy="169397"/>
          </a:xfrm>
          <a:prstGeom prst="rect">
            <a:avLst/>
          </a:prstGeom>
        </p:spPr>
      </p:pic>
      <p:sp>
        <p:nvSpPr>
          <p:cNvPr id="50" name="文本框 49">
            <a:extLst>
              <a:ext uri="{FF2B5EF4-FFF2-40B4-BE49-F238E27FC236}">
                <a16:creationId xmlns:a16="http://schemas.microsoft.com/office/drawing/2014/main" id="{44570DB1-3DB5-43D0-BAD0-FC8B2BB9730D}"/>
              </a:ext>
            </a:extLst>
          </p:cNvPr>
          <p:cNvSpPr txBox="1"/>
          <p:nvPr/>
        </p:nvSpPr>
        <p:spPr>
          <a:xfrm>
            <a:off x="5863554" y="2142055"/>
            <a:ext cx="3138645" cy="1345048"/>
          </a:xfrm>
          <a:prstGeom prst="rect">
            <a:avLst/>
          </a:prstGeom>
          <a:noFill/>
        </p:spPr>
        <p:txBody>
          <a:bodyPr wrap="square" rtlCol="0">
            <a:spAutoFit/>
          </a:bodyPr>
          <a:lstStyle/>
          <a:p>
            <a:pPr marL="360000" lvl="1" indent="-285750">
              <a:lnSpc>
                <a:spcPct val="150000"/>
              </a:lnSpc>
              <a:buFont typeface="Wingdings" panose="05000000000000000000" pitchFamily="2" charset="2"/>
              <a:buChar char="Ø"/>
            </a:pPr>
            <a:r>
              <a:rPr lang="zh-CN" altLang="en-US" sz="1400" b="1" dirty="0">
                <a:solidFill>
                  <a:prstClr val="black"/>
                </a:solidFill>
              </a:rPr>
              <a:t>由于分布式存储，结果</a:t>
            </a:r>
            <a:r>
              <a:rPr lang="zh-CN" altLang="en-US" sz="1400" b="1" dirty="0">
                <a:solidFill>
                  <a:srgbClr val="FF0000"/>
                </a:solidFill>
              </a:rPr>
              <a:t>不能</a:t>
            </a:r>
            <a:r>
              <a:rPr lang="zh-CN" altLang="en-US" sz="1400" b="1" dirty="0">
                <a:solidFill>
                  <a:prstClr val="black"/>
                </a:solidFill>
              </a:rPr>
              <a:t>直接得到，需要进行数据交互后获得</a:t>
            </a:r>
            <a:endParaRPr lang="en-US" altLang="zh-CN" sz="1400" b="1" dirty="0">
              <a:solidFill>
                <a:prstClr val="black"/>
              </a:solidFill>
            </a:endParaRPr>
          </a:p>
          <a:p>
            <a:pPr marL="360000" lvl="1" indent="-285750">
              <a:lnSpc>
                <a:spcPct val="150000"/>
              </a:lnSpc>
              <a:buFont typeface="Wingdings" panose="05000000000000000000" pitchFamily="2" charset="2"/>
              <a:buChar char="Ø"/>
            </a:pPr>
            <a:r>
              <a:rPr lang="zh-CN" altLang="en-US" sz="1400" b="1" dirty="0">
                <a:solidFill>
                  <a:prstClr val="black"/>
                </a:solidFill>
              </a:rPr>
              <a:t>由于结果具有</a:t>
            </a:r>
            <a:r>
              <a:rPr lang="zh-CN" altLang="en-US" sz="1400" b="1" dirty="0">
                <a:solidFill>
                  <a:srgbClr val="FF0000"/>
                </a:solidFill>
              </a:rPr>
              <a:t>累加性</a:t>
            </a:r>
            <a:r>
              <a:rPr lang="zh-CN" altLang="en-US" sz="1400" b="1" dirty="0">
                <a:solidFill>
                  <a:prstClr val="black"/>
                </a:solidFill>
              </a:rPr>
              <a:t>，可以在传输前对中间结果进行</a:t>
            </a:r>
            <a:r>
              <a:rPr lang="zh-CN" altLang="en-US" sz="1400" b="1" dirty="0">
                <a:solidFill>
                  <a:srgbClr val="FF0000"/>
                </a:solidFill>
              </a:rPr>
              <a:t>预压缩处理</a:t>
            </a:r>
            <a:endParaRPr lang="en-US" altLang="zh-CN" sz="1400" b="1" dirty="0">
              <a:solidFill>
                <a:srgbClr val="FF0000"/>
              </a:solidFill>
            </a:endParaRPr>
          </a:p>
        </p:txBody>
      </p:sp>
      <p:sp>
        <p:nvSpPr>
          <p:cNvPr id="51" name="箭头: 右 50">
            <a:extLst>
              <a:ext uri="{FF2B5EF4-FFF2-40B4-BE49-F238E27FC236}">
                <a16:creationId xmlns:a16="http://schemas.microsoft.com/office/drawing/2014/main" id="{991598EA-BB3F-4904-B6CD-45AAE9CA8A8B}"/>
              </a:ext>
            </a:extLst>
          </p:cNvPr>
          <p:cNvSpPr/>
          <p:nvPr/>
        </p:nvSpPr>
        <p:spPr>
          <a:xfrm>
            <a:off x="8964491" y="2710385"/>
            <a:ext cx="1106481" cy="384427"/>
          </a:xfrm>
          <a:prstGeom prst="rightArrow">
            <a:avLst>
              <a:gd name="adj1" fmla="val 50000"/>
              <a:gd name="adj2" fmla="val 74522"/>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3" name="文本框 52">
            <a:extLst>
              <a:ext uri="{FF2B5EF4-FFF2-40B4-BE49-F238E27FC236}">
                <a16:creationId xmlns:a16="http://schemas.microsoft.com/office/drawing/2014/main" id="{68819EC8-EC5E-4306-82B3-3FDBD535D6F6}"/>
              </a:ext>
            </a:extLst>
          </p:cNvPr>
          <p:cNvSpPr txBox="1"/>
          <p:nvPr/>
        </p:nvSpPr>
        <p:spPr>
          <a:xfrm>
            <a:off x="8874936" y="2255300"/>
            <a:ext cx="1321714" cy="523220"/>
          </a:xfrm>
          <a:prstGeom prst="rect">
            <a:avLst/>
          </a:prstGeom>
          <a:noFill/>
        </p:spPr>
        <p:txBody>
          <a:bodyPr wrap="square" rtlCol="0">
            <a:spAutoFit/>
          </a:bodyPr>
          <a:lstStyle/>
          <a:p>
            <a:r>
              <a:rPr lang="zh-CN" altLang="en-US" sz="1400" dirty="0"/>
              <a:t>对于</a:t>
            </a:r>
            <a:r>
              <a:rPr lang="zh-CN" altLang="en-US" sz="1400" b="1" dirty="0"/>
              <a:t>单个节点</a:t>
            </a:r>
            <a:br>
              <a:rPr lang="en-US" altLang="zh-CN" sz="1400" dirty="0"/>
            </a:br>
            <a:r>
              <a:rPr lang="zh-CN" altLang="en-US" sz="1400" dirty="0"/>
              <a:t>希望其输出</a:t>
            </a:r>
            <a:endParaRPr lang="zh-CN" altLang="en-US" sz="1600" dirty="0"/>
          </a:p>
        </p:txBody>
      </p:sp>
      <p:pic>
        <p:nvPicPr>
          <p:cNvPr id="54" name="图片 53">
            <a:extLst>
              <a:ext uri="{FF2B5EF4-FFF2-40B4-BE49-F238E27FC236}">
                <a16:creationId xmlns:a16="http://schemas.microsoft.com/office/drawing/2014/main" id="{154F19E2-03CB-4AC9-85EE-771BE1AB05A1}"/>
              </a:ext>
            </a:extLst>
          </p:cNvPr>
          <p:cNvPicPr>
            <a:picLocks noChangeAspect="1"/>
          </p:cNvPicPr>
          <p:nvPr/>
        </p:nvPicPr>
        <p:blipFill>
          <a:blip r:embed="rId20"/>
          <a:stretch>
            <a:fillRect/>
          </a:stretch>
        </p:blipFill>
        <p:spPr>
          <a:xfrm>
            <a:off x="10052118" y="2316774"/>
            <a:ext cx="144533" cy="169134"/>
          </a:xfrm>
          <a:prstGeom prst="rect">
            <a:avLst/>
          </a:prstGeom>
        </p:spPr>
      </p:pic>
      <p:sp>
        <p:nvSpPr>
          <p:cNvPr id="44" name="箭头: 右 43">
            <a:extLst>
              <a:ext uri="{FF2B5EF4-FFF2-40B4-BE49-F238E27FC236}">
                <a16:creationId xmlns:a16="http://schemas.microsoft.com/office/drawing/2014/main" id="{0325FADE-761C-4169-8EFB-97FDC2E4FEBF}"/>
              </a:ext>
            </a:extLst>
          </p:cNvPr>
          <p:cNvSpPr/>
          <p:nvPr/>
        </p:nvSpPr>
        <p:spPr>
          <a:xfrm>
            <a:off x="1601144" y="2691532"/>
            <a:ext cx="1678391" cy="384427"/>
          </a:xfrm>
          <a:prstGeom prst="rightArrow">
            <a:avLst>
              <a:gd name="adj1" fmla="val 50000"/>
              <a:gd name="adj2" fmla="val 74522"/>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56" name="图片 55">
            <a:extLst>
              <a:ext uri="{FF2B5EF4-FFF2-40B4-BE49-F238E27FC236}">
                <a16:creationId xmlns:a16="http://schemas.microsoft.com/office/drawing/2014/main" id="{5E511AD8-6E7C-4C2F-A1F3-9FBE40C38432}"/>
              </a:ext>
            </a:extLst>
          </p:cNvPr>
          <p:cNvPicPr>
            <a:picLocks noChangeAspect="1"/>
          </p:cNvPicPr>
          <p:nvPr/>
        </p:nvPicPr>
        <p:blipFill>
          <a:blip r:embed="rId5"/>
          <a:stretch>
            <a:fillRect/>
          </a:stretch>
        </p:blipFill>
        <p:spPr>
          <a:xfrm>
            <a:off x="1049248" y="3892679"/>
            <a:ext cx="719714" cy="277073"/>
          </a:xfrm>
          <a:prstGeom prst="rect">
            <a:avLst/>
          </a:prstGeom>
        </p:spPr>
      </p:pic>
      <p:pic>
        <p:nvPicPr>
          <p:cNvPr id="57" name="图片 56">
            <a:extLst>
              <a:ext uri="{FF2B5EF4-FFF2-40B4-BE49-F238E27FC236}">
                <a16:creationId xmlns:a16="http://schemas.microsoft.com/office/drawing/2014/main" id="{FB21C777-1E3C-4DAE-AD4D-6C3B534A118F}"/>
              </a:ext>
            </a:extLst>
          </p:cNvPr>
          <p:cNvPicPr>
            <a:picLocks noChangeAspect="1"/>
          </p:cNvPicPr>
          <p:nvPr/>
        </p:nvPicPr>
        <p:blipFill>
          <a:blip r:embed="rId21"/>
          <a:stretch>
            <a:fillRect/>
          </a:stretch>
        </p:blipFill>
        <p:spPr>
          <a:xfrm>
            <a:off x="3235088" y="3893744"/>
            <a:ext cx="224612" cy="245345"/>
          </a:xfrm>
          <a:prstGeom prst="rect">
            <a:avLst/>
          </a:prstGeom>
        </p:spPr>
      </p:pic>
      <p:pic>
        <p:nvPicPr>
          <p:cNvPr id="58" name="图片 57">
            <a:extLst>
              <a:ext uri="{FF2B5EF4-FFF2-40B4-BE49-F238E27FC236}">
                <a16:creationId xmlns:a16="http://schemas.microsoft.com/office/drawing/2014/main" id="{F823E1A1-2919-4E5B-95D7-5544766D287C}"/>
              </a:ext>
            </a:extLst>
          </p:cNvPr>
          <p:cNvPicPr>
            <a:picLocks noChangeAspect="1"/>
          </p:cNvPicPr>
          <p:nvPr/>
        </p:nvPicPr>
        <p:blipFill>
          <a:blip r:embed="rId22"/>
          <a:stretch>
            <a:fillRect/>
          </a:stretch>
        </p:blipFill>
        <p:spPr>
          <a:xfrm>
            <a:off x="4906972" y="3914439"/>
            <a:ext cx="275039" cy="224650"/>
          </a:xfrm>
          <a:prstGeom prst="rect">
            <a:avLst/>
          </a:prstGeom>
        </p:spPr>
      </p:pic>
      <p:pic>
        <p:nvPicPr>
          <p:cNvPr id="59" name="图片 58">
            <a:extLst>
              <a:ext uri="{FF2B5EF4-FFF2-40B4-BE49-F238E27FC236}">
                <a16:creationId xmlns:a16="http://schemas.microsoft.com/office/drawing/2014/main" id="{890BF324-3A0B-466B-BAFF-17862FCA5E5D}"/>
              </a:ext>
            </a:extLst>
          </p:cNvPr>
          <p:cNvPicPr>
            <a:picLocks noChangeAspect="1"/>
          </p:cNvPicPr>
          <p:nvPr/>
        </p:nvPicPr>
        <p:blipFill>
          <a:blip r:embed="rId23"/>
          <a:stretch>
            <a:fillRect/>
          </a:stretch>
        </p:blipFill>
        <p:spPr>
          <a:xfrm>
            <a:off x="9517731" y="3927068"/>
            <a:ext cx="525372" cy="202594"/>
          </a:xfrm>
          <a:prstGeom prst="rect">
            <a:avLst/>
          </a:prstGeom>
        </p:spPr>
      </p:pic>
      <p:pic>
        <p:nvPicPr>
          <p:cNvPr id="60" name="图片 59">
            <a:extLst>
              <a:ext uri="{FF2B5EF4-FFF2-40B4-BE49-F238E27FC236}">
                <a16:creationId xmlns:a16="http://schemas.microsoft.com/office/drawing/2014/main" id="{AF8C73F9-C32F-4100-9703-9ABA0447BAFF}"/>
              </a:ext>
            </a:extLst>
          </p:cNvPr>
          <p:cNvPicPr>
            <a:picLocks noChangeAspect="1"/>
          </p:cNvPicPr>
          <p:nvPr/>
        </p:nvPicPr>
        <p:blipFill>
          <a:blip r:embed="rId24"/>
          <a:stretch>
            <a:fillRect/>
          </a:stretch>
        </p:blipFill>
        <p:spPr>
          <a:xfrm>
            <a:off x="4804976" y="4168375"/>
            <a:ext cx="1845206" cy="474481"/>
          </a:xfrm>
          <a:prstGeom prst="rect">
            <a:avLst/>
          </a:prstGeom>
        </p:spPr>
      </p:pic>
      <p:pic>
        <p:nvPicPr>
          <p:cNvPr id="61" name="图片 60">
            <a:extLst>
              <a:ext uri="{FF2B5EF4-FFF2-40B4-BE49-F238E27FC236}">
                <a16:creationId xmlns:a16="http://schemas.microsoft.com/office/drawing/2014/main" id="{6747515C-24CA-4BE2-9D1D-843FE98B0A31}"/>
              </a:ext>
            </a:extLst>
          </p:cNvPr>
          <p:cNvPicPr>
            <a:picLocks noChangeAspect="1"/>
          </p:cNvPicPr>
          <p:nvPr/>
        </p:nvPicPr>
        <p:blipFill>
          <a:blip r:embed="rId5"/>
          <a:stretch>
            <a:fillRect/>
          </a:stretch>
        </p:blipFill>
        <p:spPr>
          <a:xfrm>
            <a:off x="1043098" y="4860003"/>
            <a:ext cx="719714" cy="277073"/>
          </a:xfrm>
          <a:prstGeom prst="rect">
            <a:avLst/>
          </a:prstGeom>
        </p:spPr>
      </p:pic>
      <p:pic>
        <p:nvPicPr>
          <p:cNvPr id="62" name="图片 61">
            <a:extLst>
              <a:ext uri="{FF2B5EF4-FFF2-40B4-BE49-F238E27FC236}">
                <a16:creationId xmlns:a16="http://schemas.microsoft.com/office/drawing/2014/main" id="{498F159A-8627-4901-948E-C63C49117001}"/>
              </a:ext>
            </a:extLst>
          </p:cNvPr>
          <p:cNvPicPr>
            <a:picLocks noChangeAspect="1"/>
          </p:cNvPicPr>
          <p:nvPr/>
        </p:nvPicPr>
        <p:blipFill>
          <a:blip r:embed="rId25"/>
          <a:stretch>
            <a:fillRect/>
          </a:stretch>
        </p:blipFill>
        <p:spPr>
          <a:xfrm>
            <a:off x="11367008" y="4850575"/>
            <a:ext cx="290062" cy="277074"/>
          </a:xfrm>
          <a:prstGeom prst="rect">
            <a:avLst/>
          </a:prstGeom>
        </p:spPr>
      </p:pic>
      <p:pic>
        <p:nvPicPr>
          <p:cNvPr id="64" name="图片 63">
            <a:extLst>
              <a:ext uri="{FF2B5EF4-FFF2-40B4-BE49-F238E27FC236}">
                <a16:creationId xmlns:a16="http://schemas.microsoft.com/office/drawing/2014/main" id="{E676378D-C240-4CBA-90FA-B4664687AEF7}"/>
              </a:ext>
            </a:extLst>
          </p:cNvPr>
          <p:cNvPicPr>
            <a:picLocks noChangeAspect="1"/>
          </p:cNvPicPr>
          <p:nvPr/>
        </p:nvPicPr>
        <p:blipFill>
          <a:blip r:embed="rId26"/>
          <a:stretch>
            <a:fillRect/>
          </a:stretch>
        </p:blipFill>
        <p:spPr>
          <a:xfrm>
            <a:off x="3727969" y="5113359"/>
            <a:ext cx="2714985" cy="1649542"/>
          </a:xfrm>
          <a:prstGeom prst="rect">
            <a:avLst/>
          </a:prstGeom>
        </p:spPr>
      </p:pic>
      <p:sp>
        <p:nvSpPr>
          <p:cNvPr id="65" name="矩形 64">
            <a:extLst>
              <a:ext uri="{FF2B5EF4-FFF2-40B4-BE49-F238E27FC236}">
                <a16:creationId xmlns:a16="http://schemas.microsoft.com/office/drawing/2014/main" id="{8C4331E6-A575-4E0A-8973-D690D98F3611}"/>
              </a:ext>
            </a:extLst>
          </p:cNvPr>
          <p:cNvSpPr/>
          <p:nvPr/>
        </p:nvSpPr>
        <p:spPr>
          <a:xfrm>
            <a:off x="6396754" y="5813703"/>
            <a:ext cx="3887283" cy="377026"/>
          </a:xfrm>
          <a:prstGeom prst="rect">
            <a:avLst/>
          </a:prstGeom>
        </p:spPr>
        <p:txBody>
          <a:bodyPr wrap="none">
            <a:spAutoFit/>
          </a:bodyPr>
          <a:lstStyle/>
          <a:p>
            <a:pPr marL="360000" lvl="1" indent="-285750">
              <a:lnSpc>
                <a:spcPct val="150000"/>
              </a:lnSpc>
              <a:buFont typeface="Wingdings" panose="05000000000000000000" pitchFamily="2" charset="2"/>
              <a:buChar char="Ø"/>
            </a:pPr>
            <a:r>
              <a:rPr lang="zh-CN" altLang="en-US" sz="1400" b="1" dirty="0">
                <a:solidFill>
                  <a:prstClr val="black"/>
                </a:solidFill>
              </a:rPr>
              <a:t>全局输出矩阵可由    个节点协同输出         </a:t>
            </a:r>
            <a:endParaRPr lang="en-US" altLang="zh-CN" sz="1400" b="1" dirty="0">
              <a:solidFill>
                <a:srgbClr val="FF0000"/>
              </a:solidFill>
            </a:endParaRPr>
          </a:p>
        </p:txBody>
      </p:sp>
      <p:pic>
        <p:nvPicPr>
          <p:cNvPr id="66" name="图片 65">
            <a:extLst>
              <a:ext uri="{FF2B5EF4-FFF2-40B4-BE49-F238E27FC236}">
                <a16:creationId xmlns:a16="http://schemas.microsoft.com/office/drawing/2014/main" id="{8B99FE9F-ACF0-4F0D-9DC6-08735CAD1EB5}"/>
              </a:ext>
            </a:extLst>
          </p:cNvPr>
          <p:cNvPicPr>
            <a:picLocks noChangeAspect="1"/>
          </p:cNvPicPr>
          <p:nvPr/>
        </p:nvPicPr>
        <p:blipFill>
          <a:blip r:embed="rId18"/>
          <a:stretch>
            <a:fillRect/>
          </a:stretch>
        </p:blipFill>
        <p:spPr>
          <a:xfrm>
            <a:off x="8275389" y="5966619"/>
            <a:ext cx="196811" cy="163072"/>
          </a:xfrm>
          <a:prstGeom prst="rect">
            <a:avLst/>
          </a:prstGeom>
        </p:spPr>
      </p:pic>
      <p:sp>
        <p:nvSpPr>
          <p:cNvPr id="67" name="灯片编号占位符 66">
            <a:extLst>
              <a:ext uri="{FF2B5EF4-FFF2-40B4-BE49-F238E27FC236}">
                <a16:creationId xmlns:a16="http://schemas.microsoft.com/office/drawing/2014/main" id="{33805244-EDCF-4CF7-89E9-80FD7FDB2E6E}"/>
              </a:ext>
            </a:extLst>
          </p:cNvPr>
          <p:cNvSpPr>
            <a:spLocks noGrp="1"/>
          </p:cNvSpPr>
          <p:nvPr>
            <p:ph type="sldNum" sz="quarter" idx="12"/>
          </p:nvPr>
        </p:nvSpPr>
        <p:spPr>
          <a:xfrm>
            <a:off x="8610600" y="6309695"/>
            <a:ext cx="2743200" cy="365125"/>
          </a:xfrm>
        </p:spPr>
        <p:txBody>
          <a:bodyPr/>
          <a:lstStyle/>
          <a:p>
            <a:fld id="{B125EA80-F692-46D2-AFCC-CA48803B46EF}" type="slidenum">
              <a:rPr lang="zh-CN" altLang="en-US" smtClean="0"/>
              <a:t>20</a:t>
            </a:fld>
            <a:endParaRPr lang="zh-CN" altLang="en-US" dirty="0"/>
          </a:p>
        </p:txBody>
      </p:sp>
    </p:spTree>
    <p:extLst>
      <p:ext uri="{BB962C8B-B14F-4D97-AF65-F5344CB8AC3E}">
        <p14:creationId xmlns:p14="http://schemas.microsoft.com/office/powerpoint/2010/main" val="19766898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lvl="0">
              <a:lnSpc>
                <a:spcPts val="4400"/>
              </a:lnSpc>
              <a:defRPr/>
            </a:pP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 4. </a:t>
            </a:r>
            <a:r>
              <a:rPr lang="zh-CN" altLang="en-US" sz="2800" b="1" dirty="0">
                <a:solidFill>
                  <a:prstClr val="white"/>
                </a:solidFill>
              </a:rPr>
              <a:t>雾网络下基于压缩编码技术的分布式矩阵</a:t>
            </a:r>
            <a:r>
              <a:rPr lang="en-US" altLang="zh-CN" sz="2800" b="1" dirty="0">
                <a:solidFill>
                  <a:prstClr val="white"/>
                </a:solidFill>
              </a:rPr>
              <a:t>-</a:t>
            </a:r>
            <a:r>
              <a:rPr lang="zh-CN" altLang="en-US" sz="2800" b="1" dirty="0">
                <a:solidFill>
                  <a:prstClr val="white"/>
                </a:solidFill>
              </a:rPr>
              <a:t>向量乘法运算算法</a:t>
            </a:r>
            <a:r>
              <a:rPr lang="zh-CN" altLang="en-US" sz="2800" b="1" dirty="0">
                <a:solidFill>
                  <a:schemeClr val="bg1"/>
                </a:solidFill>
              </a:rPr>
              <a:t>（方案示例）</a:t>
            </a:r>
            <a:endParaRPr kumimoji="0" lang="en-US" altLang="zh-CN" sz="2800" b="1" i="0" u="none" strike="noStrike" kern="1200" cap="none" spc="0" normalizeH="0" baseline="0" noProof="0" dirty="0">
              <a:ln>
                <a:noFill/>
              </a:ln>
              <a:solidFill>
                <a:prstClr val="white"/>
              </a:solidFill>
              <a:effectLst/>
              <a:uLnTx/>
              <a:uFillTx/>
              <a:latin typeface="Arial"/>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0" normalizeH="0" baseline="0" noProof="0" dirty="0">
              <a:ln>
                <a:noFill/>
              </a:ln>
              <a:solidFill>
                <a:prstClr val="white"/>
              </a:solidFill>
              <a:effectLst/>
              <a:uLnTx/>
              <a:uFillTx/>
              <a:latin typeface="Arial"/>
              <a:ea typeface="微软雅黑"/>
              <a:cs typeface="+mn-cs"/>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55448" y="832104"/>
            <a:ext cx="11868912" cy="1092607"/>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000" b="1" dirty="0">
                <a:solidFill>
                  <a:prstClr val="black"/>
                </a:solidFill>
                <a:latin typeface="Arial"/>
                <a:ea typeface="微软雅黑"/>
              </a:rPr>
              <a:t>方案示例（            </a:t>
            </a:r>
            <a:r>
              <a:rPr lang="en-US" altLang="zh-CN" sz="2000" b="1" dirty="0">
                <a:solidFill>
                  <a:prstClr val="black"/>
                </a:solidFill>
                <a:latin typeface="Arial"/>
                <a:ea typeface="微软雅黑"/>
              </a:rPr>
              <a:t>,           ,</a:t>
            </a:r>
            <a:r>
              <a:rPr lang="zh-CN" altLang="en-US" sz="2000" b="1" dirty="0">
                <a:solidFill>
                  <a:prstClr val="black"/>
                </a:solidFill>
                <a:latin typeface="Arial"/>
                <a:ea typeface="微软雅黑"/>
              </a:rPr>
              <a:t>          </a:t>
            </a:r>
            <a:r>
              <a:rPr lang="en-US" altLang="zh-CN" sz="2000" b="1" dirty="0">
                <a:solidFill>
                  <a:prstClr val="black"/>
                </a:solidFill>
                <a:latin typeface="Arial"/>
                <a:ea typeface="微软雅黑"/>
              </a:rPr>
              <a:t>, </a:t>
            </a:r>
            <a:r>
              <a:rPr lang="zh-CN" altLang="en-US" sz="2000" b="1" dirty="0">
                <a:solidFill>
                  <a:prstClr val="black"/>
                </a:solidFill>
                <a:latin typeface="Arial"/>
                <a:ea typeface="微软雅黑"/>
              </a:rPr>
              <a:t>         ）</a:t>
            </a:r>
            <a:endParaRPr lang="en-US" altLang="zh-CN" sz="2000" b="1" dirty="0">
              <a:solidFill>
                <a:prstClr val="black"/>
              </a:solidFill>
              <a:latin typeface="Arial"/>
              <a:ea typeface="微软雅黑"/>
            </a:endParaRPr>
          </a:p>
          <a:p>
            <a:pPr marL="342900" lvl="0" indent="-342900">
              <a:lnSpc>
                <a:spcPct val="150000"/>
              </a:lnSpc>
              <a:buFont typeface="+mj-lt"/>
              <a:buAutoNum type="arabicPeriod"/>
            </a:pPr>
            <a:r>
              <a:rPr lang="zh-CN" altLang="en-US" b="1" dirty="0">
                <a:solidFill>
                  <a:prstClr val="black"/>
                </a:solidFill>
              </a:rPr>
              <a:t>矩阵分配</a:t>
            </a:r>
            <a:endParaRPr lang="en-US" altLang="zh-CN" b="1" dirty="0">
              <a:solidFill>
                <a:prstClr val="black"/>
              </a:solidFill>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p:txBody>
      </p:sp>
      <p:pic>
        <p:nvPicPr>
          <p:cNvPr id="3" name="图片 2">
            <a:extLst>
              <a:ext uri="{FF2B5EF4-FFF2-40B4-BE49-F238E27FC236}">
                <a16:creationId xmlns:a16="http://schemas.microsoft.com/office/drawing/2014/main" id="{A32F3BDC-8659-4ECD-BC47-80F066F32F5F}"/>
              </a:ext>
            </a:extLst>
          </p:cNvPr>
          <p:cNvPicPr>
            <a:picLocks noChangeAspect="1"/>
          </p:cNvPicPr>
          <p:nvPr/>
        </p:nvPicPr>
        <p:blipFill>
          <a:blip r:embed="rId3"/>
          <a:stretch>
            <a:fillRect/>
          </a:stretch>
        </p:blipFill>
        <p:spPr>
          <a:xfrm>
            <a:off x="1833563" y="937916"/>
            <a:ext cx="862012" cy="266995"/>
          </a:xfrm>
          <a:prstGeom prst="rect">
            <a:avLst/>
          </a:prstGeom>
        </p:spPr>
      </p:pic>
      <p:pic>
        <p:nvPicPr>
          <p:cNvPr id="6" name="图片 5">
            <a:extLst>
              <a:ext uri="{FF2B5EF4-FFF2-40B4-BE49-F238E27FC236}">
                <a16:creationId xmlns:a16="http://schemas.microsoft.com/office/drawing/2014/main" id="{BF275A9F-3813-47AF-BDB8-A3AD3F9C1A33}"/>
              </a:ext>
            </a:extLst>
          </p:cNvPr>
          <p:cNvPicPr>
            <a:picLocks noChangeAspect="1"/>
          </p:cNvPicPr>
          <p:nvPr/>
        </p:nvPicPr>
        <p:blipFill>
          <a:blip r:embed="rId4"/>
          <a:stretch>
            <a:fillRect/>
          </a:stretch>
        </p:blipFill>
        <p:spPr>
          <a:xfrm>
            <a:off x="2776538" y="877857"/>
            <a:ext cx="743922" cy="340304"/>
          </a:xfrm>
          <a:prstGeom prst="rect">
            <a:avLst/>
          </a:prstGeom>
        </p:spPr>
      </p:pic>
      <p:pic>
        <p:nvPicPr>
          <p:cNvPr id="22" name="图片 21">
            <a:extLst>
              <a:ext uri="{FF2B5EF4-FFF2-40B4-BE49-F238E27FC236}">
                <a16:creationId xmlns:a16="http://schemas.microsoft.com/office/drawing/2014/main" id="{A7047882-2AA7-4454-BB49-14467244F801}"/>
              </a:ext>
            </a:extLst>
          </p:cNvPr>
          <p:cNvPicPr>
            <a:picLocks noChangeAspect="1"/>
          </p:cNvPicPr>
          <p:nvPr/>
        </p:nvPicPr>
        <p:blipFill>
          <a:blip r:embed="rId5"/>
          <a:stretch>
            <a:fillRect/>
          </a:stretch>
        </p:blipFill>
        <p:spPr>
          <a:xfrm>
            <a:off x="4396438" y="884786"/>
            <a:ext cx="657367" cy="322403"/>
          </a:xfrm>
          <a:prstGeom prst="rect">
            <a:avLst/>
          </a:prstGeom>
        </p:spPr>
      </p:pic>
      <p:pic>
        <p:nvPicPr>
          <p:cNvPr id="32" name="图片 31">
            <a:extLst>
              <a:ext uri="{FF2B5EF4-FFF2-40B4-BE49-F238E27FC236}">
                <a16:creationId xmlns:a16="http://schemas.microsoft.com/office/drawing/2014/main" id="{3870185B-6A65-46A6-AA54-C283E638F34A}"/>
              </a:ext>
            </a:extLst>
          </p:cNvPr>
          <p:cNvPicPr>
            <a:picLocks noChangeAspect="1"/>
          </p:cNvPicPr>
          <p:nvPr/>
        </p:nvPicPr>
        <p:blipFill>
          <a:blip r:embed="rId6"/>
          <a:stretch>
            <a:fillRect/>
          </a:stretch>
        </p:blipFill>
        <p:spPr>
          <a:xfrm>
            <a:off x="3610948" y="884786"/>
            <a:ext cx="657367" cy="323850"/>
          </a:xfrm>
          <a:prstGeom prst="rect">
            <a:avLst/>
          </a:prstGeom>
        </p:spPr>
      </p:pic>
      <p:pic>
        <p:nvPicPr>
          <p:cNvPr id="41" name="图片 40">
            <a:extLst>
              <a:ext uri="{FF2B5EF4-FFF2-40B4-BE49-F238E27FC236}">
                <a16:creationId xmlns:a16="http://schemas.microsoft.com/office/drawing/2014/main" id="{31591711-2077-459C-8C98-DA0BDEF6459A}"/>
              </a:ext>
            </a:extLst>
          </p:cNvPr>
          <p:cNvPicPr>
            <a:picLocks noChangeAspect="1"/>
          </p:cNvPicPr>
          <p:nvPr/>
        </p:nvPicPr>
        <p:blipFill>
          <a:blip r:embed="rId7"/>
          <a:stretch>
            <a:fillRect/>
          </a:stretch>
        </p:blipFill>
        <p:spPr>
          <a:xfrm>
            <a:off x="623888" y="1609724"/>
            <a:ext cx="6808738" cy="4800600"/>
          </a:xfrm>
          <a:prstGeom prst="rect">
            <a:avLst/>
          </a:prstGeom>
        </p:spPr>
      </p:pic>
      <p:sp>
        <p:nvSpPr>
          <p:cNvPr id="43" name="文本框 42">
            <a:extLst>
              <a:ext uri="{FF2B5EF4-FFF2-40B4-BE49-F238E27FC236}">
                <a16:creationId xmlns:a16="http://schemas.microsoft.com/office/drawing/2014/main" id="{0CC61750-B939-49AF-AA8C-62943FB735CD}"/>
              </a:ext>
            </a:extLst>
          </p:cNvPr>
          <p:cNvSpPr txBox="1"/>
          <p:nvPr/>
        </p:nvSpPr>
        <p:spPr>
          <a:xfrm>
            <a:off x="7574938" y="2923953"/>
            <a:ext cx="4194125" cy="2120452"/>
          </a:xfrm>
          <a:prstGeom prst="rect">
            <a:avLst/>
          </a:prstGeom>
          <a:noFill/>
        </p:spPr>
        <p:txBody>
          <a:bodyPr wrap="square" rtlCol="0">
            <a:spAutoFit/>
          </a:bodyPr>
          <a:lstStyle/>
          <a:p>
            <a:pPr marL="285750" indent="-285750">
              <a:lnSpc>
                <a:spcPct val="150000"/>
              </a:lnSpc>
              <a:buFont typeface="Wingdings" panose="05000000000000000000" pitchFamily="2" charset="2"/>
              <a:buChar char="Ø"/>
            </a:pPr>
            <a:r>
              <a:rPr lang="zh-CN" altLang="en-US" dirty="0">
                <a:solidFill>
                  <a:srgbClr val="FF0000"/>
                </a:solidFill>
              </a:rPr>
              <a:t>节点</a:t>
            </a:r>
            <a:r>
              <a:rPr lang="en-US" altLang="zh-CN" dirty="0">
                <a:solidFill>
                  <a:srgbClr val="FF0000"/>
                </a:solidFill>
              </a:rPr>
              <a:t>1</a:t>
            </a:r>
            <a:r>
              <a:rPr lang="zh-CN" altLang="en-US" dirty="0">
                <a:solidFill>
                  <a:srgbClr val="FF0000"/>
                </a:solidFill>
              </a:rPr>
              <a:t>、</a:t>
            </a:r>
            <a:r>
              <a:rPr lang="en-US" altLang="zh-CN" dirty="0">
                <a:solidFill>
                  <a:srgbClr val="FF0000"/>
                </a:solidFill>
              </a:rPr>
              <a:t>2</a:t>
            </a:r>
            <a:r>
              <a:rPr lang="zh-CN" altLang="en-US" dirty="0">
                <a:solidFill>
                  <a:srgbClr val="FF0000"/>
                </a:solidFill>
              </a:rPr>
              <a:t>、</a:t>
            </a:r>
            <a:r>
              <a:rPr lang="en-US" altLang="zh-CN" dirty="0">
                <a:solidFill>
                  <a:srgbClr val="FF0000"/>
                </a:solidFill>
              </a:rPr>
              <a:t>3</a:t>
            </a:r>
            <a:r>
              <a:rPr lang="zh-CN" altLang="en-US" dirty="0">
                <a:solidFill>
                  <a:srgbClr val="FF0000"/>
                </a:solidFill>
              </a:rPr>
              <a:t>确定</a:t>
            </a:r>
            <a:r>
              <a:rPr lang="en-US" altLang="zh-CN" dirty="0">
                <a:solidFill>
                  <a:srgbClr val="FF0000"/>
                </a:solidFill>
              </a:rPr>
              <a:t>job1</a:t>
            </a:r>
          </a:p>
          <a:p>
            <a:pPr marL="285750" indent="-285750">
              <a:lnSpc>
                <a:spcPct val="150000"/>
              </a:lnSpc>
              <a:buFont typeface="Wingdings" panose="05000000000000000000" pitchFamily="2" charset="2"/>
              <a:buChar char="Ø"/>
            </a:pPr>
            <a:r>
              <a:rPr lang="zh-CN" altLang="en-US" dirty="0">
                <a:solidFill>
                  <a:srgbClr val="0070C0"/>
                </a:solidFill>
              </a:rPr>
              <a:t>节点</a:t>
            </a:r>
            <a:r>
              <a:rPr lang="en-US" altLang="zh-CN" dirty="0">
                <a:solidFill>
                  <a:srgbClr val="0070C0"/>
                </a:solidFill>
              </a:rPr>
              <a:t>1</a:t>
            </a:r>
            <a:r>
              <a:rPr lang="zh-CN" altLang="en-US" dirty="0">
                <a:solidFill>
                  <a:srgbClr val="0070C0"/>
                </a:solidFill>
              </a:rPr>
              <a:t>、</a:t>
            </a:r>
            <a:r>
              <a:rPr lang="en-US" altLang="zh-CN" dirty="0">
                <a:solidFill>
                  <a:srgbClr val="0070C0"/>
                </a:solidFill>
              </a:rPr>
              <a:t>2</a:t>
            </a:r>
            <a:r>
              <a:rPr lang="zh-CN" altLang="en-US" dirty="0">
                <a:solidFill>
                  <a:srgbClr val="0070C0"/>
                </a:solidFill>
              </a:rPr>
              <a:t>、</a:t>
            </a:r>
            <a:r>
              <a:rPr lang="en-US" altLang="zh-CN" dirty="0">
                <a:solidFill>
                  <a:srgbClr val="0070C0"/>
                </a:solidFill>
              </a:rPr>
              <a:t>4</a:t>
            </a:r>
            <a:r>
              <a:rPr lang="zh-CN" altLang="en-US" dirty="0">
                <a:solidFill>
                  <a:srgbClr val="0070C0"/>
                </a:solidFill>
              </a:rPr>
              <a:t>确定</a:t>
            </a:r>
            <a:r>
              <a:rPr lang="en-US" altLang="zh-CN" dirty="0">
                <a:solidFill>
                  <a:srgbClr val="0070C0"/>
                </a:solidFill>
              </a:rPr>
              <a:t>job2</a:t>
            </a:r>
          </a:p>
          <a:p>
            <a:pPr marL="285750" indent="-285750">
              <a:lnSpc>
                <a:spcPct val="150000"/>
              </a:lnSpc>
              <a:buFont typeface="Wingdings" panose="05000000000000000000" pitchFamily="2" charset="2"/>
              <a:buChar char="Ø"/>
            </a:pPr>
            <a:r>
              <a:rPr lang="zh-CN" altLang="en-US" dirty="0">
                <a:solidFill>
                  <a:srgbClr val="00B050"/>
                </a:solidFill>
              </a:rPr>
              <a:t>节点</a:t>
            </a:r>
            <a:r>
              <a:rPr lang="en-US" altLang="zh-CN" dirty="0">
                <a:solidFill>
                  <a:srgbClr val="00B050"/>
                </a:solidFill>
              </a:rPr>
              <a:t>1</a:t>
            </a:r>
            <a:r>
              <a:rPr lang="zh-CN" altLang="en-US" dirty="0">
                <a:solidFill>
                  <a:srgbClr val="00B050"/>
                </a:solidFill>
              </a:rPr>
              <a:t>、</a:t>
            </a:r>
            <a:r>
              <a:rPr lang="en-US" altLang="zh-CN" dirty="0">
                <a:solidFill>
                  <a:srgbClr val="00B050"/>
                </a:solidFill>
              </a:rPr>
              <a:t>3</a:t>
            </a:r>
            <a:r>
              <a:rPr lang="zh-CN" altLang="en-US" dirty="0">
                <a:solidFill>
                  <a:srgbClr val="00B050"/>
                </a:solidFill>
              </a:rPr>
              <a:t>、</a:t>
            </a:r>
            <a:r>
              <a:rPr lang="en-US" altLang="zh-CN" dirty="0">
                <a:solidFill>
                  <a:srgbClr val="00B050"/>
                </a:solidFill>
              </a:rPr>
              <a:t>4</a:t>
            </a:r>
            <a:r>
              <a:rPr lang="zh-CN" altLang="en-US" dirty="0">
                <a:solidFill>
                  <a:srgbClr val="00B050"/>
                </a:solidFill>
              </a:rPr>
              <a:t>确定</a:t>
            </a:r>
            <a:r>
              <a:rPr lang="en-US" altLang="zh-CN" dirty="0">
                <a:solidFill>
                  <a:srgbClr val="00B050"/>
                </a:solidFill>
              </a:rPr>
              <a:t>job3</a:t>
            </a:r>
          </a:p>
          <a:p>
            <a:pPr marL="285750" indent="-285750">
              <a:lnSpc>
                <a:spcPct val="150000"/>
              </a:lnSpc>
              <a:buFont typeface="Wingdings" panose="05000000000000000000" pitchFamily="2" charset="2"/>
              <a:buChar char="Ø"/>
            </a:pPr>
            <a:r>
              <a:rPr lang="zh-CN" altLang="en-US" dirty="0">
                <a:solidFill>
                  <a:schemeClr val="accent4">
                    <a:lumMod val="75000"/>
                  </a:schemeClr>
                </a:solidFill>
              </a:rPr>
              <a:t>节点</a:t>
            </a:r>
            <a:r>
              <a:rPr lang="en-US" altLang="zh-CN" dirty="0">
                <a:solidFill>
                  <a:schemeClr val="accent4">
                    <a:lumMod val="75000"/>
                  </a:schemeClr>
                </a:solidFill>
              </a:rPr>
              <a:t>2</a:t>
            </a:r>
            <a:r>
              <a:rPr lang="zh-CN" altLang="en-US" dirty="0">
                <a:solidFill>
                  <a:schemeClr val="accent4">
                    <a:lumMod val="75000"/>
                  </a:schemeClr>
                </a:solidFill>
              </a:rPr>
              <a:t>、</a:t>
            </a:r>
            <a:r>
              <a:rPr lang="en-US" altLang="zh-CN" dirty="0">
                <a:solidFill>
                  <a:schemeClr val="accent4">
                    <a:lumMod val="75000"/>
                  </a:schemeClr>
                </a:solidFill>
              </a:rPr>
              <a:t>3</a:t>
            </a:r>
            <a:r>
              <a:rPr lang="zh-CN" altLang="en-US" dirty="0">
                <a:solidFill>
                  <a:schemeClr val="accent4">
                    <a:lumMod val="75000"/>
                  </a:schemeClr>
                </a:solidFill>
              </a:rPr>
              <a:t>、</a:t>
            </a:r>
            <a:r>
              <a:rPr lang="en-US" altLang="zh-CN" dirty="0">
                <a:solidFill>
                  <a:schemeClr val="accent4">
                    <a:lumMod val="75000"/>
                  </a:schemeClr>
                </a:solidFill>
              </a:rPr>
              <a:t>4</a:t>
            </a:r>
            <a:r>
              <a:rPr lang="zh-CN" altLang="en-US" dirty="0">
                <a:solidFill>
                  <a:schemeClr val="accent4">
                    <a:lumMod val="75000"/>
                  </a:schemeClr>
                </a:solidFill>
              </a:rPr>
              <a:t>确定</a:t>
            </a:r>
            <a:r>
              <a:rPr lang="en-US" altLang="zh-CN" dirty="0">
                <a:solidFill>
                  <a:schemeClr val="accent4">
                    <a:lumMod val="75000"/>
                  </a:schemeClr>
                </a:solidFill>
              </a:rPr>
              <a:t>job4</a:t>
            </a:r>
          </a:p>
          <a:p>
            <a:pPr marL="285750" indent="-285750">
              <a:lnSpc>
                <a:spcPct val="150000"/>
              </a:lnSpc>
              <a:buFont typeface="Wingdings" panose="05000000000000000000" pitchFamily="2" charset="2"/>
              <a:buChar char="Ø"/>
            </a:pPr>
            <a:r>
              <a:rPr lang="zh-CN" altLang="en-US" dirty="0"/>
              <a:t>满足每个节点存储                  的限制</a:t>
            </a:r>
          </a:p>
        </p:txBody>
      </p:sp>
      <p:sp>
        <p:nvSpPr>
          <p:cNvPr id="44" name="矩形 43">
            <a:extLst>
              <a:ext uri="{FF2B5EF4-FFF2-40B4-BE49-F238E27FC236}">
                <a16:creationId xmlns:a16="http://schemas.microsoft.com/office/drawing/2014/main" id="{8775CB01-CA88-4B46-A7F0-C18959228159}"/>
              </a:ext>
            </a:extLst>
          </p:cNvPr>
          <p:cNvSpPr/>
          <p:nvPr/>
        </p:nvSpPr>
        <p:spPr>
          <a:xfrm>
            <a:off x="1150327" y="1915185"/>
            <a:ext cx="2088173" cy="47558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35136016-D417-4929-BBFA-4B0B126D16E4}"/>
              </a:ext>
            </a:extLst>
          </p:cNvPr>
          <p:cNvSpPr/>
          <p:nvPr/>
        </p:nvSpPr>
        <p:spPr>
          <a:xfrm>
            <a:off x="4960327" y="1890826"/>
            <a:ext cx="2088173" cy="47558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extLst>
              <a:ext uri="{FF2B5EF4-FFF2-40B4-BE49-F238E27FC236}">
                <a16:creationId xmlns:a16="http://schemas.microsoft.com/office/drawing/2014/main" id="{6688A119-9087-456E-B9C7-8995FF0290EB}"/>
              </a:ext>
            </a:extLst>
          </p:cNvPr>
          <p:cNvSpPr/>
          <p:nvPr/>
        </p:nvSpPr>
        <p:spPr>
          <a:xfrm>
            <a:off x="1150327" y="4324439"/>
            <a:ext cx="2088173" cy="475589"/>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9C68020E-C926-4292-8973-05FD8D4D9DDB}"/>
              </a:ext>
            </a:extLst>
          </p:cNvPr>
          <p:cNvSpPr/>
          <p:nvPr/>
        </p:nvSpPr>
        <p:spPr>
          <a:xfrm>
            <a:off x="1150327" y="2400211"/>
            <a:ext cx="2088173" cy="475588"/>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9" name="矩形 48">
            <a:extLst>
              <a:ext uri="{FF2B5EF4-FFF2-40B4-BE49-F238E27FC236}">
                <a16:creationId xmlns:a16="http://schemas.microsoft.com/office/drawing/2014/main" id="{99A3C1BC-A448-4F11-B8A0-9071E11C14C4}"/>
              </a:ext>
            </a:extLst>
          </p:cNvPr>
          <p:cNvSpPr/>
          <p:nvPr/>
        </p:nvSpPr>
        <p:spPr>
          <a:xfrm>
            <a:off x="4960327" y="2380410"/>
            <a:ext cx="2088173" cy="475588"/>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0" name="矩形 49">
            <a:extLst>
              <a:ext uri="{FF2B5EF4-FFF2-40B4-BE49-F238E27FC236}">
                <a16:creationId xmlns:a16="http://schemas.microsoft.com/office/drawing/2014/main" id="{7CDB7DE0-7980-4D45-AE72-162DDB759C7E}"/>
              </a:ext>
            </a:extLst>
          </p:cNvPr>
          <p:cNvSpPr/>
          <p:nvPr/>
        </p:nvSpPr>
        <p:spPr>
          <a:xfrm>
            <a:off x="4960327" y="4324440"/>
            <a:ext cx="2088173" cy="475588"/>
          </a:xfrm>
          <a:prstGeom prst="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1" name="矩形 50">
            <a:extLst>
              <a:ext uri="{FF2B5EF4-FFF2-40B4-BE49-F238E27FC236}">
                <a16:creationId xmlns:a16="http://schemas.microsoft.com/office/drawing/2014/main" id="{6820B8D4-CE03-4816-BB27-BDFE01946FA2}"/>
              </a:ext>
            </a:extLst>
          </p:cNvPr>
          <p:cNvSpPr/>
          <p:nvPr/>
        </p:nvSpPr>
        <p:spPr>
          <a:xfrm>
            <a:off x="1150327" y="4810124"/>
            <a:ext cx="2088173" cy="475589"/>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a:extLst>
              <a:ext uri="{FF2B5EF4-FFF2-40B4-BE49-F238E27FC236}">
                <a16:creationId xmlns:a16="http://schemas.microsoft.com/office/drawing/2014/main" id="{FA76F6CE-DE3D-4CAD-8A97-5DF7B4E4B2D2}"/>
              </a:ext>
            </a:extLst>
          </p:cNvPr>
          <p:cNvSpPr/>
          <p:nvPr/>
        </p:nvSpPr>
        <p:spPr>
          <a:xfrm>
            <a:off x="1150327" y="2896260"/>
            <a:ext cx="2088173" cy="475589"/>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a:extLst>
              <a:ext uri="{FF2B5EF4-FFF2-40B4-BE49-F238E27FC236}">
                <a16:creationId xmlns:a16="http://schemas.microsoft.com/office/drawing/2014/main" id="{09A370C5-D5F6-4808-8845-638A32F83207}"/>
              </a:ext>
            </a:extLst>
          </p:cNvPr>
          <p:cNvSpPr/>
          <p:nvPr/>
        </p:nvSpPr>
        <p:spPr>
          <a:xfrm>
            <a:off x="4960327" y="4809553"/>
            <a:ext cx="2088173" cy="475589"/>
          </a:xfrm>
          <a:prstGeom prst="rect">
            <a:avLst/>
          </a:prstGeom>
          <a:no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矩形 54">
            <a:extLst>
              <a:ext uri="{FF2B5EF4-FFF2-40B4-BE49-F238E27FC236}">
                <a16:creationId xmlns:a16="http://schemas.microsoft.com/office/drawing/2014/main" id="{D635D5F5-6570-4104-B467-91B467AFCB2A}"/>
              </a:ext>
            </a:extLst>
          </p:cNvPr>
          <p:cNvSpPr/>
          <p:nvPr/>
        </p:nvSpPr>
        <p:spPr>
          <a:xfrm>
            <a:off x="4960326" y="2872277"/>
            <a:ext cx="2088173" cy="475588"/>
          </a:xfrm>
          <a:prstGeom prst="rect">
            <a:avLst/>
          </a:prstGeom>
          <a:noFill/>
          <a:ln w="381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26E90710-83BC-4B88-8F76-C17792BCBB9F}"/>
              </a:ext>
            </a:extLst>
          </p:cNvPr>
          <p:cNvSpPr/>
          <p:nvPr/>
        </p:nvSpPr>
        <p:spPr>
          <a:xfrm>
            <a:off x="1150326" y="5300670"/>
            <a:ext cx="2088173" cy="475588"/>
          </a:xfrm>
          <a:prstGeom prst="rect">
            <a:avLst/>
          </a:prstGeom>
          <a:noFill/>
          <a:ln w="381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a:extLst>
              <a:ext uri="{FF2B5EF4-FFF2-40B4-BE49-F238E27FC236}">
                <a16:creationId xmlns:a16="http://schemas.microsoft.com/office/drawing/2014/main" id="{71E54A2F-69F6-4A4E-A770-3A0CC3447FDA}"/>
              </a:ext>
            </a:extLst>
          </p:cNvPr>
          <p:cNvSpPr/>
          <p:nvPr/>
        </p:nvSpPr>
        <p:spPr>
          <a:xfrm>
            <a:off x="4960325" y="5304778"/>
            <a:ext cx="2088173" cy="475588"/>
          </a:xfrm>
          <a:prstGeom prst="rect">
            <a:avLst/>
          </a:prstGeom>
          <a:noFill/>
          <a:ln w="381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8" name="图片 57">
            <a:extLst>
              <a:ext uri="{FF2B5EF4-FFF2-40B4-BE49-F238E27FC236}">
                <a16:creationId xmlns:a16="http://schemas.microsoft.com/office/drawing/2014/main" id="{31819590-D0A9-4E81-824B-F24AFAB4C84F}"/>
              </a:ext>
            </a:extLst>
          </p:cNvPr>
          <p:cNvPicPr>
            <a:picLocks noChangeAspect="1"/>
          </p:cNvPicPr>
          <p:nvPr/>
        </p:nvPicPr>
        <p:blipFill>
          <a:blip r:embed="rId8"/>
          <a:stretch>
            <a:fillRect/>
          </a:stretch>
        </p:blipFill>
        <p:spPr>
          <a:xfrm>
            <a:off x="9799687" y="4695253"/>
            <a:ext cx="1080161" cy="285529"/>
          </a:xfrm>
          <a:prstGeom prst="rect">
            <a:avLst/>
          </a:prstGeom>
        </p:spPr>
      </p:pic>
      <p:sp>
        <p:nvSpPr>
          <p:cNvPr id="59" name="灯片编号占位符 58">
            <a:extLst>
              <a:ext uri="{FF2B5EF4-FFF2-40B4-BE49-F238E27FC236}">
                <a16:creationId xmlns:a16="http://schemas.microsoft.com/office/drawing/2014/main" id="{F8025887-8C73-4064-9ED0-EA6160DC27FC}"/>
              </a:ext>
            </a:extLst>
          </p:cNvPr>
          <p:cNvSpPr>
            <a:spLocks noGrp="1"/>
          </p:cNvSpPr>
          <p:nvPr>
            <p:ph type="sldNum" sz="quarter" idx="12"/>
          </p:nvPr>
        </p:nvSpPr>
        <p:spPr/>
        <p:txBody>
          <a:bodyPr/>
          <a:lstStyle/>
          <a:p>
            <a:fld id="{B125EA80-F692-46D2-AFCC-CA48803B46EF}" type="slidenum">
              <a:rPr lang="zh-CN" altLang="en-US" smtClean="0"/>
              <a:t>21</a:t>
            </a:fld>
            <a:endParaRPr lang="zh-CN" altLang="en-US" dirty="0"/>
          </a:p>
        </p:txBody>
      </p:sp>
    </p:spTree>
    <p:extLst>
      <p:ext uri="{BB962C8B-B14F-4D97-AF65-F5344CB8AC3E}">
        <p14:creationId xmlns:p14="http://schemas.microsoft.com/office/powerpoint/2010/main" val="20497574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云形 23">
            <a:extLst>
              <a:ext uri="{FF2B5EF4-FFF2-40B4-BE49-F238E27FC236}">
                <a16:creationId xmlns:a16="http://schemas.microsoft.com/office/drawing/2014/main" id="{24257737-A932-4B67-8BA8-CD079AD769E4}"/>
              </a:ext>
            </a:extLst>
          </p:cNvPr>
          <p:cNvSpPr/>
          <p:nvPr/>
        </p:nvSpPr>
        <p:spPr>
          <a:xfrm>
            <a:off x="1119099" y="1044790"/>
            <a:ext cx="9686544" cy="5773395"/>
          </a:xfrm>
          <a:prstGeom prst="cloud">
            <a:avLst/>
          </a:prstGeom>
          <a:solidFill>
            <a:srgbClr val="EFFB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1" b="0"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lvl="0">
              <a:lnSpc>
                <a:spcPts val="4400"/>
              </a:lnSpc>
              <a:defRPr/>
            </a:pP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 4. </a:t>
            </a:r>
            <a:r>
              <a:rPr lang="zh-CN" altLang="en-US" sz="2800" b="1" dirty="0">
                <a:solidFill>
                  <a:prstClr val="white"/>
                </a:solidFill>
              </a:rPr>
              <a:t>雾网络下基于压缩编码技术的分布式矩阵</a:t>
            </a:r>
            <a:r>
              <a:rPr lang="en-US" altLang="zh-CN" sz="2800" b="1" dirty="0">
                <a:solidFill>
                  <a:prstClr val="white"/>
                </a:solidFill>
              </a:rPr>
              <a:t>-</a:t>
            </a:r>
            <a:r>
              <a:rPr lang="zh-CN" altLang="en-US" sz="2800" b="1" dirty="0">
                <a:solidFill>
                  <a:prstClr val="white"/>
                </a:solidFill>
              </a:rPr>
              <a:t>向量乘法运算算法</a:t>
            </a:r>
            <a:r>
              <a:rPr lang="zh-CN" altLang="en-US" sz="2800" b="1" dirty="0">
                <a:solidFill>
                  <a:schemeClr val="bg1"/>
                </a:solidFill>
              </a:rPr>
              <a:t>（方案示例）</a:t>
            </a:r>
            <a:endParaRPr kumimoji="0" lang="en-US" altLang="zh-CN" sz="2800" b="1" i="0" u="none" strike="noStrike" kern="1200" cap="none" spc="0" normalizeH="0" baseline="0" noProof="0" dirty="0">
              <a:ln>
                <a:noFill/>
              </a:ln>
              <a:solidFill>
                <a:prstClr val="white"/>
              </a:solidFill>
              <a:effectLst/>
              <a:uLnTx/>
              <a:uFillTx/>
              <a:latin typeface="Arial"/>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0" normalizeH="0" baseline="0" noProof="0" dirty="0">
              <a:ln>
                <a:noFill/>
              </a:ln>
              <a:solidFill>
                <a:prstClr val="white"/>
              </a:solidFill>
              <a:effectLst/>
              <a:uLnTx/>
              <a:uFillTx/>
              <a:latin typeface="Arial"/>
              <a:ea typeface="微软雅黑"/>
              <a:cs typeface="+mn-cs"/>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869762B-3FC4-422B-8D7C-B74731649032}"/>
                  </a:ext>
                </a:extLst>
              </p:cNvPr>
              <p:cNvSpPr txBox="1"/>
              <p:nvPr/>
            </p:nvSpPr>
            <p:spPr>
              <a:xfrm>
                <a:off x="155448" y="832104"/>
                <a:ext cx="11868912" cy="3031599"/>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000" b="1" dirty="0">
                    <a:solidFill>
                      <a:prstClr val="black"/>
                    </a:solidFill>
                    <a:latin typeface="Arial"/>
                    <a:ea typeface="微软雅黑"/>
                  </a:rPr>
                  <a:t>方案示例（            </a:t>
                </a:r>
                <a:r>
                  <a:rPr lang="en-US" altLang="zh-CN" sz="2000" b="1" dirty="0">
                    <a:solidFill>
                      <a:prstClr val="black"/>
                    </a:solidFill>
                    <a:latin typeface="Arial"/>
                    <a:ea typeface="微软雅黑"/>
                  </a:rPr>
                  <a:t>,           ,</a:t>
                </a:r>
                <a:r>
                  <a:rPr lang="zh-CN" altLang="en-US" sz="2000" b="1" dirty="0">
                    <a:solidFill>
                      <a:prstClr val="black"/>
                    </a:solidFill>
                    <a:latin typeface="Arial"/>
                    <a:ea typeface="微软雅黑"/>
                  </a:rPr>
                  <a:t>          </a:t>
                </a:r>
                <a:r>
                  <a:rPr lang="en-US" altLang="zh-CN" sz="2000" b="1" dirty="0">
                    <a:solidFill>
                      <a:prstClr val="black"/>
                    </a:solidFill>
                    <a:latin typeface="Arial"/>
                    <a:ea typeface="微软雅黑"/>
                  </a:rPr>
                  <a:t>, </a:t>
                </a:r>
                <a:r>
                  <a:rPr lang="zh-CN" altLang="en-US" sz="2000" b="1" dirty="0">
                    <a:solidFill>
                      <a:prstClr val="black"/>
                    </a:solidFill>
                    <a:latin typeface="Arial"/>
                    <a:ea typeface="微软雅黑"/>
                  </a:rPr>
                  <a:t>         ）</a:t>
                </a:r>
                <a:endParaRPr lang="en-US" altLang="zh-CN" sz="2000" b="1" dirty="0">
                  <a:solidFill>
                    <a:prstClr val="black"/>
                  </a:solidFill>
                  <a:latin typeface="Arial"/>
                  <a:ea typeface="微软雅黑"/>
                </a:endParaRPr>
              </a:p>
              <a:p>
                <a:pPr marL="342900" lvl="0" indent="-342900">
                  <a:lnSpc>
                    <a:spcPct val="150000"/>
                  </a:lnSpc>
                  <a:buFont typeface="+mj-lt"/>
                  <a:buAutoNum type="arabicPeriod" startAt="2"/>
                </a:pPr>
                <a:r>
                  <a:rPr lang="zh-CN" altLang="en-US" b="1" dirty="0">
                    <a:solidFill>
                      <a:srgbClr val="FF0000"/>
                    </a:solidFill>
                  </a:rPr>
                  <a:t>单一</a:t>
                </a:r>
                <a:r>
                  <a:rPr lang="zh-CN" altLang="en-US" b="1" dirty="0">
                    <a:solidFill>
                      <a:prstClr val="black"/>
                    </a:solidFill>
                  </a:rPr>
                  <a:t>作业下的处理（考虑节点分组</a:t>
                </a:r>
                <a14:m>
                  <m:oMath xmlns:m="http://schemas.openxmlformats.org/officeDocument/2006/math">
                    <m:d>
                      <m:dPr>
                        <m:begChr m:val="{"/>
                        <m:endChr m:val="}"/>
                        <m:ctrlPr>
                          <a:rPr lang="en-US" altLang="zh-CN" b="1" i="1" smtClean="0">
                            <a:solidFill>
                              <a:prstClr val="black"/>
                            </a:solidFill>
                            <a:latin typeface="Cambria Math" panose="02040503050406030204" pitchFamily="18" charset="0"/>
                          </a:rPr>
                        </m:ctrlPr>
                      </m:dPr>
                      <m:e>
                        <m:r>
                          <a:rPr lang="en-US" altLang="zh-CN" b="1" i="1" smtClean="0">
                            <a:solidFill>
                              <a:prstClr val="black"/>
                            </a:solidFill>
                            <a:latin typeface="Cambria Math" panose="02040503050406030204" pitchFamily="18" charset="0"/>
                          </a:rPr>
                          <m:t>𝟏</m:t>
                        </m:r>
                        <m:r>
                          <a:rPr lang="en-US" altLang="zh-CN" b="1" i="1" smtClean="0">
                            <a:solidFill>
                              <a:prstClr val="black"/>
                            </a:solidFill>
                            <a:latin typeface="Cambria Math" panose="02040503050406030204" pitchFamily="18" charset="0"/>
                          </a:rPr>
                          <m:t>,</m:t>
                        </m:r>
                        <m:r>
                          <a:rPr lang="en-US" altLang="zh-CN" b="1" i="1" smtClean="0">
                            <a:solidFill>
                              <a:prstClr val="black"/>
                            </a:solidFill>
                            <a:latin typeface="Cambria Math" panose="02040503050406030204" pitchFamily="18" charset="0"/>
                          </a:rPr>
                          <m:t>𝟐</m:t>
                        </m:r>
                        <m:r>
                          <a:rPr lang="en-US" altLang="zh-CN" b="1" i="1" smtClean="0">
                            <a:solidFill>
                              <a:prstClr val="black"/>
                            </a:solidFill>
                            <a:latin typeface="Cambria Math" panose="02040503050406030204" pitchFamily="18" charset="0"/>
                          </a:rPr>
                          <m:t>,</m:t>
                        </m:r>
                        <m:r>
                          <a:rPr lang="en-US" altLang="zh-CN" b="1" i="1" smtClean="0">
                            <a:solidFill>
                              <a:prstClr val="black"/>
                            </a:solidFill>
                            <a:latin typeface="Cambria Math" panose="02040503050406030204" pitchFamily="18" charset="0"/>
                          </a:rPr>
                          <m:t>𝟑</m:t>
                        </m:r>
                      </m:e>
                    </m:d>
                  </m:oMath>
                </a14:m>
                <a:r>
                  <a:rPr lang="zh-CN" altLang="en-US" b="1" dirty="0">
                    <a:solidFill>
                      <a:prstClr val="black"/>
                    </a:solidFill>
                  </a:rPr>
                  <a:t>）</a:t>
                </a:r>
                <a:endParaRPr lang="en-US" altLang="zh-CN" b="1" dirty="0">
                  <a:solidFill>
                    <a:prstClr val="black"/>
                  </a:solidFill>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p:txBody>
          </p:sp>
        </mc:Choice>
        <mc:Fallback xmlns="">
          <p:sp>
            <p:nvSpPr>
              <p:cNvPr id="2" name="文本框 1">
                <a:extLst>
                  <a:ext uri="{FF2B5EF4-FFF2-40B4-BE49-F238E27FC236}">
                    <a16:creationId xmlns:a16="http://schemas.microsoft.com/office/drawing/2014/main" id="{A869762B-3FC4-422B-8D7C-B74731649032}"/>
                  </a:ext>
                </a:extLst>
              </p:cNvPr>
              <p:cNvSpPr txBox="1">
                <a:spLocks noRot="1" noChangeAspect="1" noMove="1" noResize="1" noEditPoints="1" noAdjustHandles="1" noChangeArrowheads="1" noChangeShapeType="1" noTextEdit="1"/>
              </p:cNvSpPr>
              <p:nvPr/>
            </p:nvSpPr>
            <p:spPr>
              <a:xfrm>
                <a:off x="155448" y="832104"/>
                <a:ext cx="11868912" cy="3031599"/>
              </a:xfrm>
              <a:prstGeom prst="rect">
                <a:avLst/>
              </a:prstGeom>
              <a:blipFill>
                <a:blip r:embed="rId3"/>
                <a:stretch>
                  <a:fillRect l="-462" t="-1207"/>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A32F3BDC-8659-4ECD-BC47-80F066F32F5F}"/>
              </a:ext>
            </a:extLst>
          </p:cNvPr>
          <p:cNvPicPr>
            <a:picLocks noChangeAspect="1"/>
          </p:cNvPicPr>
          <p:nvPr/>
        </p:nvPicPr>
        <p:blipFill>
          <a:blip r:embed="rId4"/>
          <a:stretch>
            <a:fillRect/>
          </a:stretch>
        </p:blipFill>
        <p:spPr>
          <a:xfrm>
            <a:off x="1833563" y="937916"/>
            <a:ext cx="862012" cy="266995"/>
          </a:xfrm>
          <a:prstGeom prst="rect">
            <a:avLst/>
          </a:prstGeom>
        </p:spPr>
      </p:pic>
      <p:pic>
        <p:nvPicPr>
          <p:cNvPr id="6" name="图片 5">
            <a:extLst>
              <a:ext uri="{FF2B5EF4-FFF2-40B4-BE49-F238E27FC236}">
                <a16:creationId xmlns:a16="http://schemas.microsoft.com/office/drawing/2014/main" id="{BF275A9F-3813-47AF-BDB8-A3AD3F9C1A33}"/>
              </a:ext>
            </a:extLst>
          </p:cNvPr>
          <p:cNvPicPr>
            <a:picLocks noChangeAspect="1"/>
          </p:cNvPicPr>
          <p:nvPr/>
        </p:nvPicPr>
        <p:blipFill>
          <a:blip r:embed="rId5"/>
          <a:stretch>
            <a:fillRect/>
          </a:stretch>
        </p:blipFill>
        <p:spPr>
          <a:xfrm>
            <a:off x="2776538" y="877857"/>
            <a:ext cx="743922" cy="340304"/>
          </a:xfrm>
          <a:prstGeom prst="rect">
            <a:avLst/>
          </a:prstGeom>
        </p:spPr>
      </p:pic>
      <p:pic>
        <p:nvPicPr>
          <p:cNvPr id="22" name="图片 21">
            <a:extLst>
              <a:ext uri="{FF2B5EF4-FFF2-40B4-BE49-F238E27FC236}">
                <a16:creationId xmlns:a16="http://schemas.microsoft.com/office/drawing/2014/main" id="{A7047882-2AA7-4454-BB49-14467244F801}"/>
              </a:ext>
            </a:extLst>
          </p:cNvPr>
          <p:cNvPicPr>
            <a:picLocks noChangeAspect="1"/>
          </p:cNvPicPr>
          <p:nvPr/>
        </p:nvPicPr>
        <p:blipFill>
          <a:blip r:embed="rId6"/>
          <a:stretch>
            <a:fillRect/>
          </a:stretch>
        </p:blipFill>
        <p:spPr>
          <a:xfrm>
            <a:off x="4396438" y="884786"/>
            <a:ext cx="657367" cy="322403"/>
          </a:xfrm>
          <a:prstGeom prst="rect">
            <a:avLst/>
          </a:prstGeom>
        </p:spPr>
      </p:pic>
      <mc:AlternateContent xmlns:mc="http://schemas.openxmlformats.org/markup-compatibility/2006" xmlns:a14="http://schemas.microsoft.com/office/drawing/2010/main">
        <mc:Choice Requires="a14">
          <p:sp>
            <p:nvSpPr>
              <p:cNvPr id="25" name="圆角矩形 10">
                <a:extLst>
                  <a:ext uri="{FF2B5EF4-FFF2-40B4-BE49-F238E27FC236}">
                    <a16:creationId xmlns:a16="http://schemas.microsoft.com/office/drawing/2014/main" id="{E478D019-0DC9-4B4D-8ADF-FC4226042B53}"/>
                  </a:ext>
                </a:extLst>
              </p:cNvPr>
              <p:cNvSpPr/>
              <p:nvPr/>
            </p:nvSpPr>
            <p:spPr>
              <a:xfrm>
                <a:off x="4268315" y="1869094"/>
                <a:ext cx="2456335" cy="955347"/>
              </a:xfrm>
              <a:prstGeom prst="roundRect">
                <a:avLst/>
              </a:prstGeom>
              <a:no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1" i="0"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en-US" altLang="zh-CN" sz="12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1052"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1052"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1" i="0"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en-US" altLang="zh-CN" sz="12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mc:Choice>
        <mc:Fallback xmlns="">
          <p:sp>
            <p:nvSpPr>
              <p:cNvPr id="25" name="圆角矩形 10">
                <a:extLst>
                  <a:ext uri="{FF2B5EF4-FFF2-40B4-BE49-F238E27FC236}">
                    <a16:creationId xmlns:a16="http://schemas.microsoft.com/office/drawing/2014/main" id="{E478D019-0DC9-4B4D-8ADF-FC4226042B53}"/>
                  </a:ext>
                </a:extLst>
              </p:cNvPr>
              <p:cNvSpPr>
                <a:spLocks noRot="1" noChangeAspect="1" noMove="1" noResize="1" noEditPoints="1" noAdjustHandles="1" noChangeArrowheads="1" noChangeShapeType="1" noTextEdit="1"/>
              </p:cNvSpPr>
              <p:nvPr/>
            </p:nvSpPr>
            <p:spPr>
              <a:xfrm>
                <a:off x="4268315" y="1869094"/>
                <a:ext cx="2456335" cy="955347"/>
              </a:xfrm>
              <a:prstGeom prst="roundRect">
                <a:avLst/>
              </a:prstGeom>
              <a:blipFill>
                <a:blip r:embed="rId8"/>
                <a:stretch>
                  <a:fillRect/>
                </a:stretch>
              </a:blipFill>
              <a:ln w="12700" cap="flat" cmpd="sng" algn="ctr">
                <a:solidFill>
                  <a:sysClr val="windowText" lastClr="000000"/>
                </a:solidFill>
                <a:prstDash val="solid"/>
                <a:miter lim="800000"/>
              </a:ln>
              <a:effectLst/>
            </p:spPr>
            <p:txBody>
              <a:bodyPr/>
              <a:lstStyle/>
              <a:p>
                <a:r>
                  <a:rPr lang="zh-CN" altLang="en-US">
                    <a:noFill/>
                  </a:rPr>
                  <a:t> </a:t>
                </a:r>
              </a:p>
            </p:txBody>
          </p:sp>
        </mc:Fallback>
      </mc:AlternateContent>
      <p:sp>
        <p:nvSpPr>
          <p:cNvPr id="26" name="文本框 25">
            <a:extLst>
              <a:ext uri="{FF2B5EF4-FFF2-40B4-BE49-F238E27FC236}">
                <a16:creationId xmlns:a16="http://schemas.microsoft.com/office/drawing/2014/main" id="{BA64DF6C-B53D-4343-8748-28F713227C0D}"/>
              </a:ext>
            </a:extLst>
          </p:cNvPr>
          <p:cNvSpPr txBox="1"/>
          <p:nvPr/>
        </p:nvSpPr>
        <p:spPr>
          <a:xfrm>
            <a:off x="5221441" y="1643803"/>
            <a:ext cx="706191" cy="276999"/>
          </a:xfrm>
          <a:prstGeom prst="rect">
            <a:avLst/>
          </a:prstGeom>
          <a:noFill/>
        </p:spPr>
        <p:txBody>
          <a:bodyPr wrap="square" rtlCol="0">
            <a:spAutoFit/>
          </a:bodyPr>
          <a:lstStyle/>
          <a:p>
            <a:r>
              <a:rPr lang="en-US" altLang="zh-CN" sz="1200" b="1" dirty="0">
                <a:solidFill>
                  <a:prstClr val="black"/>
                </a:solidFill>
                <a:latin typeface="Calibri" panose="020F0502020204030204"/>
                <a:ea typeface="等线" panose="02010600030101010101" pitchFamily="2" charset="-122"/>
              </a:rPr>
              <a:t>Node 1</a:t>
            </a:r>
            <a:endParaRPr lang="zh-CN" altLang="en-US" sz="1200" b="1" dirty="0">
              <a:solidFill>
                <a:prstClr val="black"/>
              </a:solidFill>
              <a:latin typeface="Calibri" panose="020F0502020204030204"/>
              <a:ea typeface="等线" panose="02010600030101010101" pitchFamily="2" charset="-122"/>
            </a:endParaRPr>
          </a:p>
        </p:txBody>
      </p:sp>
      <p:sp>
        <p:nvSpPr>
          <p:cNvPr id="28" name="文本框 27">
            <a:extLst>
              <a:ext uri="{FF2B5EF4-FFF2-40B4-BE49-F238E27FC236}">
                <a16:creationId xmlns:a16="http://schemas.microsoft.com/office/drawing/2014/main" id="{D3CE21C4-86CE-4F52-9FC9-C5B69FF74792}"/>
              </a:ext>
            </a:extLst>
          </p:cNvPr>
          <p:cNvSpPr txBox="1"/>
          <p:nvPr/>
        </p:nvSpPr>
        <p:spPr>
          <a:xfrm>
            <a:off x="1278523" y="4137629"/>
            <a:ext cx="697015" cy="276999"/>
          </a:xfrm>
          <a:prstGeom prst="rect">
            <a:avLst/>
          </a:prstGeom>
          <a:noFill/>
        </p:spPr>
        <p:txBody>
          <a:bodyPr wrap="square" rtlCol="0">
            <a:spAutoFit/>
          </a:bodyPr>
          <a:lstStyle/>
          <a:p>
            <a:r>
              <a:rPr lang="en-US" altLang="zh-CN" sz="1200" b="1" dirty="0">
                <a:solidFill>
                  <a:prstClr val="black"/>
                </a:solidFill>
                <a:latin typeface="Calibri" panose="020F0502020204030204"/>
                <a:ea typeface="等线" panose="02010600030101010101" pitchFamily="2" charset="-122"/>
              </a:rPr>
              <a:t>Node 2</a:t>
            </a:r>
            <a:endParaRPr lang="zh-CN" altLang="en-US" sz="1200" b="1" dirty="0">
              <a:solidFill>
                <a:prstClr val="black"/>
              </a:solidFill>
              <a:latin typeface="Calibri" panose="020F0502020204030204"/>
              <a:ea typeface="等线" panose="02010600030101010101" pitchFamily="2" charset="-122"/>
            </a:endParaRPr>
          </a:p>
        </p:txBody>
      </p:sp>
      <mc:AlternateContent xmlns:mc="http://schemas.openxmlformats.org/markup-compatibility/2006" xmlns:a14="http://schemas.microsoft.com/office/drawing/2010/main">
        <mc:Choice Requires="a14">
          <p:sp>
            <p:nvSpPr>
              <p:cNvPr id="30" name="矩形 29">
                <a:extLst>
                  <a:ext uri="{FF2B5EF4-FFF2-40B4-BE49-F238E27FC236}">
                    <a16:creationId xmlns:a16="http://schemas.microsoft.com/office/drawing/2014/main" id="{D3B16C3F-FB78-4DD1-9CF9-BB43CDCA6B24}"/>
                  </a:ext>
                </a:extLst>
              </p:cNvPr>
              <p:cNvSpPr/>
              <p:nvPr/>
            </p:nvSpPr>
            <p:spPr>
              <a:xfrm>
                <a:off x="6597312" y="2056619"/>
                <a:ext cx="3708738" cy="6126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200" i="1" smtClean="0">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3</m:t>
                          </m:r>
                        </m:sub>
                        <m:sup>
                          <m:r>
                            <a:rPr lang="en-US" altLang="zh-CN" sz="1200" i="1" smtClean="0">
                              <a:solidFill>
                                <a:prstClr val="black"/>
                              </a:solidFill>
                              <a:latin typeface="Cambria Math" panose="02040503050406030204" pitchFamily="18" charset="0"/>
                            </a:rPr>
                            <m:t>(1)</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3</m:t>
                          </m:r>
                        </m:sub>
                        <m:sup>
                          <m:r>
                            <a:rPr lang="en-US" altLang="zh-CN" sz="1200" i="1">
                              <a:solidFill>
                                <a:prstClr val="black"/>
                              </a:solidFill>
                              <a:latin typeface="Cambria Math" panose="02040503050406030204" pitchFamily="18" charset="0"/>
                            </a:rPr>
                            <m:t>(1)</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4</m:t>
                          </m:r>
                        </m:sub>
                        <m:sup>
                          <m:r>
                            <a:rPr lang="en-US" altLang="zh-CN" sz="1200" i="1">
                              <a:solidFill>
                                <a:prstClr val="black"/>
                              </a:solidFill>
                              <a:latin typeface="Cambria Math" panose="02040503050406030204" pitchFamily="18" charset="0"/>
                            </a:rPr>
                            <m:t>(1)</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4</m:t>
                          </m:r>
                        </m:sub>
                        <m:sup>
                          <m:r>
                            <a:rPr lang="en-US" altLang="zh-CN" sz="1200" i="1">
                              <a:solidFill>
                                <a:prstClr val="black"/>
                              </a:solidFill>
                              <a:latin typeface="Cambria Math" panose="02040503050406030204" pitchFamily="18" charset="0"/>
                            </a:rPr>
                            <m:t>(1)</m:t>
                          </m:r>
                        </m:sup>
                      </m:sSubSup>
                      <m:r>
                        <a:rPr lang="en-US" altLang="zh-CN" sz="1200" i="1">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𝐳</m:t>
                          </m:r>
                        </m:e>
                        <m:sub>
                          <m:r>
                            <a:rPr lang="en-US" altLang="zh-CN" sz="1200" i="1">
                              <a:solidFill>
                                <a:prstClr val="black"/>
                              </a:solidFill>
                              <a:latin typeface="Cambria Math" panose="02040503050406030204" pitchFamily="18" charset="0"/>
                            </a:rPr>
                            <m:t>{1,2}</m:t>
                          </m:r>
                        </m:sub>
                        <m:sup>
                          <m:r>
                            <a:rPr lang="en-US" altLang="zh-CN" sz="1200" i="1">
                              <a:solidFill>
                                <a:prstClr val="black"/>
                              </a:solidFill>
                              <a:latin typeface="Cambria Math" panose="02040503050406030204" pitchFamily="18" charset="0"/>
                            </a:rPr>
                            <m:t>(1)</m:t>
                          </m:r>
                        </m:sup>
                      </m:sSubSup>
                      <m:r>
                        <a:rPr lang="en-US" altLang="zh-CN" sz="1200" b="1" i="1">
                          <a:solidFill>
                            <a:srgbClr val="00B0F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1,2</m:t>
                                  </m:r>
                                </m:e>
                              </m:d>
                            </m:sub>
                            <m:sup>
                              <m:r>
                                <a:rPr lang="en-US" altLang="zh-CN" sz="1200" i="1">
                                  <a:solidFill>
                                    <a:prstClr val="black"/>
                                  </a:solidFill>
                                  <a:latin typeface="Cambria Math" panose="02040503050406030204" pitchFamily="18" charset="0"/>
                                </a:rPr>
                                <m:t>(1)</m:t>
                              </m:r>
                            </m:sup>
                          </m:sSubSup>
                          <m:r>
                            <a:rPr lang="en-US" altLang="zh-CN" sz="1200" i="1">
                              <a:solidFill>
                                <a:srgbClr val="FF0000"/>
                              </a:solidFill>
                              <a:latin typeface="Cambria Math" panose="02040503050406030204" pitchFamily="18" charset="0"/>
                              <a:ea typeface="Cambria Math" panose="02040503050406030204" pitchFamily="18" charset="0"/>
                            </a:rPr>
                            <m:t>⇒</m:t>
                          </m:r>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1,2</m:t>
                              </m:r>
                            </m:e>
                          </m:d>
                          <m:r>
                            <a:rPr lang="en-US" altLang="zh-CN" sz="1200" i="1">
                              <a:solidFill>
                                <a:prstClr val="black"/>
                              </a:solidFill>
                              <a:latin typeface="Cambria Math" panose="02040503050406030204" pitchFamily="18" charset="0"/>
                            </a:rPr>
                            <m:t>,1</m:t>
                          </m:r>
                        </m:sub>
                        <m:sup>
                          <m:r>
                            <a:rPr lang="en-US" altLang="zh-CN" sz="1200" i="1">
                              <a:solidFill>
                                <a:prstClr val="black"/>
                              </a:solidFill>
                              <a:latin typeface="Cambria Math" panose="02040503050406030204" pitchFamily="18" charset="0"/>
                            </a:rPr>
                            <m:t>(1)</m:t>
                          </m:r>
                        </m:sup>
                      </m:sSubSup>
                      <m:r>
                        <a:rPr lang="en-US" altLang="zh-CN" sz="1200" i="1">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1,2</m:t>
                              </m:r>
                            </m:e>
                          </m:d>
                          <m:r>
                            <a:rPr lang="en-US" altLang="zh-CN" sz="1200" i="1">
                              <a:solidFill>
                                <a:prstClr val="black"/>
                              </a:solidFill>
                              <a:latin typeface="Cambria Math" panose="02040503050406030204" pitchFamily="18" charset="0"/>
                            </a:rPr>
                            <m:t>,2</m:t>
                          </m:r>
                        </m:sub>
                        <m:sup>
                          <m:r>
                            <a:rPr lang="en-US" altLang="zh-CN" sz="1200" i="1">
                              <a:solidFill>
                                <a:prstClr val="black"/>
                              </a:solidFill>
                              <a:latin typeface="Cambria Math" panose="02040503050406030204" pitchFamily="18" charset="0"/>
                            </a:rPr>
                            <m:t>(1)</m:t>
                          </m:r>
                        </m:sup>
                      </m:sSubSup>
                    </m:oMath>
                  </m:oMathPara>
                </a14:m>
                <a:endParaRPr lang="en-US" altLang="zh-CN" sz="1200" dirty="0">
                  <a:solidFill>
                    <a:prstClr val="black"/>
                  </a:solidFill>
                  <a:latin typeface="Calibri" panose="020F0502020204030204"/>
                  <a:ea typeface="等线" panose="02010600030101010101" pitchFamily="2" charset="-122"/>
                </a:endParaRPr>
              </a:p>
              <a:p>
                <a:pPr/>
                <a14:m>
                  <m:oMathPara xmlns:m="http://schemas.openxmlformats.org/officeDocument/2006/math">
                    <m:oMathParaPr>
                      <m:jc m:val="centerGroup"/>
                    </m:oMathParaPr>
                    <m:oMath xmlns:m="http://schemas.openxmlformats.org/officeDocument/2006/math">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1</m:t>
                          </m:r>
                        </m:sub>
                        <m:sup>
                          <m:r>
                            <a:rPr lang="en-US" altLang="zh-CN" sz="1200" i="1">
                              <a:solidFill>
                                <a:prstClr val="black"/>
                              </a:solidFill>
                              <a:latin typeface="Cambria Math" panose="02040503050406030204" pitchFamily="18" charset="0"/>
                            </a:rPr>
                            <m:t>(1)</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1</m:t>
                          </m:r>
                        </m:sub>
                        <m:sup>
                          <m:r>
                            <a:rPr lang="en-US" altLang="zh-CN" sz="1200" i="1">
                              <a:solidFill>
                                <a:prstClr val="black"/>
                              </a:solidFill>
                              <a:latin typeface="Cambria Math" panose="02040503050406030204" pitchFamily="18" charset="0"/>
                            </a:rPr>
                            <m:t>(1)</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2</m:t>
                          </m:r>
                        </m:sub>
                        <m:sup>
                          <m:r>
                            <a:rPr lang="en-US" altLang="zh-CN" sz="1200" i="1">
                              <a:solidFill>
                                <a:prstClr val="black"/>
                              </a:solidFill>
                              <a:latin typeface="Cambria Math" panose="02040503050406030204" pitchFamily="18" charset="0"/>
                            </a:rPr>
                            <m:t>(1)</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2</m:t>
                          </m:r>
                        </m:sub>
                        <m:sup>
                          <m:r>
                            <a:rPr lang="en-US" altLang="zh-CN" sz="1200" i="1">
                              <a:solidFill>
                                <a:prstClr val="black"/>
                              </a:solidFill>
                              <a:latin typeface="Cambria Math" panose="02040503050406030204" pitchFamily="18" charset="0"/>
                            </a:rPr>
                            <m:t>(1)</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𝐳</m:t>
                          </m:r>
                        </m:e>
                        <m:sub>
                          <m:r>
                            <a:rPr lang="en-US" altLang="zh-CN" sz="1200" i="1">
                              <a:solidFill>
                                <a:prstClr val="black"/>
                              </a:solidFill>
                              <a:latin typeface="Cambria Math" panose="02040503050406030204" pitchFamily="18" charset="0"/>
                            </a:rPr>
                            <m:t>{1,3}</m:t>
                          </m:r>
                        </m:sub>
                        <m:sup>
                          <m:r>
                            <a:rPr lang="en-US" altLang="zh-CN" sz="1200" i="1">
                              <a:solidFill>
                                <a:prstClr val="black"/>
                              </a:solidFill>
                              <a:latin typeface="Cambria Math" panose="02040503050406030204" pitchFamily="18" charset="0"/>
                            </a:rPr>
                            <m:t>(1)</m:t>
                          </m:r>
                        </m:sup>
                      </m:sSubSup>
                      <m:r>
                        <a:rPr lang="en-US" altLang="zh-CN" sz="1200" b="1" i="1">
                          <a:solidFill>
                            <a:srgbClr val="00B0F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1,3</m:t>
                              </m:r>
                            </m:e>
                          </m:d>
                        </m:sub>
                        <m:sup>
                          <m:r>
                            <a:rPr lang="en-US" altLang="zh-CN" sz="1200" i="1">
                              <a:solidFill>
                                <a:prstClr val="black"/>
                              </a:solidFill>
                              <a:latin typeface="Cambria Math" panose="02040503050406030204" pitchFamily="18" charset="0"/>
                            </a:rPr>
                            <m:t>(1)</m:t>
                          </m:r>
                        </m:sup>
                      </m:sSubSup>
                      <m:r>
                        <a:rPr lang="en-US" altLang="zh-CN" sz="1200" i="1">
                          <a:solidFill>
                            <a:srgbClr val="FF000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1,3</m:t>
                              </m:r>
                            </m:e>
                          </m:d>
                          <m:r>
                            <a:rPr lang="en-US" altLang="zh-CN" sz="1200" i="1">
                              <a:solidFill>
                                <a:prstClr val="black"/>
                              </a:solidFill>
                              <a:latin typeface="Cambria Math" panose="02040503050406030204" pitchFamily="18" charset="0"/>
                            </a:rPr>
                            <m:t>,1</m:t>
                          </m:r>
                        </m:sub>
                        <m:sup>
                          <m:r>
                            <a:rPr lang="en-US" altLang="zh-CN" sz="1200" i="1">
                              <a:solidFill>
                                <a:prstClr val="black"/>
                              </a:solidFill>
                              <a:latin typeface="Cambria Math" panose="02040503050406030204" pitchFamily="18" charset="0"/>
                            </a:rPr>
                            <m:t>(1)</m:t>
                          </m:r>
                        </m:sup>
                      </m:sSubSup>
                      <m:r>
                        <a:rPr lang="en-US" altLang="zh-CN" sz="1200" i="1">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1,3</m:t>
                              </m:r>
                            </m:e>
                          </m:d>
                          <m:r>
                            <a:rPr lang="en-US" altLang="zh-CN" sz="1200" i="1">
                              <a:solidFill>
                                <a:prstClr val="black"/>
                              </a:solidFill>
                              <a:latin typeface="Cambria Math" panose="02040503050406030204" pitchFamily="18" charset="0"/>
                            </a:rPr>
                            <m:t>,3</m:t>
                          </m:r>
                        </m:sub>
                        <m:sup>
                          <m:r>
                            <a:rPr lang="en-US" altLang="zh-CN" sz="1200" i="1">
                              <a:solidFill>
                                <a:prstClr val="black"/>
                              </a:solidFill>
                              <a:latin typeface="Cambria Math" panose="02040503050406030204" pitchFamily="18" charset="0"/>
                            </a:rPr>
                            <m:t>(1)</m:t>
                          </m:r>
                        </m:sup>
                      </m:sSubSup>
                    </m:oMath>
                  </m:oMathPara>
                </a14:m>
                <a:endParaRPr lang="zh-CN" altLang="en-US" sz="1600" dirty="0">
                  <a:solidFill>
                    <a:prstClr val="black"/>
                  </a:solidFill>
                  <a:latin typeface="Calibri" panose="020F0502020204030204"/>
                  <a:ea typeface="等线" panose="02010600030101010101" pitchFamily="2" charset="-122"/>
                </a:endParaRPr>
              </a:p>
            </p:txBody>
          </p:sp>
        </mc:Choice>
        <mc:Fallback xmlns="">
          <p:sp>
            <p:nvSpPr>
              <p:cNvPr id="30" name="矩形 29">
                <a:extLst>
                  <a:ext uri="{FF2B5EF4-FFF2-40B4-BE49-F238E27FC236}">
                    <a16:creationId xmlns:a16="http://schemas.microsoft.com/office/drawing/2014/main" id="{D3B16C3F-FB78-4DD1-9CF9-BB43CDCA6B24}"/>
                  </a:ext>
                </a:extLst>
              </p:cNvPr>
              <p:cNvSpPr>
                <a:spLocks noRot="1" noChangeAspect="1" noMove="1" noResize="1" noEditPoints="1" noAdjustHandles="1" noChangeArrowheads="1" noChangeShapeType="1" noTextEdit="1"/>
              </p:cNvSpPr>
              <p:nvPr/>
            </p:nvSpPr>
            <p:spPr>
              <a:xfrm>
                <a:off x="6597312" y="2056619"/>
                <a:ext cx="3708738" cy="612604"/>
              </a:xfrm>
              <a:prstGeom prst="rect">
                <a:avLst/>
              </a:prstGeom>
              <a:blipFill>
                <a:blip r:embed="rId9"/>
                <a:stretch>
                  <a:fillRect b="-9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9E6A7F68-FE80-4133-91F5-15D98E5B5CA2}"/>
                  </a:ext>
                </a:extLst>
              </p:cNvPr>
              <p:cNvSpPr txBox="1"/>
              <p:nvPr/>
            </p:nvSpPr>
            <p:spPr>
              <a:xfrm>
                <a:off x="4835261" y="2849574"/>
                <a:ext cx="1383297" cy="3500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r>
                            <a:rPr lang="en-US" altLang="zh-CN" sz="1200" i="1">
                              <a:solidFill>
                                <a:prstClr val="black"/>
                              </a:solidFill>
                              <a:latin typeface="Cambria Math" panose="02040503050406030204" pitchFamily="18" charset="0"/>
                            </a:rPr>
                            <m:t>3,</m:t>
                          </m:r>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1,2</m:t>
                              </m:r>
                            </m:e>
                          </m:d>
                          <m:r>
                            <a:rPr lang="en-US" altLang="zh-CN" sz="1200" i="1">
                              <a:solidFill>
                                <a:prstClr val="black"/>
                              </a:solidFill>
                              <a:latin typeface="Cambria Math" panose="02040503050406030204" pitchFamily="18" charset="0"/>
                            </a:rPr>
                            <m:t>,1</m:t>
                          </m:r>
                        </m:sub>
                        <m:sup>
                          <m:r>
                            <a:rPr lang="en-US" altLang="zh-CN" sz="1200" i="1">
                              <a:solidFill>
                                <a:prstClr val="black"/>
                              </a:solidFill>
                              <a:latin typeface="Cambria Math" panose="02040503050406030204" pitchFamily="18" charset="0"/>
                            </a:rPr>
                            <m:t>(1)</m:t>
                          </m:r>
                        </m:sup>
                      </m:sSubSup>
                      <m:r>
                        <a:rPr lang="en-US" altLang="zh-CN" sz="1200">
                          <a:solidFill>
                            <a:prstClr val="black"/>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r>
                            <a:rPr lang="en-US" altLang="zh-CN" sz="1200" i="1">
                              <a:solidFill>
                                <a:prstClr val="black"/>
                              </a:solidFill>
                              <a:latin typeface="Cambria Math" panose="02040503050406030204" pitchFamily="18" charset="0"/>
                            </a:rPr>
                            <m:t>2,</m:t>
                          </m:r>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1,3</m:t>
                              </m:r>
                            </m:e>
                          </m:d>
                          <m:r>
                            <a:rPr lang="en-US" altLang="zh-CN" sz="1200" i="1">
                              <a:solidFill>
                                <a:prstClr val="black"/>
                              </a:solidFill>
                              <a:latin typeface="Cambria Math" panose="02040503050406030204" pitchFamily="18" charset="0"/>
                            </a:rPr>
                            <m:t>,1</m:t>
                          </m:r>
                        </m:sub>
                        <m:sup>
                          <m:r>
                            <a:rPr lang="en-US" altLang="zh-CN" sz="1200" i="1">
                              <a:solidFill>
                                <a:prstClr val="black"/>
                              </a:solidFill>
                              <a:latin typeface="Cambria Math" panose="02040503050406030204" pitchFamily="18" charset="0"/>
                            </a:rPr>
                            <m:t>(1)</m:t>
                          </m:r>
                        </m:sup>
                      </m:sSubSup>
                    </m:oMath>
                  </m:oMathPara>
                </a14:m>
                <a:endParaRPr lang="zh-CN" altLang="en-US" sz="1600" dirty="0">
                  <a:solidFill>
                    <a:prstClr val="black"/>
                  </a:solidFill>
                  <a:latin typeface="Calibri" panose="020F0502020204030204"/>
                  <a:ea typeface="等线" panose="02010600030101010101" pitchFamily="2" charset="-122"/>
                </a:endParaRPr>
              </a:p>
            </p:txBody>
          </p:sp>
        </mc:Choice>
        <mc:Fallback xmlns="">
          <p:sp>
            <p:nvSpPr>
              <p:cNvPr id="31" name="文本框 30">
                <a:extLst>
                  <a:ext uri="{FF2B5EF4-FFF2-40B4-BE49-F238E27FC236}">
                    <a16:creationId xmlns:a16="http://schemas.microsoft.com/office/drawing/2014/main" id="{9E6A7F68-FE80-4133-91F5-15D98E5B5CA2}"/>
                  </a:ext>
                </a:extLst>
              </p:cNvPr>
              <p:cNvSpPr txBox="1">
                <a:spLocks noRot="1" noChangeAspect="1" noMove="1" noResize="1" noEditPoints="1" noAdjustHandles="1" noChangeArrowheads="1" noChangeShapeType="1" noTextEdit="1"/>
              </p:cNvSpPr>
              <p:nvPr/>
            </p:nvSpPr>
            <p:spPr>
              <a:xfrm>
                <a:off x="4835261" y="2849574"/>
                <a:ext cx="1383297" cy="350096"/>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圆角矩形 10">
                <a:extLst>
                  <a:ext uri="{FF2B5EF4-FFF2-40B4-BE49-F238E27FC236}">
                    <a16:creationId xmlns:a16="http://schemas.microsoft.com/office/drawing/2014/main" id="{3215EC95-031D-45A6-ADE6-49849AC3100B}"/>
                  </a:ext>
                </a:extLst>
              </p:cNvPr>
              <p:cNvSpPr/>
              <p:nvPr/>
            </p:nvSpPr>
            <p:spPr>
              <a:xfrm>
                <a:off x="1833563" y="3790505"/>
                <a:ext cx="2418627" cy="955347"/>
              </a:xfrm>
              <a:prstGeom prst="roundRect">
                <a:avLst/>
              </a:prstGeom>
              <a:no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5</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6</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en-US" altLang="zh-CN" sz="12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1052"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1052"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1" i="0"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5</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5</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6</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6</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en-US" altLang="zh-CN" sz="12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mc:Choice>
        <mc:Fallback xmlns="">
          <p:sp>
            <p:nvSpPr>
              <p:cNvPr id="33" name="圆角矩形 10">
                <a:extLst>
                  <a:ext uri="{FF2B5EF4-FFF2-40B4-BE49-F238E27FC236}">
                    <a16:creationId xmlns:a16="http://schemas.microsoft.com/office/drawing/2014/main" id="{3215EC95-031D-45A6-ADE6-49849AC3100B}"/>
                  </a:ext>
                </a:extLst>
              </p:cNvPr>
              <p:cNvSpPr>
                <a:spLocks noRot="1" noChangeAspect="1" noMove="1" noResize="1" noEditPoints="1" noAdjustHandles="1" noChangeArrowheads="1" noChangeShapeType="1" noTextEdit="1"/>
              </p:cNvSpPr>
              <p:nvPr/>
            </p:nvSpPr>
            <p:spPr>
              <a:xfrm>
                <a:off x="1833563" y="3790505"/>
                <a:ext cx="2418627" cy="955347"/>
              </a:xfrm>
              <a:prstGeom prst="roundRect">
                <a:avLst/>
              </a:prstGeom>
              <a:blipFill>
                <a:blip r:embed="rId11"/>
                <a:stretch>
                  <a:fillRect/>
                </a:stretch>
              </a:blipFill>
              <a:ln w="12700" cap="flat" cmpd="sng" algn="ctr">
                <a:solidFill>
                  <a:sysClr val="windowText" lastClr="000000"/>
                </a:solidFill>
                <a:prstDash val="solid"/>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矩形 34">
                <a:extLst>
                  <a:ext uri="{FF2B5EF4-FFF2-40B4-BE49-F238E27FC236}">
                    <a16:creationId xmlns:a16="http://schemas.microsoft.com/office/drawing/2014/main" id="{AAE93FF4-3D0A-451A-A279-07AB571DD928}"/>
                  </a:ext>
                </a:extLst>
              </p:cNvPr>
              <p:cNvSpPr/>
              <p:nvPr/>
            </p:nvSpPr>
            <p:spPr>
              <a:xfrm>
                <a:off x="1565907" y="4834450"/>
                <a:ext cx="3639907" cy="6126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sz="1200" i="1" smtClean="0">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a:solidFill>
                                <a:prstClr val="black"/>
                              </a:solidFill>
                              <a:latin typeface="Cambria Math" panose="02040503050406030204" pitchFamily="18" charset="0"/>
                            </a:rPr>
                            <m:t>3</m:t>
                          </m:r>
                        </m:sub>
                        <m:sup>
                          <m:r>
                            <a:rPr lang="en-US" altLang="zh-CN" sz="1200" i="1">
                              <a:solidFill>
                                <a:prstClr val="black"/>
                              </a:solidFill>
                              <a:latin typeface="Cambria Math" panose="02040503050406030204" pitchFamily="18" charset="0"/>
                            </a:rPr>
                            <m:t>(1)</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3</m:t>
                          </m:r>
                        </m:sub>
                        <m:sup>
                          <m:r>
                            <a:rPr lang="en-US" altLang="zh-CN" sz="1200" i="1">
                              <a:solidFill>
                                <a:prstClr val="black"/>
                              </a:solidFill>
                              <a:latin typeface="Cambria Math" panose="02040503050406030204" pitchFamily="18" charset="0"/>
                            </a:rPr>
                            <m:t>(1)</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4</m:t>
                          </m:r>
                        </m:sub>
                        <m:sup>
                          <m:r>
                            <a:rPr lang="en-US" altLang="zh-CN" sz="1200" i="1">
                              <a:solidFill>
                                <a:prstClr val="black"/>
                              </a:solidFill>
                              <a:latin typeface="Cambria Math" panose="02040503050406030204" pitchFamily="18" charset="0"/>
                            </a:rPr>
                            <m:t>(1)</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4</m:t>
                          </m:r>
                        </m:sub>
                        <m:sup>
                          <m:r>
                            <a:rPr lang="en-US" altLang="zh-CN" sz="1200" i="1">
                              <a:solidFill>
                                <a:prstClr val="black"/>
                              </a:solidFill>
                              <a:latin typeface="Cambria Math" panose="02040503050406030204" pitchFamily="18" charset="0"/>
                            </a:rPr>
                            <m:t>(1)</m:t>
                          </m:r>
                        </m:sup>
                      </m:sSubSup>
                      <m:r>
                        <a:rPr lang="en-US" altLang="zh-CN" sz="1200" i="1">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𝐳</m:t>
                          </m:r>
                        </m:e>
                        <m:sub>
                          <m:r>
                            <a:rPr lang="en-US" altLang="zh-CN" sz="1200" i="1">
                              <a:solidFill>
                                <a:prstClr val="black"/>
                              </a:solidFill>
                              <a:latin typeface="Cambria Math" panose="02040503050406030204" pitchFamily="18" charset="0"/>
                            </a:rPr>
                            <m:t>{1,2}</m:t>
                          </m:r>
                        </m:sub>
                        <m:sup>
                          <m:r>
                            <a:rPr lang="en-US" altLang="zh-CN" sz="1200" i="1">
                              <a:solidFill>
                                <a:prstClr val="black"/>
                              </a:solidFill>
                              <a:latin typeface="Cambria Math" panose="02040503050406030204" pitchFamily="18" charset="0"/>
                            </a:rPr>
                            <m:t>(1)</m:t>
                          </m:r>
                        </m:sup>
                      </m:sSubSup>
                      <m:r>
                        <a:rPr lang="en-US" altLang="zh-CN" sz="1200" b="1" i="1">
                          <a:solidFill>
                            <a:srgbClr val="00B0F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1,2</m:t>
                                  </m:r>
                                </m:e>
                              </m:d>
                            </m:sub>
                            <m:sup>
                              <m:r>
                                <a:rPr lang="en-US" altLang="zh-CN" sz="1200" i="1">
                                  <a:solidFill>
                                    <a:prstClr val="black"/>
                                  </a:solidFill>
                                  <a:latin typeface="Cambria Math" panose="02040503050406030204" pitchFamily="18" charset="0"/>
                                </a:rPr>
                                <m:t>(1)</m:t>
                              </m:r>
                            </m:sup>
                          </m:sSubSup>
                          <m:r>
                            <a:rPr lang="en-US" altLang="zh-CN" sz="1200" i="1">
                              <a:solidFill>
                                <a:srgbClr val="FF0000"/>
                              </a:solidFill>
                              <a:latin typeface="Cambria Math" panose="02040503050406030204" pitchFamily="18" charset="0"/>
                              <a:ea typeface="Cambria Math" panose="02040503050406030204" pitchFamily="18" charset="0"/>
                            </a:rPr>
                            <m:t>⇒</m:t>
                          </m:r>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1,2</m:t>
                              </m:r>
                            </m:e>
                          </m:d>
                          <m:r>
                            <a:rPr lang="en-US" altLang="zh-CN" sz="1200" i="1">
                              <a:solidFill>
                                <a:prstClr val="black"/>
                              </a:solidFill>
                              <a:latin typeface="Cambria Math" panose="02040503050406030204" pitchFamily="18" charset="0"/>
                            </a:rPr>
                            <m:t>,1</m:t>
                          </m:r>
                        </m:sub>
                        <m:sup>
                          <m:r>
                            <a:rPr lang="en-US" altLang="zh-CN" sz="1200" i="1">
                              <a:solidFill>
                                <a:prstClr val="black"/>
                              </a:solidFill>
                              <a:latin typeface="Cambria Math" panose="02040503050406030204" pitchFamily="18" charset="0"/>
                            </a:rPr>
                            <m:t>(1)</m:t>
                          </m:r>
                        </m:sup>
                      </m:sSubSup>
                      <m:r>
                        <a:rPr lang="en-US" altLang="zh-CN" sz="1200" i="1">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1,2</m:t>
                              </m:r>
                            </m:e>
                          </m:d>
                          <m:r>
                            <a:rPr lang="en-US" altLang="zh-CN" sz="1200" i="1">
                              <a:solidFill>
                                <a:prstClr val="black"/>
                              </a:solidFill>
                              <a:latin typeface="Cambria Math" panose="02040503050406030204" pitchFamily="18" charset="0"/>
                            </a:rPr>
                            <m:t>,2</m:t>
                          </m:r>
                        </m:sub>
                        <m:sup>
                          <m:r>
                            <a:rPr lang="en-US" altLang="zh-CN" sz="1200" i="1">
                              <a:solidFill>
                                <a:prstClr val="black"/>
                              </a:solidFill>
                              <a:latin typeface="Cambria Math" panose="02040503050406030204" pitchFamily="18" charset="0"/>
                            </a:rPr>
                            <m:t>(1)</m:t>
                          </m:r>
                        </m:sup>
                      </m:sSubSup>
                    </m:oMath>
                  </m:oMathPara>
                </a14:m>
                <a:endParaRPr lang="en-US" altLang="zh-CN" sz="1200" dirty="0">
                  <a:solidFill>
                    <a:prstClr val="black"/>
                  </a:solidFill>
                  <a:latin typeface="Calibri" panose="020F0502020204030204"/>
                  <a:ea typeface="等线" panose="02010600030101010101" pitchFamily="2" charset="-122"/>
                </a:endParaRPr>
              </a:p>
              <a:p>
                <a:pPr/>
                <a14:m>
                  <m:oMathPara xmlns:m="http://schemas.openxmlformats.org/officeDocument/2006/math">
                    <m:oMathParaPr>
                      <m:jc m:val="centerGroup"/>
                    </m:oMathParaPr>
                    <m:oMath xmlns:m="http://schemas.openxmlformats.org/officeDocument/2006/math">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5</m:t>
                          </m:r>
                        </m:sub>
                        <m:sup>
                          <m:r>
                            <a:rPr lang="en-US" altLang="zh-CN" sz="1200" i="1">
                              <a:solidFill>
                                <a:prstClr val="black"/>
                              </a:solidFill>
                              <a:latin typeface="Cambria Math" panose="02040503050406030204" pitchFamily="18" charset="0"/>
                            </a:rPr>
                            <m:t>(1)</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smtClean="0">
                              <a:solidFill>
                                <a:prstClr val="black"/>
                              </a:solidFill>
                              <a:latin typeface="Cambria Math" panose="02040503050406030204" pitchFamily="18" charset="0"/>
                            </a:rPr>
                            <m:t>5</m:t>
                          </m:r>
                        </m:sub>
                        <m:sup>
                          <m:r>
                            <a:rPr lang="en-US" altLang="zh-CN" sz="1200" i="1">
                              <a:solidFill>
                                <a:prstClr val="black"/>
                              </a:solidFill>
                              <a:latin typeface="Cambria Math" panose="02040503050406030204" pitchFamily="18" charset="0"/>
                            </a:rPr>
                            <m:t>(1)</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6</m:t>
                          </m:r>
                        </m:sub>
                        <m:sup>
                          <m:r>
                            <a:rPr lang="en-US" altLang="zh-CN" sz="1200" i="1">
                              <a:solidFill>
                                <a:prstClr val="black"/>
                              </a:solidFill>
                              <a:latin typeface="Cambria Math" panose="02040503050406030204" pitchFamily="18" charset="0"/>
                            </a:rPr>
                            <m:t>(1)</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6</m:t>
                          </m:r>
                        </m:sub>
                        <m:sup>
                          <m:r>
                            <a:rPr lang="en-US" altLang="zh-CN" sz="1200" i="1">
                              <a:solidFill>
                                <a:prstClr val="black"/>
                              </a:solidFill>
                              <a:latin typeface="Cambria Math" panose="02040503050406030204" pitchFamily="18" charset="0"/>
                            </a:rPr>
                            <m:t>(1)</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𝐳</m:t>
                          </m:r>
                        </m:e>
                        <m:sub>
                          <m:r>
                            <a:rPr lang="en-US" altLang="zh-CN" sz="1200" i="1">
                              <a:solidFill>
                                <a:prstClr val="black"/>
                              </a:solidFill>
                              <a:latin typeface="Cambria Math" panose="02040503050406030204" pitchFamily="18" charset="0"/>
                            </a:rPr>
                            <m:t>{2,3}</m:t>
                          </m:r>
                        </m:sub>
                        <m:sup>
                          <m:r>
                            <a:rPr lang="en-US" altLang="zh-CN" sz="1200" i="1">
                              <a:solidFill>
                                <a:prstClr val="black"/>
                              </a:solidFill>
                              <a:latin typeface="Cambria Math" panose="02040503050406030204" pitchFamily="18" charset="0"/>
                            </a:rPr>
                            <m:t>(1)</m:t>
                          </m:r>
                        </m:sup>
                      </m:sSubSup>
                      <m:r>
                        <a:rPr lang="en-US" altLang="zh-CN" sz="1200" b="1" i="1">
                          <a:solidFill>
                            <a:srgbClr val="00B0F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2,3</m:t>
                              </m:r>
                            </m:e>
                          </m:d>
                        </m:sub>
                        <m:sup>
                          <m:r>
                            <a:rPr lang="en-US" altLang="zh-CN" sz="1200" i="1">
                              <a:solidFill>
                                <a:prstClr val="black"/>
                              </a:solidFill>
                              <a:latin typeface="Cambria Math" panose="02040503050406030204" pitchFamily="18" charset="0"/>
                            </a:rPr>
                            <m:t>(1)</m:t>
                          </m:r>
                        </m:sup>
                      </m:sSubSup>
                      <m:r>
                        <a:rPr lang="en-US" altLang="zh-CN" sz="1200" i="1">
                          <a:solidFill>
                            <a:srgbClr val="FF000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2,3</m:t>
                              </m:r>
                            </m:e>
                          </m:d>
                          <m:r>
                            <a:rPr lang="en-US" altLang="zh-CN" sz="1200" i="1">
                              <a:solidFill>
                                <a:prstClr val="black"/>
                              </a:solidFill>
                              <a:latin typeface="Cambria Math" panose="02040503050406030204" pitchFamily="18" charset="0"/>
                            </a:rPr>
                            <m:t>,2</m:t>
                          </m:r>
                        </m:sub>
                        <m:sup>
                          <m:r>
                            <a:rPr lang="en-US" altLang="zh-CN" sz="1200" i="1">
                              <a:solidFill>
                                <a:prstClr val="black"/>
                              </a:solidFill>
                              <a:latin typeface="Cambria Math" panose="02040503050406030204" pitchFamily="18" charset="0"/>
                            </a:rPr>
                            <m:t>(1)</m:t>
                          </m:r>
                        </m:sup>
                      </m:sSubSup>
                      <m:r>
                        <a:rPr lang="en-US" altLang="zh-CN" sz="1200" i="1">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2,3</m:t>
                              </m:r>
                            </m:e>
                          </m:d>
                          <m:r>
                            <a:rPr lang="en-US" altLang="zh-CN" sz="1200" i="1">
                              <a:solidFill>
                                <a:prstClr val="black"/>
                              </a:solidFill>
                              <a:latin typeface="Cambria Math" panose="02040503050406030204" pitchFamily="18" charset="0"/>
                            </a:rPr>
                            <m:t>,3</m:t>
                          </m:r>
                        </m:sub>
                        <m:sup>
                          <m:r>
                            <a:rPr lang="en-US" altLang="zh-CN" sz="1200" i="1">
                              <a:solidFill>
                                <a:prstClr val="black"/>
                              </a:solidFill>
                              <a:latin typeface="Cambria Math" panose="02040503050406030204" pitchFamily="18" charset="0"/>
                            </a:rPr>
                            <m:t>(1)</m:t>
                          </m:r>
                        </m:sup>
                      </m:sSubSup>
                    </m:oMath>
                  </m:oMathPara>
                </a14:m>
                <a:endParaRPr lang="zh-CN" altLang="en-US" sz="1600" dirty="0">
                  <a:solidFill>
                    <a:prstClr val="black"/>
                  </a:solidFill>
                  <a:latin typeface="Calibri" panose="020F0502020204030204"/>
                  <a:ea typeface="等线" panose="02010600030101010101" pitchFamily="2" charset="-122"/>
                </a:endParaRPr>
              </a:p>
            </p:txBody>
          </p:sp>
        </mc:Choice>
        <mc:Fallback xmlns="">
          <p:sp>
            <p:nvSpPr>
              <p:cNvPr id="35" name="矩形 34">
                <a:extLst>
                  <a:ext uri="{FF2B5EF4-FFF2-40B4-BE49-F238E27FC236}">
                    <a16:creationId xmlns:a16="http://schemas.microsoft.com/office/drawing/2014/main" id="{AAE93FF4-3D0A-451A-A279-07AB571DD928}"/>
                  </a:ext>
                </a:extLst>
              </p:cNvPr>
              <p:cNvSpPr>
                <a:spLocks noRot="1" noChangeAspect="1" noMove="1" noResize="1" noEditPoints="1" noAdjustHandles="1" noChangeArrowheads="1" noChangeShapeType="1" noTextEdit="1"/>
              </p:cNvSpPr>
              <p:nvPr/>
            </p:nvSpPr>
            <p:spPr>
              <a:xfrm>
                <a:off x="1565907" y="4834450"/>
                <a:ext cx="3639907" cy="612604"/>
              </a:xfrm>
              <a:prstGeom prst="rect">
                <a:avLst/>
              </a:prstGeom>
              <a:blipFill>
                <a:blip r:embed="rId12"/>
                <a:stretch>
                  <a:fillRect b="-9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6" name="文本框 35">
                <a:extLst>
                  <a:ext uri="{FF2B5EF4-FFF2-40B4-BE49-F238E27FC236}">
                    <a16:creationId xmlns:a16="http://schemas.microsoft.com/office/drawing/2014/main" id="{8024A5EA-775B-4D8A-BEC0-D35DB1AC1132}"/>
                  </a:ext>
                </a:extLst>
              </p:cNvPr>
              <p:cNvSpPr txBox="1"/>
              <p:nvPr/>
            </p:nvSpPr>
            <p:spPr>
              <a:xfrm>
                <a:off x="4146837" y="4100701"/>
                <a:ext cx="1383297" cy="3500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r>
                            <a:rPr lang="en-US" altLang="zh-CN" sz="1200" i="1">
                              <a:solidFill>
                                <a:prstClr val="black"/>
                              </a:solidFill>
                              <a:latin typeface="Cambria Math" panose="02040503050406030204" pitchFamily="18" charset="0"/>
                            </a:rPr>
                            <m:t>3,</m:t>
                          </m:r>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1,2</m:t>
                              </m:r>
                            </m:e>
                          </m:d>
                          <m:r>
                            <a:rPr lang="en-US" altLang="zh-CN" sz="1200" i="1">
                              <a:solidFill>
                                <a:prstClr val="black"/>
                              </a:solidFill>
                              <a:latin typeface="Cambria Math" panose="02040503050406030204" pitchFamily="18" charset="0"/>
                            </a:rPr>
                            <m:t>,2</m:t>
                          </m:r>
                        </m:sub>
                        <m:sup>
                          <m:r>
                            <a:rPr lang="en-US" altLang="zh-CN" sz="1200" i="1">
                              <a:solidFill>
                                <a:prstClr val="black"/>
                              </a:solidFill>
                              <a:latin typeface="Cambria Math" panose="02040503050406030204" pitchFamily="18" charset="0"/>
                            </a:rPr>
                            <m:t>(1)</m:t>
                          </m:r>
                        </m:sup>
                      </m:sSubSup>
                      <m:r>
                        <a:rPr lang="en-US" altLang="zh-CN" sz="1200">
                          <a:solidFill>
                            <a:prstClr val="black"/>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r>
                            <a:rPr lang="en-US" altLang="zh-CN" sz="1200" i="1">
                              <a:solidFill>
                                <a:prstClr val="black"/>
                              </a:solidFill>
                              <a:latin typeface="Cambria Math" panose="02040503050406030204" pitchFamily="18" charset="0"/>
                            </a:rPr>
                            <m:t>1,</m:t>
                          </m:r>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2,3</m:t>
                              </m:r>
                            </m:e>
                          </m:d>
                          <m:r>
                            <a:rPr lang="en-US" altLang="zh-CN" sz="1200" i="1">
                              <a:solidFill>
                                <a:prstClr val="black"/>
                              </a:solidFill>
                              <a:latin typeface="Cambria Math" panose="02040503050406030204" pitchFamily="18" charset="0"/>
                            </a:rPr>
                            <m:t>,2</m:t>
                          </m:r>
                        </m:sub>
                        <m:sup>
                          <m:r>
                            <a:rPr lang="en-US" altLang="zh-CN" sz="1200" i="1">
                              <a:solidFill>
                                <a:prstClr val="black"/>
                              </a:solidFill>
                              <a:latin typeface="Cambria Math" panose="02040503050406030204" pitchFamily="18" charset="0"/>
                            </a:rPr>
                            <m:t>(1)</m:t>
                          </m:r>
                        </m:sup>
                      </m:sSubSup>
                    </m:oMath>
                  </m:oMathPara>
                </a14:m>
                <a:endParaRPr lang="zh-CN" altLang="en-US" sz="1600" dirty="0">
                  <a:solidFill>
                    <a:prstClr val="black"/>
                  </a:solidFill>
                  <a:latin typeface="Calibri" panose="020F0502020204030204"/>
                  <a:ea typeface="等线" panose="02010600030101010101" pitchFamily="2" charset="-122"/>
                </a:endParaRPr>
              </a:p>
            </p:txBody>
          </p:sp>
        </mc:Choice>
        <mc:Fallback xmlns="">
          <p:sp>
            <p:nvSpPr>
              <p:cNvPr id="36" name="文本框 35">
                <a:extLst>
                  <a:ext uri="{FF2B5EF4-FFF2-40B4-BE49-F238E27FC236}">
                    <a16:creationId xmlns:a16="http://schemas.microsoft.com/office/drawing/2014/main" id="{8024A5EA-775B-4D8A-BEC0-D35DB1AC1132}"/>
                  </a:ext>
                </a:extLst>
              </p:cNvPr>
              <p:cNvSpPr txBox="1">
                <a:spLocks noRot="1" noChangeAspect="1" noMove="1" noResize="1" noEditPoints="1" noAdjustHandles="1" noChangeArrowheads="1" noChangeShapeType="1" noTextEdit="1"/>
              </p:cNvSpPr>
              <p:nvPr/>
            </p:nvSpPr>
            <p:spPr>
              <a:xfrm>
                <a:off x="4146837" y="4100701"/>
                <a:ext cx="1383297" cy="350096"/>
              </a:xfrm>
              <a:prstGeom prst="rect">
                <a:avLst/>
              </a:prstGeom>
              <a:blipFill>
                <a:blip r:embed="rId13"/>
                <a:stretch>
                  <a:fillRect/>
                </a:stretch>
              </a:blipFill>
            </p:spPr>
            <p:txBody>
              <a:bodyPr/>
              <a:lstStyle/>
              <a:p>
                <a:r>
                  <a:rPr lang="zh-CN" altLang="en-US">
                    <a:noFill/>
                  </a:rPr>
                  <a:t> </a:t>
                </a:r>
              </a:p>
            </p:txBody>
          </p:sp>
        </mc:Fallback>
      </mc:AlternateContent>
      <p:sp>
        <p:nvSpPr>
          <p:cNvPr id="37" name="文本框 36">
            <a:extLst>
              <a:ext uri="{FF2B5EF4-FFF2-40B4-BE49-F238E27FC236}">
                <a16:creationId xmlns:a16="http://schemas.microsoft.com/office/drawing/2014/main" id="{82613C57-2161-4950-B8C7-66D82E1BC839}"/>
              </a:ext>
            </a:extLst>
          </p:cNvPr>
          <p:cNvSpPr txBox="1"/>
          <p:nvPr/>
        </p:nvSpPr>
        <p:spPr>
          <a:xfrm>
            <a:off x="9285185" y="4158388"/>
            <a:ext cx="697015" cy="276999"/>
          </a:xfrm>
          <a:prstGeom prst="rect">
            <a:avLst/>
          </a:prstGeom>
          <a:noFill/>
        </p:spPr>
        <p:txBody>
          <a:bodyPr wrap="square" rtlCol="0">
            <a:spAutoFit/>
          </a:bodyPr>
          <a:lstStyle/>
          <a:p>
            <a:r>
              <a:rPr lang="en-US" altLang="zh-CN" sz="1200" b="1" dirty="0">
                <a:solidFill>
                  <a:prstClr val="black"/>
                </a:solidFill>
                <a:latin typeface="Calibri" panose="020F0502020204030204"/>
                <a:ea typeface="等线" panose="02010600030101010101" pitchFamily="2" charset="-122"/>
              </a:rPr>
              <a:t>Node 3</a:t>
            </a:r>
            <a:endParaRPr lang="zh-CN" altLang="en-US" sz="1200" b="1" dirty="0">
              <a:solidFill>
                <a:prstClr val="black"/>
              </a:solidFill>
              <a:latin typeface="Calibri" panose="020F0502020204030204"/>
              <a:ea typeface="等线" panose="02010600030101010101" pitchFamily="2" charset="-122"/>
            </a:endParaRPr>
          </a:p>
        </p:txBody>
      </p:sp>
      <mc:AlternateContent xmlns:mc="http://schemas.openxmlformats.org/markup-compatibility/2006" xmlns:a14="http://schemas.microsoft.com/office/drawing/2010/main">
        <mc:Choice Requires="a14">
          <p:sp>
            <p:nvSpPr>
              <p:cNvPr id="38" name="圆角矩形 10">
                <a:extLst>
                  <a:ext uri="{FF2B5EF4-FFF2-40B4-BE49-F238E27FC236}">
                    <a16:creationId xmlns:a16="http://schemas.microsoft.com/office/drawing/2014/main" id="{CD7265B2-1AE1-4341-814E-8D97741C7A04}"/>
                  </a:ext>
                </a:extLst>
              </p:cNvPr>
              <p:cNvSpPr/>
              <p:nvPr/>
            </p:nvSpPr>
            <p:spPr>
              <a:xfrm>
                <a:off x="6823589" y="3790505"/>
                <a:ext cx="2461596" cy="955347"/>
              </a:xfrm>
              <a:prstGeom prst="roundRect">
                <a:avLst/>
              </a:prstGeom>
              <a:no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1" i="0"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5</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6</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en-US" altLang="zh-CN" sz="12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1052"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1052"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5</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5</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6</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6</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1" i="0"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en-US" altLang="zh-CN" sz="12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mc:Choice>
        <mc:Fallback xmlns="">
          <p:sp>
            <p:nvSpPr>
              <p:cNvPr id="38" name="圆角矩形 10">
                <a:extLst>
                  <a:ext uri="{FF2B5EF4-FFF2-40B4-BE49-F238E27FC236}">
                    <a16:creationId xmlns:a16="http://schemas.microsoft.com/office/drawing/2014/main" id="{CD7265B2-1AE1-4341-814E-8D97741C7A04}"/>
                  </a:ext>
                </a:extLst>
              </p:cNvPr>
              <p:cNvSpPr>
                <a:spLocks noRot="1" noChangeAspect="1" noMove="1" noResize="1" noEditPoints="1" noAdjustHandles="1" noChangeArrowheads="1" noChangeShapeType="1" noTextEdit="1"/>
              </p:cNvSpPr>
              <p:nvPr/>
            </p:nvSpPr>
            <p:spPr>
              <a:xfrm>
                <a:off x="6823589" y="3790505"/>
                <a:ext cx="2461596" cy="955347"/>
              </a:xfrm>
              <a:prstGeom prst="roundRect">
                <a:avLst/>
              </a:prstGeom>
              <a:blipFill>
                <a:blip r:embed="rId14"/>
                <a:stretch>
                  <a:fillRect/>
                </a:stretch>
              </a:blipFill>
              <a:ln w="12700" cap="flat" cmpd="sng" algn="ctr">
                <a:solidFill>
                  <a:sysClr val="windowText" lastClr="000000"/>
                </a:solidFill>
                <a:prstDash val="solid"/>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0" name="矩形 39">
                <a:extLst>
                  <a:ext uri="{FF2B5EF4-FFF2-40B4-BE49-F238E27FC236}">
                    <a16:creationId xmlns:a16="http://schemas.microsoft.com/office/drawing/2014/main" id="{2BFAC938-3822-4B4F-81FA-0490CCB0206D}"/>
                  </a:ext>
                </a:extLst>
              </p:cNvPr>
              <p:cNvSpPr/>
              <p:nvPr/>
            </p:nvSpPr>
            <p:spPr>
              <a:xfrm>
                <a:off x="5957344" y="4834449"/>
                <a:ext cx="3639907" cy="61260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sz="1200" i="1" smtClean="0">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1</m:t>
                          </m:r>
                        </m:sub>
                        <m:sup>
                          <m:r>
                            <a:rPr lang="en-US" altLang="zh-CN" sz="1200" i="1">
                              <a:solidFill>
                                <a:prstClr val="black"/>
                              </a:solidFill>
                              <a:latin typeface="Cambria Math" panose="02040503050406030204" pitchFamily="18" charset="0"/>
                            </a:rPr>
                            <m:t>(1)</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1</m:t>
                          </m:r>
                        </m:sub>
                        <m:sup>
                          <m:r>
                            <a:rPr lang="en-US" altLang="zh-CN" sz="1200" i="1">
                              <a:solidFill>
                                <a:prstClr val="black"/>
                              </a:solidFill>
                              <a:latin typeface="Cambria Math" panose="02040503050406030204" pitchFamily="18" charset="0"/>
                            </a:rPr>
                            <m:t>(1)</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2</m:t>
                          </m:r>
                        </m:sub>
                        <m:sup>
                          <m:r>
                            <a:rPr lang="en-US" altLang="zh-CN" sz="1200" i="1">
                              <a:solidFill>
                                <a:prstClr val="black"/>
                              </a:solidFill>
                              <a:latin typeface="Cambria Math" panose="02040503050406030204" pitchFamily="18" charset="0"/>
                            </a:rPr>
                            <m:t>(1)</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2</m:t>
                          </m:r>
                        </m:sub>
                        <m:sup>
                          <m:r>
                            <a:rPr lang="en-US" altLang="zh-CN" sz="1200" i="1">
                              <a:solidFill>
                                <a:prstClr val="black"/>
                              </a:solidFill>
                              <a:latin typeface="Cambria Math" panose="02040503050406030204" pitchFamily="18" charset="0"/>
                            </a:rPr>
                            <m:t>(1)</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𝐳</m:t>
                          </m:r>
                        </m:e>
                        <m:sub>
                          <m:r>
                            <a:rPr lang="en-US" altLang="zh-CN" sz="1200" i="1">
                              <a:solidFill>
                                <a:prstClr val="black"/>
                              </a:solidFill>
                              <a:latin typeface="Cambria Math" panose="02040503050406030204" pitchFamily="18" charset="0"/>
                            </a:rPr>
                            <m:t>{1,3}</m:t>
                          </m:r>
                        </m:sub>
                        <m:sup>
                          <m:r>
                            <a:rPr lang="en-US" altLang="zh-CN" sz="1200" i="1">
                              <a:solidFill>
                                <a:prstClr val="black"/>
                              </a:solidFill>
                              <a:latin typeface="Cambria Math" panose="02040503050406030204" pitchFamily="18" charset="0"/>
                            </a:rPr>
                            <m:t>(1)</m:t>
                          </m:r>
                        </m:sup>
                      </m:sSubSup>
                      <m:r>
                        <a:rPr lang="en-US" altLang="zh-CN" sz="1200" b="1" i="1">
                          <a:solidFill>
                            <a:srgbClr val="00B0F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1,3</m:t>
                              </m:r>
                            </m:e>
                          </m:d>
                        </m:sub>
                        <m:sup>
                          <m:r>
                            <a:rPr lang="en-US" altLang="zh-CN" sz="1200" i="1">
                              <a:solidFill>
                                <a:prstClr val="black"/>
                              </a:solidFill>
                              <a:latin typeface="Cambria Math" panose="02040503050406030204" pitchFamily="18" charset="0"/>
                            </a:rPr>
                            <m:t>(1)</m:t>
                          </m:r>
                        </m:sup>
                      </m:sSubSup>
                      <m:r>
                        <a:rPr lang="en-US" altLang="zh-CN" sz="1200" i="1">
                          <a:solidFill>
                            <a:srgbClr val="FF000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1,3</m:t>
                              </m:r>
                            </m:e>
                          </m:d>
                          <m:r>
                            <a:rPr lang="en-US" altLang="zh-CN" sz="1200" i="1">
                              <a:solidFill>
                                <a:prstClr val="black"/>
                              </a:solidFill>
                              <a:latin typeface="Cambria Math" panose="02040503050406030204" pitchFamily="18" charset="0"/>
                            </a:rPr>
                            <m:t>,1</m:t>
                          </m:r>
                        </m:sub>
                        <m:sup>
                          <m:r>
                            <a:rPr lang="en-US" altLang="zh-CN" sz="1200" i="1">
                              <a:solidFill>
                                <a:prstClr val="black"/>
                              </a:solidFill>
                              <a:latin typeface="Cambria Math" panose="02040503050406030204" pitchFamily="18" charset="0"/>
                            </a:rPr>
                            <m:t>(1)</m:t>
                          </m:r>
                        </m:sup>
                      </m:sSubSup>
                      <m:r>
                        <a:rPr lang="en-US" altLang="zh-CN" sz="1200" i="1">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1,3</m:t>
                              </m:r>
                            </m:e>
                          </m:d>
                          <m:r>
                            <a:rPr lang="en-US" altLang="zh-CN" sz="1200" i="1">
                              <a:solidFill>
                                <a:prstClr val="black"/>
                              </a:solidFill>
                              <a:latin typeface="Cambria Math" panose="02040503050406030204" pitchFamily="18" charset="0"/>
                            </a:rPr>
                            <m:t>,3</m:t>
                          </m:r>
                        </m:sub>
                        <m:sup>
                          <m:r>
                            <a:rPr lang="en-US" altLang="zh-CN" sz="1200" i="1">
                              <a:solidFill>
                                <a:prstClr val="black"/>
                              </a:solidFill>
                              <a:latin typeface="Cambria Math" panose="02040503050406030204" pitchFamily="18" charset="0"/>
                            </a:rPr>
                            <m:t>(1)</m:t>
                          </m:r>
                        </m:sup>
                      </m:sSubSup>
                    </m:oMath>
                  </m:oMathPara>
                </a14:m>
                <a:endParaRPr lang="en-US" altLang="zh-CN" sz="1200" dirty="0">
                  <a:solidFill>
                    <a:prstClr val="black"/>
                  </a:solidFill>
                  <a:latin typeface="Calibri" panose="020F0502020204030204"/>
                  <a:ea typeface="等线" panose="02010600030101010101" pitchFamily="2" charset="-122"/>
                </a:endParaRPr>
              </a:p>
              <a:p>
                <a:pPr/>
                <a14:m>
                  <m:oMathPara xmlns:m="http://schemas.openxmlformats.org/officeDocument/2006/math">
                    <m:oMathParaPr>
                      <m:jc m:val="centerGroup"/>
                    </m:oMathParaPr>
                    <m:oMath xmlns:m="http://schemas.openxmlformats.org/officeDocument/2006/math">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5</m:t>
                          </m:r>
                        </m:sub>
                        <m:sup>
                          <m:r>
                            <a:rPr lang="en-US" altLang="zh-CN" sz="1200" i="1">
                              <a:solidFill>
                                <a:prstClr val="black"/>
                              </a:solidFill>
                              <a:latin typeface="Cambria Math" panose="02040503050406030204" pitchFamily="18" charset="0"/>
                            </a:rPr>
                            <m:t>(1)</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smtClean="0">
                              <a:solidFill>
                                <a:prstClr val="black"/>
                              </a:solidFill>
                              <a:latin typeface="Cambria Math" panose="02040503050406030204" pitchFamily="18" charset="0"/>
                            </a:rPr>
                            <m:t>5</m:t>
                          </m:r>
                        </m:sub>
                        <m:sup>
                          <m:r>
                            <a:rPr lang="en-US" altLang="zh-CN" sz="1200" i="1">
                              <a:solidFill>
                                <a:prstClr val="black"/>
                              </a:solidFill>
                              <a:latin typeface="Cambria Math" panose="02040503050406030204" pitchFamily="18" charset="0"/>
                            </a:rPr>
                            <m:t>(1)</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6</m:t>
                          </m:r>
                        </m:sub>
                        <m:sup>
                          <m:r>
                            <a:rPr lang="en-US" altLang="zh-CN" sz="1200" i="1">
                              <a:solidFill>
                                <a:prstClr val="black"/>
                              </a:solidFill>
                              <a:latin typeface="Cambria Math" panose="02040503050406030204" pitchFamily="18" charset="0"/>
                            </a:rPr>
                            <m:t>(1)</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6</m:t>
                          </m:r>
                        </m:sub>
                        <m:sup>
                          <m:r>
                            <a:rPr lang="en-US" altLang="zh-CN" sz="1200" i="1">
                              <a:solidFill>
                                <a:prstClr val="black"/>
                              </a:solidFill>
                              <a:latin typeface="Cambria Math" panose="02040503050406030204" pitchFamily="18" charset="0"/>
                            </a:rPr>
                            <m:t>(1)</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𝐳</m:t>
                          </m:r>
                        </m:e>
                        <m:sub>
                          <m:r>
                            <a:rPr lang="en-US" altLang="zh-CN" sz="1200" i="1">
                              <a:solidFill>
                                <a:prstClr val="black"/>
                              </a:solidFill>
                              <a:latin typeface="Cambria Math" panose="02040503050406030204" pitchFamily="18" charset="0"/>
                            </a:rPr>
                            <m:t>{2,3}</m:t>
                          </m:r>
                        </m:sub>
                        <m:sup>
                          <m:r>
                            <a:rPr lang="en-US" altLang="zh-CN" sz="1200" i="1">
                              <a:solidFill>
                                <a:prstClr val="black"/>
                              </a:solidFill>
                              <a:latin typeface="Cambria Math" panose="02040503050406030204" pitchFamily="18" charset="0"/>
                            </a:rPr>
                            <m:t>(1)</m:t>
                          </m:r>
                        </m:sup>
                      </m:sSubSup>
                      <m:r>
                        <a:rPr lang="en-US" altLang="zh-CN" sz="1200" b="1" i="1">
                          <a:solidFill>
                            <a:srgbClr val="00B0F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2,3</m:t>
                              </m:r>
                            </m:e>
                          </m:d>
                        </m:sub>
                        <m:sup>
                          <m:r>
                            <a:rPr lang="en-US" altLang="zh-CN" sz="1200" i="1">
                              <a:solidFill>
                                <a:prstClr val="black"/>
                              </a:solidFill>
                              <a:latin typeface="Cambria Math" panose="02040503050406030204" pitchFamily="18" charset="0"/>
                            </a:rPr>
                            <m:t>(1)</m:t>
                          </m:r>
                        </m:sup>
                      </m:sSubSup>
                      <m:r>
                        <a:rPr lang="en-US" altLang="zh-CN" sz="1200" i="1">
                          <a:solidFill>
                            <a:srgbClr val="FF000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2,3</m:t>
                              </m:r>
                            </m:e>
                          </m:d>
                          <m:r>
                            <a:rPr lang="en-US" altLang="zh-CN" sz="1200" i="1">
                              <a:solidFill>
                                <a:prstClr val="black"/>
                              </a:solidFill>
                              <a:latin typeface="Cambria Math" panose="02040503050406030204" pitchFamily="18" charset="0"/>
                            </a:rPr>
                            <m:t>,2</m:t>
                          </m:r>
                        </m:sub>
                        <m:sup>
                          <m:r>
                            <a:rPr lang="en-US" altLang="zh-CN" sz="1200" i="1">
                              <a:solidFill>
                                <a:prstClr val="black"/>
                              </a:solidFill>
                              <a:latin typeface="Cambria Math" panose="02040503050406030204" pitchFamily="18" charset="0"/>
                            </a:rPr>
                            <m:t>(1)</m:t>
                          </m:r>
                        </m:sup>
                      </m:sSubSup>
                      <m:r>
                        <a:rPr lang="en-US" altLang="zh-CN" sz="1200" i="1">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2,3</m:t>
                              </m:r>
                            </m:e>
                          </m:d>
                          <m:r>
                            <a:rPr lang="en-US" altLang="zh-CN" sz="1200" i="1">
                              <a:solidFill>
                                <a:prstClr val="black"/>
                              </a:solidFill>
                              <a:latin typeface="Cambria Math" panose="02040503050406030204" pitchFamily="18" charset="0"/>
                            </a:rPr>
                            <m:t>,3</m:t>
                          </m:r>
                        </m:sub>
                        <m:sup>
                          <m:r>
                            <a:rPr lang="en-US" altLang="zh-CN" sz="1200" i="1">
                              <a:solidFill>
                                <a:prstClr val="black"/>
                              </a:solidFill>
                              <a:latin typeface="Cambria Math" panose="02040503050406030204" pitchFamily="18" charset="0"/>
                            </a:rPr>
                            <m:t>(1)</m:t>
                          </m:r>
                        </m:sup>
                      </m:sSubSup>
                    </m:oMath>
                  </m:oMathPara>
                </a14:m>
                <a:endParaRPr lang="zh-CN" altLang="en-US" sz="1600" dirty="0">
                  <a:solidFill>
                    <a:prstClr val="black"/>
                  </a:solidFill>
                  <a:latin typeface="Calibri" panose="020F0502020204030204"/>
                  <a:ea typeface="等线" panose="02010600030101010101" pitchFamily="2" charset="-122"/>
                </a:endParaRPr>
              </a:p>
            </p:txBody>
          </p:sp>
        </mc:Choice>
        <mc:Fallback xmlns="">
          <p:sp>
            <p:nvSpPr>
              <p:cNvPr id="40" name="矩形 39">
                <a:extLst>
                  <a:ext uri="{FF2B5EF4-FFF2-40B4-BE49-F238E27FC236}">
                    <a16:creationId xmlns:a16="http://schemas.microsoft.com/office/drawing/2014/main" id="{2BFAC938-3822-4B4F-81FA-0490CCB0206D}"/>
                  </a:ext>
                </a:extLst>
              </p:cNvPr>
              <p:cNvSpPr>
                <a:spLocks noRot="1" noChangeAspect="1" noMove="1" noResize="1" noEditPoints="1" noAdjustHandles="1" noChangeArrowheads="1" noChangeShapeType="1" noTextEdit="1"/>
              </p:cNvSpPr>
              <p:nvPr/>
            </p:nvSpPr>
            <p:spPr>
              <a:xfrm>
                <a:off x="5957344" y="4834449"/>
                <a:ext cx="3639907" cy="612604"/>
              </a:xfrm>
              <a:prstGeom prst="rect">
                <a:avLst/>
              </a:prstGeom>
              <a:blipFill>
                <a:blip r:embed="rId15"/>
                <a:stretch>
                  <a:fillRect b="-9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矩形 41">
                <a:extLst>
                  <a:ext uri="{FF2B5EF4-FFF2-40B4-BE49-F238E27FC236}">
                    <a16:creationId xmlns:a16="http://schemas.microsoft.com/office/drawing/2014/main" id="{AC78DA08-AFDD-4AF5-9494-B6291317AD51}"/>
                  </a:ext>
                </a:extLst>
              </p:cNvPr>
              <p:cNvSpPr/>
              <p:nvPr/>
            </p:nvSpPr>
            <p:spPr>
              <a:xfrm>
                <a:off x="5549869" y="4112341"/>
                <a:ext cx="1391022" cy="35009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r>
                            <a:rPr lang="en-US" altLang="zh-CN" sz="1200" i="1">
                              <a:solidFill>
                                <a:prstClr val="black"/>
                              </a:solidFill>
                              <a:latin typeface="Cambria Math" panose="02040503050406030204" pitchFamily="18" charset="0"/>
                            </a:rPr>
                            <m:t>2,</m:t>
                          </m:r>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1,3</m:t>
                              </m:r>
                            </m:e>
                          </m:d>
                          <m:r>
                            <a:rPr lang="en-US" altLang="zh-CN" sz="1200" i="1">
                              <a:solidFill>
                                <a:prstClr val="black"/>
                              </a:solidFill>
                              <a:latin typeface="Cambria Math" panose="02040503050406030204" pitchFamily="18" charset="0"/>
                            </a:rPr>
                            <m:t>,3</m:t>
                          </m:r>
                        </m:sub>
                        <m:sup>
                          <m:r>
                            <a:rPr lang="en-US" altLang="zh-CN" sz="1200" i="1">
                              <a:solidFill>
                                <a:prstClr val="black"/>
                              </a:solidFill>
                              <a:latin typeface="Cambria Math" panose="02040503050406030204" pitchFamily="18" charset="0"/>
                            </a:rPr>
                            <m:t>(1)</m:t>
                          </m:r>
                        </m:sup>
                      </m:sSubSup>
                      <m:r>
                        <a:rPr lang="en-US" altLang="zh-CN" sz="1200">
                          <a:solidFill>
                            <a:prstClr val="black"/>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r>
                            <a:rPr lang="en-US" altLang="zh-CN" sz="1200" i="1">
                              <a:solidFill>
                                <a:prstClr val="black"/>
                              </a:solidFill>
                              <a:latin typeface="Cambria Math" panose="02040503050406030204" pitchFamily="18" charset="0"/>
                            </a:rPr>
                            <m:t>1,</m:t>
                          </m:r>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2,3</m:t>
                              </m:r>
                            </m:e>
                          </m:d>
                          <m:r>
                            <a:rPr lang="en-US" altLang="zh-CN" sz="1200" i="1">
                              <a:solidFill>
                                <a:prstClr val="black"/>
                              </a:solidFill>
                              <a:latin typeface="Cambria Math" panose="02040503050406030204" pitchFamily="18" charset="0"/>
                            </a:rPr>
                            <m:t>,3</m:t>
                          </m:r>
                        </m:sub>
                        <m:sup>
                          <m:r>
                            <a:rPr lang="en-US" altLang="zh-CN" sz="1200" i="1">
                              <a:solidFill>
                                <a:prstClr val="black"/>
                              </a:solidFill>
                              <a:latin typeface="Cambria Math" panose="02040503050406030204" pitchFamily="18" charset="0"/>
                            </a:rPr>
                            <m:t>(1)</m:t>
                          </m:r>
                        </m:sup>
                      </m:sSubSup>
                    </m:oMath>
                  </m:oMathPara>
                </a14:m>
                <a:endParaRPr lang="zh-CN" altLang="en-US" sz="1600" dirty="0">
                  <a:solidFill>
                    <a:prstClr val="black"/>
                  </a:solidFill>
                  <a:latin typeface="Calibri" panose="020F0502020204030204"/>
                  <a:ea typeface="等线" panose="02010600030101010101" pitchFamily="2" charset="-122"/>
                </a:endParaRPr>
              </a:p>
            </p:txBody>
          </p:sp>
        </mc:Choice>
        <mc:Fallback xmlns="">
          <p:sp>
            <p:nvSpPr>
              <p:cNvPr id="42" name="矩形 41">
                <a:extLst>
                  <a:ext uri="{FF2B5EF4-FFF2-40B4-BE49-F238E27FC236}">
                    <a16:creationId xmlns:a16="http://schemas.microsoft.com/office/drawing/2014/main" id="{AC78DA08-AFDD-4AF5-9494-B6291317AD51}"/>
                  </a:ext>
                </a:extLst>
              </p:cNvPr>
              <p:cNvSpPr>
                <a:spLocks noRot="1" noChangeAspect="1" noMove="1" noResize="1" noEditPoints="1" noAdjustHandles="1" noChangeArrowheads="1" noChangeShapeType="1" noTextEdit="1"/>
              </p:cNvSpPr>
              <p:nvPr/>
            </p:nvSpPr>
            <p:spPr>
              <a:xfrm>
                <a:off x="5549869" y="4112341"/>
                <a:ext cx="1391022" cy="350096"/>
              </a:xfrm>
              <a:prstGeom prst="rect">
                <a:avLst/>
              </a:prstGeom>
              <a:blipFill>
                <a:blip r:embed="rId16"/>
                <a:stretch>
                  <a:fillRect/>
                </a:stretch>
              </a:blipFill>
            </p:spPr>
            <p:txBody>
              <a:bodyPr/>
              <a:lstStyle/>
              <a:p>
                <a:r>
                  <a:rPr lang="zh-CN" altLang="en-US">
                    <a:noFill/>
                  </a:rPr>
                  <a:t> </a:t>
                </a:r>
              </a:p>
            </p:txBody>
          </p:sp>
        </mc:Fallback>
      </mc:AlternateContent>
      <p:sp>
        <p:nvSpPr>
          <p:cNvPr id="46" name="弧形 45">
            <a:extLst>
              <a:ext uri="{FF2B5EF4-FFF2-40B4-BE49-F238E27FC236}">
                <a16:creationId xmlns:a16="http://schemas.microsoft.com/office/drawing/2014/main" id="{97B760C1-1CE1-4679-9B5A-244B926FE47E}"/>
              </a:ext>
            </a:extLst>
          </p:cNvPr>
          <p:cNvSpPr/>
          <p:nvPr/>
        </p:nvSpPr>
        <p:spPr>
          <a:xfrm rot="10444263">
            <a:off x="4739172" y="2148084"/>
            <a:ext cx="413820" cy="2391243"/>
          </a:xfrm>
          <a:prstGeom prst="arc">
            <a:avLst>
              <a:gd name="adj1" fmla="val 16791571"/>
              <a:gd name="adj2" fmla="val 4194294"/>
            </a:avLst>
          </a:prstGeom>
          <a:noFill/>
          <a:ln w="6350" cap="flat" cmpd="sng" algn="ctr">
            <a:solidFill>
              <a:sysClr val="windowText" lastClr="000000">
                <a:lumMod val="95000"/>
                <a:lumOff val="5000"/>
              </a:sysClr>
            </a:solidFill>
            <a:prstDash val="lgDash"/>
            <a:miter lim="800000"/>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1"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2" name="弧形 51">
            <a:extLst>
              <a:ext uri="{FF2B5EF4-FFF2-40B4-BE49-F238E27FC236}">
                <a16:creationId xmlns:a16="http://schemas.microsoft.com/office/drawing/2014/main" id="{032305F3-4E04-4C1E-882B-DEE7DBB50369}"/>
              </a:ext>
            </a:extLst>
          </p:cNvPr>
          <p:cNvSpPr/>
          <p:nvPr/>
        </p:nvSpPr>
        <p:spPr>
          <a:xfrm rot="16395958" flipH="1">
            <a:off x="5878028" y="2871016"/>
            <a:ext cx="638895" cy="2925484"/>
          </a:xfrm>
          <a:prstGeom prst="arc">
            <a:avLst>
              <a:gd name="adj1" fmla="val 16602090"/>
              <a:gd name="adj2" fmla="val 3888972"/>
            </a:avLst>
          </a:prstGeom>
          <a:noFill/>
          <a:ln w="6350" cap="flat" cmpd="sng" algn="ctr">
            <a:solidFill>
              <a:sysClr val="windowText" lastClr="000000">
                <a:lumMod val="95000"/>
                <a:lumOff val="5000"/>
              </a:sysClr>
            </a:solidFill>
            <a:prstDash val="lgDash"/>
            <a:miter lim="800000"/>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1"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9" name="弧形 58">
            <a:extLst>
              <a:ext uri="{FF2B5EF4-FFF2-40B4-BE49-F238E27FC236}">
                <a16:creationId xmlns:a16="http://schemas.microsoft.com/office/drawing/2014/main" id="{E682A290-0409-4B86-B8DB-9FA8854086EC}"/>
              </a:ext>
            </a:extLst>
          </p:cNvPr>
          <p:cNvSpPr/>
          <p:nvPr/>
        </p:nvSpPr>
        <p:spPr>
          <a:xfrm rot="5029112">
            <a:off x="4841863" y="3130110"/>
            <a:ext cx="528549" cy="2458857"/>
          </a:xfrm>
          <a:prstGeom prst="arc">
            <a:avLst>
              <a:gd name="adj1" fmla="val 16843250"/>
              <a:gd name="adj2" fmla="val 4644547"/>
            </a:avLst>
          </a:prstGeom>
          <a:noFill/>
          <a:ln w="6350" cap="flat" cmpd="sng" algn="ctr">
            <a:solidFill>
              <a:sysClr val="windowText" lastClr="000000">
                <a:lumMod val="95000"/>
                <a:lumOff val="5000"/>
              </a:sysClr>
            </a:solidFill>
            <a:prstDash val="lgDash"/>
            <a:miter lim="800000"/>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1"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60" name="弧形 59">
            <a:extLst>
              <a:ext uri="{FF2B5EF4-FFF2-40B4-BE49-F238E27FC236}">
                <a16:creationId xmlns:a16="http://schemas.microsoft.com/office/drawing/2014/main" id="{ABC3AABA-920F-438B-B598-3B71F3726542}"/>
              </a:ext>
            </a:extLst>
          </p:cNvPr>
          <p:cNvSpPr/>
          <p:nvPr/>
        </p:nvSpPr>
        <p:spPr>
          <a:xfrm rot="11275482" flipH="1">
            <a:off x="5813648" y="2451236"/>
            <a:ext cx="485199" cy="2220291"/>
          </a:xfrm>
          <a:prstGeom prst="arc">
            <a:avLst>
              <a:gd name="adj1" fmla="val 17317555"/>
              <a:gd name="adj2" fmla="val 4599506"/>
            </a:avLst>
          </a:prstGeom>
          <a:noFill/>
          <a:ln w="6350" cap="flat" cmpd="sng" algn="ctr">
            <a:solidFill>
              <a:sysClr val="windowText" lastClr="000000">
                <a:lumMod val="95000"/>
                <a:lumOff val="5000"/>
              </a:sysClr>
            </a:solidFill>
            <a:prstDash val="lgDash"/>
            <a:miter lim="800000"/>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1"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61" name="弧形 60">
            <a:extLst>
              <a:ext uri="{FF2B5EF4-FFF2-40B4-BE49-F238E27FC236}">
                <a16:creationId xmlns:a16="http://schemas.microsoft.com/office/drawing/2014/main" id="{8E85362B-6ED4-4F39-A5A8-0E39FBBFDD3C}"/>
              </a:ext>
            </a:extLst>
          </p:cNvPr>
          <p:cNvSpPr/>
          <p:nvPr/>
        </p:nvSpPr>
        <p:spPr>
          <a:xfrm rot="4091547">
            <a:off x="4653544" y="2793351"/>
            <a:ext cx="228191" cy="2017313"/>
          </a:xfrm>
          <a:prstGeom prst="arc">
            <a:avLst>
              <a:gd name="adj1" fmla="val 16495223"/>
              <a:gd name="adj2" fmla="val 4802923"/>
            </a:avLst>
          </a:prstGeom>
          <a:noFill/>
          <a:ln w="6350" cap="flat" cmpd="sng" algn="ctr">
            <a:solidFill>
              <a:sysClr val="windowText" lastClr="000000">
                <a:lumMod val="95000"/>
                <a:lumOff val="5000"/>
              </a:sysClr>
            </a:solidFill>
            <a:prstDash val="lgDash"/>
            <a:miter lim="800000"/>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1"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62" name="弧形 61">
            <a:extLst>
              <a:ext uri="{FF2B5EF4-FFF2-40B4-BE49-F238E27FC236}">
                <a16:creationId xmlns:a16="http://schemas.microsoft.com/office/drawing/2014/main" id="{9E31148B-3E0B-484D-AC51-D4CD80F000DD}"/>
              </a:ext>
            </a:extLst>
          </p:cNvPr>
          <p:cNvSpPr/>
          <p:nvPr/>
        </p:nvSpPr>
        <p:spPr>
          <a:xfrm rot="17383186" flipH="1">
            <a:off x="6040898" y="2763340"/>
            <a:ext cx="321595" cy="1862247"/>
          </a:xfrm>
          <a:prstGeom prst="arc">
            <a:avLst>
              <a:gd name="adj1" fmla="val 16769067"/>
              <a:gd name="adj2" fmla="val 4862001"/>
            </a:avLst>
          </a:prstGeom>
          <a:noFill/>
          <a:ln w="6350" cap="flat" cmpd="sng" algn="ctr">
            <a:solidFill>
              <a:sysClr val="windowText" lastClr="000000">
                <a:lumMod val="95000"/>
                <a:lumOff val="5000"/>
              </a:sysClr>
            </a:solidFill>
            <a:prstDash val="lgDash"/>
            <a:miter lim="800000"/>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1"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cxnSp>
        <p:nvCxnSpPr>
          <p:cNvPr id="63" name="直接连接符 62">
            <a:extLst>
              <a:ext uri="{FF2B5EF4-FFF2-40B4-BE49-F238E27FC236}">
                <a16:creationId xmlns:a16="http://schemas.microsoft.com/office/drawing/2014/main" id="{ACB08498-136E-408E-85D5-B362FB3836BE}"/>
              </a:ext>
            </a:extLst>
          </p:cNvPr>
          <p:cNvCxnSpPr>
            <a:cxnSpLocks/>
          </p:cNvCxnSpPr>
          <p:nvPr/>
        </p:nvCxnSpPr>
        <p:spPr>
          <a:xfrm>
            <a:off x="5526906" y="3146439"/>
            <a:ext cx="0" cy="435996"/>
          </a:xfrm>
          <a:prstGeom prst="line">
            <a:avLst/>
          </a:prstGeom>
          <a:noFill/>
          <a:ln w="6350" cap="flat" cmpd="sng" algn="ctr">
            <a:solidFill>
              <a:sysClr val="windowText" lastClr="000000">
                <a:lumMod val="95000"/>
                <a:lumOff val="5000"/>
              </a:sysClr>
            </a:solidFill>
            <a:prstDash val="lgDash"/>
            <a:miter lim="800000"/>
          </a:ln>
          <a:effectLst/>
        </p:spPr>
      </p:cxnSp>
      <p:sp>
        <p:nvSpPr>
          <p:cNvPr id="64" name="矩形 63">
            <a:extLst>
              <a:ext uri="{FF2B5EF4-FFF2-40B4-BE49-F238E27FC236}">
                <a16:creationId xmlns:a16="http://schemas.microsoft.com/office/drawing/2014/main" id="{19DF8463-1C87-4E2F-9328-3479C96FEE3F}"/>
              </a:ext>
            </a:extLst>
          </p:cNvPr>
          <p:cNvSpPr/>
          <p:nvPr/>
        </p:nvSpPr>
        <p:spPr>
          <a:xfrm>
            <a:off x="2104050" y="2346775"/>
            <a:ext cx="1611980" cy="480837"/>
          </a:xfrm>
          <a:prstGeom prst="rect">
            <a:avLst/>
          </a:prstGeom>
        </p:spPr>
        <p:txBody>
          <a:bodyPr wrap="none">
            <a:spAutoFit/>
          </a:bodyPr>
          <a:lstStyle/>
          <a:p>
            <a:pPr>
              <a:lnSpc>
                <a:spcPts val="3299"/>
              </a:lnSpc>
            </a:pPr>
            <a:r>
              <a:rPr lang="en-US" altLang="zh-CN" sz="2100" b="1" dirty="0">
                <a:solidFill>
                  <a:srgbClr val="00B0F0"/>
                </a:solidFill>
                <a:latin typeface="Calibri" panose="020F0502020204030204"/>
                <a:ea typeface="等线" panose="02010600030101010101" pitchFamily="2" charset="-122"/>
              </a:rPr>
              <a:t>Fog Network</a:t>
            </a:r>
          </a:p>
        </p:txBody>
      </p:sp>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5A77DCCC-43DC-4DD0-AADC-4AEA62C70AD9}"/>
                  </a:ext>
                </a:extLst>
              </p:cNvPr>
              <p:cNvSpPr txBox="1"/>
              <p:nvPr/>
            </p:nvSpPr>
            <p:spPr>
              <a:xfrm>
                <a:off x="8090920" y="1292309"/>
                <a:ext cx="1736975" cy="523220"/>
              </a:xfrm>
              <a:prstGeom prst="rect">
                <a:avLst/>
              </a:prstGeom>
              <a:noFill/>
            </p:spPr>
            <p:txBody>
              <a:bodyPr wrap="square" rtlCol="0">
                <a:spAutoFit/>
              </a:bodyPr>
              <a:lstStyle/>
              <a:p>
                <a14:m>
                  <m:oMath xmlns:m="http://schemas.openxmlformats.org/officeDocument/2006/math">
                    <m:r>
                      <a:rPr lang="en-US" altLang="zh-CN" sz="1400" b="1" i="1">
                        <a:solidFill>
                          <a:srgbClr val="00B0F0"/>
                        </a:solidFill>
                        <a:latin typeface="Cambria Math" panose="02040503050406030204" pitchFamily="18" charset="0"/>
                        <a:ea typeface="Cambria Math" panose="02040503050406030204" pitchFamily="18" charset="0"/>
                      </a:rPr>
                      <m:t>⇒</m:t>
                    </m:r>
                  </m:oMath>
                </a14:m>
                <a:r>
                  <a:rPr lang="zh-CN" altLang="en-US" sz="1400" dirty="0">
                    <a:solidFill>
                      <a:prstClr val="black"/>
                    </a:solidFill>
                    <a:latin typeface="Calibri" panose="020F0502020204030204"/>
                    <a:ea typeface="等线" panose="02010600030101010101" pitchFamily="2" charset="-122"/>
                  </a:rPr>
                  <a:t>  </a:t>
                </a:r>
                <a:r>
                  <a:rPr lang="en-US" altLang="zh-CN" sz="1400" dirty="0">
                    <a:solidFill>
                      <a:prstClr val="black"/>
                    </a:solidFill>
                    <a:latin typeface="Calibri" panose="020F0502020204030204"/>
                    <a:ea typeface="等线" panose="02010600030101010101" pitchFamily="2" charset="-122"/>
                  </a:rPr>
                  <a:t>Concatenate</a:t>
                </a:r>
              </a:p>
              <a:p>
                <a14:m>
                  <m:oMath xmlns:m="http://schemas.openxmlformats.org/officeDocument/2006/math">
                    <m:r>
                      <a:rPr lang="en-US" altLang="zh-CN" sz="1400" i="1">
                        <a:solidFill>
                          <a:srgbClr val="FF0000"/>
                        </a:solidFill>
                        <a:latin typeface="Cambria Math" panose="02040503050406030204" pitchFamily="18" charset="0"/>
                        <a:ea typeface="Cambria Math" panose="02040503050406030204" pitchFamily="18" charset="0"/>
                      </a:rPr>
                      <m:t>⇒</m:t>
                    </m:r>
                  </m:oMath>
                </a14:m>
                <a:r>
                  <a:rPr lang="en-US" altLang="zh-CN" sz="1400" dirty="0">
                    <a:solidFill>
                      <a:prstClr val="black"/>
                    </a:solidFill>
                    <a:latin typeface="Calibri" panose="020F0502020204030204"/>
                    <a:ea typeface="等线" panose="02010600030101010101" pitchFamily="2" charset="-122"/>
                  </a:rPr>
                  <a:t>  Split</a:t>
                </a:r>
                <a:endParaRPr lang="zh-CN" altLang="en-US" sz="1400" dirty="0">
                  <a:solidFill>
                    <a:prstClr val="black"/>
                  </a:solidFill>
                  <a:latin typeface="Calibri" panose="020F0502020204030204"/>
                  <a:ea typeface="等线" panose="02010600030101010101" pitchFamily="2" charset="-122"/>
                </a:endParaRPr>
              </a:p>
            </p:txBody>
          </p:sp>
        </mc:Choice>
        <mc:Fallback xmlns="">
          <p:sp>
            <p:nvSpPr>
              <p:cNvPr id="65" name="文本框 64">
                <a:extLst>
                  <a:ext uri="{FF2B5EF4-FFF2-40B4-BE49-F238E27FC236}">
                    <a16:creationId xmlns:a16="http://schemas.microsoft.com/office/drawing/2014/main" id="{5A77DCCC-43DC-4DD0-AADC-4AEA62C70AD9}"/>
                  </a:ext>
                </a:extLst>
              </p:cNvPr>
              <p:cNvSpPr txBox="1">
                <a:spLocks noRot="1" noChangeAspect="1" noMove="1" noResize="1" noEditPoints="1" noAdjustHandles="1" noChangeArrowheads="1" noChangeShapeType="1" noTextEdit="1"/>
              </p:cNvSpPr>
              <p:nvPr/>
            </p:nvSpPr>
            <p:spPr>
              <a:xfrm>
                <a:off x="8090920" y="1292309"/>
                <a:ext cx="1736975" cy="523220"/>
              </a:xfrm>
              <a:prstGeom prst="rect">
                <a:avLst/>
              </a:prstGeom>
              <a:blipFill>
                <a:blip r:embed="rId17"/>
                <a:stretch>
                  <a:fillRect t="-2326" b="-10465"/>
                </a:stretch>
              </a:blipFill>
            </p:spPr>
            <p:txBody>
              <a:bodyPr/>
              <a:lstStyle/>
              <a:p>
                <a:r>
                  <a:rPr lang="zh-CN" altLang="en-US">
                    <a:noFill/>
                  </a:rPr>
                  <a:t> </a:t>
                </a:r>
              </a:p>
            </p:txBody>
          </p:sp>
        </mc:Fallback>
      </mc:AlternateContent>
      <p:sp>
        <p:nvSpPr>
          <p:cNvPr id="7" name="灯片编号占位符 6">
            <a:extLst>
              <a:ext uri="{FF2B5EF4-FFF2-40B4-BE49-F238E27FC236}">
                <a16:creationId xmlns:a16="http://schemas.microsoft.com/office/drawing/2014/main" id="{C82E3ABB-157F-4FFE-A03B-4A13EBB1C736}"/>
              </a:ext>
            </a:extLst>
          </p:cNvPr>
          <p:cNvSpPr>
            <a:spLocks noGrp="1"/>
          </p:cNvSpPr>
          <p:nvPr>
            <p:ph type="sldNum" sz="quarter" idx="12"/>
          </p:nvPr>
        </p:nvSpPr>
        <p:spPr/>
        <p:txBody>
          <a:bodyPr/>
          <a:lstStyle/>
          <a:p>
            <a:fld id="{B125EA80-F692-46D2-AFCC-CA48803B46EF}" type="slidenum">
              <a:rPr lang="zh-CN" altLang="en-US" smtClean="0"/>
              <a:t>22</a:t>
            </a:fld>
            <a:endParaRPr lang="zh-CN" altLang="en-US" dirty="0"/>
          </a:p>
        </p:txBody>
      </p:sp>
      <p:sp>
        <p:nvSpPr>
          <p:cNvPr id="66" name="箭头: 下 65">
            <a:extLst>
              <a:ext uri="{FF2B5EF4-FFF2-40B4-BE49-F238E27FC236}">
                <a16:creationId xmlns:a16="http://schemas.microsoft.com/office/drawing/2014/main" id="{CA142C74-8613-4097-A8EA-DD66A440ED10}"/>
              </a:ext>
            </a:extLst>
          </p:cNvPr>
          <p:cNvSpPr/>
          <p:nvPr/>
        </p:nvSpPr>
        <p:spPr>
          <a:xfrm>
            <a:off x="2509739" y="4138049"/>
            <a:ext cx="1045682" cy="261107"/>
          </a:xfrm>
          <a:prstGeom prst="downArrow">
            <a:avLst/>
          </a:prstGeom>
          <a:no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Map</a:t>
            </a:r>
            <a:endParaRPr kumimoji="0" lang="zh-CN" altLang="en-US" sz="11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67" name="箭头: 下 66">
            <a:extLst>
              <a:ext uri="{FF2B5EF4-FFF2-40B4-BE49-F238E27FC236}">
                <a16:creationId xmlns:a16="http://schemas.microsoft.com/office/drawing/2014/main" id="{D48C4510-37CC-4235-82F9-71ACE7C80E6B}"/>
              </a:ext>
            </a:extLst>
          </p:cNvPr>
          <p:cNvSpPr/>
          <p:nvPr/>
        </p:nvSpPr>
        <p:spPr>
          <a:xfrm>
            <a:off x="5013026" y="2214707"/>
            <a:ext cx="1045682" cy="261107"/>
          </a:xfrm>
          <a:prstGeom prst="downArrow">
            <a:avLst/>
          </a:prstGeom>
          <a:no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Map</a:t>
            </a:r>
            <a:endParaRPr kumimoji="0" lang="zh-CN" altLang="en-US" sz="11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68" name="箭头: 下 67">
            <a:extLst>
              <a:ext uri="{FF2B5EF4-FFF2-40B4-BE49-F238E27FC236}">
                <a16:creationId xmlns:a16="http://schemas.microsoft.com/office/drawing/2014/main" id="{C135AA07-496F-4F49-8901-E63D874E08B7}"/>
              </a:ext>
            </a:extLst>
          </p:cNvPr>
          <p:cNvSpPr/>
          <p:nvPr/>
        </p:nvSpPr>
        <p:spPr>
          <a:xfrm>
            <a:off x="7529662" y="4138049"/>
            <a:ext cx="1045682" cy="261107"/>
          </a:xfrm>
          <a:prstGeom prst="downArrow">
            <a:avLst/>
          </a:prstGeom>
          <a:no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Map</a:t>
            </a:r>
            <a:endParaRPr kumimoji="0" lang="zh-CN" altLang="en-US" sz="11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pic>
        <p:nvPicPr>
          <p:cNvPr id="34" name="图片 33">
            <a:extLst>
              <a:ext uri="{FF2B5EF4-FFF2-40B4-BE49-F238E27FC236}">
                <a16:creationId xmlns:a16="http://schemas.microsoft.com/office/drawing/2014/main" id="{9D94AB2A-D064-4F33-93AB-35B370EFBD54}"/>
              </a:ext>
            </a:extLst>
          </p:cNvPr>
          <p:cNvPicPr>
            <a:picLocks noChangeAspect="1"/>
          </p:cNvPicPr>
          <p:nvPr/>
        </p:nvPicPr>
        <p:blipFill>
          <a:blip r:embed="rId18"/>
          <a:stretch>
            <a:fillRect/>
          </a:stretch>
        </p:blipFill>
        <p:spPr>
          <a:xfrm>
            <a:off x="3610948" y="884786"/>
            <a:ext cx="657367" cy="323850"/>
          </a:xfrm>
          <a:prstGeom prst="rect">
            <a:avLst/>
          </a:prstGeom>
        </p:spPr>
      </p:pic>
    </p:spTree>
    <p:extLst>
      <p:ext uri="{BB962C8B-B14F-4D97-AF65-F5344CB8AC3E}">
        <p14:creationId xmlns:p14="http://schemas.microsoft.com/office/powerpoint/2010/main" val="23958134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云形 75">
            <a:extLst>
              <a:ext uri="{FF2B5EF4-FFF2-40B4-BE49-F238E27FC236}">
                <a16:creationId xmlns:a16="http://schemas.microsoft.com/office/drawing/2014/main" id="{49893C83-3DB0-4430-BE4F-747FA2613DB6}"/>
              </a:ext>
            </a:extLst>
          </p:cNvPr>
          <p:cNvSpPr/>
          <p:nvPr/>
        </p:nvSpPr>
        <p:spPr>
          <a:xfrm>
            <a:off x="1166724" y="1000710"/>
            <a:ext cx="9686544" cy="5773395"/>
          </a:xfrm>
          <a:prstGeom prst="cloud">
            <a:avLst/>
          </a:prstGeom>
          <a:solidFill>
            <a:srgbClr val="EFFBFF"/>
          </a:solidFill>
          <a:ln w="12700" cap="flat" cmpd="sng" algn="ctr">
            <a:solidFill>
              <a:srgbClr val="EFF9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1" b="0" i="0" u="none" strike="noStrike" kern="0" cap="none" spc="0" normalizeH="0" baseline="0" noProof="0" dirty="0">
              <a:ln>
                <a:noFill/>
              </a:ln>
              <a:solidFill>
                <a:prstClr val="white"/>
              </a:solidFill>
              <a:effectLst/>
              <a:uLnTx/>
              <a:uFillTx/>
              <a:latin typeface="Calibri" panose="020F0502020204030204"/>
              <a:ea typeface="等线" panose="02010600030101010101" pitchFamily="2" charset="-122"/>
              <a:cs typeface="+mn-cs"/>
            </a:endParaRPr>
          </a:p>
        </p:txBody>
      </p:sp>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lvl="0">
              <a:lnSpc>
                <a:spcPts val="4400"/>
              </a:lnSpc>
              <a:defRPr/>
            </a:pP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 4. </a:t>
            </a:r>
            <a:r>
              <a:rPr lang="zh-CN" altLang="en-US" sz="2800" b="1" dirty="0">
                <a:solidFill>
                  <a:prstClr val="white"/>
                </a:solidFill>
              </a:rPr>
              <a:t>雾网络下基于压缩编码技术的分布式矩阵</a:t>
            </a:r>
            <a:r>
              <a:rPr lang="en-US" altLang="zh-CN" sz="2800" b="1" dirty="0">
                <a:solidFill>
                  <a:prstClr val="white"/>
                </a:solidFill>
              </a:rPr>
              <a:t>-</a:t>
            </a:r>
            <a:r>
              <a:rPr lang="zh-CN" altLang="en-US" sz="2800" b="1" dirty="0">
                <a:solidFill>
                  <a:prstClr val="white"/>
                </a:solidFill>
              </a:rPr>
              <a:t>向量乘法运算算法</a:t>
            </a:r>
            <a:r>
              <a:rPr lang="zh-CN" altLang="en-US" sz="2800" b="1" dirty="0">
                <a:solidFill>
                  <a:schemeClr val="bg1"/>
                </a:solidFill>
              </a:rPr>
              <a:t>（方案示例）</a:t>
            </a:r>
            <a:endParaRPr kumimoji="0" lang="en-US" altLang="zh-CN" sz="2800" b="1" i="0" u="none" strike="noStrike" kern="1200" cap="none" spc="0" normalizeH="0" baseline="0" noProof="0" dirty="0">
              <a:ln>
                <a:noFill/>
              </a:ln>
              <a:solidFill>
                <a:prstClr val="white"/>
              </a:solidFill>
              <a:effectLst/>
              <a:uLnTx/>
              <a:uFillTx/>
              <a:latin typeface="Arial"/>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0" normalizeH="0" baseline="0" noProof="0" dirty="0">
              <a:ln>
                <a:noFill/>
              </a:ln>
              <a:solidFill>
                <a:prstClr val="white"/>
              </a:solidFill>
              <a:effectLst/>
              <a:uLnTx/>
              <a:uFillTx/>
              <a:latin typeface="Arial"/>
              <a:ea typeface="微软雅黑"/>
              <a:cs typeface="+mn-cs"/>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869762B-3FC4-422B-8D7C-B74731649032}"/>
                  </a:ext>
                </a:extLst>
              </p:cNvPr>
              <p:cNvSpPr txBox="1"/>
              <p:nvPr/>
            </p:nvSpPr>
            <p:spPr>
              <a:xfrm>
                <a:off x="155448" y="822773"/>
                <a:ext cx="11868912" cy="3031599"/>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000" b="1" dirty="0">
                    <a:solidFill>
                      <a:prstClr val="black"/>
                    </a:solidFill>
                    <a:latin typeface="Arial"/>
                    <a:ea typeface="微软雅黑"/>
                  </a:rPr>
                  <a:t>方案示例（            </a:t>
                </a:r>
                <a:r>
                  <a:rPr lang="en-US" altLang="zh-CN" sz="2000" b="1" dirty="0">
                    <a:solidFill>
                      <a:prstClr val="black"/>
                    </a:solidFill>
                    <a:latin typeface="Arial"/>
                    <a:ea typeface="微软雅黑"/>
                  </a:rPr>
                  <a:t>,           ,</a:t>
                </a:r>
                <a:r>
                  <a:rPr lang="zh-CN" altLang="en-US" sz="2000" b="1" dirty="0">
                    <a:solidFill>
                      <a:prstClr val="black"/>
                    </a:solidFill>
                    <a:latin typeface="Arial"/>
                    <a:ea typeface="微软雅黑"/>
                  </a:rPr>
                  <a:t>          </a:t>
                </a:r>
                <a:r>
                  <a:rPr lang="en-US" altLang="zh-CN" sz="2000" b="1" dirty="0">
                    <a:solidFill>
                      <a:prstClr val="black"/>
                    </a:solidFill>
                    <a:latin typeface="Arial"/>
                    <a:ea typeface="微软雅黑"/>
                  </a:rPr>
                  <a:t>, </a:t>
                </a:r>
                <a:r>
                  <a:rPr lang="zh-CN" altLang="en-US" sz="2000" b="1" dirty="0">
                    <a:solidFill>
                      <a:prstClr val="black"/>
                    </a:solidFill>
                    <a:latin typeface="Arial"/>
                    <a:ea typeface="微软雅黑"/>
                  </a:rPr>
                  <a:t>         ）</a:t>
                </a:r>
                <a:endParaRPr lang="en-US" altLang="zh-CN" sz="2000" b="1" dirty="0">
                  <a:solidFill>
                    <a:prstClr val="black"/>
                  </a:solidFill>
                  <a:latin typeface="Arial"/>
                  <a:ea typeface="微软雅黑"/>
                </a:endParaRPr>
              </a:p>
              <a:p>
                <a:pPr marL="342900" lvl="0" indent="-342900">
                  <a:lnSpc>
                    <a:spcPct val="150000"/>
                  </a:lnSpc>
                  <a:buFont typeface="+mj-lt"/>
                  <a:buAutoNum type="arabicPeriod" startAt="3"/>
                </a:pPr>
                <a:r>
                  <a:rPr lang="zh-CN" altLang="en-US" b="1" dirty="0">
                    <a:solidFill>
                      <a:srgbClr val="FF0000"/>
                    </a:solidFill>
                  </a:rPr>
                  <a:t>不同</a:t>
                </a:r>
                <a:r>
                  <a:rPr lang="zh-CN" altLang="en-US" b="1" dirty="0">
                    <a:solidFill>
                      <a:prstClr val="black"/>
                    </a:solidFill>
                  </a:rPr>
                  <a:t>作业间的处理（考虑节点分组</a:t>
                </a:r>
                <a14:m>
                  <m:oMath xmlns:m="http://schemas.openxmlformats.org/officeDocument/2006/math">
                    <m:d>
                      <m:dPr>
                        <m:begChr m:val="{"/>
                        <m:endChr m:val="}"/>
                        <m:ctrlPr>
                          <a:rPr lang="en-US" altLang="zh-CN" b="1" i="1">
                            <a:solidFill>
                              <a:prstClr val="black"/>
                            </a:solidFill>
                            <a:latin typeface="Cambria Math" panose="02040503050406030204" pitchFamily="18" charset="0"/>
                          </a:rPr>
                        </m:ctrlPr>
                      </m:dPr>
                      <m:e>
                        <m:r>
                          <a:rPr lang="en-US" altLang="zh-CN" b="1" i="1">
                            <a:solidFill>
                              <a:prstClr val="black"/>
                            </a:solidFill>
                            <a:latin typeface="Cambria Math" panose="02040503050406030204" pitchFamily="18" charset="0"/>
                          </a:rPr>
                          <m:t>𝟏</m:t>
                        </m:r>
                        <m:r>
                          <a:rPr lang="en-US" altLang="zh-CN" b="1" i="1">
                            <a:solidFill>
                              <a:prstClr val="black"/>
                            </a:solidFill>
                            <a:latin typeface="Cambria Math" panose="02040503050406030204" pitchFamily="18" charset="0"/>
                          </a:rPr>
                          <m:t>,</m:t>
                        </m:r>
                        <m:r>
                          <a:rPr lang="en-US" altLang="zh-CN" b="1" i="1">
                            <a:solidFill>
                              <a:prstClr val="black"/>
                            </a:solidFill>
                            <a:latin typeface="Cambria Math" panose="02040503050406030204" pitchFamily="18" charset="0"/>
                          </a:rPr>
                          <m:t>𝟐</m:t>
                        </m:r>
                        <m:r>
                          <a:rPr lang="en-US" altLang="zh-CN" b="1" i="1">
                            <a:solidFill>
                              <a:prstClr val="black"/>
                            </a:solidFill>
                            <a:latin typeface="Cambria Math" panose="02040503050406030204" pitchFamily="18" charset="0"/>
                          </a:rPr>
                          <m:t>,</m:t>
                        </m:r>
                        <m:r>
                          <a:rPr lang="en-US" altLang="zh-CN" b="1" i="1">
                            <a:solidFill>
                              <a:prstClr val="black"/>
                            </a:solidFill>
                            <a:latin typeface="Cambria Math" panose="02040503050406030204" pitchFamily="18" charset="0"/>
                          </a:rPr>
                          <m:t>𝟑</m:t>
                        </m:r>
                      </m:e>
                    </m:d>
                  </m:oMath>
                </a14:m>
                <a:r>
                  <a:rPr lang="zh-CN" altLang="en-US" b="1" dirty="0">
                    <a:solidFill>
                      <a:prstClr val="black"/>
                    </a:solidFill>
                  </a:rPr>
                  <a:t>）</a:t>
                </a:r>
                <a:endParaRPr lang="en-US" altLang="zh-CN" b="1" dirty="0">
                  <a:solidFill>
                    <a:prstClr val="black"/>
                  </a:solidFill>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p:txBody>
          </p:sp>
        </mc:Choice>
        <mc:Fallback xmlns="">
          <p:sp>
            <p:nvSpPr>
              <p:cNvPr id="2" name="文本框 1">
                <a:extLst>
                  <a:ext uri="{FF2B5EF4-FFF2-40B4-BE49-F238E27FC236}">
                    <a16:creationId xmlns:a16="http://schemas.microsoft.com/office/drawing/2014/main" id="{A869762B-3FC4-422B-8D7C-B74731649032}"/>
                  </a:ext>
                </a:extLst>
              </p:cNvPr>
              <p:cNvSpPr txBox="1">
                <a:spLocks noRot="1" noChangeAspect="1" noMove="1" noResize="1" noEditPoints="1" noAdjustHandles="1" noChangeArrowheads="1" noChangeShapeType="1" noTextEdit="1"/>
              </p:cNvSpPr>
              <p:nvPr/>
            </p:nvSpPr>
            <p:spPr>
              <a:xfrm>
                <a:off x="155448" y="822773"/>
                <a:ext cx="11868912" cy="3031599"/>
              </a:xfrm>
              <a:prstGeom prst="rect">
                <a:avLst/>
              </a:prstGeom>
              <a:blipFill>
                <a:blip r:embed="rId3"/>
                <a:stretch>
                  <a:fillRect l="-462" t="-1207"/>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A32F3BDC-8659-4ECD-BC47-80F066F32F5F}"/>
              </a:ext>
            </a:extLst>
          </p:cNvPr>
          <p:cNvPicPr>
            <a:picLocks noChangeAspect="1"/>
          </p:cNvPicPr>
          <p:nvPr/>
        </p:nvPicPr>
        <p:blipFill>
          <a:blip r:embed="rId4"/>
          <a:stretch>
            <a:fillRect/>
          </a:stretch>
        </p:blipFill>
        <p:spPr>
          <a:xfrm>
            <a:off x="1833563" y="937916"/>
            <a:ext cx="862012" cy="266995"/>
          </a:xfrm>
          <a:prstGeom prst="rect">
            <a:avLst/>
          </a:prstGeom>
        </p:spPr>
      </p:pic>
      <p:pic>
        <p:nvPicPr>
          <p:cNvPr id="6" name="图片 5">
            <a:extLst>
              <a:ext uri="{FF2B5EF4-FFF2-40B4-BE49-F238E27FC236}">
                <a16:creationId xmlns:a16="http://schemas.microsoft.com/office/drawing/2014/main" id="{BF275A9F-3813-47AF-BDB8-A3AD3F9C1A33}"/>
              </a:ext>
            </a:extLst>
          </p:cNvPr>
          <p:cNvPicPr>
            <a:picLocks noChangeAspect="1"/>
          </p:cNvPicPr>
          <p:nvPr/>
        </p:nvPicPr>
        <p:blipFill>
          <a:blip r:embed="rId5"/>
          <a:stretch>
            <a:fillRect/>
          </a:stretch>
        </p:blipFill>
        <p:spPr>
          <a:xfrm>
            <a:off x="2776538" y="877857"/>
            <a:ext cx="743922" cy="340304"/>
          </a:xfrm>
          <a:prstGeom prst="rect">
            <a:avLst/>
          </a:prstGeom>
        </p:spPr>
      </p:pic>
      <p:pic>
        <p:nvPicPr>
          <p:cNvPr id="22" name="图片 21">
            <a:extLst>
              <a:ext uri="{FF2B5EF4-FFF2-40B4-BE49-F238E27FC236}">
                <a16:creationId xmlns:a16="http://schemas.microsoft.com/office/drawing/2014/main" id="{A7047882-2AA7-4454-BB49-14467244F801}"/>
              </a:ext>
            </a:extLst>
          </p:cNvPr>
          <p:cNvPicPr>
            <a:picLocks noChangeAspect="1"/>
          </p:cNvPicPr>
          <p:nvPr/>
        </p:nvPicPr>
        <p:blipFill>
          <a:blip r:embed="rId6"/>
          <a:stretch>
            <a:fillRect/>
          </a:stretch>
        </p:blipFill>
        <p:spPr>
          <a:xfrm>
            <a:off x="4396438" y="884786"/>
            <a:ext cx="657367" cy="322403"/>
          </a:xfrm>
          <a:prstGeom prst="rect">
            <a:avLst/>
          </a:prstGeom>
        </p:spPr>
      </p:pic>
      <p:pic>
        <p:nvPicPr>
          <p:cNvPr id="32" name="图片 31">
            <a:extLst>
              <a:ext uri="{FF2B5EF4-FFF2-40B4-BE49-F238E27FC236}">
                <a16:creationId xmlns:a16="http://schemas.microsoft.com/office/drawing/2014/main" id="{3870185B-6A65-46A6-AA54-C283E638F34A}"/>
              </a:ext>
            </a:extLst>
          </p:cNvPr>
          <p:cNvPicPr>
            <a:picLocks noChangeAspect="1"/>
          </p:cNvPicPr>
          <p:nvPr/>
        </p:nvPicPr>
        <p:blipFill>
          <a:blip r:embed="rId7"/>
          <a:stretch>
            <a:fillRect/>
          </a:stretch>
        </p:blipFill>
        <p:spPr>
          <a:xfrm>
            <a:off x="3610948" y="884786"/>
            <a:ext cx="657367" cy="323850"/>
          </a:xfrm>
          <a:prstGeom prst="rect">
            <a:avLst/>
          </a:prstGeom>
        </p:spPr>
      </p:pic>
      <mc:AlternateContent xmlns:mc="http://schemas.openxmlformats.org/markup-compatibility/2006" xmlns:a14="http://schemas.microsoft.com/office/drawing/2010/main">
        <mc:Choice Requires="a14">
          <p:sp>
            <p:nvSpPr>
              <p:cNvPr id="77" name="圆角矩形 10">
                <a:extLst>
                  <a:ext uri="{FF2B5EF4-FFF2-40B4-BE49-F238E27FC236}">
                    <a16:creationId xmlns:a16="http://schemas.microsoft.com/office/drawing/2014/main" id="{37DF1EC7-9D8A-4524-82BB-C32B1401F950}"/>
                  </a:ext>
                </a:extLst>
              </p:cNvPr>
              <p:cNvSpPr/>
              <p:nvPr/>
            </p:nvSpPr>
            <p:spPr>
              <a:xfrm>
                <a:off x="4299816" y="1825014"/>
                <a:ext cx="2443883" cy="955347"/>
              </a:xfrm>
              <a:prstGeom prst="roundRect">
                <a:avLst/>
              </a:prstGeom>
              <a:no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1" i="0"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5</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6</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p>
                      </m:sSubSup>
                    </m:oMath>
                  </m:oMathPara>
                </a14:m>
                <a:endParaRPr kumimoji="0" lang="en-US" altLang="zh-CN" sz="12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1052"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1052"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5</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1" i="0"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5</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6</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6</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p>
                      </m:sSubSup>
                    </m:oMath>
                  </m:oMathPara>
                </a14:m>
                <a:endParaRPr kumimoji="0" lang="en-US" altLang="zh-CN" sz="12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mc:Choice>
        <mc:Fallback xmlns="">
          <p:sp>
            <p:nvSpPr>
              <p:cNvPr id="77" name="圆角矩形 10">
                <a:extLst>
                  <a:ext uri="{FF2B5EF4-FFF2-40B4-BE49-F238E27FC236}">
                    <a16:creationId xmlns:a16="http://schemas.microsoft.com/office/drawing/2014/main" id="{37DF1EC7-9D8A-4524-82BB-C32B1401F950}"/>
                  </a:ext>
                </a:extLst>
              </p:cNvPr>
              <p:cNvSpPr>
                <a:spLocks noRot="1" noChangeAspect="1" noMove="1" noResize="1" noEditPoints="1" noAdjustHandles="1" noChangeArrowheads="1" noChangeShapeType="1" noTextEdit="1"/>
              </p:cNvSpPr>
              <p:nvPr/>
            </p:nvSpPr>
            <p:spPr>
              <a:xfrm>
                <a:off x="4299816" y="1825014"/>
                <a:ext cx="2443883" cy="955347"/>
              </a:xfrm>
              <a:prstGeom prst="roundRect">
                <a:avLst/>
              </a:prstGeom>
              <a:blipFill>
                <a:blip r:embed="rId8"/>
                <a:stretch>
                  <a:fillRect/>
                </a:stretch>
              </a:blipFill>
              <a:ln w="12700" cap="flat" cmpd="sng" algn="ctr">
                <a:solidFill>
                  <a:sysClr val="windowText" lastClr="000000"/>
                </a:solidFill>
                <a:prstDash val="solid"/>
                <a:miter lim="800000"/>
              </a:ln>
              <a:effectLst/>
            </p:spPr>
            <p:txBody>
              <a:bodyPr/>
              <a:lstStyle/>
              <a:p>
                <a:r>
                  <a:rPr lang="zh-CN" altLang="en-US">
                    <a:noFill/>
                  </a:rPr>
                  <a:t> </a:t>
                </a:r>
              </a:p>
            </p:txBody>
          </p:sp>
        </mc:Fallback>
      </mc:AlternateContent>
      <p:sp>
        <p:nvSpPr>
          <p:cNvPr id="78" name="文本框 77">
            <a:extLst>
              <a:ext uri="{FF2B5EF4-FFF2-40B4-BE49-F238E27FC236}">
                <a16:creationId xmlns:a16="http://schemas.microsoft.com/office/drawing/2014/main" id="{48ED2706-46D4-44B2-8D4B-8C4EF2FB6217}"/>
              </a:ext>
            </a:extLst>
          </p:cNvPr>
          <p:cNvSpPr txBox="1"/>
          <p:nvPr/>
        </p:nvSpPr>
        <p:spPr>
          <a:xfrm>
            <a:off x="5259541" y="1590198"/>
            <a:ext cx="786681" cy="276999"/>
          </a:xfrm>
          <a:prstGeom prst="rect">
            <a:avLst/>
          </a:prstGeom>
          <a:noFill/>
        </p:spPr>
        <p:txBody>
          <a:bodyPr wrap="square" rtlCol="0">
            <a:spAutoFit/>
          </a:bodyPr>
          <a:lstStyle/>
          <a:p>
            <a:r>
              <a:rPr lang="en-US" altLang="zh-CN" sz="1200" b="1" dirty="0">
                <a:solidFill>
                  <a:prstClr val="black"/>
                </a:solidFill>
                <a:latin typeface="Calibri" panose="020F0502020204030204"/>
                <a:ea typeface="等线" panose="02010600030101010101" pitchFamily="2" charset="-122"/>
              </a:rPr>
              <a:t>Node 1</a:t>
            </a:r>
            <a:endParaRPr lang="zh-CN" altLang="en-US" sz="1200" b="1" dirty="0">
              <a:solidFill>
                <a:prstClr val="black"/>
              </a:solidFill>
              <a:latin typeface="Calibri" panose="020F0502020204030204"/>
              <a:ea typeface="等线" panose="02010600030101010101" pitchFamily="2" charset="-122"/>
            </a:endParaRPr>
          </a:p>
        </p:txBody>
      </p:sp>
      <p:sp>
        <p:nvSpPr>
          <p:cNvPr id="79" name="文本框 78">
            <a:extLst>
              <a:ext uri="{FF2B5EF4-FFF2-40B4-BE49-F238E27FC236}">
                <a16:creationId xmlns:a16="http://schemas.microsoft.com/office/drawing/2014/main" id="{9342A962-60A2-451E-BD2B-59964E328CB8}"/>
              </a:ext>
            </a:extLst>
          </p:cNvPr>
          <p:cNvSpPr txBox="1"/>
          <p:nvPr/>
        </p:nvSpPr>
        <p:spPr>
          <a:xfrm>
            <a:off x="1346423" y="4122308"/>
            <a:ext cx="719295" cy="276999"/>
          </a:xfrm>
          <a:prstGeom prst="rect">
            <a:avLst/>
          </a:prstGeom>
          <a:noFill/>
        </p:spPr>
        <p:txBody>
          <a:bodyPr wrap="square" rtlCol="0">
            <a:spAutoFit/>
          </a:bodyPr>
          <a:lstStyle/>
          <a:p>
            <a:r>
              <a:rPr lang="en-US" altLang="zh-CN" sz="1200" b="1" dirty="0">
                <a:solidFill>
                  <a:prstClr val="black"/>
                </a:solidFill>
                <a:latin typeface="Calibri" panose="020F0502020204030204"/>
                <a:ea typeface="等线" panose="02010600030101010101" pitchFamily="2" charset="-122"/>
              </a:rPr>
              <a:t>Node 2</a:t>
            </a:r>
            <a:endParaRPr lang="zh-CN" altLang="en-US" sz="1200" b="1" dirty="0">
              <a:solidFill>
                <a:prstClr val="black"/>
              </a:solidFill>
              <a:latin typeface="Calibri" panose="020F0502020204030204"/>
              <a:ea typeface="等线" panose="02010600030101010101" pitchFamily="2" charset="-122"/>
            </a:endParaRPr>
          </a:p>
        </p:txBody>
      </p:sp>
      <mc:AlternateContent xmlns:mc="http://schemas.openxmlformats.org/markup-compatibility/2006" xmlns:a14="http://schemas.microsoft.com/office/drawing/2010/main">
        <mc:Choice Requires="a14">
          <p:sp>
            <p:nvSpPr>
              <p:cNvPr id="81" name="矩形 80">
                <a:extLst>
                  <a:ext uri="{FF2B5EF4-FFF2-40B4-BE49-F238E27FC236}">
                    <a16:creationId xmlns:a16="http://schemas.microsoft.com/office/drawing/2014/main" id="{C9629E3E-B33A-43E9-AFAE-034FA7B23A25}"/>
                  </a:ext>
                </a:extLst>
              </p:cNvPr>
              <p:cNvSpPr/>
              <p:nvPr/>
            </p:nvSpPr>
            <p:spPr>
              <a:xfrm>
                <a:off x="6644937" y="2012539"/>
                <a:ext cx="3670638" cy="6126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200" i="1" smtClean="0">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5</m:t>
                          </m:r>
                        </m:sub>
                        <m:sup>
                          <m:r>
                            <a:rPr lang="en-US" altLang="zh-CN" sz="1200" i="1" smtClean="0">
                              <a:solidFill>
                                <a:prstClr val="black"/>
                              </a:solidFill>
                              <a:latin typeface="Cambria Math" panose="02040503050406030204" pitchFamily="18" charset="0"/>
                            </a:rPr>
                            <m:t>(2)</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smtClean="0">
                              <a:solidFill>
                                <a:prstClr val="black"/>
                              </a:solidFill>
                              <a:latin typeface="Cambria Math" panose="02040503050406030204" pitchFamily="18" charset="0"/>
                            </a:rPr>
                            <m:t>5</m:t>
                          </m:r>
                        </m:sub>
                        <m:sup>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2</m:t>
                          </m:r>
                          <m:r>
                            <a:rPr lang="en-US" altLang="zh-CN" sz="1200" i="1">
                              <a:solidFill>
                                <a:prstClr val="black"/>
                              </a:solidFill>
                              <a:latin typeface="Cambria Math" panose="02040503050406030204" pitchFamily="18" charset="0"/>
                            </a:rPr>
                            <m:t>)</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6</m:t>
                          </m:r>
                        </m:sub>
                        <m:sup>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2</m:t>
                          </m:r>
                          <m:r>
                            <a:rPr lang="en-US" altLang="zh-CN" sz="1200" i="1">
                              <a:solidFill>
                                <a:prstClr val="black"/>
                              </a:solidFill>
                              <a:latin typeface="Cambria Math" panose="02040503050406030204" pitchFamily="18" charset="0"/>
                            </a:rPr>
                            <m:t>)</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smtClean="0">
                              <a:solidFill>
                                <a:prstClr val="black"/>
                              </a:solidFill>
                              <a:latin typeface="Cambria Math" panose="02040503050406030204" pitchFamily="18" charset="0"/>
                            </a:rPr>
                            <m:t>6</m:t>
                          </m:r>
                        </m:sub>
                        <m:sup>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2</m:t>
                          </m:r>
                          <m:r>
                            <a:rPr lang="en-US" altLang="zh-CN" sz="1200" i="1">
                              <a:solidFill>
                                <a:prstClr val="black"/>
                              </a:solidFill>
                              <a:latin typeface="Cambria Math" panose="02040503050406030204" pitchFamily="18" charset="0"/>
                            </a:rPr>
                            <m:t>)</m:t>
                          </m:r>
                        </m:sup>
                      </m:sSubSup>
                      <m:r>
                        <a:rPr lang="en-US" altLang="zh-CN" sz="1200" i="1">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𝐳</m:t>
                          </m:r>
                        </m:e>
                        <m:sub>
                          <m:r>
                            <a:rPr lang="en-US" altLang="zh-CN" sz="1200" i="1">
                              <a:solidFill>
                                <a:prstClr val="black"/>
                              </a:solidFill>
                              <a:latin typeface="Cambria Math" panose="02040503050406030204" pitchFamily="18" charset="0"/>
                            </a:rPr>
                            <m:t>{1,2}</m:t>
                          </m:r>
                        </m:sub>
                        <m:sup>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2</m:t>
                          </m:r>
                          <m:r>
                            <a:rPr lang="en-US" altLang="zh-CN" sz="1200" i="1">
                              <a:solidFill>
                                <a:prstClr val="black"/>
                              </a:solidFill>
                              <a:latin typeface="Cambria Math" panose="02040503050406030204" pitchFamily="18" charset="0"/>
                            </a:rPr>
                            <m:t>)</m:t>
                          </m:r>
                        </m:sup>
                      </m:sSubSup>
                      <m:r>
                        <a:rPr lang="en-US" altLang="zh-CN" sz="1200" b="1" i="1">
                          <a:solidFill>
                            <a:srgbClr val="00B0F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1,2</m:t>
                                  </m:r>
                                </m:e>
                              </m:d>
                            </m:sub>
                            <m:sup>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2</m:t>
                              </m:r>
                              <m:r>
                                <a:rPr lang="en-US" altLang="zh-CN" sz="1200" i="1">
                                  <a:solidFill>
                                    <a:prstClr val="black"/>
                                  </a:solidFill>
                                  <a:latin typeface="Cambria Math" panose="02040503050406030204" pitchFamily="18" charset="0"/>
                                </a:rPr>
                                <m:t>)</m:t>
                              </m:r>
                            </m:sup>
                          </m:sSubSup>
                          <m:r>
                            <a:rPr lang="en-US" altLang="zh-CN" sz="1200" i="1">
                              <a:solidFill>
                                <a:srgbClr val="FF0000"/>
                              </a:solidFill>
                              <a:latin typeface="Cambria Math" panose="02040503050406030204" pitchFamily="18" charset="0"/>
                              <a:ea typeface="Cambria Math" panose="02040503050406030204" pitchFamily="18" charset="0"/>
                            </a:rPr>
                            <m:t>⇒</m:t>
                          </m:r>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1,2</m:t>
                              </m:r>
                            </m:e>
                          </m:d>
                          <m:r>
                            <a:rPr lang="en-US" altLang="zh-CN" sz="1200" i="1">
                              <a:solidFill>
                                <a:prstClr val="black"/>
                              </a:solidFill>
                              <a:latin typeface="Cambria Math" panose="02040503050406030204" pitchFamily="18" charset="0"/>
                            </a:rPr>
                            <m:t>,1</m:t>
                          </m:r>
                        </m:sub>
                        <m:sup>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2</m:t>
                          </m:r>
                          <m:r>
                            <a:rPr lang="en-US" altLang="zh-CN" sz="1200" i="1">
                              <a:solidFill>
                                <a:prstClr val="black"/>
                              </a:solidFill>
                              <a:latin typeface="Cambria Math" panose="02040503050406030204" pitchFamily="18" charset="0"/>
                            </a:rPr>
                            <m:t>)</m:t>
                          </m:r>
                        </m:sup>
                      </m:sSubSup>
                      <m:r>
                        <a:rPr lang="en-US" altLang="zh-CN" sz="1200" i="1">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1,2</m:t>
                              </m:r>
                            </m:e>
                          </m:d>
                          <m:r>
                            <a:rPr lang="en-US" altLang="zh-CN" sz="1200" i="1">
                              <a:solidFill>
                                <a:prstClr val="black"/>
                              </a:solidFill>
                              <a:latin typeface="Cambria Math" panose="02040503050406030204" pitchFamily="18" charset="0"/>
                            </a:rPr>
                            <m:t>,2</m:t>
                          </m:r>
                        </m:sub>
                        <m:sup>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2</m:t>
                          </m:r>
                          <m:r>
                            <a:rPr lang="en-US" altLang="zh-CN" sz="1200" i="1">
                              <a:solidFill>
                                <a:prstClr val="black"/>
                              </a:solidFill>
                              <a:latin typeface="Cambria Math" panose="02040503050406030204" pitchFamily="18" charset="0"/>
                            </a:rPr>
                            <m:t>)</m:t>
                          </m:r>
                        </m:sup>
                      </m:sSubSup>
                    </m:oMath>
                  </m:oMathPara>
                </a14:m>
                <a:endParaRPr lang="en-US" altLang="zh-CN" sz="1200" dirty="0">
                  <a:solidFill>
                    <a:prstClr val="black"/>
                  </a:solidFill>
                  <a:latin typeface="Calibri" panose="020F0502020204030204"/>
                  <a:ea typeface="等线" panose="02010600030101010101" pitchFamily="2" charset="-122"/>
                </a:endParaRPr>
              </a:p>
              <a:p>
                <a:pPr/>
                <a14:m>
                  <m:oMathPara xmlns:m="http://schemas.openxmlformats.org/officeDocument/2006/math">
                    <m:oMathParaPr>
                      <m:jc m:val="centerGroup"/>
                    </m:oMathParaPr>
                    <m:oMath xmlns:m="http://schemas.openxmlformats.org/officeDocument/2006/math">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1</m:t>
                          </m:r>
                        </m:sub>
                        <m:sup>
                          <m:r>
                            <a:rPr lang="en-US" altLang="zh-CN" sz="1200" i="1" smtClean="0">
                              <a:solidFill>
                                <a:prstClr val="black"/>
                              </a:solidFill>
                              <a:latin typeface="Cambria Math" panose="02040503050406030204" pitchFamily="18" charset="0"/>
                            </a:rPr>
                            <m:t>(3)</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1</m:t>
                          </m:r>
                        </m:sub>
                        <m:sup>
                          <m:r>
                            <a:rPr lang="en-US" altLang="zh-CN" sz="1200" i="1" smtClean="0">
                              <a:solidFill>
                                <a:prstClr val="black"/>
                              </a:solidFill>
                              <a:latin typeface="Cambria Math" panose="02040503050406030204" pitchFamily="18" charset="0"/>
                            </a:rPr>
                            <m:t>(3)</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2</m:t>
                          </m:r>
                        </m:sub>
                        <m:sup>
                          <m:r>
                            <a:rPr lang="en-US" altLang="zh-CN" sz="1200" i="1" smtClean="0">
                              <a:solidFill>
                                <a:prstClr val="black"/>
                              </a:solidFill>
                              <a:latin typeface="Cambria Math" panose="02040503050406030204" pitchFamily="18" charset="0"/>
                            </a:rPr>
                            <m:t>(3)</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2</m:t>
                          </m:r>
                        </m:sub>
                        <m:sup>
                          <m:r>
                            <a:rPr lang="en-US" altLang="zh-CN" sz="1200" i="1" smtClean="0">
                              <a:solidFill>
                                <a:prstClr val="black"/>
                              </a:solidFill>
                              <a:latin typeface="Cambria Math" panose="02040503050406030204" pitchFamily="18" charset="0"/>
                            </a:rPr>
                            <m:t>(3)</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𝐳</m:t>
                          </m:r>
                        </m:e>
                        <m:sub>
                          <m:r>
                            <a:rPr lang="en-US" altLang="zh-CN" sz="1200" i="1">
                              <a:solidFill>
                                <a:prstClr val="black"/>
                              </a:solidFill>
                              <a:latin typeface="Cambria Math" panose="02040503050406030204" pitchFamily="18" charset="0"/>
                            </a:rPr>
                            <m:t>{1,3}</m:t>
                          </m:r>
                        </m:sub>
                        <m:sup>
                          <m:r>
                            <a:rPr lang="en-US" altLang="zh-CN" sz="1200" i="1" smtClean="0">
                              <a:solidFill>
                                <a:prstClr val="black"/>
                              </a:solidFill>
                              <a:latin typeface="Cambria Math" panose="02040503050406030204" pitchFamily="18" charset="0"/>
                            </a:rPr>
                            <m:t>(3)</m:t>
                          </m:r>
                        </m:sup>
                      </m:sSubSup>
                      <m:r>
                        <a:rPr lang="en-US" altLang="zh-CN" sz="1200" b="1" i="1">
                          <a:solidFill>
                            <a:srgbClr val="00B0F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1,3</m:t>
                              </m:r>
                            </m:e>
                          </m:d>
                        </m:sub>
                        <m:sup>
                          <m:r>
                            <a:rPr lang="en-US" altLang="zh-CN" sz="1200" i="1" smtClean="0">
                              <a:solidFill>
                                <a:prstClr val="black"/>
                              </a:solidFill>
                              <a:latin typeface="Cambria Math" panose="02040503050406030204" pitchFamily="18" charset="0"/>
                            </a:rPr>
                            <m:t>(3)</m:t>
                          </m:r>
                        </m:sup>
                      </m:sSubSup>
                      <m:r>
                        <a:rPr lang="en-US" altLang="zh-CN" sz="1200" i="1">
                          <a:solidFill>
                            <a:srgbClr val="FF000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1,3</m:t>
                              </m:r>
                            </m:e>
                          </m:d>
                          <m:r>
                            <a:rPr lang="en-US" altLang="zh-CN" sz="1200" i="1">
                              <a:solidFill>
                                <a:prstClr val="black"/>
                              </a:solidFill>
                              <a:latin typeface="Cambria Math" panose="02040503050406030204" pitchFamily="18" charset="0"/>
                            </a:rPr>
                            <m:t>,1</m:t>
                          </m:r>
                        </m:sub>
                        <m:sup>
                          <m:r>
                            <a:rPr lang="en-US" altLang="zh-CN" sz="1200" i="1" smtClean="0">
                              <a:solidFill>
                                <a:prstClr val="black"/>
                              </a:solidFill>
                              <a:latin typeface="Cambria Math" panose="02040503050406030204" pitchFamily="18" charset="0"/>
                            </a:rPr>
                            <m:t>(3)</m:t>
                          </m:r>
                        </m:sup>
                      </m:sSubSup>
                      <m:r>
                        <a:rPr lang="en-US" altLang="zh-CN" sz="1200" i="1">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1,3</m:t>
                              </m:r>
                            </m:e>
                          </m:d>
                          <m:r>
                            <a:rPr lang="en-US" altLang="zh-CN" sz="1200" i="1">
                              <a:solidFill>
                                <a:prstClr val="black"/>
                              </a:solidFill>
                              <a:latin typeface="Cambria Math" panose="02040503050406030204" pitchFamily="18" charset="0"/>
                            </a:rPr>
                            <m:t>,3</m:t>
                          </m:r>
                        </m:sub>
                        <m:sup>
                          <m:r>
                            <a:rPr lang="en-US" altLang="zh-CN" sz="1200" i="1" smtClean="0">
                              <a:solidFill>
                                <a:prstClr val="black"/>
                              </a:solidFill>
                              <a:latin typeface="Cambria Math" panose="02040503050406030204" pitchFamily="18" charset="0"/>
                            </a:rPr>
                            <m:t>(3)</m:t>
                          </m:r>
                        </m:sup>
                      </m:sSubSup>
                    </m:oMath>
                  </m:oMathPara>
                </a14:m>
                <a:endParaRPr lang="zh-CN" altLang="en-US" sz="1600" dirty="0">
                  <a:solidFill>
                    <a:prstClr val="black"/>
                  </a:solidFill>
                  <a:latin typeface="Calibri" panose="020F0502020204030204"/>
                  <a:ea typeface="等线" panose="02010600030101010101" pitchFamily="2" charset="-122"/>
                </a:endParaRPr>
              </a:p>
            </p:txBody>
          </p:sp>
        </mc:Choice>
        <mc:Fallback xmlns="">
          <p:sp>
            <p:nvSpPr>
              <p:cNvPr id="81" name="矩形 80">
                <a:extLst>
                  <a:ext uri="{FF2B5EF4-FFF2-40B4-BE49-F238E27FC236}">
                    <a16:creationId xmlns:a16="http://schemas.microsoft.com/office/drawing/2014/main" id="{C9629E3E-B33A-43E9-AFAE-034FA7B23A25}"/>
                  </a:ext>
                </a:extLst>
              </p:cNvPr>
              <p:cNvSpPr>
                <a:spLocks noRot="1" noChangeAspect="1" noMove="1" noResize="1" noEditPoints="1" noAdjustHandles="1" noChangeArrowheads="1" noChangeShapeType="1" noTextEdit="1"/>
              </p:cNvSpPr>
              <p:nvPr/>
            </p:nvSpPr>
            <p:spPr>
              <a:xfrm>
                <a:off x="6644937" y="2012539"/>
                <a:ext cx="3670638" cy="612604"/>
              </a:xfrm>
              <a:prstGeom prst="rect">
                <a:avLst/>
              </a:prstGeom>
              <a:blipFill>
                <a:blip r:embed="rId9"/>
                <a:stretch>
                  <a:fillRect b="-9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2" name="文本框 81">
                <a:extLst>
                  <a:ext uri="{FF2B5EF4-FFF2-40B4-BE49-F238E27FC236}">
                    <a16:creationId xmlns:a16="http://schemas.microsoft.com/office/drawing/2014/main" id="{BDA4E9E9-5685-462A-BE71-DDE08E3B9A27}"/>
                  </a:ext>
                </a:extLst>
              </p:cNvPr>
              <p:cNvSpPr txBox="1"/>
              <p:nvPr/>
            </p:nvSpPr>
            <p:spPr>
              <a:xfrm>
                <a:off x="4882886" y="2805494"/>
                <a:ext cx="1427515" cy="3500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200" i="1" smtClean="0">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r>
                            <a:rPr lang="en-US" altLang="zh-CN" sz="1200" i="1">
                              <a:solidFill>
                                <a:prstClr val="black"/>
                              </a:solidFill>
                              <a:latin typeface="Cambria Math" panose="02040503050406030204" pitchFamily="18" charset="0"/>
                            </a:rPr>
                            <m:t>3,</m:t>
                          </m:r>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1,2</m:t>
                              </m:r>
                            </m:e>
                          </m:d>
                          <m:r>
                            <a:rPr lang="en-US" altLang="zh-CN" sz="1200" i="1">
                              <a:solidFill>
                                <a:prstClr val="black"/>
                              </a:solidFill>
                              <a:latin typeface="Cambria Math" panose="02040503050406030204" pitchFamily="18" charset="0"/>
                            </a:rPr>
                            <m:t>,1</m:t>
                          </m:r>
                        </m:sub>
                        <m:sup>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2</m:t>
                          </m:r>
                          <m:r>
                            <a:rPr lang="en-US" altLang="zh-CN" sz="1200" i="1">
                              <a:solidFill>
                                <a:prstClr val="black"/>
                              </a:solidFill>
                              <a:latin typeface="Cambria Math" panose="02040503050406030204" pitchFamily="18" charset="0"/>
                            </a:rPr>
                            <m:t>)</m:t>
                          </m:r>
                        </m:sup>
                      </m:sSubSup>
                      <m:r>
                        <a:rPr lang="en-US" altLang="zh-CN" sz="1200">
                          <a:solidFill>
                            <a:prstClr val="black"/>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r>
                            <a:rPr lang="en-US" altLang="zh-CN" sz="1200" i="1">
                              <a:solidFill>
                                <a:prstClr val="black"/>
                              </a:solidFill>
                              <a:latin typeface="Cambria Math" panose="02040503050406030204" pitchFamily="18" charset="0"/>
                            </a:rPr>
                            <m:t>2,</m:t>
                          </m:r>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1,3</m:t>
                              </m:r>
                            </m:e>
                          </m:d>
                          <m:r>
                            <a:rPr lang="en-US" altLang="zh-CN" sz="1200" i="1">
                              <a:solidFill>
                                <a:prstClr val="black"/>
                              </a:solidFill>
                              <a:latin typeface="Cambria Math" panose="02040503050406030204" pitchFamily="18" charset="0"/>
                            </a:rPr>
                            <m:t>,1</m:t>
                          </m:r>
                        </m:sub>
                        <m:sup>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3</m:t>
                          </m:r>
                          <m:r>
                            <a:rPr lang="en-US" altLang="zh-CN" sz="1200" i="1">
                              <a:solidFill>
                                <a:prstClr val="black"/>
                              </a:solidFill>
                              <a:latin typeface="Cambria Math" panose="02040503050406030204" pitchFamily="18" charset="0"/>
                            </a:rPr>
                            <m:t>)</m:t>
                          </m:r>
                        </m:sup>
                      </m:sSubSup>
                    </m:oMath>
                  </m:oMathPara>
                </a14:m>
                <a:endParaRPr lang="zh-CN" altLang="en-US" sz="1600" dirty="0">
                  <a:solidFill>
                    <a:prstClr val="black"/>
                  </a:solidFill>
                  <a:latin typeface="Calibri" panose="020F0502020204030204"/>
                  <a:ea typeface="等线" panose="02010600030101010101" pitchFamily="2" charset="-122"/>
                </a:endParaRPr>
              </a:p>
            </p:txBody>
          </p:sp>
        </mc:Choice>
        <mc:Fallback xmlns="">
          <p:sp>
            <p:nvSpPr>
              <p:cNvPr id="82" name="文本框 81">
                <a:extLst>
                  <a:ext uri="{FF2B5EF4-FFF2-40B4-BE49-F238E27FC236}">
                    <a16:creationId xmlns:a16="http://schemas.microsoft.com/office/drawing/2014/main" id="{BDA4E9E9-5685-462A-BE71-DDE08E3B9A27}"/>
                  </a:ext>
                </a:extLst>
              </p:cNvPr>
              <p:cNvSpPr txBox="1">
                <a:spLocks noRot="1" noChangeAspect="1" noMove="1" noResize="1" noEditPoints="1" noAdjustHandles="1" noChangeArrowheads="1" noChangeShapeType="1" noTextEdit="1"/>
              </p:cNvSpPr>
              <p:nvPr/>
            </p:nvSpPr>
            <p:spPr>
              <a:xfrm>
                <a:off x="4882886" y="2805494"/>
                <a:ext cx="1427515" cy="350096"/>
              </a:xfrm>
              <a:prstGeom prst="rect">
                <a:avLst/>
              </a:prstGeom>
              <a:blipFill>
                <a:blip r:embed="rId10"/>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3" name="圆角矩形 10">
                <a:extLst>
                  <a:ext uri="{FF2B5EF4-FFF2-40B4-BE49-F238E27FC236}">
                    <a16:creationId xmlns:a16="http://schemas.microsoft.com/office/drawing/2014/main" id="{D6989141-4484-4994-AA62-DC12754C75A3}"/>
                  </a:ext>
                </a:extLst>
              </p:cNvPr>
              <p:cNvSpPr/>
              <p:nvPr/>
            </p:nvSpPr>
            <p:spPr>
              <a:xfrm>
                <a:off x="1914526" y="3746425"/>
                <a:ext cx="2385290" cy="955347"/>
              </a:xfrm>
              <a:prstGeom prst="roundRect">
                <a:avLst/>
              </a:prstGeom>
              <a:no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5</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6</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p>
                      </m:sSubSup>
                    </m:oMath>
                  </m:oMathPara>
                </a14:m>
                <a:endParaRPr kumimoji="0" lang="en-US" altLang="zh-CN" sz="12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1052"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1052"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just"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left"/>
                    </m:oMathParaPr>
                    <m:oMath xmlns:m="http://schemas.openxmlformats.org/officeDocument/2006/math">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1" i="0"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5</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5</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6</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6</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p>
                      </m:sSubSup>
                    </m:oMath>
                  </m:oMathPara>
                </a14:m>
                <a:endParaRPr kumimoji="0" lang="en-US" altLang="zh-CN" sz="1052"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mc:Choice>
        <mc:Fallback xmlns="">
          <p:sp>
            <p:nvSpPr>
              <p:cNvPr id="83" name="圆角矩形 10">
                <a:extLst>
                  <a:ext uri="{FF2B5EF4-FFF2-40B4-BE49-F238E27FC236}">
                    <a16:creationId xmlns:a16="http://schemas.microsoft.com/office/drawing/2014/main" id="{D6989141-4484-4994-AA62-DC12754C75A3}"/>
                  </a:ext>
                </a:extLst>
              </p:cNvPr>
              <p:cNvSpPr>
                <a:spLocks noRot="1" noChangeAspect="1" noMove="1" noResize="1" noEditPoints="1" noAdjustHandles="1" noChangeArrowheads="1" noChangeShapeType="1" noTextEdit="1"/>
              </p:cNvSpPr>
              <p:nvPr/>
            </p:nvSpPr>
            <p:spPr>
              <a:xfrm>
                <a:off x="1914526" y="3746425"/>
                <a:ext cx="2385290" cy="955347"/>
              </a:xfrm>
              <a:prstGeom prst="roundRect">
                <a:avLst/>
              </a:prstGeom>
              <a:blipFill>
                <a:blip r:embed="rId11"/>
                <a:stretch>
                  <a:fillRect/>
                </a:stretch>
              </a:blipFill>
              <a:ln w="12700" cap="flat" cmpd="sng" algn="ctr">
                <a:solidFill>
                  <a:sysClr val="windowText" lastClr="000000"/>
                </a:solidFill>
                <a:prstDash val="solid"/>
                <a:miter lim="800000"/>
              </a:ln>
              <a:effectLst/>
            </p:spPr>
            <p:txBody>
              <a:bodyPr/>
              <a:lstStyle/>
              <a:p>
                <a:r>
                  <a:rPr lang="zh-CN" altLang="en-US">
                    <a:noFill/>
                  </a:rPr>
                  <a:t> </a:t>
                </a:r>
              </a:p>
            </p:txBody>
          </p:sp>
        </mc:Fallback>
      </mc:AlternateContent>
      <p:sp>
        <p:nvSpPr>
          <p:cNvPr id="84" name="箭头: 下 83">
            <a:extLst>
              <a:ext uri="{FF2B5EF4-FFF2-40B4-BE49-F238E27FC236}">
                <a16:creationId xmlns:a16="http://schemas.microsoft.com/office/drawing/2014/main" id="{6F4E9395-A4CB-4E55-8547-E262BF249750}"/>
              </a:ext>
            </a:extLst>
          </p:cNvPr>
          <p:cNvSpPr/>
          <p:nvPr/>
        </p:nvSpPr>
        <p:spPr>
          <a:xfrm>
            <a:off x="2557364" y="4101494"/>
            <a:ext cx="1045682" cy="261107"/>
          </a:xfrm>
          <a:prstGeom prst="downArrow">
            <a:avLst/>
          </a:prstGeom>
          <a:no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Map</a:t>
            </a:r>
            <a:endParaRPr kumimoji="0" lang="zh-CN" altLang="en-US" sz="11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mc:AlternateContent xmlns:mc="http://schemas.openxmlformats.org/markup-compatibility/2006" xmlns:a14="http://schemas.microsoft.com/office/drawing/2010/main">
        <mc:Choice Requires="a14">
          <p:sp>
            <p:nvSpPr>
              <p:cNvPr id="85" name="矩形 84">
                <a:extLst>
                  <a:ext uri="{FF2B5EF4-FFF2-40B4-BE49-F238E27FC236}">
                    <a16:creationId xmlns:a16="http://schemas.microsoft.com/office/drawing/2014/main" id="{F0A7E00E-B893-4A09-B0E4-6E8A4061E67B}"/>
                  </a:ext>
                </a:extLst>
              </p:cNvPr>
              <p:cNvSpPr/>
              <p:nvPr/>
            </p:nvSpPr>
            <p:spPr>
              <a:xfrm>
                <a:off x="1613532" y="4790370"/>
                <a:ext cx="3756258" cy="6126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200" i="1" smtClean="0">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a:solidFill>
                                <a:prstClr val="black"/>
                              </a:solidFill>
                              <a:latin typeface="Cambria Math" panose="02040503050406030204" pitchFamily="18" charset="0"/>
                            </a:rPr>
                            <m:t>3</m:t>
                          </m:r>
                        </m:sub>
                        <m:sup>
                          <m:r>
                            <a:rPr lang="en-US" altLang="zh-CN" sz="1200" i="1" smtClean="0">
                              <a:solidFill>
                                <a:prstClr val="black"/>
                              </a:solidFill>
                              <a:latin typeface="Cambria Math" panose="02040503050406030204" pitchFamily="18" charset="0"/>
                            </a:rPr>
                            <m:t>(4)</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3</m:t>
                          </m:r>
                        </m:sub>
                        <m:sup>
                          <m:r>
                            <a:rPr lang="en-US" altLang="zh-CN" sz="1200" i="1" smtClean="0">
                              <a:solidFill>
                                <a:prstClr val="black"/>
                              </a:solidFill>
                              <a:latin typeface="Cambria Math" panose="02040503050406030204" pitchFamily="18" charset="0"/>
                            </a:rPr>
                            <m:t>(4)</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4</m:t>
                          </m:r>
                        </m:sub>
                        <m:sup>
                          <m:r>
                            <a:rPr lang="en-US" altLang="zh-CN" sz="1200" i="1" smtClean="0">
                              <a:solidFill>
                                <a:prstClr val="black"/>
                              </a:solidFill>
                              <a:latin typeface="Cambria Math" panose="02040503050406030204" pitchFamily="18" charset="0"/>
                            </a:rPr>
                            <m:t>(4)</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4</m:t>
                          </m:r>
                        </m:sub>
                        <m:sup>
                          <m:r>
                            <a:rPr lang="en-US" altLang="zh-CN" sz="1200" i="1" smtClean="0">
                              <a:solidFill>
                                <a:prstClr val="black"/>
                              </a:solidFill>
                              <a:latin typeface="Cambria Math" panose="02040503050406030204" pitchFamily="18" charset="0"/>
                            </a:rPr>
                            <m:t>(4)</m:t>
                          </m:r>
                        </m:sup>
                      </m:sSubSup>
                      <m:r>
                        <a:rPr lang="en-US" altLang="zh-CN" sz="1200" i="1">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𝐳</m:t>
                          </m:r>
                        </m:e>
                        <m:sub>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2</m:t>
                          </m:r>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3</m:t>
                          </m:r>
                          <m:r>
                            <a:rPr lang="en-US" altLang="zh-CN" sz="1200" i="1">
                              <a:solidFill>
                                <a:prstClr val="black"/>
                              </a:solidFill>
                              <a:latin typeface="Cambria Math" panose="02040503050406030204" pitchFamily="18" charset="0"/>
                            </a:rPr>
                            <m:t>}</m:t>
                          </m:r>
                        </m:sub>
                        <m:sup>
                          <m:r>
                            <a:rPr lang="en-US" altLang="zh-CN" sz="1200" i="1" smtClean="0">
                              <a:solidFill>
                                <a:prstClr val="black"/>
                              </a:solidFill>
                              <a:latin typeface="Cambria Math" panose="02040503050406030204" pitchFamily="18" charset="0"/>
                            </a:rPr>
                            <m:t>(4)</m:t>
                          </m:r>
                        </m:sup>
                      </m:sSubSup>
                      <m:r>
                        <a:rPr lang="en-US" altLang="zh-CN" sz="1200" b="1" i="1">
                          <a:solidFill>
                            <a:srgbClr val="00B0F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smtClean="0">
                                      <a:solidFill>
                                        <a:prstClr val="black"/>
                                      </a:solidFill>
                                      <a:latin typeface="Cambria Math" panose="02040503050406030204" pitchFamily="18" charset="0"/>
                                    </a:rPr>
                                    <m:t>2</m:t>
                                  </m:r>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3</m:t>
                                  </m:r>
                                </m:e>
                              </m:d>
                            </m:sub>
                            <m:sup>
                              <m:r>
                                <a:rPr lang="en-US" altLang="zh-CN" sz="1200" i="1" smtClean="0">
                                  <a:solidFill>
                                    <a:prstClr val="black"/>
                                  </a:solidFill>
                                  <a:latin typeface="Cambria Math" panose="02040503050406030204" pitchFamily="18" charset="0"/>
                                </a:rPr>
                                <m:t>(4)</m:t>
                              </m:r>
                            </m:sup>
                          </m:sSubSup>
                          <m:r>
                            <a:rPr lang="en-US" altLang="zh-CN" sz="1200" i="1">
                              <a:solidFill>
                                <a:srgbClr val="FF0000"/>
                              </a:solidFill>
                              <a:latin typeface="Cambria Math" panose="02040503050406030204" pitchFamily="18" charset="0"/>
                              <a:ea typeface="Cambria Math" panose="02040503050406030204" pitchFamily="18" charset="0"/>
                            </a:rPr>
                            <m:t>⇒</m:t>
                          </m:r>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smtClean="0">
                                  <a:solidFill>
                                    <a:prstClr val="black"/>
                                  </a:solidFill>
                                  <a:latin typeface="Cambria Math" panose="02040503050406030204" pitchFamily="18" charset="0"/>
                                </a:rPr>
                                <m:t>2</m:t>
                              </m:r>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3</m:t>
                              </m:r>
                            </m:e>
                          </m:d>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2</m:t>
                          </m:r>
                        </m:sub>
                        <m:sup>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4</m:t>
                          </m:r>
                          <m:r>
                            <a:rPr lang="en-US" altLang="zh-CN" sz="1200" i="1">
                              <a:solidFill>
                                <a:prstClr val="black"/>
                              </a:solidFill>
                              <a:latin typeface="Cambria Math" panose="02040503050406030204" pitchFamily="18" charset="0"/>
                            </a:rPr>
                            <m:t>)</m:t>
                          </m:r>
                        </m:sup>
                      </m:sSubSup>
                      <m:r>
                        <a:rPr lang="en-US" altLang="zh-CN" sz="1200" i="1">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smtClean="0">
                                  <a:solidFill>
                                    <a:prstClr val="black"/>
                                  </a:solidFill>
                                  <a:latin typeface="Cambria Math" panose="02040503050406030204" pitchFamily="18" charset="0"/>
                                </a:rPr>
                                <m:t>2</m:t>
                              </m:r>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3</m:t>
                              </m:r>
                            </m:e>
                          </m:d>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3</m:t>
                          </m:r>
                        </m:sub>
                        <m:sup>
                          <m:r>
                            <a:rPr lang="en-US" altLang="zh-CN" sz="1200" i="1" smtClean="0">
                              <a:solidFill>
                                <a:prstClr val="black"/>
                              </a:solidFill>
                              <a:latin typeface="Cambria Math" panose="02040503050406030204" pitchFamily="18" charset="0"/>
                            </a:rPr>
                            <m:t>(4)</m:t>
                          </m:r>
                        </m:sup>
                      </m:sSubSup>
                    </m:oMath>
                  </m:oMathPara>
                </a14:m>
                <a:endParaRPr lang="en-US" altLang="zh-CN" sz="1200" dirty="0">
                  <a:solidFill>
                    <a:prstClr val="black"/>
                  </a:solidFill>
                  <a:latin typeface="Calibri" panose="020F0502020204030204"/>
                  <a:ea typeface="等线" panose="02010600030101010101" pitchFamily="2" charset="-122"/>
                </a:endParaRPr>
              </a:p>
              <a:p>
                <a:pPr/>
                <a14:m>
                  <m:oMathPara xmlns:m="http://schemas.openxmlformats.org/officeDocument/2006/math">
                    <m:oMathParaPr>
                      <m:jc m:val="centerGroup"/>
                    </m:oMathParaPr>
                    <m:oMath xmlns:m="http://schemas.openxmlformats.org/officeDocument/2006/math">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5</m:t>
                          </m:r>
                        </m:sub>
                        <m:sup>
                          <m:r>
                            <a:rPr lang="en-US" altLang="zh-CN" sz="1200" i="1" smtClean="0">
                              <a:solidFill>
                                <a:prstClr val="black"/>
                              </a:solidFill>
                              <a:latin typeface="Cambria Math" panose="02040503050406030204" pitchFamily="18" charset="0"/>
                            </a:rPr>
                            <m:t>(2</m:t>
                          </m:r>
                          <m:r>
                            <a:rPr lang="en-US" altLang="zh-CN" sz="1200" i="1">
                              <a:solidFill>
                                <a:prstClr val="black"/>
                              </a:solidFill>
                              <a:latin typeface="Cambria Math" panose="02040503050406030204" pitchFamily="18" charset="0"/>
                            </a:rPr>
                            <m:t>)</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smtClean="0">
                              <a:solidFill>
                                <a:prstClr val="black"/>
                              </a:solidFill>
                              <a:latin typeface="Cambria Math" panose="02040503050406030204" pitchFamily="18" charset="0"/>
                            </a:rPr>
                            <m:t>5</m:t>
                          </m:r>
                        </m:sub>
                        <m:sup>
                          <m:r>
                            <a:rPr lang="en-US" altLang="zh-CN" sz="1200" i="1" smtClean="0">
                              <a:solidFill>
                                <a:prstClr val="black"/>
                              </a:solidFill>
                              <a:latin typeface="Cambria Math" panose="02040503050406030204" pitchFamily="18" charset="0"/>
                            </a:rPr>
                            <m:t>(2)</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6</m:t>
                          </m:r>
                        </m:sub>
                        <m:sup>
                          <m:r>
                            <a:rPr lang="en-US" altLang="zh-CN" sz="1200" i="1" smtClean="0">
                              <a:solidFill>
                                <a:prstClr val="black"/>
                              </a:solidFill>
                              <a:latin typeface="Cambria Math" panose="02040503050406030204" pitchFamily="18" charset="0"/>
                            </a:rPr>
                            <m:t>(2)</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6</m:t>
                          </m:r>
                        </m:sub>
                        <m:sup>
                          <m:r>
                            <a:rPr lang="en-US" altLang="zh-CN" sz="1200" i="1" smtClean="0">
                              <a:solidFill>
                                <a:prstClr val="black"/>
                              </a:solidFill>
                              <a:latin typeface="Cambria Math" panose="02040503050406030204" pitchFamily="18" charset="0"/>
                            </a:rPr>
                            <m:t>(2)</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𝐳</m:t>
                          </m:r>
                        </m:e>
                        <m:sub>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1</m:t>
                          </m:r>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2</m:t>
                          </m:r>
                          <m:r>
                            <a:rPr lang="en-US" altLang="zh-CN" sz="1200" i="1">
                              <a:solidFill>
                                <a:prstClr val="black"/>
                              </a:solidFill>
                              <a:latin typeface="Cambria Math" panose="02040503050406030204" pitchFamily="18" charset="0"/>
                            </a:rPr>
                            <m:t>}</m:t>
                          </m:r>
                        </m:sub>
                        <m:sup>
                          <m:r>
                            <a:rPr lang="en-US" altLang="zh-CN" sz="1200" i="1" smtClean="0">
                              <a:solidFill>
                                <a:prstClr val="black"/>
                              </a:solidFill>
                              <a:latin typeface="Cambria Math" panose="02040503050406030204" pitchFamily="18" charset="0"/>
                            </a:rPr>
                            <m:t>(2)</m:t>
                          </m:r>
                        </m:sup>
                      </m:sSubSup>
                      <m:r>
                        <a:rPr lang="en-US" altLang="zh-CN" sz="1200" b="1" i="1">
                          <a:solidFill>
                            <a:srgbClr val="00B0F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smtClean="0">
                                  <a:solidFill>
                                    <a:prstClr val="black"/>
                                  </a:solidFill>
                                  <a:latin typeface="Cambria Math" panose="02040503050406030204" pitchFamily="18" charset="0"/>
                                </a:rPr>
                                <m:t>1</m:t>
                              </m:r>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2</m:t>
                              </m:r>
                            </m:e>
                          </m:d>
                        </m:sub>
                        <m:sup>
                          <m:r>
                            <a:rPr lang="en-US" altLang="zh-CN" sz="1200" i="1" smtClean="0">
                              <a:solidFill>
                                <a:prstClr val="black"/>
                              </a:solidFill>
                              <a:latin typeface="Cambria Math" panose="02040503050406030204" pitchFamily="18" charset="0"/>
                            </a:rPr>
                            <m:t>(2)</m:t>
                          </m:r>
                        </m:sup>
                      </m:sSubSup>
                      <m:r>
                        <a:rPr lang="en-US" altLang="zh-CN" sz="1200" i="1">
                          <a:solidFill>
                            <a:srgbClr val="FF000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smtClean="0">
                                  <a:solidFill>
                                    <a:prstClr val="black"/>
                                  </a:solidFill>
                                  <a:latin typeface="Cambria Math" panose="02040503050406030204" pitchFamily="18" charset="0"/>
                                </a:rPr>
                                <m:t>1</m:t>
                              </m:r>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2</m:t>
                              </m:r>
                            </m:e>
                          </m:d>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1</m:t>
                          </m:r>
                        </m:sub>
                        <m:sup>
                          <m:r>
                            <a:rPr lang="en-US" altLang="zh-CN" sz="1200" i="1" smtClean="0">
                              <a:solidFill>
                                <a:prstClr val="black"/>
                              </a:solidFill>
                              <a:latin typeface="Cambria Math" panose="02040503050406030204" pitchFamily="18" charset="0"/>
                            </a:rPr>
                            <m:t>(2)</m:t>
                          </m:r>
                        </m:sup>
                      </m:sSubSup>
                      <m:r>
                        <a:rPr lang="en-US" altLang="zh-CN" sz="1200" i="1">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smtClean="0">
                                  <a:solidFill>
                                    <a:prstClr val="black"/>
                                  </a:solidFill>
                                  <a:latin typeface="Cambria Math" panose="02040503050406030204" pitchFamily="18" charset="0"/>
                                </a:rPr>
                                <m:t>1</m:t>
                              </m:r>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2</m:t>
                              </m:r>
                            </m:e>
                          </m:d>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2</m:t>
                          </m:r>
                        </m:sub>
                        <m:sup>
                          <m:r>
                            <a:rPr lang="en-US" altLang="zh-CN" sz="1200" i="1" smtClean="0">
                              <a:solidFill>
                                <a:prstClr val="black"/>
                              </a:solidFill>
                              <a:latin typeface="Cambria Math" panose="02040503050406030204" pitchFamily="18" charset="0"/>
                            </a:rPr>
                            <m:t>(2)</m:t>
                          </m:r>
                        </m:sup>
                      </m:sSubSup>
                    </m:oMath>
                  </m:oMathPara>
                </a14:m>
                <a:endParaRPr lang="zh-CN" altLang="en-US" sz="1600" dirty="0">
                  <a:solidFill>
                    <a:prstClr val="black"/>
                  </a:solidFill>
                  <a:latin typeface="Calibri" panose="020F0502020204030204"/>
                  <a:ea typeface="等线" panose="02010600030101010101" pitchFamily="2" charset="-122"/>
                </a:endParaRPr>
              </a:p>
            </p:txBody>
          </p:sp>
        </mc:Choice>
        <mc:Fallback xmlns="">
          <p:sp>
            <p:nvSpPr>
              <p:cNvPr id="85" name="矩形 84">
                <a:extLst>
                  <a:ext uri="{FF2B5EF4-FFF2-40B4-BE49-F238E27FC236}">
                    <a16:creationId xmlns:a16="http://schemas.microsoft.com/office/drawing/2014/main" id="{F0A7E00E-B893-4A09-B0E4-6E8A4061E67B}"/>
                  </a:ext>
                </a:extLst>
              </p:cNvPr>
              <p:cNvSpPr>
                <a:spLocks noRot="1" noChangeAspect="1" noMove="1" noResize="1" noEditPoints="1" noAdjustHandles="1" noChangeArrowheads="1" noChangeShapeType="1" noTextEdit="1"/>
              </p:cNvSpPr>
              <p:nvPr/>
            </p:nvSpPr>
            <p:spPr>
              <a:xfrm>
                <a:off x="1613532" y="4790370"/>
                <a:ext cx="3756258" cy="612604"/>
              </a:xfrm>
              <a:prstGeom prst="rect">
                <a:avLst/>
              </a:prstGeom>
              <a:blipFill>
                <a:blip r:embed="rId12"/>
                <a:stretch>
                  <a:fillRect b="-1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6" name="文本框 85">
                <a:extLst>
                  <a:ext uri="{FF2B5EF4-FFF2-40B4-BE49-F238E27FC236}">
                    <a16:creationId xmlns:a16="http://schemas.microsoft.com/office/drawing/2014/main" id="{C288763E-6699-4851-9D01-9BFBB7E70685}"/>
                  </a:ext>
                </a:extLst>
              </p:cNvPr>
              <p:cNvSpPr txBox="1"/>
              <p:nvPr/>
            </p:nvSpPr>
            <p:spPr>
              <a:xfrm>
                <a:off x="4165887" y="4037571"/>
                <a:ext cx="1427515" cy="350096"/>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Sup>
                        <m:sSubSupPr>
                          <m:ctrlPr>
                            <a:rPr lang="en-US" altLang="zh-CN" sz="1200" i="1" smtClean="0">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r>
                            <a:rPr lang="en-US" altLang="zh-CN" sz="1200" i="1">
                              <a:solidFill>
                                <a:prstClr val="black"/>
                              </a:solidFill>
                              <a:latin typeface="Cambria Math" panose="02040503050406030204" pitchFamily="18" charset="0"/>
                            </a:rPr>
                            <m:t>3,</m:t>
                          </m:r>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1,2</m:t>
                              </m:r>
                            </m:e>
                          </m:d>
                          <m:r>
                            <a:rPr lang="en-US" altLang="zh-CN" sz="1200" i="1">
                              <a:solidFill>
                                <a:prstClr val="black"/>
                              </a:solidFill>
                              <a:latin typeface="Cambria Math" panose="02040503050406030204" pitchFamily="18" charset="0"/>
                            </a:rPr>
                            <m:t>,2</m:t>
                          </m:r>
                        </m:sub>
                        <m:sup>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2</m:t>
                          </m:r>
                          <m:r>
                            <a:rPr lang="en-US" altLang="zh-CN" sz="1200" i="1">
                              <a:solidFill>
                                <a:prstClr val="black"/>
                              </a:solidFill>
                              <a:latin typeface="Cambria Math" panose="02040503050406030204" pitchFamily="18" charset="0"/>
                            </a:rPr>
                            <m:t>)</m:t>
                          </m:r>
                        </m:sup>
                      </m:sSubSup>
                      <m:r>
                        <a:rPr lang="en-US" altLang="zh-CN" sz="1200">
                          <a:solidFill>
                            <a:prstClr val="black"/>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r>
                            <a:rPr lang="en-US" altLang="zh-CN" sz="1200" i="1">
                              <a:solidFill>
                                <a:prstClr val="black"/>
                              </a:solidFill>
                              <a:latin typeface="Cambria Math" panose="02040503050406030204" pitchFamily="18" charset="0"/>
                            </a:rPr>
                            <m:t>1,</m:t>
                          </m:r>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2,3</m:t>
                              </m:r>
                            </m:e>
                          </m:d>
                          <m:r>
                            <a:rPr lang="en-US" altLang="zh-CN" sz="1200" i="1">
                              <a:solidFill>
                                <a:prstClr val="black"/>
                              </a:solidFill>
                              <a:latin typeface="Cambria Math" panose="02040503050406030204" pitchFamily="18" charset="0"/>
                            </a:rPr>
                            <m:t>,2</m:t>
                          </m:r>
                        </m:sub>
                        <m:sup>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4</m:t>
                          </m:r>
                          <m:r>
                            <a:rPr lang="en-US" altLang="zh-CN" sz="1200" i="1">
                              <a:solidFill>
                                <a:prstClr val="black"/>
                              </a:solidFill>
                              <a:latin typeface="Cambria Math" panose="02040503050406030204" pitchFamily="18" charset="0"/>
                            </a:rPr>
                            <m:t>)</m:t>
                          </m:r>
                        </m:sup>
                      </m:sSubSup>
                    </m:oMath>
                  </m:oMathPara>
                </a14:m>
                <a:endParaRPr lang="zh-CN" altLang="en-US" sz="1600" dirty="0">
                  <a:solidFill>
                    <a:prstClr val="black"/>
                  </a:solidFill>
                  <a:latin typeface="Calibri" panose="020F0502020204030204"/>
                  <a:ea typeface="等线" panose="02010600030101010101" pitchFamily="2" charset="-122"/>
                </a:endParaRPr>
              </a:p>
            </p:txBody>
          </p:sp>
        </mc:Choice>
        <mc:Fallback xmlns="">
          <p:sp>
            <p:nvSpPr>
              <p:cNvPr id="86" name="文本框 85">
                <a:extLst>
                  <a:ext uri="{FF2B5EF4-FFF2-40B4-BE49-F238E27FC236}">
                    <a16:creationId xmlns:a16="http://schemas.microsoft.com/office/drawing/2014/main" id="{C288763E-6699-4851-9D01-9BFBB7E70685}"/>
                  </a:ext>
                </a:extLst>
              </p:cNvPr>
              <p:cNvSpPr txBox="1">
                <a:spLocks noRot="1" noChangeAspect="1" noMove="1" noResize="1" noEditPoints="1" noAdjustHandles="1" noChangeArrowheads="1" noChangeShapeType="1" noTextEdit="1"/>
              </p:cNvSpPr>
              <p:nvPr/>
            </p:nvSpPr>
            <p:spPr>
              <a:xfrm>
                <a:off x="4165887" y="4037571"/>
                <a:ext cx="1427515" cy="350096"/>
              </a:xfrm>
              <a:prstGeom prst="rect">
                <a:avLst/>
              </a:prstGeom>
              <a:blipFill>
                <a:blip r:embed="rId13"/>
                <a:stretch>
                  <a:fillRect/>
                </a:stretch>
              </a:blipFill>
            </p:spPr>
            <p:txBody>
              <a:bodyPr/>
              <a:lstStyle/>
              <a:p>
                <a:r>
                  <a:rPr lang="zh-CN" altLang="en-US">
                    <a:noFill/>
                  </a:rPr>
                  <a:t> </a:t>
                </a:r>
              </a:p>
            </p:txBody>
          </p:sp>
        </mc:Fallback>
      </mc:AlternateContent>
      <p:sp>
        <p:nvSpPr>
          <p:cNvPr id="87" name="文本框 86">
            <a:extLst>
              <a:ext uri="{FF2B5EF4-FFF2-40B4-BE49-F238E27FC236}">
                <a16:creationId xmlns:a16="http://schemas.microsoft.com/office/drawing/2014/main" id="{C310DB8F-6F14-4B20-9CBD-C8D5947EE251}"/>
              </a:ext>
            </a:extLst>
          </p:cNvPr>
          <p:cNvSpPr txBox="1"/>
          <p:nvPr/>
        </p:nvSpPr>
        <p:spPr>
          <a:xfrm>
            <a:off x="9291801" y="4166348"/>
            <a:ext cx="719295" cy="276999"/>
          </a:xfrm>
          <a:prstGeom prst="rect">
            <a:avLst/>
          </a:prstGeom>
          <a:noFill/>
        </p:spPr>
        <p:txBody>
          <a:bodyPr wrap="square" rtlCol="0">
            <a:spAutoFit/>
          </a:bodyPr>
          <a:lstStyle/>
          <a:p>
            <a:r>
              <a:rPr lang="en-US" altLang="zh-CN" sz="1200" b="1" dirty="0">
                <a:solidFill>
                  <a:prstClr val="black"/>
                </a:solidFill>
                <a:latin typeface="Calibri" panose="020F0502020204030204"/>
                <a:ea typeface="等线" panose="02010600030101010101" pitchFamily="2" charset="-122"/>
              </a:rPr>
              <a:t>Node 3</a:t>
            </a:r>
            <a:endParaRPr lang="zh-CN" altLang="en-US" sz="1200" b="1" dirty="0">
              <a:solidFill>
                <a:prstClr val="black"/>
              </a:solidFill>
              <a:latin typeface="Calibri" panose="020F0502020204030204"/>
              <a:ea typeface="等线" panose="02010600030101010101" pitchFamily="2" charset="-122"/>
            </a:endParaRPr>
          </a:p>
        </p:txBody>
      </p:sp>
      <mc:AlternateContent xmlns:mc="http://schemas.openxmlformats.org/markup-compatibility/2006" xmlns:a14="http://schemas.microsoft.com/office/drawing/2010/main">
        <mc:Choice Requires="a14">
          <p:sp>
            <p:nvSpPr>
              <p:cNvPr id="88" name="圆角矩形 10">
                <a:extLst>
                  <a:ext uri="{FF2B5EF4-FFF2-40B4-BE49-F238E27FC236}">
                    <a16:creationId xmlns:a16="http://schemas.microsoft.com/office/drawing/2014/main" id="{43FE1810-46F5-43BA-9F24-E82FAC2C4E25}"/>
                  </a:ext>
                </a:extLst>
              </p:cNvPr>
              <p:cNvSpPr/>
              <p:nvPr/>
            </p:nvSpPr>
            <p:spPr>
              <a:xfrm>
                <a:off x="6871214" y="3746425"/>
                <a:ext cx="2420587" cy="955347"/>
              </a:xfrm>
              <a:prstGeom prst="roundRect">
                <a:avLst/>
              </a:prstGeom>
              <a:no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1" i="0"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3</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(4)</m:t>
                          </m:r>
                        </m:sup>
                      </m:sSubSup>
                    </m:oMath>
                  </m:oMathPara>
                </a14:m>
                <a:endParaRPr kumimoji="0" lang="en-US" altLang="zh-CN" sz="12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1052"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altLang="zh-CN" sz="1052"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a:p>
                <a:pPr marL="0" marR="0" lvl="0" indent="0" algn="ctr" defTabSz="91440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5</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5</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6</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6</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1" i="0"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  </m:t>
                      </m:r>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𝑥</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sSubSup>
                        <m:sSubSupPr>
                          <m:ctrlP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ctrlPr>
                        </m:sSubSupPr>
                        <m:e>
                          <m:r>
                            <a:rPr kumimoji="0" lang="zh-CN" altLang="en-US"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𝐚</m:t>
                          </m:r>
                        </m:e>
                        <m:sub>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2</m:t>
                          </m:r>
                        </m:sub>
                        <m:sup>
                          <m:r>
                            <a:rPr kumimoji="0" lang="en-US" altLang="zh-CN" sz="1200" b="0" i="1" u="none" strike="noStrike" kern="0" cap="none" spc="0" normalizeH="0" baseline="0" noProof="0" smtClean="0">
                              <a:ln>
                                <a:noFill/>
                              </a:ln>
                              <a:solidFill>
                                <a:prstClr val="black"/>
                              </a:solidFill>
                              <a:effectLst/>
                              <a:uLnTx/>
                              <a:uFillTx/>
                              <a:latin typeface="Cambria Math" panose="02040503050406030204" pitchFamily="18" charset="0"/>
                              <a:cs typeface="+mn-cs"/>
                            </a:rPr>
                            <m:t>(1)</m:t>
                          </m:r>
                        </m:sup>
                      </m:sSubSup>
                    </m:oMath>
                  </m:oMathPara>
                </a14:m>
                <a:endParaRPr kumimoji="0" lang="en-US" altLang="zh-CN" sz="1052"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mc:Choice>
        <mc:Fallback xmlns="">
          <p:sp>
            <p:nvSpPr>
              <p:cNvPr id="88" name="圆角矩形 10">
                <a:extLst>
                  <a:ext uri="{FF2B5EF4-FFF2-40B4-BE49-F238E27FC236}">
                    <a16:creationId xmlns:a16="http://schemas.microsoft.com/office/drawing/2014/main" id="{43FE1810-46F5-43BA-9F24-E82FAC2C4E25}"/>
                  </a:ext>
                </a:extLst>
              </p:cNvPr>
              <p:cNvSpPr>
                <a:spLocks noRot="1" noChangeAspect="1" noMove="1" noResize="1" noEditPoints="1" noAdjustHandles="1" noChangeArrowheads="1" noChangeShapeType="1" noTextEdit="1"/>
              </p:cNvSpPr>
              <p:nvPr/>
            </p:nvSpPr>
            <p:spPr>
              <a:xfrm>
                <a:off x="6871214" y="3746425"/>
                <a:ext cx="2420587" cy="955347"/>
              </a:xfrm>
              <a:prstGeom prst="roundRect">
                <a:avLst/>
              </a:prstGeom>
              <a:blipFill>
                <a:blip r:embed="rId14"/>
                <a:stretch>
                  <a:fillRect/>
                </a:stretch>
              </a:blipFill>
              <a:ln w="12700" cap="flat" cmpd="sng" algn="ctr">
                <a:solidFill>
                  <a:sysClr val="windowText" lastClr="000000"/>
                </a:solidFill>
                <a:prstDash val="solid"/>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0" name="矩形 89">
                <a:extLst>
                  <a:ext uri="{FF2B5EF4-FFF2-40B4-BE49-F238E27FC236}">
                    <a16:creationId xmlns:a16="http://schemas.microsoft.com/office/drawing/2014/main" id="{0583DB8A-655B-4877-94ED-DB2C187C7FF1}"/>
                  </a:ext>
                </a:extLst>
              </p:cNvPr>
              <p:cNvSpPr/>
              <p:nvPr/>
            </p:nvSpPr>
            <p:spPr>
              <a:xfrm>
                <a:off x="5871619" y="4790369"/>
                <a:ext cx="3756258" cy="612604"/>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200" i="1" smtClean="0">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1</m:t>
                          </m:r>
                        </m:sub>
                        <m:sup>
                          <m:r>
                            <a:rPr lang="en-US" altLang="zh-CN" sz="1200" i="1" smtClean="0">
                              <a:solidFill>
                                <a:prstClr val="black"/>
                              </a:solidFill>
                              <a:latin typeface="Cambria Math" panose="02040503050406030204" pitchFamily="18" charset="0"/>
                            </a:rPr>
                            <m:t>(3)</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1</m:t>
                          </m:r>
                        </m:sub>
                        <m:sup>
                          <m:r>
                            <a:rPr lang="en-US" altLang="zh-CN" sz="1200" i="1" smtClean="0">
                              <a:solidFill>
                                <a:prstClr val="black"/>
                              </a:solidFill>
                              <a:latin typeface="Cambria Math" panose="02040503050406030204" pitchFamily="18" charset="0"/>
                            </a:rPr>
                            <m:t>(3)</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2</m:t>
                          </m:r>
                        </m:sub>
                        <m:sup>
                          <m:r>
                            <a:rPr lang="en-US" altLang="zh-CN" sz="1200" i="1" smtClean="0">
                              <a:solidFill>
                                <a:prstClr val="black"/>
                              </a:solidFill>
                              <a:latin typeface="Cambria Math" panose="02040503050406030204" pitchFamily="18" charset="0"/>
                            </a:rPr>
                            <m:t>(3)</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a:solidFill>
                                <a:prstClr val="black"/>
                              </a:solidFill>
                              <a:latin typeface="Cambria Math" panose="02040503050406030204" pitchFamily="18" charset="0"/>
                            </a:rPr>
                            <m:t>2</m:t>
                          </m:r>
                        </m:sub>
                        <m:sup>
                          <m:r>
                            <a:rPr lang="en-US" altLang="zh-CN" sz="1200" i="1" smtClean="0">
                              <a:solidFill>
                                <a:prstClr val="black"/>
                              </a:solidFill>
                              <a:latin typeface="Cambria Math" panose="02040503050406030204" pitchFamily="18" charset="0"/>
                            </a:rPr>
                            <m:t>(3)</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𝐳</m:t>
                          </m:r>
                        </m:e>
                        <m:sub>
                          <m:r>
                            <a:rPr lang="en-US" altLang="zh-CN" sz="1200" i="1">
                              <a:solidFill>
                                <a:prstClr val="black"/>
                              </a:solidFill>
                              <a:latin typeface="Cambria Math" panose="02040503050406030204" pitchFamily="18" charset="0"/>
                            </a:rPr>
                            <m:t>{1,3}</m:t>
                          </m:r>
                        </m:sub>
                        <m:sup>
                          <m:r>
                            <a:rPr lang="en-US" altLang="zh-CN" sz="1200" i="1" smtClean="0">
                              <a:solidFill>
                                <a:prstClr val="black"/>
                              </a:solidFill>
                              <a:latin typeface="Cambria Math" panose="02040503050406030204" pitchFamily="18" charset="0"/>
                            </a:rPr>
                            <m:t>(3)</m:t>
                          </m:r>
                        </m:sup>
                      </m:sSubSup>
                      <m:r>
                        <a:rPr lang="en-US" altLang="zh-CN" sz="1200" b="1" i="1">
                          <a:solidFill>
                            <a:srgbClr val="00B0F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1,3</m:t>
                              </m:r>
                            </m:e>
                          </m:d>
                        </m:sub>
                        <m:sup>
                          <m:r>
                            <a:rPr lang="en-US" altLang="zh-CN" sz="1200" i="1" smtClean="0">
                              <a:solidFill>
                                <a:prstClr val="black"/>
                              </a:solidFill>
                              <a:latin typeface="Cambria Math" panose="02040503050406030204" pitchFamily="18" charset="0"/>
                            </a:rPr>
                            <m:t>(3)</m:t>
                          </m:r>
                        </m:sup>
                      </m:sSubSup>
                      <m:r>
                        <a:rPr lang="en-US" altLang="zh-CN" sz="1200" i="1">
                          <a:solidFill>
                            <a:srgbClr val="FF000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1,3</m:t>
                              </m:r>
                            </m:e>
                          </m:d>
                          <m:r>
                            <a:rPr lang="en-US" altLang="zh-CN" sz="1200" i="1">
                              <a:solidFill>
                                <a:prstClr val="black"/>
                              </a:solidFill>
                              <a:latin typeface="Cambria Math" panose="02040503050406030204" pitchFamily="18" charset="0"/>
                            </a:rPr>
                            <m:t>,1</m:t>
                          </m:r>
                        </m:sub>
                        <m:sup>
                          <m:r>
                            <a:rPr lang="en-US" altLang="zh-CN" sz="1200" i="1" smtClean="0">
                              <a:solidFill>
                                <a:prstClr val="black"/>
                              </a:solidFill>
                              <a:latin typeface="Cambria Math" panose="02040503050406030204" pitchFamily="18" charset="0"/>
                            </a:rPr>
                            <m:t>(3)</m:t>
                          </m:r>
                        </m:sup>
                      </m:sSubSup>
                      <m:r>
                        <a:rPr lang="en-US" altLang="zh-CN" sz="1200" i="1">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1,3</m:t>
                              </m:r>
                            </m:e>
                          </m:d>
                          <m:r>
                            <a:rPr lang="en-US" altLang="zh-CN" sz="1200" i="1">
                              <a:solidFill>
                                <a:prstClr val="black"/>
                              </a:solidFill>
                              <a:latin typeface="Cambria Math" panose="02040503050406030204" pitchFamily="18" charset="0"/>
                            </a:rPr>
                            <m:t>,3</m:t>
                          </m:r>
                        </m:sub>
                        <m:sup>
                          <m:r>
                            <a:rPr lang="en-US" altLang="zh-CN" sz="1200" i="1" smtClean="0">
                              <a:solidFill>
                                <a:prstClr val="black"/>
                              </a:solidFill>
                              <a:latin typeface="Cambria Math" panose="02040503050406030204" pitchFamily="18" charset="0"/>
                            </a:rPr>
                            <m:t>(3)</m:t>
                          </m:r>
                        </m:sup>
                      </m:sSubSup>
                    </m:oMath>
                  </m:oMathPara>
                </a14:m>
                <a:endParaRPr lang="en-US" altLang="zh-CN" sz="1200" dirty="0">
                  <a:solidFill>
                    <a:prstClr val="black"/>
                  </a:solidFill>
                  <a:latin typeface="Calibri" panose="020F0502020204030204"/>
                  <a:ea typeface="等线" panose="02010600030101010101" pitchFamily="2" charset="-122"/>
                </a:endParaRPr>
              </a:p>
              <a:p>
                <a:pPr/>
                <a14:m>
                  <m:oMathPara xmlns:m="http://schemas.openxmlformats.org/officeDocument/2006/math">
                    <m:oMathParaPr>
                      <m:jc m:val="centerGroup"/>
                    </m:oMathParaPr>
                    <m:oMath xmlns:m="http://schemas.openxmlformats.org/officeDocument/2006/math">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3</m:t>
                          </m:r>
                        </m:sub>
                        <m:sup>
                          <m:r>
                            <a:rPr lang="en-US" altLang="zh-CN" sz="1200" i="1" smtClean="0">
                              <a:solidFill>
                                <a:prstClr val="black"/>
                              </a:solidFill>
                              <a:latin typeface="Cambria Math" panose="02040503050406030204" pitchFamily="18" charset="0"/>
                            </a:rPr>
                            <m:t>(4)</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smtClean="0">
                              <a:solidFill>
                                <a:prstClr val="black"/>
                              </a:solidFill>
                              <a:latin typeface="Cambria Math" panose="02040503050406030204" pitchFamily="18" charset="0"/>
                            </a:rPr>
                            <m:t>3</m:t>
                          </m:r>
                        </m:sub>
                        <m:sup>
                          <m:r>
                            <a:rPr lang="en-US" altLang="zh-CN" sz="1200" i="1" smtClean="0">
                              <a:solidFill>
                                <a:prstClr val="black"/>
                              </a:solidFill>
                              <a:latin typeface="Cambria Math" panose="02040503050406030204" pitchFamily="18" charset="0"/>
                            </a:rPr>
                            <m:t>(4)</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𝑥</m:t>
                          </m:r>
                        </m:e>
                        <m:sub>
                          <m:r>
                            <a:rPr lang="en-US" altLang="zh-CN" sz="1200" i="1" smtClean="0">
                              <a:solidFill>
                                <a:prstClr val="black"/>
                              </a:solidFill>
                              <a:latin typeface="Cambria Math" panose="02040503050406030204" pitchFamily="18" charset="0"/>
                            </a:rPr>
                            <m:t>4</m:t>
                          </m:r>
                        </m:sub>
                        <m:sup>
                          <m:r>
                            <a:rPr lang="en-US" altLang="zh-CN" sz="1200" i="1" smtClean="0">
                              <a:solidFill>
                                <a:prstClr val="black"/>
                              </a:solidFill>
                              <a:latin typeface="Cambria Math" panose="02040503050406030204" pitchFamily="18" charset="0"/>
                            </a:rPr>
                            <m:t>(4)</m:t>
                          </m:r>
                        </m:sup>
                      </m:sSubSup>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𝐚</m:t>
                          </m:r>
                        </m:e>
                        <m:sub>
                          <m:r>
                            <a:rPr lang="en-US" altLang="zh-CN" sz="1200" i="1" smtClean="0">
                              <a:solidFill>
                                <a:prstClr val="black"/>
                              </a:solidFill>
                              <a:latin typeface="Cambria Math" panose="02040503050406030204" pitchFamily="18" charset="0"/>
                            </a:rPr>
                            <m:t>4</m:t>
                          </m:r>
                        </m:sub>
                        <m:sup>
                          <m:r>
                            <a:rPr lang="en-US" altLang="zh-CN" sz="1200" i="1" smtClean="0">
                              <a:solidFill>
                                <a:prstClr val="black"/>
                              </a:solidFill>
                              <a:latin typeface="Cambria Math" panose="02040503050406030204" pitchFamily="18" charset="0"/>
                            </a:rPr>
                            <m:t>(4)</m:t>
                          </m:r>
                        </m:sup>
                      </m:sSubSup>
                      <m:r>
                        <a:rPr lang="en-US" altLang="zh-CN" sz="1200">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b="1">
                              <a:solidFill>
                                <a:prstClr val="black"/>
                              </a:solidFill>
                              <a:latin typeface="Cambria Math" panose="02040503050406030204" pitchFamily="18" charset="0"/>
                            </a:rPr>
                            <m:t>𝐳</m:t>
                          </m:r>
                        </m:e>
                        <m:sub>
                          <m:r>
                            <a:rPr lang="en-US" altLang="zh-CN" sz="1200" i="1">
                              <a:solidFill>
                                <a:prstClr val="black"/>
                              </a:solidFill>
                              <a:latin typeface="Cambria Math" panose="02040503050406030204" pitchFamily="18" charset="0"/>
                            </a:rPr>
                            <m:t>{2,3}</m:t>
                          </m:r>
                        </m:sub>
                        <m:sup>
                          <m:r>
                            <a:rPr lang="en-US" altLang="zh-CN" sz="1200" i="1" smtClean="0">
                              <a:solidFill>
                                <a:prstClr val="black"/>
                              </a:solidFill>
                              <a:latin typeface="Cambria Math" panose="02040503050406030204" pitchFamily="18" charset="0"/>
                            </a:rPr>
                            <m:t>(4)</m:t>
                          </m:r>
                        </m:sup>
                      </m:sSubSup>
                      <m:r>
                        <a:rPr lang="en-US" altLang="zh-CN" sz="1200" b="1" i="1">
                          <a:solidFill>
                            <a:srgbClr val="00B0F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2,3</m:t>
                              </m:r>
                            </m:e>
                          </m:d>
                        </m:sub>
                        <m:sup>
                          <m:r>
                            <a:rPr lang="en-US" altLang="zh-CN" sz="1200" i="1" smtClean="0">
                              <a:solidFill>
                                <a:prstClr val="black"/>
                              </a:solidFill>
                              <a:latin typeface="Cambria Math" panose="02040503050406030204" pitchFamily="18" charset="0"/>
                            </a:rPr>
                            <m:t>(4)</m:t>
                          </m:r>
                        </m:sup>
                      </m:sSubSup>
                      <m:r>
                        <a:rPr lang="en-US" altLang="zh-CN" sz="1200" i="1">
                          <a:solidFill>
                            <a:srgbClr val="FF0000"/>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2,3</m:t>
                              </m:r>
                            </m:e>
                          </m:d>
                          <m:r>
                            <a:rPr lang="en-US" altLang="zh-CN" sz="1200" i="1">
                              <a:solidFill>
                                <a:prstClr val="black"/>
                              </a:solidFill>
                              <a:latin typeface="Cambria Math" panose="02040503050406030204" pitchFamily="18" charset="0"/>
                            </a:rPr>
                            <m:t>,2</m:t>
                          </m:r>
                        </m:sub>
                        <m:sup>
                          <m:r>
                            <a:rPr lang="en-US" altLang="zh-CN" sz="1200" i="1" smtClean="0">
                              <a:solidFill>
                                <a:prstClr val="black"/>
                              </a:solidFill>
                              <a:latin typeface="Cambria Math" panose="02040503050406030204" pitchFamily="18" charset="0"/>
                            </a:rPr>
                            <m:t>(4)</m:t>
                          </m:r>
                        </m:sup>
                      </m:sSubSup>
                      <m:r>
                        <a:rPr lang="en-US" altLang="zh-CN" sz="1200" i="1">
                          <a:solidFill>
                            <a:prstClr val="black"/>
                          </a:solidFill>
                          <a:latin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2,3</m:t>
                              </m:r>
                            </m:e>
                          </m:d>
                          <m:r>
                            <a:rPr lang="en-US" altLang="zh-CN" sz="1200" i="1">
                              <a:solidFill>
                                <a:prstClr val="black"/>
                              </a:solidFill>
                              <a:latin typeface="Cambria Math" panose="02040503050406030204" pitchFamily="18" charset="0"/>
                            </a:rPr>
                            <m:t>,3</m:t>
                          </m:r>
                        </m:sub>
                        <m:sup>
                          <m:r>
                            <a:rPr lang="en-US" altLang="zh-CN" sz="1200" i="1" smtClean="0">
                              <a:solidFill>
                                <a:prstClr val="black"/>
                              </a:solidFill>
                              <a:latin typeface="Cambria Math" panose="02040503050406030204" pitchFamily="18" charset="0"/>
                            </a:rPr>
                            <m:t>(4)</m:t>
                          </m:r>
                        </m:sup>
                      </m:sSubSup>
                    </m:oMath>
                  </m:oMathPara>
                </a14:m>
                <a:endParaRPr lang="zh-CN" altLang="en-US" sz="1600" dirty="0">
                  <a:solidFill>
                    <a:prstClr val="black"/>
                  </a:solidFill>
                  <a:latin typeface="Calibri" panose="020F0502020204030204"/>
                  <a:ea typeface="等线" panose="02010600030101010101" pitchFamily="2" charset="-122"/>
                </a:endParaRPr>
              </a:p>
            </p:txBody>
          </p:sp>
        </mc:Choice>
        <mc:Fallback xmlns="">
          <p:sp>
            <p:nvSpPr>
              <p:cNvPr id="90" name="矩形 89">
                <a:extLst>
                  <a:ext uri="{FF2B5EF4-FFF2-40B4-BE49-F238E27FC236}">
                    <a16:creationId xmlns:a16="http://schemas.microsoft.com/office/drawing/2014/main" id="{0583DB8A-655B-4877-94ED-DB2C187C7FF1}"/>
                  </a:ext>
                </a:extLst>
              </p:cNvPr>
              <p:cNvSpPr>
                <a:spLocks noRot="1" noChangeAspect="1" noMove="1" noResize="1" noEditPoints="1" noAdjustHandles="1" noChangeArrowheads="1" noChangeShapeType="1" noTextEdit="1"/>
              </p:cNvSpPr>
              <p:nvPr/>
            </p:nvSpPr>
            <p:spPr>
              <a:xfrm>
                <a:off x="5871619" y="4790369"/>
                <a:ext cx="3756258" cy="612604"/>
              </a:xfrm>
              <a:prstGeom prst="rect">
                <a:avLst/>
              </a:prstGeom>
              <a:blipFill>
                <a:blip r:embed="rId15"/>
                <a:stretch>
                  <a:fillRect b="-1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1" name="矩形 90">
                <a:extLst>
                  <a:ext uri="{FF2B5EF4-FFF2-40B4-BE49-F238E27FC236}">
                    <a16:creationId xmlns:a16="http://schemas.microsoft.com/office/drawing/2014/main" id="{130A2E09-AEF8-4CCB-9994-F8D84EC4AF2E}"/>
                  </a:ext>
                </a:extLst>
              </p:cNvPr>
              <p:cNvSpPr/>
              <p:nvPr/>
            </p:nvSpPr>
            <p:spPr>
              <a:xfrm>
                <a:off x="5549868" y="4049211"/>
                <a:ext cx="1435487" cy="35009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en-US" altLang="zh-CN" sz="1200" i="1" smtClean="0">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r>
                            <a:rPr lang="en-US" altLang="zh-CN" sz="1200" i="1">
                              <a:solidFill>
                                <a:prstClr val="black"/>
                              </a:solidFill>
                              <a:latin typeface="Cambria Math" panose="02040503050406030204" pitchFamily="18" charset="0"/>
                            </a:rPr>
                            <m:t>2,</m:t>
                          </m:r>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1,3</m:t>
                              </m:r>
                            </m:e>
                          </m:d>
                          <m:r>
                            <a:rPr lang="en-US" altLang="zh-CN" sz="1200" i="1">
                              <a:solidFill>
                                <a:prstClr val="black"/>
                              </a:solidFill>
                              <a:latin typeface="Cambria Math" panose="02040503050406030204" pitchFamily="18" charset="0"/>
                            </a:rPr>
                            <m:t>,3</m:t>
                          </m:r>
                        </m:sub>
                        <m:sup>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3</m:t>
                          </m:r>
                          <m:r>
                            <a:rPr lang="en-US" altLang="zh-CN" sz="1200" i="1">
                              <a:solidFill>
                                <a:prstClr val="black"/>
                              </a:solidFill>
                              <a:latin typeface="Cambria Math" panose="02040503050406030204" pitchFamily="18" charset="0"/>
                            </a:rPr>
                            <m:t>)</m:t>
                          </m:r>
                        </m:sup>
                      </m:sSubSup>
                      <m:r>
                        <a:rPr lang="en-US" altLang="zh-CN" sz="1200">
                          <a:solidFill>
                            <a:prstClr val="black"/>
                          </a:solidFill>
                          <a:latin typeface="Cambria Math" panose="02040503050406030204" pitchFamily="18" charset="0"/>
                          <a:ea typeface="Cambria Math" panose="02040503050406030204" pitchFamily="18" charset="0"/>
                        </a:rPr>
                        <m:t>⨁</m:t>
                      </m:r>
                      <m:sSubSup>
                        <m:sSubSupPr>
                          <m:ctrlPr>
                            <a:rPr lang="en-US" altLang="zh-CN" sz="1200" i="1">
                              <a:solidFill>
                                <a:prstClr val="black"/>
                              </a:solidFill>
                              <a:latin typeface="Cambria Math" panose="02040503050406030204" pitchFamily="18" charset="0"/>
                            </a:rPr>
                          </m:ctrlPr>
                        </m:sSubSupPr>
                        <m:e>
                          <m:r>
                            <a:rPr lang="en-US" altLang="zh-CN" sz="1200" i="1">
                              <a:solidFill>
                                <a:prstClr val="black"/>
                              </a:solidFill>
                              <a:latin typeface="Cambria Math" panose="02040503050406030204" pitchFamily="18" charset="0"/>
                            </a:rPr>
                            <m:t>𝑈</m:t>
                          </m:r>
                        </m:e>
                        <m:sub>
                          <m:r>
                            <a:rPr lang="en-US" altLang="zh-CN" sz="1200" i="1">
                              <a:solidFill>
                                <a:prstClr val="black"/>
                              </a:solidFill>
                              <a:latin typeface="Cambria Math" panose="02040503050406030204" pitchFamily="18" charset="0"/>
                            </a:rPr>
                            <m:t>1,</m:t>
                          </m:r>
                          <m:d>
                            <m:dPr>
                              <m:begChr m:val="{"/>
                              <m:endChr m:val="}"/>
                              <m:ctrlPr>
                                <a:rPr lang="en-US" altLang="zh-CN" sz="1200" i="1">
                                  <a:solidFill>
                                    <a:prstClr val="black"/>
                                  </a:solidFill>
                                  <a:latin typeface="Cambria Math" panose="02040503050406030204" pitchFamily="18" charset="0"/>
                                </a:rPr>
                              </m:ctrlPr>
                            </m:dPr>
                            <m:e>
                              <m:r>
                                <a:rPr lang="en-US" altLang="zh-CN" sz="1200" i="1">
                                  <a:solidFill>
                                    <a:prstClr val="black"/>
                                  </a:solidFill>
                                  <a:latin typeface="Cambria Math" panose="02040503050406030204" pitchFamily="18" charset="0"/>
                                </a:rPr>
                                <m:t>2,3</m:t>
                              </m:r>
                            </m:e>
                          </m:d>
                          <m:r>
                            <a:rPr lang="en-US" altLang="zh-CN" sz="1200" i="1">
                              <a:solidFill>
                                <a:prstClr val="black"/>
                              </a:solidFill>
                              <a:latin typeface="Cambria Math" panose="02040503050406030204" pitchFamily="18" charset="0"/>
                            </a:rPr>
                            <m:t>,3</m:t>
                          </m:r>
                        </m:sub>
                        <m:sup>
                          <m:r>
                            <a:rPr lang="en-US" altLang="zh-CN" sz="1200" i="1">
                              <a:solidFill>
                                <a:prstClr val="black"/>
                              </a:solidFill>
                              <a:latin typeface="Cambria Math" panose="02040503050406030204" pitchFamily="18" charset="0"/>
                            </a:rPr>
                            <m:t>(</m:t>
                          </m:r>
                          <m:r>
                            <a:rPr lang="en-US" altLang="zh-CN" sz="1200" i="1" smtClean="0">
                              <a:solidFill>
                                <a:prstClr val="black"/>
                              </a:solidFill>
                              <a:latin typeface="Cambria Math" panose="02040503050406030204" pitchFamily="18" charset="0"/>
                            </a:rPr>
                            <m:t>4</m:t>
                          </m:r>
                          <m:r>
                            <a:rPr lang="en-US" altLang="zh-CN" sz="1200" i="1">
                              <a:solidFill>
                                <a:prstClr val="black"/>
                              </a:solidFill>
                              <a:latin typeface="Cambria Math" panose="02040503050406030204" pitchFamily="18" charset="0"/>
                            </a:rPr>
                            <m:t>)</m:t>
                          </m:r>
                        </m:sup>
                      </m:sSubSup>
                    </m:oMath>
                  </m:oMathPara>
                </a14:m>
                <a:endParaRPr lang="zh-CN" altLang="en-US" sz="1600" dirty="0">
                  <a:solidFill>
                    <a:prstClr val="black"/>
                  </a:solidFill>
                  <a:latin typeface="Calibri" panose="020F0502020204030204"/>
                  <a:ea typeface="等线" panose="02010600030101010101" pitchFamily="2" charset="-122"/>
                </a:endParaRPr>
              </a:p>
            </p:txBody>
          </p:sp>
        </mc:Choice>
        <mc:Fallback xmlns="">
          <p:sp>
            <p:nvSpPr>
              <p:cNvPr id="91" name="矩形 90">
                <a:extLst>
                  <a:ext uri="{FF2B5EF4-FFF2-40B4-BE49-F238E27FC236}">
                    <a16:creationId xmlns:a16="http://schemas.microsoft.com/office/drawing/2014/main" id="{130A2E09-AEF8-4CCB-9994-F8D84EC4AF2E}"/>
                  </a:ext>
                </a:extLst>
              </p:cNvPr>
              <p:cNvSpPr>
                <a:spLocks noRot="1" noChangeAspect="1" noMove="1" noResize="1" noEditPoints="1" noAdjustHandles="1" noChangeArrowheads="1" noChangeShapeType="1" noTextEdit="1"/>
              </p:cNvSpPr>
              <p:nvPr/>
            </p:nvSpPr>
            <p:spPr>
              <a:xfrm>
                <a:off x="5549868" y="4049211"/>
                <a:ext cx="1435487" cy="350096"/>
              </a:xfrm>
              <a:prstGeom prst="rect">
                <a:avLst/>
              </a:prstGeom>
              <a:blipFill>
                <a:blip r:embed="rId16"/>
                <a:stretch>
                  <a:fillRect/>
                </a:stretch>
              </a:blipFill>
            </p:spPr>
            <p:txBody>
              <a:bodyPr/>
              <a:lstStyle/>
              <a:p>
                <a:r>
                  <a:rPr lang="zh-CN" altLang="en-US">
                    <a:noFill/>
                  </a:rPr>
                  <a:t> </a:t>
                </a:r>
              </a:p>
            </p:txBody>
          </p:sp>
        </mc:Fallback>
      </mc:AlternateContent>
      <p:sp>
        <p:nvSpPr>
          <p:cNvPr id="92" name="弧形 91">
            <a:extLst>
              <a:ext uri="{FF2B5EF4-FFF2-40B4-BE49-F238E27FC236}">
                <a16:creationId xmlns:a16="http://schemas.microsoft.com/office/drawing/2014/main" id="{1AB8BDD5-E4D8-4338-8431-CB258BBA7B42}"/>
              </a:ext>
            </a:extLst>
          </p:cNvPr>
          <p:cNvSpPr/>
          <p:nvPr/>
        </p:nvSpPr>
        <p:spPr>
          <a:xfrm rot="10444263">
            <a:off x="4786797" y="2104004"/>
            <a:ext cx="413820" cy="2391243"/>
          </a:xfrm>
          <a:prstGeom prst="arc">
            <a:avLst>
              <a:gd name="adj1" fmla="val 16791571"/>
              <a:gd name="adj2" fmla="val 4194294"/>
            </a:avLst>
          </a:prstGeom>
          <a:noFill/>
          <a:ln w="6350" cap="flat" cmpd="sng" algn="ctr">
            <a:solidFill>
              <a:sysClr val="windowText" lastClr="000000">
                <a:lumMod val="95000"/>
                <a:lumOff val="5000"/>
              </a:sysClr>
            </a:solidFill>
            <a:prstDash val="lgDash"/>
            <a:miter lim="800000"/>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1"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93" name="弧形 92">
            <a:extLst>
              <a:ext uri="{FF2B5EF4-FFF2-40B4-BE49-F238E27FC236}">
                <a16:creationId xmlns:a16="http://schemas.microsoft.com/office/drawing/2014/main" id="{E9914801-0FDA-49E6-93A7-B1A4402DA60F}"/>
              </a:ext>
            </a:extLst>
          </p:cNvPr>
          <p:cNvSpPr/>
          <p:nvPr/>
        </p:nvSpPr>
        <p:spPr>
          <a:xfrm rot="16395958" flipH="1">
            <a:off x="5925653" y="2826936"/>
            <a:ext cx="638895" cy="2925484"/>
          </a:xfrm>
          <a:prstGeom prst="arc">
            <a:avLst>
              <a:gd name="adj1" fmla="val 16602090"/>
              <a:gd name="adj2" fmla="val 3888972"/>
            </a:avLst>
          </a:prstGeom>
          <a:noFill/>
          <a:ln w="6350" cap="flat" cmpd="sng" algn="ctr">
            <a:solidFill>
              <a:sysClr val="windowText" lastClr="000000">
                <a:lumMod val="95000"/>
                <a:lumOff val="5000"/>
              </a:sysClr>
            </a:solidFill>
            <a:prstDash val="lgDash"/>
            <a:miter lim="800000"/>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1"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94" name="弧形 93">
            <a:extLst>
              <a:ext uri="{FF2B5EF4-FFF2-40B4-BE49-F238E27FC236}">
                <a16:creationId xmlns:a16="http://schemas.microsoft.com/office/drawing/2014/main" id="{653C5EA8-119D-4740-89C3-34145B9D3620}"/>
              </a:ext>
            </a:extLst>
          </p:cNvPr>
          <p:cNvSpPr/>
          <p:nvPr/>
        </p:nvSpPr>
        <p:spPr>
          <a:xfrm rot="5029112">
            <a:off x="4889488" y="3086030"/>
            <a:ext cx="528549" cy="2458857"/>
          </a:xfrm>
          <a:prstGeom prst="arc">
            <a:avLst>
              <a:gd name="adj1" fmla="val 16650529"/>
              <a:gd name="adj2" fmla="val 4644547"/>
            </a:avLst>
          </a:prstGeom>
          <a:noFill/>
          <a:ln w="6350" cap="flat" cmpd="sng" algn="ctr">
            <a:solidFill>
              <a:sysClr val="windowText" lastClr="000000">
                <a:lumMod val="95000"/>
                <a:lumOff val="5000"/>
              </a:sysClr>
            </a:solidFill>
            <a:prstDash val="lgDash"/>
            <a:miter lim="800000"/>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1"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95" name="弧形 94">
            <a:extLst>
              <a:ext uri="{FF2B5EF4-FFF2-40B4-BE49-F238E27FC236}">
                <a16:creationId xmlns:a16="http://schemas.microsoft.com/office/drawing/2014/main" id="{ABEF6ADD-DD79-41B2-ABF8-530B5EBF3BCE}"/>
              </a:ext>
            </a:extLst>
          </p:cNvPr>
          <p:cNvSpPr/>
          <p:nvPr/>
        </p:nvSpPr>
        <p:spPr>
          <a:xfrm rot="11275482" flipH="1">
            <a:off x="5861273" y="2407156"/>
            <a:ext cx="485199" cy="2220291"/>
          </a:xfrm>
          <a:prstGeom prst="arc">
            <a:avLst>
              <a:gd name="adj1" fmla="val 17317555"/>
              <a:gd name="adj2" fmla="val 4599506"/>
            </a:avLst>
          </a:prstGeom>
          <a:noFill/>
          <a:ln w="6350" cap="flat" cmpd="sng" algn="ctr">
            <a:solidFill>
              <a:sysClr val="windowText" lastClr="000000">
                <a:lumMod val="95000"/>
                <a:lumOff val="5000"/>
              </a:sysClr>
            </a:solidFill>
            <a:prstDash val="lgDash"/>
            <a:miter lim="800000"/>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1"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96" name="弧形 95">
            <a:extLst>
              <a:ext uri="{FF2B5EF4-FFF2-40B4-BE49-F238E27FC236}">
                <a16:creationId xmlns:a16="http://schemas.microsoft.com/office/drawing/2014/main" id="{D66469EB-9233-4FE5-9E4F-70BEDC746331}"/>
              </a:ext>
            </a:extLst>
          </p:cNvPr>
          <p:cNvSpPr/>
          <p:nvPr/>
        </p:nvSpPr>
        <p:spPr>
          <a:xfrm rot="4091547">
            <a:off x="4701169" y="2749271"/>
            <a:ext cx="228191" cy="2017313"/>
          </a:xfrm>
          <a:prstGeom prst="arc">
            <a:avLst>
              <a:gd name="adj1" fmla="val 16495223"/>
              <a:gd name="adj2" fmla="val 4802923"/>
            </a:avLst>
          </a:prstGeom>
          <a:noFill/>
          <a:ln w="6350" cap="flat" cmpd="sng" algn="ctr">
            <a:solidFill>
              <a:sysClr val="windowText" lastClr="000000">
                <a:lumMod val="95000"/>
                <a:lumOff val="5000"/>
              </a:sysClr>
            </a:solidFill>
            <a:prstDash val="lgDash"/>
            <a:miter lim="800000"/>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1"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97" name="弧形 96">
            <a:extLst>
              <a:ext uri="{FF2B5EF4-FFF2-40B4-BE49-F238E27FC236}">
                <a16:creationId xmlns:a16="http://schemas.microsoft.com/office/drawing/2014/main" id="{95AE294F-751A-400C-9737-E24610F8D393}"/>
              </a:ext>
            </a:extLst>
          </p:cNvPr>
          <p:cNvSpPr/>
          <p:nvPr/>
        </p:nvSpPr>
        <p:spPr>
          <a:xfrm rot="17383186" flipH="1">
            <a:off x="6088523" y="2719260"/>
            <a:ext cx="321595" cy="1862247"/>
          </a:xfrm>
          <a:prstGeom prst="arc">
            <a:avLst>
              <a:gd name="adj1" fmla="val 16769067"/>
              <a:gd name="adj2" fmla="val 4862001"/>
            </a:avLst>
          </a:prstGeom>
          <a:noFill/>
          <a:ln w="6350" cap="flat" cmpd="sng" algn="ctr">
            <a:solidFill>
              <a:sysClr val="windowText" lastClr="000000">
                <a:lumMod val="95000"/>
                <a:lumOff val="5000"/>
              </a:sysClr>
            </a:solidFill>
            <a:prstDash val="lgDash"/>
            <a:miter lim="800000"/>
            <a:headEnd type="none" w="med" len="med"/>
            <a:tailEnd type="triangle" w="med" len="me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351"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cxnSp>
        <p:nvCxnSpPr>
          <p:cNvPr id="98" name="直接连接符 97">
            <a:extLst>
              <a:ext uri="{FF2B5EF4-FFF2-40B4-BE49-F238E27FC236}">
                <a16:creationId xmlns:a16="http://schemas.microsoft.com/office/drawing/2014/main" id="{9F796D02-AD35-41A7-8150-E017E30CEDF5}"/>
              </a:ext>
            </a:extLst>
          </p:cNvPr>
          <p:cNvCxnSpPr>
            <a:cxnSpLocks/>
          </p:cNvCxnSpPr>
          <p:nvPr/>
        </p:nvCxnSpPr>
        <p:spPr>
          <a:xfrm>
            <a:off x="5574531" y="3102359"/>
            <a:ext cx="0" cy="435996"/>
          </a:xfrm>
          <a:prstGeom prst="line">
            <a:avLst/>
          </a:prstGeom>
          <a:noFill/>
          <a:ln w="6350" cap="flat" cmpd="sng" algn="ctr">
            <a:solidFill>
              <a:sysClr val="windowText" lastClr="000000">
                <a:lumMod val="95000"/>
                <a:lumOff val="5000"/>
              </a:sysClr>
            </a:solidFill>
            <a:prstDash val="lgDash"/>
            <a:miter lim="800000"/>
          </a:ln>
          <a:effectLst/>
        </p:spPr>
      </p:cxnSp>
      <p:sp>
        <p:nvSpPr>
          <p:cNvPr id="99" name="矩形 98">
            <a:extLst>
              <a:ext uri="{FF2B5EF4-FFF2-40B4-BE49-F238E27FC236}">
                <a16:creationId xmlns:a16="http://schemas.microsoft.com/office/drawing/2014/main" id="{4847FCA6-C89C-40B4-BA05-A9E1B7A10B84}"/>
              </a:ext>
            </a:extLst>
          </p:cNvPr>
          <p:cNvSpPr/>
          <p:nvPr/>
        </p:nvSpPr>
        <p:spPr>
          <a:xfrm>
            <a:off x="2151675" y="2302695"/>
            <a:ext cx="1611980" cy="480837"/>
          </a:xfrm>
          <a:prstGeom prst="rect">
            <a:avLst/>
          </a:prstGeom>
        </p:spPr>
        <p:txBody>
          <a:bodyPr wrap="none">
            <a:spAutoFit/>
          </a:bodyPr>
          <a:lstStyle/>
          <a:p>
            <a:pPr>
              <a:lnSpc>
                <a:spcPts val="3299"/>
              </a:lnSpc>
            </a:pPr>
            <a:r>
              <a:rPr lang="en-US" altLang="zh-CN" sz="2100" b="1" dirty="0">
                <a:solidFill>
                  <a:srgbClr val="00B0F0"/>
                </a:solidFill>
                <a:latin typeface="Calibri" panose="020F0502020204030204"/>
                <a:ea typeface="等线" panose="02010600030101010101" pitchFamily="2" charset="-122"/>
              </a:rPr>
              <a:t>Fog Network</a:t>
            </a:r>
          </a:p>
        </p:txBody>
      </p:sp>
      <mc:AlternateContent xmlns:mc="http://schemas.openxmlformats.org/markup-compatibility/2006" xmlns:a14="http://schemas.microsoft.com/office/drawing/2010/main">
        <mc:Choice Requires="a14">
          <p:sp>
            <p:nvSpPr>
              <p:cNvPr id="100" name="文本框 99">
                <a:extLst>
                  <a:ext uri="{FF2B5EF4-FFF2-40B4-BE49-F238E27FC236}">
                    <a16:creationId xmlns:a16="http://schemas.microsoft.com/office/drawing/2014/main" id="{BE7DDEF9-4B77-43FD-BE1D-C80F21AE6759}"/>
                  </a:ext>
                </a:extLst>
              </p:cNvPr>
              <p:cNvSpPr txBox="1"/>
              <p:nvPr/>
            </p:nvSpPr>
            <p:spPr>
              <a:xfrm>
                <a:off x="8167120" y="1248229"/>
                <a:ext cx="1736975" cy="523220"/>
              </a:xfrm>
              <a:prstGeom prst="rect">
                <a:avLst/>
              </a:prstGeom>
              <a:noFill/>
            </p:spPr>
            <p:txBody>
              <a:bodyPr wrap="square" rtlCol="0">
                <a:spAutoFit/>
              </a:bodyPr>
              <a:lstStyle/>
              <a:p>
                <a14:m>
                  <m:oMath xmlns:m="http://schemas.openxmlformats.org/officeDocument/2006/math">
                    <m:r>
                      <a:rPr lang="en-US" altLang="zh-CN" sz="1400" b="0" i="1">
                        <a:solidFill>
                          <a:srgbClr val="00B0F0"/>
                        </a:solidFill>
                        <a:latin typeface="Cambria Math" panose="02040503050406030204" pitchFamily="18" charset="0"/>
                        <a:ea typeface="Cambria Math" panose="02040503050406030204" pitchFamily="18" charset="0"/>
                      </a:rPr>
                      <m:t>⇒</m:t>
                    </m:r>
                  </m:oMath>
                </a14:m>
                <a:r>
                  <a:rPr lang="zh-CN" altLang="en-US" sz="1400" dirty="0">
                    <a:solidFill>
                      <a:prstClr val="black"/>
                    </a:solidFill>
                    <a:latin typeface="Calibri" panose="020F0502020204030204"/>
                    <a:ea typeface="等线" panose="02010600030101010101" pitchFamily="2" charset="-122"/>
                  </a:rPr>
                  <a:t>  </a:t>
                </a:r>
                <a:r>
                  <a:rPr lang="en-US" altLang="zh-CN" sz="1400" dirty="0">
                    <a:solidFill>
                      <a:prstClr val="black"/>
                    </a:solidFill>
                    <a:latin typeface="Calibri" panose="020F0502020204030204"/>
                    <a:ea typeface="等线" panose="02010600030101010101" pitchFamily="2" charset="-122"/>
                  </a:rPr>
                  <a:t>Concatenate</a:t>
                </a:r>
              </a:p>
              <a:p>
                <a14:m>
                  <m:oMath xmlns:m="http://schemas.openxmlformats.org/officeDocument/2006/math">
                    <m:r>
                      <a:rPr lang="en-US" altLang="zh-CN" sz="1400" b="0" i="1">
                        <a:solidFill>
                          <a:srgbClr val="FF0000"/>
                        </a:solidFill>
                        <a:latin typeface="Cambria Math" panose="02040503050406030204" pitchFamily="18" charset="0"/>
                        <a:ea typeface="Cambria Math" panose="02040503050406030204" pitchFamily="18" charset="0"/>
                      </a:rPr>
                      <m:t>⇒</m:t>
                    </m:r>
                  </m:oMath>
                </a14:m>
                <a:r>
                  <a:rPr lang="en-US" altLang="zh-CN" sz="1400" dirty="0">
                    <a:solidFill>
                      <a:prstClr val="black"/>
                    </a:solidFill>
                    <a:latin typeface="Calibri" panose="020F0502020204030204"/>
                    <a:ea typeface="等线" panose="02010600030101010101" pitchFamily="2" charset="-122"/>
                  </a:rPr>
                  <a:t>  Split</a:t>
                </a:r>
                <a:endParaRPr lang="zh-CN" altLang="en-US" sz="1400" dirty="0">
                  <a:solidFill>
                    <a:prstClr val="black"/>
                  </a:solidFill>
                  <a:latin typeface="Calibri" panose="020F0502020204030204"/>
                  <a:ea typeface="等线" panose="02010600030101010101" pitchFamily="2" charset="-122"/>
                </a:endParaRPr>
              </a:p>
            </p:txBody>
          </p:sp>
        </mc:Choice>
        <mc:Fallback xmlns="">
          <p:sp>
            <p:nvSpPr>
              <p:cNvPr id="100" name="文本框 99">
                <a:extLst>
                  <a:ext uri="{FF2B5EF4-FFF2-40B4-BE49-F238E27FC236}">
                    <a16:creationId xmlns:a16="http://schemas.microsoft.com/office/drawing/2014/main" id="{BE7DDEF9-4B77-43FD-BE1D-C80F21AE6759}"/>
                  </a:ext>
                </a:extLst>
              </p:cNvPr>
              <p:cNvSpPr txBox="1">
                <a:spLocks noRot="1" noChangeAspect="1" noMove="1" noResize="1" noEditPoints="1" noAdjustHandles="1" noChangeArrowheads="1" noChangeShapeType="1" noTextEdit="1"/>
              </p:cNvSpPr>
              <p:nvPr/>
            </p:nvSpPr>
            <p:spPr>
              <a:xfrm>
                <a:off x="8167120" y="1248229"/>
                <a:ext cx="1736975" cy="523220"/>
              </a:xfrm>
              <a:prstGeom prst="rect">
                <a:avLst/>
              </a:prstGeom>
              <a:blipFill>
                <a:blip r:embed="rId17"/>
                <a:stretch>
                  <a:fillRect t="-2326" b="-10465"/>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42438FD9-233B-4B90-AF74-E0E2B7D9BECB}"/>
              </a:ext>
            </a:extLst>
          </p:cNvPr>
          <p:cNvSpPr>
            <a:spLocks noGrp="1"/>
          </p:cNvSpPr>
          <p:nvPr>
            <p:ph type="sldNum" sz="quarter" idx="12"/>
          </p:nvPr>
        </p:nvSpPr>
        <p:spPr/>
        <p:txBody>
          <a:bodyPr/>
          <a:lstStyle/>
          <a:p>
            <a:fld id="{B125EA80-F692-46D2-AFCC-CA48803B46EF}" type="slidenum">
              <a:rPr lang="zh-CN" altLang="en-US" smtClean="0"/>
              <a:t>23</a:t>
            </a:fld>
            <a:endParaRPr lang="zh-CN" altLang="en-US" dirty="0"/>
          </a:p>
        </p:txBody>
      </p:sp>
      <p:sp>
        <p:nvSpPr>
          <p:cNvPr id="101" name="箭头: 下 100">
            <a:extLst>
              <a:ext uri="{FF2B5EF4-FFF2-40B4-BE49-F238E27FC236}">
                <a16:creationId xmlns:a16="http://schemas.microsoft.com/office/drawing/2014/main" id="{E04D9696-CF0E-47FD-AAB5-AF2450AA64EC}"/>
              </a:ext>
            </a:extLst>
          </p:cNvPr>
          <p:cNvSpPr/>
          <p:nvPr/>
        </p:nvSpPr>
        <p:spPr>
          <a:xfrm>
            <a:off x="7558108" y="4111170"/>
            <a:ext cx="1045682" cy="261107"/>
          </a:xfrm>
          <a:prstGeom prst="downArrow">
            <a:avLst/>
          </a:prstGeom>
          <a:no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Map</a:t>
            </a:r>
            <a:endParaRPr kumimoji="0" lang="zh-CN" altLang="en-US" sz="11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102" name="箭头: 下 101">
            <a:extLst>
              <a:ext uri="{FF2B5EF4-FFF2-40B4-BE49-F238E27FC236}">
                <a16:creationId xmlns:a16="http://schemas.microsoft.com/office/drawing/2014/main" id="{80BFF42B-4770-4562-8CF1-D3C5817B7E1F}"/>
              </a:ext>
            </a:extLst>
          </p:cNvPr>
          <p:cNvSpPr/>
          <p:nvPr/>
        </p:nvSpPr>
        <p:spPr>
          <a:xfrm>
            <a:off x="5015748" y="2158075"/>
            <a:ext cx="1045682" cy="261107"/>
          </a:xfrm>
          <a:prstGeom prst="downArrow">
            <a:avLst/>
          </a:prstGeom>
          <a:noFill/>
          <a:ln w="12700"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1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rPr>
              <a:t>Map</a:t>
            </a:r>
            <a:endParaRPr kumimoji="0" lang="zh-CN" altLang="en-US" sz="1100" b="0" i="0" u="none" strike="noStrike" kern="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423670737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lvl="0">
              <a:lnSpc>
                <a:spcPts val="4400"/>
              </a:lnSpc>
              <a:defRPr/>
            </a:pP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 4. </a:t>
            </a:r>
            <a:r>
              <a:rPr lang="zh-CN" altLang="en-US" sz="2800" b="1" dirty="0">
                <a:solidFill>
                  <a:prstClr val="white"/>
                </a:solidFill>
              </a:rPr>
              <a:t>雾网络下基于压缩编码技术的分布式矩阵</a:t>
            </a:r>
            <a:r>
              <a:rPr lang="en-US" altLang="zh-CN" sz="2800" b="1" dirty="0">
                <a:solidFill>
                  <a:prstClr val="white"/>
                </a:solidFill>
              </a:rPr>
              <a:t>-</a:t>
            </a:r>
            <a:r>
              <a:rPr lang="zh-CN" altLang="en-US" sz="2800" b="1" dirty="0">
                <a:solidFill>
                  <a:prstClr val="white"/>
                </a:solidFill>
              </a:rPr>
              <a:t>向量乘法运算算法</a:t>
            </a:r>
            <a:r>
              <a:rPr lang="zh-CN" altLang="en-US" sz="2800" b="1" dirty="0">
                <a:solidFill>
                  <a:schemeClr val="bg1"/>
                </a:solidFill>
              </a:rPr>
              <a:t>（方案示例）</a:t>
            </a:r>
            <a:endParaRPr kumimoji="0" lang="en-US" altLang="zh-CN" sz="2800" b="1" i="0" u="none" strike="noStrike" kern="1200" cap="none" spc="0" normalizeH="0" baseline="0" noProof="0" dirty="0">
              <a:ln>
                <a:noFill/>
              </a:ln>
              <a:solidFill>
                <a:prstClr val="white"/>
              </a:solidFill>
              <a:effectLst/>
              <a:uLnTx/>
              <a:uFillTx/>
              <a:latin typeface="Arial"/>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0" normalizeH="0" baseline="0" noProof="0" dirty="0">
              <a:ln>
                <a:noFill/>
              </a:ln>
              <a:solidFill>
                <a:prstClr val="white"/>
              </a:solidFill>
              <a:effectLst/>
              <a:uLnTx/>
              <a:uFillTx/>
              <a:latin typeface="Arial"/>
              <a:ea typeface="微软雅黑"/>
              <a:cs typeface="+mn-cs"/>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55448" y="832104"/>
            <a:ext cx="11868912" cy="5401479"/>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000" b="1" dirty="0">
                <a:solidFill>
                  <a:prstClr val="black"/>
                </a:solidFill>
                <a:latin typeface="Arial"/>
                <a:ea typeface="微软雅黑"/>
              </a:rPr>
              <a:t>方案示例（            </a:t>
            </a:r>
            <a:r>
              <a:rPr lang="en-US" altLang="zh-CN" sz="2000" b="1" dirty="0">
                <a:solidFill>
                  <a:prstClr val="black"/>
                </a:solidFill>
                <a:latin typeface="Arial"/>
                <a:ea typeface="微软雅黑"/>
              </a:rPr>
              <a:t>,           ,</a:t>
            </a:r>
            <a:r>
              <a:rPr lang="zh-CN" altLang="en-US" sz="2000" b="1" dirty="0">
                <a:solidFill>
                  <a:prstClr val="black"/>
                </a:solidFill>
                <a:latin typeface="Arial"/>
                <a:ea typeface="微软雅黑"/>
              </a:rPr>
              <a:t>          </a:t>
            </a:r>
            <a:r>
              <a:rPr lang="en-US" altLang="zh-CN" sz="2000" b="1" dirty="0">
                <a:solidFill>
                  <a:prstClr val="black"/>
                </a:solidFill>
                <a:latin typeface="Arial"/>
                <a:ea typeface="微软雅黑"/>
              </a:rPr>
              <a:t>, </a:t>
            </a:r>
            <a:r>
              <a:rPr lang="zh-CN" altLang="en-US" sz="2000" b="1" dirty="0">
                <a:solidFill>
                  <a:prstClr val="black"/>
                </a:solidFill>
                <a:latin typeface="Arial"/>
                <a:ea typeface="微软雅黑"/>
              </a:rPr>
              <a:t>         ）</a:t>
            </a:r>
            <a:endParaRPr lang="en-US" altLang="zh-CN" sz="2000" b="1" dirty="0">
              <a:solidFill>
                <a:prstClr val="black"/>
              </a:solidFill>
              <a:latin typeface="Arial"/>
              <a:ea typeface="微软雅黑"/>
            </a:endParaRPr>
          </a:p>
          <a:p>
            <a:pPr marL="342900" lvl="0" indent="-342900">
              <a:lnSpc>
                <a:spcPct val="150000"/>
              </a:lnSpc>
              <a:buFont typeface="+mj-lt"/>
              <a:buAutoNum type="arabicPeriod" startAt="4"/>
            </a:pPr>
            <a:r>
              <a:rPr lang="zh-CN" altLang="en-US" b="1" dirty="0">
                <a:solidFill>
                  <a:prstClr val="black"/>
                </a:solidFill>
              </a:rPr>
              <a:t>恢复并输出</a:t>
            </a:r>
            <a:endParaRPr lang="en-US" altLang="zh-CN" b="1" dirty="0">
              <a:solidFill>
                <a:prstClr val="black"/>
              </a:solidFill>
            </a:endParaRPr>
          </a:p>
          <a:p>
            <a:pPr marL="285750" lvl="0" indent="-285750">
              <a:lnSpc>
                <a:spcPct val="150000"/>
              </a:lnSpc>
              <a:buFont typeface="Wingdings" panose="05000000000000000000" pitchFamily="2" charset="2"/>
              <a:buChar char="p"/>
            </a:pPr>
            <a:r>
              <a:rPr lang="zh-CN" altLang="en-US" sz="1600" b="1" dirty="0">
                <a:solidFill>
                  <a:prstClr val="black"/>
                </a:solidFill>
              </a:rPr>
              <a:t>刚才我们考虑节点分组</a:t>
            </a:r>
            <a:r>
              <a:rPr lang="en-US" altLang="zh-CN" sz="1600" b="1" dirty="0">
                <a:solidFill>
                  <a:prstClr val="black"/>
                </a:solidFill>
              </a:rPr>
              <a:t>{1,2,3}  </a:t>
            </a:r>
            <a:r>
              <a:rPr lang="zh-CN" altLang="en-US" sz="1600" b="1" dirty="0">
                <a:solidFill>
                  <a:prstClr val="black"/>
                </a:solidFill>
              </a:rPr>
              <a:t>，我们对剩余的节点分组</a:t>
            </a:r>
            <a:r>
              <a:rPr lang="en-US" altLang="zh-CN" sz="1600" b="1" dirty="0">
                <a:solidFill>
                  <a:prstClr val="black"/>
                </a:solidFill>
              </a:rPr>
              <a:t>{1,2,4}</a:t>
            </a:r>
            <a:r>
              <a:rPr lang="zh-CN" altLang="en-US" sz="1600" b="1" dirty="0">
                <a:solidFill>
                  <a:prstClr val="black"/>
                </a:solidFill>
              </a:rPr>
              <a:t>，</a:t>
            </a:r>
            <a:r>
              <a:rPr lang="en-US" altLang="zh-CN" sz="1600" b="1" dirty="0">
                <a:solidFill>
                  <a:prstClr val="black"/>
                </a:solidFill>
              </a:rPr>
              <a:t>{1,3,4}</a:t>
            </a:r>
            <a:r>
              <a:rPr lang="zh-CN" altLang="en-US" sz="1600" b="1" dirty="0">
                <a:solidFill>
                  <a:prstClr val="black"/>
                </a:solidFill>
              </a:rPr>
              <a:t>和</a:t>
            </a:r>
            <a:r>
              <a:rPr lang="en-US" altLang="zh-CN" sz="1600" b="1" dirty="0">
                <a:solidFill>
                  <a:prstClr val="black"/>
                </a:solidFill>
              </a:rPr>
              <a:t>{2,3,4}</a:t>
            </a:r>
            <a:r>
              <a:rPr lang="zh-CN" altLang="en-US" sz="1600" b="1" dirty="0">
                <a:solidFill>
                  <a:prstClr val="black"/>
                </a:solidFill>
              </a:rPr>
              <a:t>执行上述相同的操作即可输出分布式结果</a:t>
            </a:r>
            <a:endParaRPr lang="en-US" altLang="zh-CN" b="1" dirty="0">
              <a:solidFill>
                <a:prstClr val="black"/>
              </a:solidFill>
            </a:endParaRPr>
          </a:p>
          <a:p>
            <a:pPr marL="360000" lvl="0" indent="-285750">
              <a:lnSpc>
                <a:spcPct val="200000"/>
              </a:lnSpc>
              <a:buFont typeface="Wingdings" panose="05000000000000000000" pitchFamily="2" charset="2"/>
              <a:buChar char="Ø"/>
            </a:pPr>
            <a:r>
              <a:rPr lang="zh-CN" altLang="en-US" sz="1600" dirty="0">
                <a:solidFill>
                  <a:prstClr val="black"/>
                </a:solidFill>
              </a:rPr>
              <a:t>考虑节点</a:t>
            </a:r>
            <a:r>
              <a:rPr lang="en-US" altLang="zh-CN" sz="1600" dirty="0">
                <a:solidFill>
                  <a:prstClr val="black"/>
                </a:solidFill>
              </a:rPr>
              <a:t>1</a:t>
            </a:r>
          </a:p>
          <a:p>
            <a:pPr marL="432000" lvl="0" indent="-285750">
              <a:lnSpc>
                <a:spcPct val="200000"/>
              </a:lnSpc>
              <a:buFont typeface="Arial" panose="020B0604020202020204" pitchFamily="34" charset="0"/>
              <a:buChar char="•"/>
            </a:pPr>
            <a:r>
              <a:rPr lang="zh-CN" altLang="en-US" sz="1600" dirty="0">
                <a:solidFill>
                  <a:prstClr val="black"/>
                </a:solidFill>
                <a:latin typeface="Arial"/>
                <a:ea typeface="微软雅黑"/>
              </a:rPr>
              <a:t>在分组</a:t>
            </a:r>
            <a:r>
              <a:rPr lang="en-US" altLang="zh-CN" sz="1600" dirty="0">
                <a:solidFill>
                  <a:prstClr val="black"/>
                </a:solidFill>
              </a:rPr>
              <a:t>{1,2,3}</a:t>
            </a:r>
            <a:r>
              <a:rPr lang="zh-CN" altLang="en-US" sz="1600" dirty="0">
                <a:solidFill>
                  <a:prstClr val="black"/>
                </a:solidFill>
              </a:rPr>
              <a:t>中，其可得到</a:t>
            </a:r>
            <a:endParaRPr lang="en-US" altLang="zh-CN" sz="1600" dirty="0">
              <a:solidFill>
                <a:prstClr val="black"/>
              </a:solidFill>
            </a:endParaRPr>
          </a:p>
          <a:p>
            <a:pPr marL="432000" lvl="0" indent="-285750">
              <a:lnSpc>
                <a:spcPct val="200000"/>
              </a:lnSpc>
              <a:buFont typeface="Arial" panose="020B0604020202020204" pitchFamily="34" charset="0"/>
              <a:buChar char="•"/>
            </a:pPr>
            <a:r>
              <a:rPr lang="zh-CN" altLang="en-US" sz="1600" dirty="0">
                <a:solidFill>
                  <a:prstClr val="black"/>
                </a:solidFill>
                <a:latin typeface="Arial"/>
                <a:ea typeface="微软雅黑"/>
              </a:rPr>
              <a:t>在分组</a:t>
            </a:r>
            <a:r>
              <a:rPr lang="en-US" altLang="zh-CN" sz="1600" dirty="0">
                <a:solidFill>
                  <a:prstClr val="black"/>
                </a:solidFill>
              </a:rPr>
              <a:t>{1,2,4}</a:t>
            </a:r>
            <a:r>
              <a:rPr lang="zh-CN" altLang="en-US" sz="1600" dirty="0">
                <a:solidFill>
                  <a:prstClr val="black"/>
                </a:solidFill>
              </a:rPr>
              <a:t>中，其可得到</a:t>
            </a:r>
            <a:endParaRPr lang="en-US" altLang="zh-CN" sz="1600" dirty="0">
              <a:solidFill>
                <a:prstClr val="black"/>
              </a:solidFill>
            </a:endParaRPr>
          </a:p>
          <a:p>
            <a:pPr marL="432000" lvl="0" indent="-285750">
              <a:lnSpc>
                <a:spcPct val="200000"/>
              </a:lnSpc>
              <a:buFont typeface="Arial" panose="020B0604020202020204" pitchFamily="34" charset="0"/>
              <a:buChar char="•"/>
            </a:pPr>
            <a:r>
              <a:rPr lang="zh-CN" altLang="en-US" sz="1600" dirty="0">
                <a:solidFill>
                  <a:prstClr val="black"/>
                </a:solidFill>
                <a:latin typeface="Arial"/>
                <a:ea typeface="微软雅黑"/>
              </a:rPr>
              <a:t>在分组</a:t>
            </a:r>
            <a:r>
              <a:rPr lang="en-US" altLang="zh-CN" sz="1600" dirty="0">
                <a:solidFill>
                  <a:prstClr val="black"/>
                </a:solidFill>
              </a:rPr>
              <a:t>{1,3,4}</a:t>
            </a:r>
            <a:r>
              <a:rPr lang="zh-CN" altLang="en-US" sz="1600" dirty="0">
                <a:solidFill>
                  <a:prstClr val="black"/>
                </a:solidFill>
              </a:rPr>
              <a:t>中，其可得到</a:t>
            </a:r>
            <a:endParaRPr lang="en-US" altLang="zh-CN" sz="1600"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L="360000" lvl="0" indent="-285750">
              <a:lnSpc>
                <a:spcPct val="200000"/>
              </a:lnSpc>
              <a:buFont typeface="Wingdings" panose="05000000000000000000" pitchFamily="2" charset="2"/>
              <a:buChar char="Ø"/>
            </a:pPr>
            <a:r>
              <a:rPr lang="zh-CN" altLang="en-US" sz="1600" dirty="0">
                <a:solidFill>
                  <a:prstClr val="black"/>
                </a:solidFill>
              </a:rPr>
              <a:t>其他节点同理可得</a:t>
            </a:r>
            <a:endParaRPr lang="en-US" altLang="zh-CN" dirty="0">
              <a:solidFill>
                <a:prstClr val="black"/>
              </a:solidFill>
              <a:latin typeface="Arial"/>
              <a:ea typeface="微软雅黑"/>
            </a:endParaRPr>
          </a:p>
          <a:p>
            <a:pPr marL="285750" lvl="0" indent="-285750">
              <a:lnSpc>
                <a:spcPct val="150000"/>
              </a:lnSpc>
              <a:buFont typeface="Wingdings" panose="05000000000000000000" pitchFamily="2" charset="2"/>
              <a:buChar char="p"/>
            </a:pPr>
            <a:r>
              <a:rPr lang="zh-CN" altLang="en-US" sz="1600" b="1" dirty="0">
                <a:solidFill>
                  <a:prstClr val="black"/>
                </a:solidFill>
              </a:rPr>
              <a:t>最终，</a:t>
            </a:r>
            <a:r>
              <a:rPr lang="en-US" altLang="zh-CN" sz="1600" b="1" dirty="0">
                <a:solidFill>
                  <a:prstClr val="black"/>
                </a:solidFill>
              </a:rPr>
              <a:t>4</a:t>
            </a:r>
            <a:r>
              <a:rPr lang="zh-CN" altLang="en-US" sz="1600" b="1" dirty="0">
                <a:solidFill>
                  <a:prstClr val="black"/>
                </a:solidFill>
              </a:rPr>
              <a:t>个节点可以协同输出</a:t>
            </a:r>
            <a:r>
              <a:rPr lang="en-US" altLang="zh-CN" sz="1600" b="1" dirty="0">
                <a:solidFill>
                  <a:prstClr val="black"/>
                </a:solidFill>
              </a:rPr>
              <a:t>4</a:t>
            </a:r>
            <a:r>
              <a:rPr lang="zh-CN" altLang="en-US" sz="1600" b="1" dirty="0">
                <a:solidFill>
                  <a:prstClr val="black"/>
                </a:solidFill>
              </a:rPr>
              <a:t>个</a:t>
            </a:r>
            <a:r>
              <a:rPr lang="en-US" altLang="zh-CN" sz="1600" b="1" dirty="0">
                <a:solidFill>
                  <a:prstClr val="black"/>
                </a:solidFill>
              </a:rPr>
              <a:t>MapReduce</a:t>
            </a:r>
            <a:r>
              <a:rPr lang="zh-CN" altLang="en-US" sz="1600" b="1" dirty="0">
                <a:solidFill>
                  <a:prstClr val="black"/>
                </a:solidFill>
              </a:rPr>
              <a:t>作业的矩阵</a:t>
            </a:r>
            <a:r>
              <a:rPr lang="en-US" altLang="zh-CN" sz="1600" b="1" dirty="0">
                <a:solidFill>
                  <a:prstClr val="black"/>
                </a:solidFill>
              </a:rPr>
              <a:t>-</a:t>
            </a:r>
            <a:r>
              <a:rPr lang="zh-CN" altLang="en-US" sz="1600" b="1" dirty="0">
                <a:solidFill>
                  <a:prstClr val="black"/>
                </a:solidFill>
              </a:rPr>
              <a:t>向量乘法运算结果</a:t>
            </a: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a:p>
            <a:pPr marR="0" lvl="0" algn="l" defTabSz="457200" rtl="0" eaLnBrk="1" fontAlgn="auto" latinLnBrk="0" hangingPunct="1">
              <a:lnSpc>
                <a:spcPct val="100000"/>
              </a:lnSpc>
              <a:spcBef>
                <a:spcPts val="0"/>
              </a:spcBef>
              <a:spcAft>
                <a:spcPts val="0"/>
              </a:spcAft>
              <a:buClrTx/>
              <a:buSzTx/>
              <a:tabLst/>
              <a:defRPr/>
            </a:pPr>
            <a:endParaRPr lang="en-US" altLang="zh-CN" dirty="0">
              <a:solidFill>
                <a:prstClr val="black"/>
              </a:solidFill>
              <a:latin typeface="Arial"/>
              <a:ea typeface="微软雅黑"/>
            </a:endParaRPr>
          </a:p>
        </p:txBody>
      </p:sp>
      <p:pic>
        <p:nvPicPr>
          <p:cNvPr id="3" name="图片 2">
            <a:extLst>
              <a:ext uri="{FF2B5EF4-FFF2-40B4-BE49-F238E27FC236}">
                <a16:creationId xmlns:a16="http://schemas.microsoft.com/office/drawing/2014/main" id="{A32F3BDC-8659-4ECD-BC47-80F066F32F5F}"/>
              </a:ext>
            </a:extLst>
          </p:cNvPr>
          <p:cNvPicPr>
            <a:picLocks noChangeAspect="1"/>
          </p:cNvPicPr>
          <p:nvPr/>
        </p:nvPicPr>
        <p:blipFill>
          <a:blip r:embed="rId3"/>
          <a:stretch>
            <a:fillRect/>
          </a:stretch>
        </p:blipFill>
        <p:spPr>
          <a:xfrm>
            <a:off x="1833563" y="937916"/>
            <a:ext cx="862012" cy="266995"/>
          </a:xfrm>
          <a:prstGeom prst="rect">
            <a:avLst/>
          </a:prstGeom>
        </p:spPr>
      </p:pic>
      <p:pic>
        <p:nvPicPr>
          <p:cNvPr id="6" name="图片 5">
            <a:extLst>
              <a:ext uri="{FF2B5EF4-FFF2-40B4-BE49-F238E27FC236}">
                <a16:creationId xmlns:a16="http://schemas.microsoft.com/office/drawing/2014/main" id="{BF275A9F-3813-47AF-BDB8-A3AD3F9C1A33}"/>
              </a:ext>
            </a:extLst>
          </p:cNvPr>
          <p:cNvPicPr>
            <a:picLocks noChangeAspect="1"/>
          </p:cNvPicPr>
          <p:nvPr/>
        </p:nvPicPr>
        <p:blipFill>
          <a:blip r:embed="rId4"/>
          <a:stretch>
            <a:fillRect/>
          </a:stretch>
        </p:blipFill>
        <p:spPr>
          <a:xfrm>
            <a:off x="2776538" y="877857"/>
            <a:ext cx="743922" cy="340304"/>
          </a:xfrm>
          <a:prstGeom prst="rect">
            <a:avLst/>
          </a:prstGeom>
        </p:spPr>
      </p:pic>
      <p:pic>
        <p:nvPicPr>
          <p:cNvPr id="22" name="图片 21">
            <a:extLst>
              <a:ext uri="{FF2B5EF4-FFF2-40B4-BE49-F238E27FC236}">
                <a16:creationId xmlns:a16="http://schemas.microsoft.com/office/drawing/2014/main" id="{A7047882-2AA7-4454-BB49-14467244F801}"/>
              </a:ext>
            </a:extLst>
          </p:cNvPr>
          <p:cNvPicPr>
            <a:picLocks noChangeAspect="1"/>
          </p:cNvPicPr>
          <p:nvPr/>
        </p:nvPicPr>
        <p:blipFill>
          <a:blip r:embed="rId5"/>
          <a:stretch>
            <a:fillRect/>
          </a:stretch>
        </p:blipFill>
        <p:spPr>
          <a:xfrm>
            <a:off x="4396438" y="884786"/>
            <a:ext cx="657367" cy="322403"/>
          </a:xfrm>
          <a:prstGeom prst="rect">
            <a:avLst/>
          </a:prstGeom>
        </p:spPr>
      </p:pic>
      <p:pic>
        <p:nvPicPr>
          <p:cNvPr id="32" name="图片 31">
            <a:extLst>
              <a:ext uri="{FF2B5EF4-FFF2-40B4-BE49-F238E27FC236}">
                <a16:creationId xmlns:a16="http://schemas.microsoft.com/office/drawing/2014/main" id="{3870185B-6A65-46A6-AA54-C283E638F34A}"/>
              </a:ext>
            </a:extLst>
          </p:cNvPr>
          <p:cNvPicPr>
            <a:picLocks noChangeAspect="1"/>
          </p:cNvPicPr>
          <p:nvPr/>
        </p:nvPicPr>
        <p:blipFill>
          <a:blip r:embed="rId6"/>
          <a:stretch>
            <a:fillRect/>
          </a:stretch>
        </p:blipFill>
        <p:spPr>
          <a:xfrm>
            <a:off x="3610948" y="884786"/>
            <a:ext cx="657367" cy="323850"/>
          </a:xfrm>
          <a:prstGeom prst="rect">
            <a:avLst/>
          </a:prstGeom>
        </p:spPr>
      </p:pic>
      <p:pic>
        <p:nvPicPr>
          <p:cNvPr id="4" name="图片 3">
            <a:extLst>
              <a:ext uri="{FF2B5EF4-FFF2-40B4-BE49-F238E27FC236}">
                <a16:creationId xmlns:a16="http://schemas.microsoft.com/office/drawing/2014/main" id="{A5E25E64-C1A2-454D-82EC-E3BCE89C1705}"/>
              </a:ext>
            </a:extLst>
          </p:cNvPr>
          <p:cNvPicPr>
            <a:picLocks noChangeAspect="1"/>
          </p:cNvPicPr>
          <p:nvPr/>
        </p:nvPicPr>
        <p:blipFill>
          <a:blip r:embed="rId7"/>
          <a:stretch>
            <a:fillRect/>
          </a:stretch>
        </p:blipFill>
        <p:spPr>
          <a:xfrm>
            <a:off x="3110400" y="2571714"/>
            <a:ext cx="2985600" cy="342970"/>
          </a:xfrm>
          <a:prstGeom prst="rect">
            <a:avLst/>
          </a:prstGeom>
        </p:spPr>
      </p:pic>
      <p:pic>
        <p:nvPicPr>
          <p:cNvPr id="5" name="图片 4">
            <a:extLst>
              <a:ext uri="{FF2B5EF4-FFF2-40B4-BE49-F238E27FC236}">
                <a16:creationId xmlns:a16="http://schemas.microsoft.com/office/drawing/2014/main" id="{E49E5C4F-7E14-4F58-8AA4-51A4ABE4AB1A}"/>
              </a:ext>
            </a:extLst>
          </p:cNvPr>
          <p:cNvPicPr>
            <a:picLocks noChangeAspect="1"/>
          </p:cNvPicPr>
          <p:nvPr/>
        </p:nvPicPr>
        <p:blipFill>
          <a:blip r:embed="rId8"/>
          <a:stretch>
            <a:fillRect/>
          </a:stretch>
        </p:blipFill>
        <p:spPr>
          <a:xfrm>
            <a:off x="3129449" y="3032629"/>
            <a:ext cx="2985599" cy="358272"/>
          </a:xfrm>
          <a:prstGeom prst="rect">
            <a:avLst/>
          </a:prstGeom>
        </p:spPr>
      </p:pic>
      <p:pic>
        <p:nvPicPr>
          <p:cNvPr id="8" name="图片 7">
            <a:extLst>
              <a:ext uri="{FF2B5EF4-FFF2-40B4-BE49-F238E27FC236}">
                <a16:creationId xmlns:a16="http://schemas.microsoft.com/office/drawing/2014/main" id="{644D82E4-185B-4587-87F1-08E78CD8474C}"/>
              </a:ext>
            </a:extLst>
          </p:cNvPr>
          <p:cNvPicPr>
            <a:picLocks noChangeAspect="1"/>
          </p:cNvPicPr>
          <p:nvPr/>
        </p:nvPicPr>
        <p:blipFill>
          <a:blip r:embed="rId9"/>
          <a:stretch>
            <a:fillRect/>
          </a:stretch>
        </p:blipFill>
        <p:spPr>
          <a:xfrm>
            <a:off x="3129449" y="3518371"/>
            <a:ext cx="406042" cy="358272"/>
          </a:xfrm>
          <a:prstGeom prst="rect">
            <a:avLst/>
          </a:prstGeom>
        </p:spPr>
      </p:pic>
      <p:pic>
        <p:nvPicPr>
          <p:cNvPr id="9" name="图片 8">
            <a:extLst>
              <a:ext uri="{FF2B5EF4-FFF2-40B4-BE49-F238E27FC236}">
                <a16:creationId xmlns:a16="http://schemas.microsoft.com/office/drawing/2014/main" id="{D4EC06A7-FFFF-4A40-803F-95E4F1C8472B}"/>
              </a:ext>
            </a:extLst>
          </p:cNvPr>
          <p:cNvPicPr>
            <a:picLocks noChangeAspect="1"/>
          </p:cNvPicPr>
          <p:nvPr/>
        </p:nvPicPr>
        <p:blipFill>
          <a:blip r:embed="rId10"/>
          <a:stretch>
            <a:fillRect/>
          </a:stretch>
        </p:blipFill>
        <p:spPr>
          <a:xfrm>
            <a:off x="3495316" y="3508846"/>
            <a:ext cx="2594588" cy="371265"/>
          </a:xfrm>
          <a:prstGeom prst="rect">
            <a:avLst/>
          </a:prstGeom>
        </p:spPr>
      </p:pic>
      <p:sp>
        <p:nvSpPr>
          <p:cNvPr id="13" name="标注: 线形 12">
            <a:extLst>
              <a:ext uri="{FF2B5EF4-FFF2-40B4-BE49-F238E27FC236}">
                <a16:creationId xmlns:a16="http://schemas.microsoft.com/office/drawing/2014/main" id="{26D080B7-05DE-49B2-89BD-0A807ACAF8DD}"/>
              </a:ext>
            </a:extLst>
          </p:cNvPr>
          <p:cNvSpPr/>
          <p:nvPr/>
        </p:nvSpPr>
        <p:spPr>
          <a:xfrm>
            <a:off x="3129449" y="2533614"/>
            <a:ext cx="384916" cy="1476411"/>
          </a:xfrm>
          <a:prstGeom prst="borderCallout1">
            <a:avLst>
              <a:gd name="adj1" fmla="val 101974"/>
              <a:gd name="adj2" fmla="val 36209"/>
              <a:gd name="adj3" fmla="val 112500"/>
              <a:gd name="adj4" fmla="val -38333"/>
            </a:avLst>
          </a:prstGeom>
          <a:noFill/>
          <a:ln w="19050">
            <a:solidFill>
              <a:srgbClr val="FF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矩形 13">
            <a:extLst>
              <a:ext uri="{FF2B5EF4-FFF2-40B4-BE49-F238E27FC236}">
                <a16:creationId xmlns:a16="http://schemas.microsoft.com/office/drawing/2014/main" id="{D72B6B84-142A-4111-AD80-02F92E050F2F}"/>
              </a:ext>
            </a:extLst>
          </p:cNvPr>
          <p:cNvSpPr/>
          <p:nvPr/>
        </p:nvSpPr>
        <p:spPr>
          <a:xfrm>
            <a:off x="1983146" y="4196688"/>
            <a:ext cx="1638300" cy="307777"/>
          </a:xfrm>
          <a:prstGeom prst="rect">
            <a:avLst/>
          </a:prstGeom>
        </p:spPr>
        <p:txBody>
          <a:bodyPr wrap="square">
            <a:spAutoFit/>
          </a:bodyPr>
          <a:lstStyle/>
          <a:p>
            <a:pPr lvl="0"/>
            <a:r>
              <a:rPr lang="zh-CN" altLang="en-US" sz="1400" b="1" dirty="0">
                <a:solidFill>
                  <a:srgbClr val="FF0000"/>
                </a:solidFill>
              </a:rPr>
              <a:t>单一作业下的处理</a:t>
            </a:r>
            <a:endParaRPr lang="zh-CN" altLang="en-US" sz="1600" b="1" dirty="0">
              <a:solidFill>
                <a:srgbClr val="FF0000"/>
              </a:solidFill>
            </a:endParaRPr>
          </a:p>
        </p:txBody>
      </p:sp>
      <p:sp>
        <p:nvSpPr>
          <p:cNvPr id="43" name="标注: 线形 42">
            <a:extLst>
              <a:ext uri="{FF2B5EF4-FFF2-40B4-BE49-F238E27FC236}">
                <a16:creationId xmlns:a16="http://schemas.microsoft.com/office/drawing/2014/main" id="{5A7CAECD-55C7-49C9-9B1D-966171C043FA}"/>
              </a:ext>
            </a:extLst>
          </p:cNvPr>
          <p:cNvSpPr/>
          <p:nvPr/>
        </p:nvSpPr>
        <p:spPr>
          <a:xfrm>
            <a:off x="3747173" y="2533614"/>
            <a:ext cx="2386924" cy="1476411"/>
          </a:xfrm>
          <a:prstGeom prst="borderCallout1">
            <a:avLst>
              <a:gd name="adj1" fmla="val 101974"/>
              <a:gd name="adj2" fmla="val 36209"/>
              <a:gd name="adj3" fmla="val 111210"/>
              <a:gd name="adj4" fmla="val 79387"/>
            </a:avLst>
          </a:prstGeom>
          <a:noFill/>
          <a:ln w="19050">
            <a:solidFill>
              <a:srgbClr val="0070C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矩形 14">
            <a:extLst>
              <a:ext uri="{FF2B5EF4-FFF2-40B4-BE49-F238E27FC236}">
                <a16:creationId xmlns:a16="http://schemas.microsoft.com/office/drawing/2014/main" id="{9502D537-DF57-46F0-8B9E-F4B3CB97C438}"/>
              </a:ext>
            </a:extLst>
          </p:cNvPr>
          <p:cNvSpPr/>
          <p:nvPr/>
        </p:nvSpPr>
        <p:spPr>
          <a:xfrm>
            <a:off x="4792610" y="4196688"/>
            <a:ext cx="1620957" cy="307777"/>
          </a:xfrm>
          <a:prstGeom prst="rect">
            <a:avLst/>
          </a:prstGeom>
        </p:spPr>
        <p:txBody>
          <a:bodyPr wrap="none">
            <a:spAutoFit/>
          </a:bodyPr>
          <a:lstStyle/>
          <a:p>
            <a:pPr lvl="0"/>
            <a:r>
              <a:rPr lang="zh-CN" altLang="en-US" sz="1400" b="1" dirty="0">
                <a:solidFill>
                  <a:srgbClr val="0070C0"/>
                </a:solidFill>
              </a:rPr>
              <a:t>不同作业间的处理</a:t>
            </a:r>
            <a:endParaRPr lang="zh-CN" altLang="en-US" sz="1600" b="1" dirty="0">
              <a:solidFill>
                <a:srgbClr val="0070C0"/>
              </a:solidFill>
            </a:endParaRPr>
          </a:p>
        </p:txBody>
      </p:sp>
      <p:pic>
        <p:nvPicPr>
          <p:cNvPr id="16" name="图片 15">
            <a:extLst>
              <a:ext uri="{FF2B5EF4-FFF2-40B4-BE49-F238E27FC236}">
                <a16:creationId xmlns:a16="http://schemas.microsoft.com/office/drawing/2014/main" id="{9EF4BF61-1281-4A76-B5B0-DB83A2E8B2AB}"/>
              </a:ext>
            </a:extLst>
          </p:cNvPr>
          <p:cNvPicPr>
            <a:picLocks noChangeAspect="1"/>
          </p:cNvPicPr>
          <p:nvPr/>
        </p:nvPicPr>
        <p:blipFill>
          <a:blip r:embed="rId11"/>
          <a:stretch>
            <a:fillRect/>
          </a:stretch>
        </p:blipFill>
        <p:spPr>
          <a:xfrm>
            <a:off x="6517449" y="3641381"/>
            <a:ext cx="2206768" cy="279338"/>
          </a:xfrm>
          <a:prstGeom prst="rect">
            <a:avLst/>
          </a:prstGeom>
        </p:spPr>
      </p:pic>
      <p:sp>
        <p:nvSpPr>
          <p:cNvPr id="46" name="箭头: 右 45">
            <a:extLst>
              <a:ext uri="{FF2B5EF4-FFF2-40B4-BE49-F238E27FC236}">
                <a16:creationId xmlns:a16="http://schemas.microsoft.com/office/drawing/2014/main" id="{7886F760-7587-416E-8441-B9C8FC1FA94C}"/>
              </a:ext>
            </a:extLst>
          </p:cNvPr>
          <p:cNvSpPr/>
          <p:nvPr/>
        </p:nvSpPr>
        <p:spPr>
          <a:xfrm>
            <a:off x="6517449" y="3198687"/>
            <a:ext cx="2206768" cy="384427"/>
          </a:xfrm>
          <a:prstGeom prst="rightArrow">
            <a:avLst>
              <a:gd name="adj1" fmla="val 50000"/>
              <a:gd name="adj2" fmla="val 74522"/>
            </a:avLst>
          </a:prstGeom>
          <a:solidFill>
            <a:schemeClr val="bg1">
              <a:lumMod val="8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矩形 16">
            <a:extLst>
              <a:ext uri="{FF2B5EF4-FFF2-40B4-BE49-F238E27FC236}">
                <a16:creationId xmlns:a16="http://schemas.microsoft.com/office/drawing/2014/main" id="{D4E192C6-DB12-4A1C-AB18-6398519B14C6}"/>
              </a:ext>
            </a:extLst>
          </p:cNvPr>
          <p:cNvSpPr/>
          <p:nvPr/>
        </p:nvSpPr>
        <p:spPr>
          <a:xfrm>
            <a:off x="7038975" y="2925976"/>
            <a:ext cx="1461665" cy="307777"/>
          </a:xfrm>
          <a:prstGeom prst="rect">
            <a:avLst/>
          </a:prstGeom>
        </p:spPr>
        <p:txBody>
          <a:bodyPr wrap="square">
            <a:spAutoFit/>
          </a:bodyPr>
          <a:lstStyle/>
          <a:p>
            <a:pPr lvl="0"/>
            <a:r>
              <a:rPr lang="zh-CN" altLang="en-US" sz="1400" dirty="0">
                <a:solidFill>
                  <a:prstClr val="black"/>
                </a:solidFill>
              </a:rPr>
              <a:t>节点</a:t>
            </a:r>
            <a:r>
              <a:rPr lang="en-US" altLang="zh-CN" sz="1400" dirty="0">
                <a:solidFill>
                  <a:prstClr val="black"/>
                </a:solidFill>
              </a:rPr>
              <a:t>1</a:t>
            </a:r>
            <a:r>
              <a:rPr lang="zh-CN" altLang="en-US" sz="1400" dirty="0">
                <a:solidFill>
                  <a:prstClr val="black"/>
                </a:solidFill>
              </a:rPr>
              <a:t>输出</a:t>
            </a:r>
            <a:endParaRPr lang="zh-CN" altLang="en-US" sz="1600" dirty="0">
              <a:solidFill>
                <a:prstClr val="black"/>
              </a:solidFill>
            </a:endParaRPr>
          </a:p>
        </p:txBody>
      </p:sp>
      <p:pic>
        <p:nvPicPr>
          <p:cNvPr id="18" name="图片 17">
            <a:extLst>
              <a:ext uri="{FF2B5EF4-FFF2-40B4-BE49-F238E27FC236}">
                <a16:creationId xmlns:a16="http://schemas.microsoft.com/office/drawing/2014/main" id="{8B3A8375-C107-4021-82E9-9C1969D364F6}"/>
              </a:ext>
            </a:extLst>
          </p:cNvPr>
          <p:cNvPicPr>
            <a:picLocks noChangeAspect="1"/>
          </p:cNvPicPr>
          <p:nvPr/>
        </p:nvPicPr>
        <p:blipFill>
          <a:blip r:embed="rId12"/>
          <a:stretch>
            <a:fillRect/>
          </a:stretch>
        </p:blipFill>
        <p:spPr>
          <a:xfrm>
            <a:off x="8894615" y="3158900"/>
            <a:ext cx="2509874" cy="482481"/>
          </a:xfrm>
          <a:prstGeom prst="rect">
            <a:avLst/>
          </a:prstGeom>
        </p:spPr>
      </p:pic>
      <p:pic>
        <p:nvPicPr>
          <p:cNvPr id="19" name="图片 18">
            <a:extLst>
              <a:ext uri="{FF2B5EF4-FFF2-40B4-BE49-F238E27FC236}">
                <a16:creationId xmlns:a16="http://schemas.microsoft.com/office/drawing/2014/main" id="{F405632C-F821-4DA4-B1C6-F708D5ADC23F}"/>
              </a:ext>
            </a:extLst>
          </p:cNvPr>
          <p:cNvPicPr>
            <a:picLocks noChangeAspect="1"/>
          </p:cNvPicPr>
          <p:nvPr/>
        </p:nvPicPr>
        <p:blipFill>
          <a:blip r:embed="rId13"/>
          <a:stretch>
            <a:fillRect/>
          </a:stretch>
        </p:blipFill>
        <p:spPr>
          <a:xfrm>
            <a:off x="4156503" y="5263590"/>
            <a:ext cx="2739598" cy="1524612"/>
          </a:xfrm>
          <a:prstGeom prst="rect">
            <a:avLst/>
          </a:prstGeom>
        </p:spPr>
      </p:pic>
      <p:sp>
        <p:nvSpPr>
          <p:cNvPr id="20" name="灯片编号占位符 19">
            <a:extLst>
              <a:ext uri="{FF2B5EF4-FFF2-40B4-BE49-F238E27FC236}">
                <a16:creationId xmlns:a16="http://schemas.microsoft.com/office/drawing/2014/main" id="{1B4C6FBE-6253-49A0-9555-F8251F7B1D79}"/>
              </a:ext>
            </a:extLst>
          </p:cNvPr>
          <p:cNvSpPr>
            <a:spLocks noGrp="1"/>
          </p:cNvSpPr>
          <p:nvPr>
            <p:ph type="sldNum" sz="quarter" idx="12"/>
          </p:nvPr>
        </p:nvSpPr>
        <p:spPr/>
        <p:txBody>
          <a:bodyPr/>
          <a:lstStyle/>
          <a:p>
            <a:fld id="{B125EA80-F692-46D2-AFCC-CA48803B46EF}" type="slidenum">
              <a:rPr lang="zh-CN" altLang="en-US" smtClean="0"/>
              <a:t>24</a:t>
            </a:fld>
            <a:endParaRPr lang="zh-CN" altLang="en-US" dirty="0"/>
          </a:p>
        </p:txBody>
      </p:sp>
    </p:spTree>
    <p:extLst>
      <p:ext uri="{BB962C8B-B14F-4D97-AF65-F5344CB8AC3E}">
        <p14:creationId xmlns:p14="http://schemas.microsoft.com/office/powerpoint/2010/main" val="27051344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lvl="0">
              <a:lnSpc>
                <a:spcPts val="4400"/>
              </a:lnSpc>
              <a:defRPr/>
            </a:pP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 4. </a:t>
            </a:r>
            <a:r>
              <a:rPr lang="zh-CN" altLang="en-US" sz="2800" b="1" dirty="0">
                <a:solidFill>
                  <a:prstClr val="white"/>
                </a:solidFill>
              </a:rPr>
              <a:t>雾网络下基于压缩编码技术的分布式矩阵</a:t>
            </a:r>
            <a:r>
              <a:rPr lang="en-US" altLang="zh-CN" sz="2800" b="1" dirty="0">
                <a:solidFill>
                  <a:prstClr val="white"/>
                </a:solidFill>
              </a:rPr>
              <a:t>-</a:t>
            </a:r>
            <a:r>
              <a:rPr lang="zh-CN" altLang="en-US" sz="2800" b="1" dirty="0">
                <a:solidFill>
                  <a:prstClr val="white"/>
                </a:solidFill>
              </a:rPr>
              <a:t>向量乘法运算算法（主要结果）</a:t>
            </a:r>
            <a:endParaRPr kumimoji="0" lang="en-US" altLang="zh-CN" sz="2800" b="1" i="0" u="none" strike="noStrike" kern="1200" cap="none" spc="0" normalizeH="0" baseline="0" noProof="0" dirty="0">
              <a:ln>
                <a:noFill/>
              </a:ln>
              <a:solidFill>
                <a:prstClr val="white"/>
              </a:solidFill>
              <a:effectLst/>
              <a:uLnTx/>
              <a:uFillTx/>
              <a:latin typeface="Arial"/>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0" normalizeH="0" baseline="0" noProof="0" dirty="0">
              <a:ln>
                <a:noFill/>
              </a:ln>
              <a:solidFill>
                <a:prstClr val="white"/>
              </a:solidFill>
              <a:effectLst/>
              <a:uLnTx/>
              <a:uFillTx/>
              <a:latin typeface="Arial"/>
              <a:ea typeface="微软雅黑"/>
              <a:cs typeface="+mn-cs"/>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A869762B-3FC4-422B-8D7C-B74731649032}"/>
                  </a:ext>
                </a:extLst>
              </p:cNvPr>
              <p:cNvSpPr txBox="1"/>
              <p:nvPr/>
            </p:nvSpPr>
            <p:spPr>
              <a:xfrm>
                <a:off x="155448" y="765429"/>
                <a:ext cx="11868912" cy="5791073"/>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000" b="1" dirty="0">
                    <a:solidFill>
                      <a:prstClr val="black"/>
                    </a:solidFill>
                    <a:latin typeface="Arial"/>
                    <a:ea typeface="微软雅黑"/>
                  </a:rPr>
                  <a:t>主要结果与其他方案比较</a:t>
                </a:r>
                <a:endParaRPr lang="en-US" altLang="zh-CN" sz="2000" b="1" dirty="0">
                  <a:solidFill>
                    <a:prstClr val="black"/>
                  </a:solidFill>
                  <a:latin typeface="Arial"/>
                  <a:ea typeface="微软雅黑"/>
                </a:endParaRPr>
              </a:p>
              <a:p>
                <a:pPr marL="285750" lvl="0" indent="-285750">
                  <a:lnSpc>
                    <a:spcPct val="150000"/>
                  </a:lnSpc>
                  <a:buFont typeface="Wingdings" panose="05000000000000000000" pitchFamily="2" charset="2"/>
                  <a:buChar char="p"/>
                </a:pPr>
                <a:r>
                  <a:rPr lang="zh-CN" altLang="en-US" sz="1600" b="1" dirty="0">
                    <a:solidFill>
                      <a:prstClr val="black"/>
                    </a:solidFill>
                  </a:rPr>
                  <a:t>压缩编码算法</a:t>
                </a:r>
                <a:endParaRPr lang="en-US" altLang="zh-CN" b="1" dirty="0">
                  <a:solidFill>
                    <a:prstClr val="black"/>
                  </a:solidFill>
                </a:endParaRPr>
              </a:p>
              <a:p>
                <a:pPr marL="360000" lvl="0" indent="-285750">
                  <a:lnSpc>
                    <a:spcPct val="200000"/>
                  </a:lnSpc>
                  <a:buFont typeface="Wingdings" panose="05000000000000000000" pitchFamily="2" charset="2"/>
                  <a:buChar char="Ø"/>
                </a:pPr>
                <a:r>
                  <a:rPr lang="zh-CN" altLang="en-US" sz="1600" dirty="0">
                    <a:solidFill>
                      <a:prstClr val="black"/>
                    </a:solidFill>
                  </a:rPr>
                  <a:t>单一作业下的处理</a:t>
                </a:r>
                <a:endParaRPr lang="en-US" altLang="zh-CN" sz="1600" dirty="0">
                  <a:solidFill>
                    <a:prstClr val="black"/>
                  </a:solidFill>
                </a:endParaRPr>
              </a:p>
              <a:p>
                <a:pPr marL="360000" lvl="0" indent="-285750">
                  <a:lnSpc>
                    <a:spcPct val="200000"/>
                  </a:lnSpc>
                  <a:buFont typeface="Wingdings" panose="05000000000000000000" pitchFamily="2" charset="2"/>
                  <a:buChar char="Ø"/>
                </a:pPr>
                <a:r>
                  <a:rPr lang="zh-CN" altLang="en-US" sz="1600" dirty="0">
                    <a:solidFill>
                      <a:prstClr val="black"/>
                    </a:solidFill>
                  </a:rPr>
                  <a:t>不同作业间的处理</a:t>
                </a:r>
                <a:endParaRPr lang="en-US" altLang="zh-CN" sz="1600" dirty="0">
                  <a:solidFill>
                    <a:prstClr val="black"/>
                  </a:solidFill>
                </a:endParaRPr>
              </a:p>
              <a:p>
                <a:pPr marL="360000" lvl="0" indent="-285750">
                  <a:lnSpc>
                    <a:spcPct val="150000"/>
                  </a:lnSpc>
                  <a:buFont typeface="Wingdings" panose="05000000000000000000" pitchFamily="2" charset="2"/>
                  <a:buChar char="Ø"/>
                </a:pPr>
                <a:r>
                  <a:rPr lang="zh-CN" altLang="en-US" sz="1600" b="1" dirty="0">
                    <a:solidFill>
                      <a:prstClr val="black"/>
                    </a:solidFill>
                  </a:rPr>
                  <a:t>总体传输量（考虑</a:t>
                </a:r>
                <a14:m>
                  <m:oMath xmlns:m="http://schemas.openxmlformats.org/officeDocument/2006/math">
                    <m:d>
                      <m:dPr>
                        <m:ctrlPr>
                          <a:rPr lang="en-US" altLang="zh-CN" sz="1600" b="1" i="1" smtClean="0">
                            <a:solidFill>
                              <a:prstClr val="black"/>
                            </a:solidFill>
                            <a:latin typeface="Cambria Math" panose="02040503050406030204" pitchFamily="18" charset="0"/>
                          </a:rPr>
                        </m:ctrlPr>
                      </m:dPr>
                      <m:e>
                        <m:f>
                          <m:fPr>
                            <m:type m:val="noBar"/>
                            <m:ctrlPr>
                              <a:rPr lang="en-US" altLang="zh-CN" sz="1600" b="1" i="1" smtClean="0">
                                <a:solidFill>
                                  <a:prstClr val="black"/>
                                </a:solidFill>
                                <a:latin typeface="Cambria Math" panose="02040503050406030204" pitchFamily="18" charset="0"/>
                              </a:rPr>
                            </m:ctrlPr>
                          </m:fPr>
                          <m:num>
                            <m:r>
                              <a:rPr lang="en-US" altLang="zh-CN" sz="1600" b="1" i="1" smtClean="0">
                                <a:solidFill>
                                  <a:prstClr val="black"/>
                                </a:solidFill>
                                <a:latin typeface="Cambria Math" panose="02040503050406030204" pitchFamily="18" charset="0"/>
                              </a:rPr>
                              <m:t>𝑲</m:t>
                            </m:r>
                          </m:num>
                          <m:den>
                            <m:r>
                              <a:rPr lang="en-US" altLang="zh-CN" sz="1600" b="1" i="1" smtClean="0">
                                <a:solidFill>
                                  <a:prstClr val="black"/>
                                </a:solidFill>
                                <a:latin typeface="Cambria Math" panose="02040503050406030204" pitchFamily="18" charset="0"/>
                              </a:rPr>
                              <m:t>𝝁</m:t>
                            </m:r>
                            <m:r>
                              <a:rPr lang="en-US" altLang="zh-CN" sz="1600" b="1" i="1" smtClean="0">
                                <a:solidFill>
                                  <a:prstClr val="black"/>
                                </a:solidFill>
                                <a:latin typeface="Cambria Math" panose="02040503050406030204" pitchFamily="18" charset="0"/>
                              </a:rPr>
                              <m:t>𝑲</m:t>
                            </m:r>
                            <m:r>
                              <a:rPr lang="en-US" altLang="zh-CN" sz="1600" b="1" i="1" smtClean="0">
                                <a:solidFill>
                                  <a:prstClr val="black"/>
                                </a:solidFill>
                                <a:latin typeface="Cambria Math" panose="02040503050406030204" pitchFamily="18" charset="0"/>
                              </a:rPr>
                              <m:t>+</m:t>
                            </m:r>
                            <m:r>
                              <a:rPr lang="en-US" altLang="zh-CN" sz="1600" b="1" i="1" smtClean="0">
                                <a:solidFill>
                                  <a:prstClr val="black"/>
                                </a:solidFill>
                                <a:latin typeface="Cambria Math" panose="02040503050406030204" pitchFamily="18" charset="0"/>
                              </a:rPr>
                              <m:t>𝟏</m:t>
                            </m:r>
                          </m:den>
                        </m:f>
                      </m:e>
                    </m:d>
                  </m:oMath>
                </a14:m>
                <a:r>
                  <a:rPr lang="zh-CN" altLang="en-US" sz="1600" b="1" dirty="0">
                    <a:solidFill>
                      <a:prstClr val="black"/>
                    </a:solidFill>
                  </a:rPr>
                  <a:t>个作业）为</a:t>
                </a:r>
                <a:endParaRPr lang="en-US" altLang="zh-CN" sz="1600" b="1" dirty="0">
                  <a:solidFill>
                    <a:prstClr val="black"/>
                  </a:solidFill>
                </a:endParaRPr>
              </a:p>
              <a:p>
                <a:pPr marL="146250" lvl="0">
                  <a:lnSpc>
                    <a:spcPct val="200000"/>
                  </a:lnSpc>
                </a:pPr>
                <a:endParaRPr lang="en-US" altLang="zh-CN" sz="1600" dirty="0">
                  <a:solidFill>
                    <a:prstClr val="black"/>
                  </a:solidFill>
                  <a:latin typeface="Arial"/>
                  <a:ea typeface="微软雅黑"/>
                </a:endParaRPr>
              </a:p>
              <a:p>
                <a:pPr marL="146250" lvl="0">
                  <a:lnSpc>
                    <a:spcPct val="200000"/>
                  </a:lnSpc>
                </a:pPr>
                <a:endParaRPr lang="en-US" altLang="zh-CN" sz="1600" dirty="0">
                  <a:solidFill>
                    <a:prstClr val="black"/>
                  </a:solidFill>
                  <a:latin typeface="Arial"/>
                  <a:ea typeface="微软雅黑"/>
                </a:endParaRPr>
              </a:p>
              <a:p>
                <a:pPr marL="146250" lvl="0">
                  <a:lnSpc>
                    <a:spcPct val="200000"/>
                  </a:lnSpc>
                </a:pPr>
                <a:endParaRPr lang="en-US" altLang="zh-CN" sz="1600" dirty="0">
                  <a:solidFill>
                    <a:prstClr val="black"/>
                  </a:solidFill>
                  <a:latin typeface="Arial"/>
                  <a:ea typeface="微软雅黑"/>
                </a:endParaRPr>
              </a:p>
              <a:p>
                <a:pPr marL="285750" lvl="0" indent="-285750">
                  <a:lnSpc>
                    <a:spcPct val="150000"/>
                  </a:lnSpc>
                  <a:buFont typeface="Wingdings" panose="05000000000000000000" pitchFamily="2" charset="2"/>
                  <a:buChar char="p"/>
                </a:pPr>
                <a:r>
                  <a:rPr lang="zh-CN" altLang="en-US" sz="1600" b="1" dirty="0">
                    <a:solidFill>
                      <a:prstClr val="black"/>
                    </a:solidFill>
                  </a:rPr>
                  <a:t>其他方案</a:t>
                </a:r>
                <a:endParaRPr lang="en-US" altLang="zh-CN" sz="1600" dirty="0">
                  <a:solidFill>
                    <a:prstClr val="black"/>
                  </a:solidFill>
                  <a:latin typeface="Arial"/>
                  <a:ea typeface="微软雅黑"/>
                </a:endParaRPr>
              </a:p>
              <a:p>
                <a:pPr marL="432000" lvl="0" indent="-285750">
                  <a:buFont typeface="Arial" panose="020B0604020202020204" pitchFamily="34" charset="0"/>
                  <a:buChar char="•"/>
                </a:pPr>
                <a:r>
                  <a:rPr lang="zh-CN" altLang="en-US" sz="1600" dirty="0">
                    <a:solidFill>
                      <a:prstClr val="black"/>
                    </a:solidFill>
                    <a:latin typeface="Arial"/>
                    <a:ea typeface="微软雅黑"/>
                  </a:rPr>
                  <a:t>非压缩、非编码方案</a:t>
                </a:r>
                <a:endParaRPr lang="en-US" altLang="zh-CN" sz="1600" dirty="0">
                  <a:solidFill>
                    <a:prstClr val="black"/>
                  </a:solidFill>
                  <a:latin typeface="Arial"/>
                  <a:ea typeface="微软雅黑"/>
                </a:endParaRPr>
              </a:p>
              <a:p>
                <a:pPr marL="432000" lvl="0" indent="-285750">
                  <a:lnSpc>
                    <a:spcPct val="350000"/>
                  </a:lnSpc>
                  <a:buFont typeface="Arial" panose="020B0604020202020204" pitchFamily="34" charset="0"/>
                  <a:buChar char="•"/>
                </a:pPr>
                <a:r>
                  <a:rPr lang="zh-CN" altLang="en-US" sz="1600" dirty="0">
                    <a:solidFill>
                      <a:prstClr val="black"/>
                    </a:solidFill>
                    <a:latin typeface="Arial"/>
                    <a:ea typeface="微软雅黑"/>
                  </a:rPr>
                  <a:t>非压缩、编码方案</a:t>
                </a:r>
                <a:endParaRPr lang="en-US" altLang="zh-CN" sz="1600" dirty="0">
                  <a:solidFill>
                    <a:prstClr val="black"/>
                  </a:solidFill>
                  <a:latin typeface="Arial"/>
                  <a:ea typeface="微软雅黑"/>
                </a:endParaRPr>
              </a:p>
              <a:p>
                <a:pPr marL="432000" lvl="0" indent="-285750">
                  <a:lnSpc>
                    <a:spcPts val="5000"/>
                  </a:lnSpc>
                  <a:buFont typeface="Arial" panose="020B0604020202020204" pitchFamily="34" charset="0"/>
                  <a:buChar char="•"/>
                </a:pPr>
                <a:r>
                  <a:rPr lang="zh-CN" altLang="en-US" sz="1600" dirty="0">
                    <a:solidFill>
                      <a:prstClr val="black"/>
                    </a:solidFill>
                    <a:latin typeface="Arial"/>
                    <a:ea typeface="微软雅黑"/>
                  </a:rPr>
                  <a:t>压缩、非编码方案</a:t>
                </a:r>
                <a:endParaRPr lang="en-US" altLang="zh-CN" dirty="0">
                  <a:solidFill>
                    <a:prstClr val="black"/>
                  </a:solidFill>
                  <a:latin typeface="Arial"/>
                  <a:ea typeface="微软雅黑"/>
                </a:endParaRPr>
              </a:p>
            </p:txBody>
          </p:sp>
        </mc:Choice>
        <mc:Fallback xmlns="">
          <p:sp>
            <p:nvSpPr>
              <p:cNvPr id="2" name="文本框 1">
                <a:extLst>
                  <a:ext uri="{FF2B5EF4-FFF2-40B4-BE49-F238E27FC236}">
                    <a16:creationId xmlns:a16="http://schemas.microsoft.com/office/drawing/2014/main" id="{A869762B-3FC4-422B-8D7C-B74731649032}"/>
                  </a:ext>
                </a:extLst>
              </p:cNvPr>
              <p:cNvSpPr txBox="1">
                <a:spLocks noRot="1" noChangeAspect="1" noMove="1" noResize="1" noEditPoints="1" noAdjustHandles="1" noChangeArrowheads="1" noChangeShapeType="1" noTextEdit="1"/>
              </p:cNvSpPr>
              <p:nvPr/>
            </p:nvSpPr>
            <p:spPr>
              <a:xfrm>
                <a:off x="155448" y="765429"/>
                <a:ext cx="11868912" cy="5791073"/>
              </a:xfrm>
              <a:prstGeom prst="rect">
                <a:avLst/>
              </a:prstGeom>
              <a:blipFill>
                <a:blip r:embed="rId3"/>
                <a:stretch>
                  <a:fillRect l="-462" t="-632" b="-421"/>
                </a:stretch>
              </a:blipFill>
            </p:spPr>
            <p:txBody>
              <a:bodyPr/>
              <a:lstStyle/>
              <a:p>
                <a:r>
                  <a:rPr lang="zh-CN" altLang="en-US">
                    <a:noFill/>
                  </a:rPr>
                  <a:t> </a:t>
                </a:r>
              </a:p>
            </p:txBody>
          </p:sp>
        </mc:Fallback>
      </mc:AlternateContent>
      <p:pic>
        <p:nvPicPr>
          <p:cNvPr id="7" name="图片 6">
            <a:extLst>
              <a:ext uri="{FF2B5EF4-FFF2-40B4-BE49-F238E27FC236}">
                <a16:creationId xmlns:a16="http://schemas.microsoft.com/office/drawing/2014/main" id="{2AC58800-D7FE-4715-AD58-4FF0E1CBE161}"/>
              </a:ext>
            </a:extLst>
          </p:cNvPr>
          <p:cNvPicPr>
            <a:picLocks noChangeAspect="1"/>
          </p:cNvPicPr>
          <p:nvPr/>
        </p:nvPicPr>
        <p:blipFill>
          <a:blip r:embed="rId4"/>
          <a:stretch>
            <a:fillRect/>
          </a:stretch>
        </p:blipFill>
        <p:spPr>
          <a:xfrm>
            <a:off x="2263725" y="1411253"/>
            <a:ext cx="2286000" cy="576649"/>
          </a:xfrm>
          <a:prstGeom prst="rect">
            <a:avLst/>
          </a:prstGeom>
        </p:spPr>
      </p:pic>
      <p:pic>
        <p:nvPicPr>
          <p:cNvPr id="10" name="图片 9">
            <a:extLst>
              <a:ext uri="{FF2B5EF4-FFF2-40B4-BE49-F238E27FC236}">
                <a16:creationId xmlns:a16="http://schemas.microsoft.com/office/drawing/2014/main" id="{77AA92DD-15A9-486E-A390-919770800BC9}"/>
              </a:ext>
            </a:extLst>
          </p:cNvPr>
          <p:cNvPicPr>
            <a:picLocks noChangeAspect="1"/>
          </p:cNvPicPr>
          <p:nvPr/>
        </p:nvPicPr>
        <p:blipFill>
          <a:blip r:embed="rId5"/>
          <a:stretch>
            <a:fillRect/>
          </a:stretch>
        </p:blipFill>
        <p:spPr>
          <a:xfrm>
            <a:off x="2263725" y="1968852"/>
            <a:ext cx="4940401" cy="576650"/>
          </a:xfrm>
          <a:prstGeom prst="rect">
            <a:avLst/>
          </a:prstGeom>
        </p:spPr>
      </p:pic>
      <p:pic>
        <p:nvPicPr>
          <p:cNvPr id="11" name="图片 10">
            <a:extLst>
              <a:ext uri="{FF2B5EF4-FFF2-40B4-BE49-F238E27FC236}">
                <a16:creationId xmlns:a16="http://schemas.microsoft.com/office/drawing/2014/main" id="{CD5E89ED-2783-4162-A2DD-6D1AF1D94B89}"/>
              </a:ext>
            </a:extLst>
          </p:cNvPr>
          <p:cNvPicPr>
            <a:picLocks noChangeAspect="1"/>
          </p:cNvPicPr>
          <p:nvPr/>
        </p:nvPicPr>
        <p:blipFill>
          <a:blip r:embed="rId6"/>
          <a:stretch>
            <a:fillRect/>
          </a:stretch>
        </p:blipFill>
        <p:spPr>
          <a:xfrm>
            <a:off x="2123231" y="2981870"/>
            <a:ext cx="4033838" cy="1533431"/>
          </a:xfrm>
          <a:prstGeom prst="rect">
            <a:avLst/>
          </a:prstGeom>
        </p:spPr>
      </p:pic>
      <p:pic>
        <p:nvPicPr>
          <p:cNvPr id="12" name="图片 11">
            <a:extLst>
              <a:ext uri="{FF2B5EF4-FFF2-40B4-BE49-F238E27FC236}">
                <a16:creationId xmlns:a16="http://schemas.microsoft.com/office/drawing/2014/main" id="{28FCED45-2ABB-4BA3-9FDC-D99684D5C4EA}"/>
              </a:ext>
            </a:extLst>
          </p:cNvPr>
          <p:cNvPicPr>
            <a:picLocks noChangeAspect="1"/>
          </p:cNvPicPr>
          <p:nvPr/>
        </p:nvPicPr>
        <p:blipFill>
          <a:blip r:embed="rId7"/>
          <a:stretch>
            <a:fillRect/>
          </a:stretch>
        </p:blipFill>
        <p:spPr>
          <a:xfrm>
            <a:off x="2556153" y="4713082"/>
            <a:ext cx="2675520" cy="674906"/>
          </a:xfrm>
          <a:prstGeom prst="rect">
            <a:avLst/>
          </a:prstGeom>
        </p:spPr>
      </p:pic>
      <p:pic>
        <p:nvPicPr>
          <p:cNvPr id="20" name="图片 19">
            <a:extLst>
              <a:ext uri="{FF2B5EF4-FFF2-40B4-BE49-F238E27FC236}">
                <a16:creationId xmlns:a16="http://schemas.microsoft.com/office/drawing/2014/main" id="{5BBA9C9B-1381-47F3-BB50-AC9757344649}"/>
              </a:ext>
            </a:extLst>
          </p:cNvPr>
          <p:cNvPicPr>
            <a:picLocks noChangeAspect="1"/>
          </p:cNvPicPr>
          <p:nvPr/>
        </p:nvPicPr>
        <p:blipFill>
          <a:blip r:embed="rId8"/>
          <a:stretch>
            <a:fillRect/>
          </a:stretch>
        </p:blipFill>
        <p:spPr>
          <a:xfrm>
            <a:off x="2556153" y="5356045"/>
            <a:ext cx="1303550" cy="459448"/>
          </a:xfrm>
          <a:prstGeom prst="rect">
            <a:avLst/>
          </a:prstGeom>
        </p:spPr>
      </p:pic>
      <p:pic>
        <p:nvPicPr>
          <p:cNvPr id="21" name="图片 20">
            <a:extLst>
              <a:ext uri="{FF2B5EF4-FFF2-40B4-BE49-F238E27FC236}">
                <a16:creationId xmlns:a16="http://schemas.microsoft.com/office/drawing/2014/main" id="{28CEDD3B-B62B-4695-8F81-E233A181E10F}"/>
              </a:ext>
            </a:extLst>
          </p:cNvPr>
          <p:cNvPicPr>
            <a:picLocks noChangeAspect="1"/>
          </p:cNvPicPr>
          <p:nvPr/>
        </p:nvPicPr>
        <p:blipFill>
          <a:blip r:embed="rId9"/>
          <a:stretch>
            <a:fillRect/>
          </a:stretch>
        </p:blipFill>
        <p:spPr>
          <a:xfrm>
            <a:off x="2556153" y="5792391"/>
            <a:ext cx="2273022" cy="998934"/>
          </a:xfrm>
          <a:prstGeom prst="rect">
            <a:avLst/>
          </a:prstGeom>
        </p:spPr>
      </p:pic>
      <p:pic>
        <p:nvPicPr>
          <p:cNvPr id="23" name="图片 22">
            <a:extLst>
              <a:ext uri="{FF2B5EF4-FFF2-40B4-BE49-F238E27FC236}">
                <a16:creationId xmlns:a16="http://schemas.microsoft.com/office/drawing/2014/main" id="{59E328CF-E532-4FC3-9C94-A3C4BD20E38D}"/>
              </a:ext>
            </a:extLst>
          </p:cNvPr>
          <p:cNvPicPr>
            <a:picLocks noChangeAspect="1"/>
          </p:cNvPicPr>
          <p:nvPr/>
        </p:nvPicPr>
        <p:blipFill>
          <a:blip r:embed="rId10"/>
          <a:stretch>
            <a:fillRect/>
          </a:stretch>
        </p:blipFill>
        <p:spPr>
          <a:xfrm>
            <a:off x="8067373" y="1026617"/>
            <a:ext cx="3340726" cy="2865150"/>
          </a:xfrm>
          <a:prstGeom prst="rect">
            <a:avLst/>
          </a:prstGeom>
        </p:spPr>
      </p:pic>
      <p:pic>
        <p:nvPicPr>
          <p:cNvPr id="24" name="图片 23">
            <a:extLst>
              <a:ext uri="{FF2B5EF4-FFF2-40B4-BE49-F238E27FC236}">
                <a16:creationId xmlns:a16="http://schemas.microsoft.com/office/drawing/2014/main" id="{688CA131-4F18-47C2-9E43-783F33F725AE}"/>
              </a:ext>
            </a:extLst>
          </p:cNvPr>
          <p:cNvPicPr>
            <a:picLocks noChangeAspect="1"/>
          </p:cNvPicPr>
          <p:nvPr/>
        </p:nvPicPr>
        <p:blipFill>
          <a:blip r:embed="rId11"/>
          <a:stretch>
            <a:fillRect/>
          </a:stretch>
        </p:blipFill>
        <p:spPr>
          <a:xfrm>
            <a:off x="8170023" y="3874800"/>
            <a:ext cx="3340726" cy="2946528"/>
          </a:xfrm>
          <a:prstGeom prst="rect">
            <a:avLst/>
          </a:prstGeom>
        </p:spPr>
      </p:pic>
      <p:pic>
        <p:nvPicPr>
          <p:cNvPr id="25" name="图片 24">
            <a:extLst>
              <a:ext uri="{FF2B5EF4-FFF2-40B4-BE49-F238E27FC236}">
                <a16:creationId xmlns:a16="http://schemas.microsoft.com/office/drawing/2014/main" id="{14DD31C9-6CB2-4760-8C4E-223982679D82}"/>
              </a:ext>
            </a:extLst>
          </p:cNvPr>
          <p:cNvPicPr>
            <a:picLocks noChangeAspect="1"/>
          </p:cNvPicPr>
          <p:nvPr/>
        </p:nvPicPr>
        <p:blipFill>
          <a:blip r:embed="rId12"/>
          <a:stretch>
            <a:fillRect/>
          </a:stretch>
        </p:blipFill>
        <p:spPr>
          <a:xfrm>
            <a:off x="8894156" y="820396"/>
            <a:ext cx="1030893" cy="227147"/>
          </a:xfrm>
          <a:prstGeom prst="rect">
            <a:avLst/>
          </a:prstGeom>
        </p:spPr>
      </p:pic>
      <p:pic>
        <p:nvPicPr>
          <p:cNvPr id="26" name="图片 25">
            <a:extLst>
              <a:ext uri="{FF2B5EF4-FFF2-40B4-BE49-F238E27FC236}">
                <a16:creationId xmlns:a16="http://schemas.microsoft.com/office/drawing/2014/main" id="{9375AFF2-A835-459F-90F4-0CB78A90F27F}"/>
              </a:ext>
            </a:extLst>
          </p:cNvPr>
          <p:cNvPicPr>
            <a:picLocks noChangeAspect="1"/>
          </p:cNvPicPr>
          <p:nvPr/>
        </p:nvPicPr>
        <p:blipFill>
          <a:blip r:embed="rId13"/>
          <a:stretch>
            <a:fillRect/>
          </a:stretch>
        </p:blipFill>
        <p:spPr>
          <a:xfrm>
            <a:off x="9925049" y="820396"/>
            <a:ext cx="1050901" cy="227148"/>
          </a:xfrm>
          <a:prstGeom prst="rect">
            <a:avLst/>
          </a:prstGeom>
        </p:spPr>
      </p:pic>
      <p:sp>
        <p:nvSpPr>
          <p:cNvPr id="28" name="灯片编号占位符 27">
            <a:extLst>
              <a:ext uri="{FF2B5EF4-FFF2-40B4-BE49-F238E27FC236}">
                <a16:creationId xmlns:a16="http://schemas.microsoft.com/office/drawing/2014/main" id="{4BB07829-CDA9-4AC9-B17A-6CAE57974082}"/>
              </a:ext>
            </a:extLst>
          </p:cNvPr>
          <p:cNvSpPr>
            <a:spLocks noGrp="1"/>
          </p:cNvSpPr>
          <p:nvPr>
            <p:ph type="sldNum" sz="quarter" idx="12"/>
          </p:nvPr>
        </p:nvSpPr>
        <p:spPr>
          <a:xfrm>
            <a:off x="8610600" y="6289675"/>
            <a:ext cx="2743200" cy="365125"/>
          </a:xfrm>
        </p:spPr>
        <p:txBody>
          <a:bodyPr/>
          <a:lstStyle/>
          <a:p>
            <a:fld id="{B125EA80-F692-46D2-AFCC-CA48803B46EF}" type="slidenum">
              <a:rPr lang="zh-CN" altLang="en-US" smtClean="0"/>
              <a:t>25</a:t>
            </a:fld>
            <a:endParaRPr lang="zh-CN" altLang="en-US" dirty="0"/>
          </a:p>
        </p:txBody>
      </p:sp>
    </p:spTree>
    <p:extLst>
      <p:ext uri="{BB962C8B-B14F-4D97-AF65-F5344CB8AC3E}">
        <p14:creationId xmlns:p14="http://schemas.microsoft.com/office/powerpoint/2010/main" val="3975676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lvl="0">
              <a:lnSpc>
                <a:spcPts val="4400"/>
              </a:lnSpc>
              <a:defRPr/>
            </a:pP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 4. </a:t>
            </a:r>
            <a:r>
              <a:rPr lang="zh-CN" altLang="en-US" sz="2800" b="1" dirty="0">
                <a:solidFill>
                  <a:prstClr val="white"/>
                </a:solidFill>
              </a:rPr>
              <a:t>雾网络下基于压缩编码技术的分布式矩阵</a:t>
            </a:r>
            <a:r>
              <a:rPr lang="en-US" altLang="zh-CN" sz="2800" b="1" dirty="0">
                <a:solidFill>
                  <a:prstClr val="white"/>
                </a:solidFill>
              </a:rPr>
              <a:t>-</a:t>
            </a:r>
            <a:r>
              <a:rPr lang="zh-CN" altLang="en-US" sz="2800" b="1" dirty="0">
                <a:solidFill>
                  <a:prstClr val="white"/>
                </a:solidFill>
              </a:rPr>
              <a:t>向量乘法运算算法（扩展应用）</a:t>
            </a:r>
            <a:endParaRPr kumimoji="0" lang="en-US" altLang="zh-CN" sz="2800" b="1" i="0" u="none" strike="noStrike" kern="1200" cap="none" spc="0" normalizeH="0" baseline="0" noProof="0" dirty="0">
              <a:ln>
                <a:noFill/>
              </a:ln>
              <a:solidFill>
                <a:prstClr val="white"/>
              </a:solidFill>
              <a:effectLst/>
              <a:uLnTx/>
              <a:uFillTx/>
              <a:latin typeface="Arial"/>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0" normalizeH="0" baseline="0" noProof="0" dirty="0">
              <a:ln>
                <a:noFill/>
              </a:ln>
              <a:solidFill>
                <a:prstClr val="white"/>
              </a:solidFill>
              <a:effectLst/>
              <a:uLnTx/>
              <a:uFillTx/>
              <a:latin typeface="Arial"/>
              <a:ea typeface="微软雅黑"/>
              <a:cs typeface="+mn-cs"/>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55448" y="832104"/>
            <a:ext cx="11868912" cy="4311117"/>
          </a:xfrm>
          <a:prstGeom prst="rect">
            <a:avLst/>
          </a:prstGeom>
          <a:noFill/>
        </p:spPr>
        <p:txBody>
          <a:bodyPr wrap="square" rtlCol="0">
            <a:spAutoFit/>
          </a:bodyPr>
          <a:lstStyle/>
          <a:p>
            <a:pPr marL="342900" marR="0" lvl="0" indent="-342900" algn="l" defTabSz="4572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zh-CN" altLang="en-US" sz="2000" b="1" dirty="0">
                <a:solidFill>
                  <a:prstClr val="black"/>
                </a:solidFill>
                <a:latin typeface="Arial"/>
                <a:ea typeface="微软雅黑"/>
              </a:rPr>
              <a:t>扩展应用</a:t>
            </a:r>
            <a:endParaRPr lang="en-US" altLang="zh-CN" sz="2000" b="1" dirty="0">
              <a:solidFill>
                <a:prstClr val="black"/>
              </a:solidFill>
              <a:latin typeface="Arial"/>
              <a:ea typeface="微软雅黑"/>
            </a:endParaRPr>
          </a:p>
          <a:p>
            <a:pPr marL="285750" lvl="0" indent="-285750">
              <a:lnSpc>
                <a:spcPct val="150000"/>
              </a:lnSpc>
              <a:buFont typeface="Wingdings" panose="05000000000000000000" pitchFamily="2" charset="2"/>
              <a:buChar char="p"/>
            </a:pPr>
            <a:r>
              <a:rPr lang="en-US" altLang="zh-CN" b="1" dirty="0">
                <a:solidFill>
                  <a:prstClr val="black"/>
                </a:solidFill>
              </a:rPr>
              <a:t>     </a:t>
            </a:r>
            <a:r>
              <a:rPr lang="zh-CN" altLang="en-US" b="1" dirty="0">
                <a:solidFill>
                  <a:prstClr val="black"/>
                </a:solidFill>
              </a:rPr>
              <a:t>个作业还可以共同完成</a:t>
            </a:r>
            <a:r>
              <a:rPr lang="zh-CN" altLang="en-US" b="1" dirty="0">
                <a:solidFill>
                  <a:srgbClr val="FF0000"/>
                </a:solidFill>
              </a:rPr>
              <a:t>单个</a:t>
            </a:r>
            <a:r>
              <a:rPr lang="zh-CN" altLang="en-US" b="1" dirty="0">
                <a:solidFill>
                  <a:prstClr val="black"/>
                </a:solidFill>
              </a:rPr>
              <a:t>更大规模的矩阵</a:t>
            </a:r>
            <a:r>
              <a:rPr lang="en-US" altLang="zh-CN" b="1" dirty="0">
                <a:solidFill>
                  <a:prstClr val="black"/>
                </a:solidFill>
              </a:rPr>
              <a:t>-</a:t>
            </a:r>
            <a:r>
              <a:rPr lang="zh-CN" altLang="en-US" b="1" dirty="0">
                <a:solidFill>
                  <a:prstClr val="black"/>
                </a:solidFill>
              </a:rPr>
              <a:t>向量乘法运算</a:t>
            </a:r>
            <a:endParaRPr lang="en-US" altLang="zh-CN" b="1" dirty="0">
              <a:solidFill>
                <a:prstClr val="black"/>
              </a:solidFill>
            </a:endParaRPr>
          </a:p>
          <a:p>
            <a:pPr marL="360000" lvl="0" indent="-285750">
              <a:lnSpc>
                <a:spcPts val="2400"/>
              </a:lnSpc>
              <a:buFont typeface="Wingdings" panose="05000000000000000000" pitchFamily="2" charset="2"/>
              <a:buChar char="Ø"/>
            </a:pPr>
            <a:r>
              <a:rPr lang="zh-CN" altLang="en-US" sz="1600" dirty="0">
                <a:solidFill>
                  <a:prstClr val="black"/>
                </a:solidFill>
              </a:rPr>
              <a:t>将    个作业的输出向量进行累加</a:t>
            </a:r>
            <a:endParaRPr lang="en-US" altLang="zh-CN" sz="1600" dirty="0">
              <a:solidFill>
                <a:prstClr val="black"/>
              </a:solidFill>
            </a:endParaRPr>
          </a:p>
          <a:p>
            <a:pPr marL="360000" lvl="0" indent="-285750">
              <a:lnSpc>
                <a:spcPct val="200000"/>
              </a:lnSpc>
              <a:buFont typeface="Wingdings" panose="05000000000000000000" pitchFamily="2" charset="2"/>
              <a:buChar char="Ø"/>
            </a:pPr>
            <a:endParaRPr lang="en-US" altLang="zh-CN" sz="1600" dirty="0">
              <a:solidFill>
                <a:prstClr val="black"/>
              </a:solidFill>
            </a:endParaRPr>
          </a:p>
          <a:p>
            <a:pPr marL="360000" lvl="0" indent="-285750">
              <a:lnSpc>
                <a:spcPct val="200000"/>
              </a:lnSpc>
              <a:buFont typeface="Wingdings" panose="05000000000000000000" pitchFamily="2" charset="2"/>
              <a:buChar char="Ø"/>
            </a:pPr>
            <a:endParaRPr lang="en-US" altLang="zh-CN" sz="1600" dirty="0">
              <a:solidFill>
                <a:prstClr val="black"/>
              </a:solidFill>
            </a:endParaRPr>
          </a:p>
          <a:p>
            <a:pPr marL="360000" lvl="0" indent="-285750">
              <a:lnSpc>
                <a:spcPct val="200000"/>
              </a:lnSpc>
              <a:buFont typeface="Wingdings" panose="05000000000000000000" pitchFamily="2" charset="2"/>
              <a:buChar char="Ø"/>
            </a:pPr>
            <a:endParaRPr lang="en-US" altLang="zh-CN" sz="1600" dirty="0">
              <a:solidFill>
                <a:prstClr val="black"/>
              </a:solidFill>
            </a:endParaRPr>
          </a:p>
          <a:p>
            <a:pPr marL="74250" lvl="0">
              <a:lnSpc>
                <a:spcPct val="200000"/>
              </a:lnSpc>
            </a:pPr>
            <a:endParaRPr lang="en-US" altLang="zh-CN" sz="1600" dirty="0">
              <a:solidFill>
                <a:prstClr val="black"/>
              </a:solidFill>
            </a:endParaRPr>
          </a:p>
          <a:p>
            <a:pPr marL="74250" lvl="0">
              <a:lnSpc>
                <a:spcPct val="200000"/>
              </a:lnSpc>
            </a:pPr>
            <a:endParaRPr lang="en-US" altLang="zh-CN" sz="600" dirty="0">
              <a:solidFill>
                <a:prstClr val="black"/>
              </a:solidFill>
            </a:endParaRPr>
          </a:p>
          <a:p>
            <a:pPr marL="360000" lvl="0" indent="-285750">
              <a:lnSpc>
                <a:spcPct val="200000"/>
              </a:lnSpc>
              <a:buFont typeface="Wingdings" panose="05000000000000000000" pitchFamily="2" charset="2"/>
              <a:buChar char="Ø"/>
            </a:pPr>
            <a:r>
              <a:rPr lang="zh-CN" altLang="en-US" sz="1600" dirty="0">
                <a:solidFill>
                  <a:prstClr val="black"/>
                </a:solidFill>
              </a:rPr>
              <a:t>每个节点负责输出                                                        ，即</a:t>
            </a:r>
            <a:r>
              <a:rPr lang="zh-CN" altLang="en-US" sz="1600" b="1" dirty="0">
                <a:solidFill>
                  <a:srgbClr val="FF0000"/>
                </a:solidFill>
              </a:rPr>
              <a:t>在我们的压缩编码算法实现后</a:t>
            </a:r>
            <a:r>
              <a:rPr lang="zh-CN" altLang="en-US" sz="1600" dirty="0">
                <a:solidFill>
                  <a:prstClr val="black"/>
                </a:solidFill>
              </a:rPr>
              <a:t>，对    个作业的输出子向量进行</a:t>
            </a:r>
            <a:r>
              <a:rPr lang="zh-CN" altLang="en-US" sz="1600" b="1" dirty="0">
                <a:solidFill>
                  <a:srgbClr val="FF0000"/>
                </a:solidFill>
              </a:rPr>
              <a:t>累加</a:t>
            </a:r>
            <a:endParaRPr lang="en-US" altLang="zh-CN" sz="1600" b="1" dirty="0">
              <a:solidFill>
                <a:srgbClr val="FF0000"/>
              </a:solidFill>
              <a:latin typeface="Arial"/>
              <a:ea typeface="微软雅黑"/>
            </a:endParaRPr>
          </a:p>
          <a:p>
            <a:pPr marL="360000" lvl="0" indent="-285750">
              <a:lnSpc>
                <a:spcPct val="200000"/>
              </a:lnSpc>
              <a:buFont typeface="Wingdings" panose="05000000000000000000" pitchFamily="2" charset="2"/>
              <a:buChar char="Ø"/>
            </a:pPr>
            <a:r>
              <a:rPr lang="en-US" altLang="zh-CN" sz="1600" b="1" dirty="0">
                <a:solidFill>
                  <a:prstClr val="black"/>
                </a:solidFill>
              </a:rPr>
              <a:t>    </a:t>
            </a:r>
            <a:r>
              <a:rPr lang="zh-CN" altLang="en-US" sz="1600" b="1" dirty="0">
                <a:solidFill>
                  <a:prstClr val="black"/>
                </a:solidFill>
              </a:rPr>
              <a:t>个节点最终可以运用</a:t>
            </a:r>
            <a:r>
              <a:rPr lang="en-US" altLang="zh-CN" sz="1600" b="1" dirty="0">
                <a:solidFill>
                  <a:prstClr val="black"/>
                </a:solidFill>
              </a:rPr>
              <a:t>    </a:t>
            </a:r>
            <a:r>
              <a:rPr lang="zh-CN" altLang="en-US" sz="1600" b="1" dirty="0">
                <a:solidFill>
                  <a:prstClr val="black"/>
                </a:solidFill>
              </a:rPr>
              <a:t>个作业协同输出</a:t>
            </a:r>
            <a:r>
              <a:rPr lang="zh-CN" altLang="en-US" sz="1600" b="1" dirty="0">
                <a:solidFill>
                  <a:srgbClr val="FF0000"/>
                </a:solidFill>
              </a:rPr>
              <a:t>单个</a:t>
            </a:r>
            <a:r>
              <a:rPr lang="zh-CN" altLang="en-US" sz="1600" b="1" dirty="0">
                <a:solidFill>
                  <a:prstClr val="black"/>
                </a:solidFill>
              </a:rPr>
              <a:t>更大规模的矩阵</a:t>
            </a:r>
            <a:r>
              <a:rPr lang="en-US" altLang="zh-CN" sz="1600" b="1" dirty="0">
                <a:solidFill>
                  <a:prstClr val="black"/>
                </a:solidFill>
              </a:rPr>
              <a:t>-</a:t>
            </a:r>
            <a:r>
              <a:rPr lang="zh-CN" altLang="en-US" sz="1600" b="1" dirty="0">
                <a:solidFill>
                  <a:prstClr val="black"/>
                </a:solidFill>
              </a:rPr>
              <a:t>向量乘法运算</a:t>
            </a:r>
            <a:endParaRPr lang="en-US" altLang="zh-CN" sz="1600" dirty="0">
              <a:solidFill>
                <a:prstClr val="black"/>
              </a:solidFill>
              <a:latin typeface="Arial"/>
              <a:ea typeface="微软雅黑"/>
            </a:endParaRPr>
          </a:p>
        </p:txBody>
      </p:sp>
      <p:pic>
        <p:nvPicPr>
          <p:cNvPr id="13" name="图片 12">
            <a:extLst>
              <a:ext uri="{FF2B5EF4-FFF2-40B4-BE49-F238E27FC236}">
                <a16:creationId xmlns:a16="http://schemas.microsoft.com/office/drawing/2014/main" id="{120C6CC6-1D6D-4E83-B0E6-75C00507F854}"/>
              </a:ext>
            </a:extLst>
          </p:cNvPr>
          <p:cNvPicPr>
            <a:picLocks noChangeAspect="1"/>
          </p:cNvPicPr>
          <p:nvPr/>
        </p:nvPicPr>
        <p:blipFill>
          <a:blip r:embed="rId3"/>
          <a:stretch>
            <a:fillRect/>
          </a:stretch>
        </p:blipFill>
        <p:spPr>
          <a:xfrm>
            <a:off x="565974" y="1289125"/>
            <a:ext cx="241701" cy="226903"/>
          </a:xfrm>
          <a:prstGeom prst="rect">
            <a:avLst/>
          </a:prstGeom>
        </p:spPr>
      </p:pic>
      <p:pic>
        <p:nvPicPr>
          <p:cNvPr id="14" name="图片 13">
            <a:extLst>
              <a:ext uri="{FF2B5EF4-FFF2-40B4-BE49-F238E27FC236}">
                <a16:creationId xmlns:a16="http://schemas.microsoft.com/office/drawing/2014/main" id="{03FE225C-71B4-4A58-9597-38FBF322F1CE}"/>
              </a:ext>
            </a:extLst>
          </p:cNvPr>
          <p:cNvPicPr>
            <a:picLocks noChangeAspect="1"/>
          </p:cNvPicPr>
          <p:nvPr/>
        </p:nvPicPr>
        <p:blipFill>
          <a:blip r:embed="rId3"/>
          <a:stretch>
            <a:fillRect/>
          </a:stretch>
        </p:blipFill>
        <p:spPr>
          <a:xfrm>
            <a:off x="788625" y="1631846"/>
            <a:ext cx="241701" cy="226903"/>
          </a:xfrm>
          <a:prstGeom prst="rect">
            <a:avLst/>
          </a:prstGeom>
        </p:spPr>
      </p:pic>
      <p:pic>
        <p:nvPicPr>
          <p:cNvPr id="3" name="图片 2">
            <a:extLst>
              <a:ext uri="{FF2B5EF4-FFF2-40B4-BE49-F238E27FC236}">
                <a16:creationId xmlns:a16="http://schemas.microsoft.com/office/drawing/2014/main" id="{C6BE5221-832C-455B-8E4C-9E227EB60BB9}"/>
              </a:ext>
            </a:extLst>
          </p:cNvPr>
          <p:cNvPicPr>
            <a:picLocks noChangeAspect="1"/>
          </p:cNvPicPr>
          <p:nvPr/>
        </p:nvPicPr>
        <p:blipFill>
          <a:blip r:embed="rId4"/>
          <a:stretch>
            <a:fillRect/>
          </a:stretch>
        </p:blipFill>
        <p:spPr>
          <a:xfrm>
            <a:off x="565974" y="1849449"/>
            <a:ext cx="2961369" cy="2300889"/>
          </a:xfrm>
          <a:prstGeom prst="rect">
            <a:avLst/>
          </a:prstGeom>
        </p:spPr>
      </p:pic>
      <p:pic>
        <p:nvPicPr>
          <p:cNvPr id="4" name="图片 3">
            <a:extLst>
              <a:ext uri="{FF2B5EF4-FFF2-40B4-BE49-F238E27FC236}">
                <a16:creationId xmlns:a16="http://schemas.microsoft.com/office/drawing/2014/main" id="{2B5632A2-937E-4E71-B55B-01A3330DD3A9}"/>
              </a:ext>
            </a:extLst>
          </p:cNvPr>
          <p:cNvPicPr>
            <a:picLocks noChangeAspect="1"/>
          </p:cNvPicPr>
          <p:nvPr/>
        </p:nvPicPr>
        <p:blipFill>
          <a:blip r:embed="rId5"/>
          <a:stretch>
            <a:fillRect/>
          </a:stretch>
        </p:blipFill>
        <p:spPr>
          <a:xfrm>
            <a:off x="3604494" y="3133725"/>
            <a:ext cx="666749" cy="348528"/>
          </a:xfrm>
          <a:prstGeom prst="rect">
            <a:avLst/>
          </a:prstGeom>
        </p:spPr>
      </p:pic>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00C66119-3CE4-4A95-8C47-AD6EC9E1080C}"/>
                  </a:ext>
                </a:extLst>
              </p:cNvPr>
              <p:cNvSpPr/>
              <p:nvPr/>
            </p:nvSpPr>
            <p:spPr>
              <a:xfrm>
                <a:off x="4650912" y="2847346"/>
                <a:ext cx="5232138" cy="872034"/>
              </a:xfrm>
              <a:prstGeom prst="rect">
                <a:avLst/>
              </a:prstGeom>
            </p:spPr>
            <p:txBody>
              <a:bodyPr wrap="none">
                <a:spAutoFit/>
              </a:bodyPr>
              <a:lstStyle/>
              <a:p>
                <a:pPr marL="285750" lvl="0" indent="-285750">
                  <a:lnSpc>
                    <a:spcPct val="150000"/>
                  </a:lnSpc>
                  <a:buFont typeface="Wingdings" panose="05000000000000000000" pitchFamily="2" charset="2"/>
                  <a:buChar char="Ø"/>
                </a:pPr>
                <a:r>
                  <a:rPr lang="zh-CN" altLang="en-US" dirty="0">
                    <a:solidFill>
                      <a:prstClr val="black"/>
                    </a:solidFill>
                  </a:rPr>
                  <a:t>                是全局数据矩阵（列数</a:t>
                </a:r>
                <a14:m>
                  <m:oMath xmlns:m="http://schemas.openxmlformats.org/officeDocument/2006/math">
                    <m:r>
                      <a:rPr lang="en-US" altLang="zh-CN" b="0" i="0" smtClean="0">
                        <a:solidFill>
                          <a:prstClr val="black"/>
                        </a:solidFill>
                        <a:latin typeface="Cambria Math" panose="02040503050406030204" pitchFamily="18" charset="0"/>
                      </a:rPr>
                      <m:t> </m:t>
                    </m:r>
                    <m:r>
                      <a:rPr lang="en-US" altLang="zh-CN" b="0" i="1" smtClean="0">
                        <a:solidFill>
                          <a:prstClr val="black"/>
                        </a:solidFill>
                        <a:latin typeface="Cambria Math" panose="02040503050406030204" pitchFamily="18" charset="0"/>
                      </a:rPr>
                      <m:t>𝐽</m:t>
                    </m:r>
                    <m:r>
                      <a:rPr lang="en-US" altLang="zh-CN" i="1">
                        <a:solidFill>
                          <a:prstClr val="black"/>
                        </a:solidFill>
                        <a:latin typeface="Cambria Math" panose="02040503050406030204" pitchFamily="18" charset="0"/>
                      </a:rPr>
                      <m:t>𝑝</m:t>
                    </m:r>
                  </m:oMath>
                </a14:m>
                <a:r>
                  <a:rPr lang="zh-CN" altLang="en-US" dirty="0">
                    <a:solidFill>
                      <a:prstClr val="black"/>
                    </a:solidFill>
                  </a:rPr>
                  <a:t>可能很大）</a:t>
                </a:r>
                <a:endParaRPr lang="en-US" altLang="zh-CN" dirty="0">
                  <a:solidFill>
                    <a:prstClr val="black"/>
                  </a:solidFill>
                </a:endParaRPr>
              </a:p>
              <a:p>
                <a:pPr marL="285750" lvl="0" indent="-285750">
                  <a:lnSpc>
                    <a:spcPct val="150000"/>
                  </a:lnSpc>
                  <a:buFont typeface="Wingdings" panose="05000000000000000000" pitchFamily="2" charset="2"/>
                  <a:buChar char="Ø"/>
                </a:pPr>
                <a:r>
                  <a:rPr lang="en-US" altLang="zh-CN" dirty="0">
                    <a:solidFill>
                      <a:prstClr val="black"/>
                    </a:solidFill>
                  </a:rPr>
                  <a:t>             </a:t>
                </a:r>
                <a:r>
                  <a:rPr lang="zh-CN" altLang="en-US" dirty="0">
                    <a:solidFill>
                      <a:prstClr val="black"/>
                    </a:solidFill>
                  </a:rPr>
                  <a:t>是全局输入向量</a:t>
                </a:r>
                <a:r>
                  <a:rPr lang="en-US" altLang="zh-CN" dirty="0">
                    <a:solidFill>
                      <a:prstClr val="black"/>
                    </a:solidFill>
                  </a:rPr>
                  <a:t>       </a:t>
                </a:r>
                <a:endParaRPr lang="zh-CN" altLang="en-US" dirty="0">
                  <a:solidFill>
                    <a:prstClr val="black"/>
                  </a:solidFill>
                </a:endParaRPr>
              </a:p>
            </p:txBody>
          </p:sp>
        </mc:Choice>
        <mc:Fallback xmlns="">
          <p:sp>
            <p:nvSpPr>
              <p:cNvPr id="5" name="矩形 4">
                <a:extLst>
                  <a:ext uri="{FF2B5EF4-FFF2-40B4-BE49-F238E27FC236}">
                    <a16:creationId xmlns:a16="http://schemas.microsoft.com/office/drawing/2014/main" id="{00C66119-3CE4-4A95-8C47-AD6EC9E1080C}"/>
                  </a:ext>
                </a:extLst>
              </p:cNvPr>
              <p:cNvSpPr>
                <a:spLocks noRot="1" noChangeAspect="1" noMove="1" noResize="1" noEditPoints="1" noAdjustHandles="1" noChangeArrowheads="1" noChangeShapeType="1" noTextEdit="1"/>
              </p:cNvSpPr>
              <p:nvPr/>
            </p:nvSpPr>
            <p:spPr>
              <a:xfrm>
                <a:off x="4650912" y="2847346"/>
                <a:ext cx="5232138" cy="872034"/>
              </a:xfrm>
              <a:prstGeom prst="rect">
                <a:avLst/>
              </a:prstGeom>
              <a:blipFill>
                <a:blip r:embed="rId6"/>
                <a:stretch>
                  <a:fillRect l="-816" r="-350" b="-10490"/>
                </a:stretch>
              </a:blipFill>
            </p:spPr>
            <p:txBody>
              <a:bodyPr/>
              <a:lstStyle/>
              <a:p>
                <a:r>
                  <a:rPr lang="zh-CN" altLang="en-US">
                    <a:noFill/>
                  </a:rPr>
                  <a:t> </a:t>
                </a:r>
              </a:p>
            </p:txBody>
          </p:sp>
        </mc:Fallback>
      </mc:AlternateContent>
      <p:pic>
        <p:nvPicPr>
          <p:cNvPr id="17" name="图片 16">
            <a:extLst>
              <a:ext uri="{FF2B5EF4-FFF2-40B4-BE49-F238E27FC236}">
                <a16:creationId xmlns:a16="http://schemas.microsoft.com/office/drawing/2014/main" id="{7B675485-A656-4DBD-AA11-40A5C29296FC}"/>
              </a:ext>
            </a:extLst>
          </p:cNvPr>
          <p:cNvPicPr>
            <a:picLocks noChangeAspect="1"/>
          </p:cNvPicPr>
          <p:nvPr/>
        </p:nvPicPr>
        <p:blipFill>
          <a:blip r:embed="rId7"/>
          <a:stretch>
            <a:fillRect/>
          </a:stretch>
        </p:blipFill>
        <p:spPr>
          <a:xfrm>
            <a:off x="4908394" y="2972832"/>
            <a:ext cx="1061350" cy="332973"/>
          </a:xfrm>
          <a:prstGeom prst="rect">
            <a:avLst/>
          </a:prstGeom>
        </p:spPr>
      </p:pic>
      <p:pic>
        <p:nvPicPr>
          <p:cNvPr id="18" name="图片 17">
            <a:extLst>
              <a:ext uri="{FF2B5EF4-FFF2-40B4-BE49-F238E27FC236}">
                <a16:creationId xmlns:a16="http://schemas.microsoft.com/office/drawing/2014/main" id="{9BA18F8B-E5C8-4BFE-9748-68DB4D0B8D81}"/>
              </a:ext>
            </a:extLst>
          </p:cNvPr>
          <p:cNvPicPr>
            <a:picLocks noChangeAspect="1"/>
          </p:cNvPicPr>
          <p:nvPr/>
        </p:nvPicPr>
        <p:blipFill>
          <a:blip r:embed="rId8"/>
          <a:stretch>
            <a:fillRect/>
          </a:stretch>
        </p:blipFill>
        <p:spPr>
          <a:xfrm>
            <a:off x="4908394" y="3356693"/>
            <a:ext cx="817628" cy="349737"/>
          </a:xfrm>
          <a:prstGeom prst="rect">
            <a:avLst/>
          </a:prstGeom>
        </p:spPr>
      </p:pic>
      <p:pic>
        <p:nvPicPr>
          <p:cNvPr id="6" name="图片 5">
            <a:extLst>
              <a:ext uri="{FF2B5EF4-FFF2-40B4-BE49-F238E27FC236}">
                <a16:creationId xmlns:a16="http://schemas.microsoft.com/office/drawing/2014/main" id="{CBE90F20-F4D3-4298-86DB-1397E155924B}"/>
              </a:ext>
            </a:extLst>
          </p:cNvPr>
          <p:cNvPicPr>
            <a:picLocks noChangeAspect="1"/>
          </p:cNvPicPr>
          <p:nvPr/>
        </p:nvPicPr>
        <p:blipFill>
          <a:blip r:embed="rId9"/>
          <a:stretch>
            <a:fillRect/>
          </a:stretch>
        </p:blipFill>
        <p:spPr>
          <a:xfrm>
            <a:off x="2229541" y="4110913"/>
            <a:ext cx="3174256" cy="382240"/>
          </a:xfrm>
          <a:prstGeom prst="rect">
            <a:avLst/>
          </a:prstGeom>
        </p:spPr>
      </p:pic>
      <p:pic>
        <p:nvPicPr>
          <p:cNvPr id="22" name="图片 21">
            <a:extLst>
              <a:ext uri="{FF2B5EF4-FFF2-40B4-BE49-F238E27FC236}">
                <a16:creationId xmlns:a16="http://schemas.microsoft.com/office/drawing/2014/main" id="{A3BAB506-532E-467B-8A0D-61DF43654B29}"/>
              </a:ext>
            </a:extLst>
          </p:cNvPr>
          <p:cNvPicPr>
            <a:picLocks noChangeAspect="1"/>
          </p:cNvPicPr>
          <p:nvPr/>
        </p:nvPicPr>
        <p:blipFill>
          <a:blip r:embed="rId3"/>
          <a:stretch>
            <a:fillRect/>
          </a:stretch>
        </p:blipFill>
        <p:spPr>
          <a:xfrm>
            <a:off x="8865825" y="4225855"/>
            <a:ext cx="241701" cy="226903"/>
          </a:xfrm>
          <a:prstGeom prst="rect">
            <a:avLst/>
          </a:prstGeom>
        </p:spPr>
      </p:pic>
      <p:pic>
        <p:nvPicPr>
          <p:cNvPr id="8" name="图片 7">
            <a:extLst>
              <a:ext uri="{FF2B5EF4-FFF2-40B4-BE49-F238E27FC236}">
                <a16:creationId xmlns:a16="http://schemas.microsoft.com/office/drawing/2014/main" id="{8CD07260-C2B8-4405-9F9D-E286C04904E9}"/>
              </a:ext>
            </a:extLst>
          </p:cNvPr>
          <p:cNvPicPr>
            <a:picLocks noChangeAspect="1"/>
          </p:cNvPicPr>
          <p:nvPr/>
        </p:nvPicPr>
        <p:blipFill>
          <a:blip r:embed="rId10"/>
          <a:stretch>
            <a:fillRect/>
          </a:stretch>
        </p:blipFill>
        <p:spPr>
          <a:xfrm>
            <a:off x="7467006" y="4686572"/>
            <a:ext cx="753069" cy="242846"/>
          </a:xfrm>
          <a:prstGeom prst="rect">
            <a:avLst/>
          </a:prstGeom>
        </p:spPr>
      </p:pic>
      <p:pic>
        <p:nvPicPr>
          <p:cNvPr id="25" name="图片 24">
            <a:extLst>
              <a:ext uri="{FF2B5EF4-FFF2-40B4-BE49-F238E27FC236}">
                <a16:creationId xmlns:a16="http://schemas.microsoft.com/office/drawing/2014/main" id="{2B43F3D8-F789-474C-A693-915C34AC8FCC}"/>
              </a:ext>
            </a:extLst>
          </p:cNvPr>
          <p:cNvPicPr>
            <a:picLocks noChangeAspect="1"/>
          </p:cNvPicPr>
          <p:nvPr/>
        </p:nvPicPr>
        <p:blipFill>
          <a:blip r:embed="rId11"/>
          <a:stretch>
            <a:fillRect/>
          </a:stretch>
        </p:blipFill>
        <p:spPr>
          <a:xfrm>
            <a:off x="575499" y="4701048"/>
            <a:ext cx="264123" cy="218845"/>
          </a:xfrm>
          <a:prstGeom prst="rect">
            <a:avLst/>
          </a:prstGeom>
        </p:spPr>
      </p:pic>
      <p:pic>
        <p:nvPicPr>
          <p:cNvPr id="26" name="图片 25">
            <a:extLst>
              <a:ext uri="{FF2B5EF4-FFF2-40B4-BE49-F238E27FC236}">
                <a16:creationId xmlns:a16="http://schemas.microsoft.com/office/drawing/2014/main" id="{A3C55A9B-613E-4B17-A8DF-D390AB718D7B}"/>
              </a:ext>
            </a:extLst>
          </p:cNvPr>
          <p:cNvPicPr>
            <a:picLocks noChangeAspect="1"/>
          </p:cNvPicPr>
          <p:nvPr/>
        </p:nvPicPr>
        <p:blipFill>
          <a:blip r:embed="rId3"/>
          <a:stretch>
            <a:fillRect/>
          </a:stretch>
        </p:blipFill>
        <p:spPr>
          <a:xfrm>
            <a:off x="2657225" y="4709020"/>
            <a:ext cx="241701" cy="226903"/>
          </a:xfrm>
          <a:prstGeom prst="rect">
            <a:avLst/>
          </a:prstGeom>
        </p:spPr>
      </p:pic>
      <p:pic>
        <p:nvPicPr>
          <p:cNvPr id="9" name="图片 8">
            <a:extLst>
              <a:ext uri="{FF2B5EF4-FFF2-40B4-BE49-F238E27FC236}">
                <a16:creationId xmlns:a16="http://schemas.microsoft.com/office/drawing/2014/main" id="{FB402F60-3733-4AC6-A8BE-EB8E84FF7C50}"/>
              </a:ext>
            </a:extLst>
          </p:cNvPr>
          <p:cNvPicPr>
            <a:picLocks noChangeAspect="1"/>
          </p:cNvPicPr>
          <p:nvPr/>
        </p:nvPicPr>
        <p:blipFill>
          <a:blip r:embed="rId12"/>
          <a:stretch>
            <a:fillRect/>
          </a:stretch>
        </p:blipFill>
        <p:spPr>
          <a:xfrm>
            <a:off x="3973154" y="4929418"/>
            <a:ext cx="3318841" cy="1851243"/>
          </a:xfrm>
          <a:prstGeom prst="rect">
            <a:avLst/>
          </a:prstGeom>
        </p:spPr>
      </p:pic>
      <p:sp>
        <p:nvSpPr>
          <p:cNvPr id="15" name="灯片编号占位符 14">
            <a:extLst>
              <a:ext uri="{FF2B5EF4-FFF2-40B4-BE49-F238E27FC236}">
                <a16:creationId xmlns:a16="http://schemas.microsoft.com/office/drawing/2014/main" id="{898AF1C7-1360-42BC-87B4-3956E9C7454E}"/>
              </a:ext>
            </a:extLst>
          </p:cNvPr>
          <p:cNvSpPr>
            <a:spLocks noGrp="1"/>
          </p:cNvSpPr>
          <p:nvPr>
            <p:ph type="sldNum" sz="quarter" idx="12"/>
          </p:nvPr>
        </p:nvSpPr>
        <p:spPr/>
        <p:txBody>
          <a:bodyPr/>
          <a:lstStyle/>
          <a:p>
            <a:fld id="{B125EA80-F692-46D2-AFCC-CA48803B46EF}" type="slidenum">
              <a:rPr lang="zh-CN" altLang="en-US" smtClean="0"/>
              <a:t>26</a:t>
            </a:fld>
            <a:endParaRPr lang="zh-CN" altLang="en-US" dirty="0"/>
          </a:p>
        </p:txBody>
      </p:sp>
    </p:spTree>
    <p:extLst>
      <p:ext uri="{BB962C8B-B14F-4D97-AF65-F5344CB8AC3E}">
        <p14:creationId xmlns:p14="http://schemas.microsoft.com/office/powerpoint/2010/main" val="120626168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8D2B8C-5F4B-4F53-9772-57647BCD59D8}"/>
              </a:ext>
            </a:extLst>
          </p:cNvPr>
          <p:cNvSpPr>
            <a:spLocks noGrp="1"/>
          </p:cNvSpPr>
          <p:nvPr>
            <p:ph type="ctrTitle"/>
          </p:nvPr>
        </p:nvSpPr>
        <p:spPr>
          <a:xfrm>
            <a:off x="0" y="539496"/>
            <a:ext cx="2350007" cy="535485"/>
          </a:xfrm>
          <a:solidFill>
            <a:srgbClr val="0070C0"/>
          </a:solidFill>
        </p:spPr>
        <p:txBody>
          <a:bodyPr>
            <a:normAutofit fontScale="90000"/>
          </a:bodyPr>
          <a:lstStyle/>
          <a:p>
            <a:pPr>
              <a:lnSpc>
                <a:spcPct val="100000"/>
              </a:lnSpc>
            </a:pPr>
            <a:r>
              <a:rPr lang="zh-CN" altLang="en-US" sz="3600" b="1" dirty="0">
                <a:solidFill>
                  <a:schemeClr val="bg1"/>
                </a:solidFill>
              </a:rPr>
              <a:t>目录</a:t>
            </a:r>
          </a:p>
        </p:txBody>
      </p:sp>
      <p:sp>
        <p:nvSpPr>
          <p:cNvPr id="3" name="文本框 2"/>
          <p:cNvSpPr txBox="1"/>
          <p:nvPr/>
        </p:nvSpPr>
        <p:spPr>
          <a:xfrm>
            <a:off x="1021080" y="1713928"/>
            <a:ext cx="10369296" cy="2796407"/>
          </a:xfrm>
          <a:prstGeom prst="rect">
            <a:avLst/>
          </a:prstGeom>
          <a:noFill/>
        </p:spPr>
        <p:txBody>
          <a:bodyPr wrap="square" rtlCol="0">
            <a:spAutoFit/>
          </a:bodyPr>
          <a:lstStyle/>
          <a:p>
            <a:pPr marL="342900" indent="-342900">
              <a:lnSpc>
                <a:spcPct val="150000"/>
              </a:lnSpc>
              <a:buFont typeface="+mj-lt"/>
              <a:buAutoNum type="arabicPeriod"/>
            </a:pPr>
            <a:r>
              <a:rPr lang="zh-CN" altLang="en-US" sz="2400" b="1" dirty="0"/>
              <a:t>绪论</a:t>
            </a:r>
            <a:endParaRPr lang="en-US" altLang="zh-CN" sz="2400" b="1" dirty="0"/>
          </a:p>
          <a:p>
            <a:pPr marL="342900" indent="-342900">
              <a:lnSpc>
                <a:spcPct val="150000"/>
              </a:lnSpc>
              <a:buFont typeface="+mj-lt"/>
              <a:buAutoNum type="arabicPeriod"/>
            </a:pPr>
            <a:r>
              <a:rPr lang="zh-CN" altLang="en-US" sz="2400" b="1" dirty="0"/>
              <a:t>编码计算基础</a:t>
            </a:r>
            <a:endParaRPr lang="en-US" altLang="zh-CN" sz="2400" b="1" dirty="0"/>
          </a:p>
          <a:p>
            <a:pPr marL="342900" indent="-342900">
              <a:lnSpc>
                <a:spcPct val="150000"/>
              </a:lnSpc>
              <a:buFont typeface="+mj-lt"/>
              <a:buAutoNum type="arabicPeriod"/>
            </a:pPr>
            <a:r>
              <a:rPr lang="zh-CN" altLang="en-US" sz="2400" b="1" dirty="0"/>
              <a:t>基于无线接入点的编码分布式矩阵</a:t>
            </a:r>
            <a:r>
              <a:rPr lang="en-US" altLang="zh-CN" sz="2400" b="1" dirty="0"/>
              <a:t>-</a:t>
            </a:r>
            <a:r>
              <a:rPr lang="zh-CN" altLang="en-US" sz="2400" b="1" dirty="0"/>
              <a:t>矩阵乘法运算框架</a:t>
            </a:r>
            <a:endParaRPr lang="en-US" altLang="zh-CN" sz="2400" b="1" dirty="0"/>
          </a:p>
          <a:p>
            <a:pPr marL="342900" indent="-342900">
              <a:lnSpc>
                <a:spcPct val="150000"/>
              </a:lnSpc>
              <a:buFont typeface="+mj-lt"/>
              <a:buAutoNum type="arabicPeriod"/>
            </a:pPr>
            <a:r>
              <a:rPr lang="zh-CN" altLang="en-US" sz="2400" b="1" dirty="0"/>
              <a:t>雾网络下基于压缩编码技术的分布式矩阵</a:t>
            </a:r>
            <a:r>
              <a:rPr lang="en-US" altLang="zh-CN" sz="2400" b="1" dirty="0"/>
              <a:t>-</a:t>
            </a:r>
            <a:r>
              <a:rPr lang="zh-CN" altLang="en-US" sz="2400" b="1" dirty="0"/>
              <a:t>向量乘法运算算法</a:t>
            </a:r>
            <a:endParaRPr lang="en-US" altLang="zh-CN" sz="2400" b="1" dirty="0"/>
          </a:p>
          <a:p>
            <a:pPr marL="342900" indent="-342900">
              <a:lnSpc>
                <a:spcPct val="150000"/>
              </a:lnSpc>
              <a:buFont typeface="+mj-lt"/>
              <a:buAutoNum type="arabicPeriod"/>
            </a:pPr>
            <a:r>
              <a:rPr lang="zh-CN" altLang="en-US" sz="2400" b="1" dirty="0">
                <a:solidFill>
                  <a:srgbClr val="FF0000"/>
                </a:solidFill>
              </a:rPr>
              <a:t>总结</a:t>
            </a:r>
            <a:endParaRPr lang="en-US" altLang="zh-CN" sz="2400" b="1" dirty="0">
              <a:solidFill>
                <a:srgbClr val="FF0000"/>
              </a:solidFill>
            </a:endParaRPr>
          </a:p>
        </p:txBody>
      </p:sp>
      <p:sp>
        <p:nvSpPr>
          <p:cNvPr id="4" name="灯片编号占位符 3">
            <a:extLst>
              <a:ext uri="{FF2B5EF4-FFF2-40B4-BE49-F238E27FC236}">
                <a16:creationId xmlns:a16="http://schemas.microsoft.com/office/drawing/2014/main" id="{4C8EE081-C23A-4372-B9C3-AA4B834197B0}"/>
              </a:ext>
            </a:extLst>
          </p:cNvPr>
          <p:cNvSpPr>
            <a:spLocks noGrp="1"/>
          </p:cNvSpPr>
          <p:nvPr>
            <p:ph type="sldNum" sz="quarter" idx="12"/>
          </p:nvPr>
        </p:nvSpPr>
        <p:spPr/>
        <p:txBody>
          <a:bodyPr/>
          <a:lstStyle/>
          <a:p>
            <a:fld id="{B125EA80-F692-46D2-AFCC-CA48803B46EF}" type="slidenum">
              <a:rPr lang="zh-CN" altLang="en-US" smtClean="0"/>
              <a:t>27</a:t>
            </a:fld>
            <a:endParaRPr lang="zh-CN" altLang="en-US" dirty="0"/>
          </a:p>
        </p:txBody>
      </p:sp>
    </p:spTree>
    <p:extLst>
      <p:ext uri="{BB962C8B-B14F-4D97-AF65-F5344CB8AC3E}">
        <p14:creationId xmlns:p14="http://schemas.microsoft.com/office/powerpoint/2010/main" val="2582695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lvl="0">
              <a:lnSpc>
                <a:spcPts val="4400"/>
              </a:lnSpc>
              <a:defRPr/>
            </a:pP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 </a:t>
            </a:r>
            <a:r>
              <a:rPr lang="en-US" altLang="zh-CN" sz="2800" b="1" dirty="0">
                <a:solidFill>
                  <a:prstClr val="white"/>
                </a:solidFill>
                <a:latin typeface="Arial"/>
                <a:ea typeface="微软雅黑"/>
              </a:rPr>
              <a:t>5</a:t>
            </a: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 </a:t>
            </a:r>
            <a:r>
              <a:rPr kumimoji="0" lang="zh-CN" altLang="en-US" sz="2800" b="1" i="0" u="none" strike="noStrike" kern="1200" cap="none" spc="0" normalizeH="0" baseline="0" noProof="0" dirty="0">
                <a:ln>
                  <a:noFill/>
                </a:ln>
                <a:solidFill>
                  <a:prstClr val="white"/>
                </a:solidFill>
                <a:effectLst/>
                <a:uLnTx/>
                <a:uFillTx/>
                <a:latin typeface="Arial"/>
                <a:ea typeface="微软雅黑"/>
                <a:cs typeface="+mn-cs"/>
              </a:rPr>
              <a:t>总结（创新点）</a:t>
            </a:r>
            <a:endParaRPr kumimoji="0" lang="en-US" altLang="zh-CN" sz="2800" b="1" i="0" u="none" strike="noStrike" kern="1200" cap="none" spc="0" normalizeH="0" baseline="0" noProof="0" dirty="0">
              <a:ln>
                <a:noFill/>
              </a:ln>
              <a:solidFill>
                <a:prstClr val="white"/>
              </a:solidFill>
              <a:effectLst/>
              <a:uLnTx/>
              <a:uFillTx/>
              <a:latin typeface="Arial"/>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0" normalizeH="0" baseline="0" noProof="0" dirty="0">
              <a:ln>
                <a:noFill/>
              </a:ln>
              <a:solidFill>
                <a:prstClr val="white"/>
              </a:solidFill>
              <a:effectLst/>
              <a:uLnTx/>
              <a:uFillTx/>
              <a:latin typeface="Arial"/>
              <a:ea typeface="微软雅黑"/>
              <a:cs typeface="+mn-cs"/>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55448" y="917829"/>
            <a:ext cx="11868912" cy="5863144"/>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zh-CN" altLang="en-US" sz="1600" b="1" dirty="0">
                <a:solidFill>
                  <a:prstClr val="black"/>
                </a:solidFill>
              </a:rPr>
              <a:t>我们提出了一个集成的编码框架来</a:t>
            </a:r>
            <a:r>
              <a:rPr lang="zh-CN" altLang="en-US" sz="1600" b="1" dirty="0">
                <a:solidFill>
                  <a:srgbClr val="FF0000"/>
                </a:solidFill>
              </a:rPr>
              <a:t>同时</a:t>
            </a:r>
            <a:r>
              <a:rPr lang="zh-CN" altLang="en-US" sz="1600" b="1" dirty="0">
                <a:solidFill>
                  <a:prstClr val="black"/>
                </a:solidFill>
              </a:rPr>
              <a:t>解决大规模分布式矩阵</a:t>
            </a:r>
            <a:r>
              <a:rPr lang="en-US" altLang="zh-CN" sz="1600" b="1" dirty="0">
                <a:solidFill>
                  <a:prstClr val="black"/>
                </a:solidFill>
              </a:rPr>
              <a:t>-</a:t>
            </a:r>
            <a:r>
              <a:rPr lang="zh-CN" altLang="en-US" sz="1600" b="1" dirty="0">
                <a:solidFill>
                  <a:prstClr val="black"/>
                </a:solidFill>
              </a:rPr>
              <a:t>矩阵乘法运算（</a:t>
            </a:r>
            <a:r>
              <a:rPr lang="en-US" altLang="zh-CN" sz="1600" b="1" dirty="0">
                <a:solidFill>
                  <a:prstClr val="black"/>
                </a:solidFill>
              </a:rPr>
              <a:t>Matrix-Matrix Multiplication</a:t>
            </a:r>
            <a:r>
              <a:rPr lang="zh-CN" altLang="en-US" sz="1600" b="1" dirty="0">
                <a:solidFill>
                  <a:prstClr val="black"/>
                </a:solidFill>
              </a:rPr>
              <a:t>）中的</a:t>
            </a:r>
            <a:r>
              <a:rPr lang="zh-CN" altLang="en-US" sz="1600" b="1" dirty="0">
                <a:solidFill>
                  <a:srgbClr val="FF0000"/>
                </a:solidFill>
              </a:rPr>
              <a:t>落后节点问题</a:t>
            </a:r>
            <a:r>
              <a:rPr lang="zh-CN" altLang="en-US" sz="1600" b="1" dirty="0">
                <a:solidFill>
                  <a:prstClr val="black"/>
                </a:solidFill>
              </a:rPr>
              <a:t>和</a:t>
            </a:r>
            <a:r>
              <a:rPr lang="zh-CN" altLang="en-US" sz="1600" b="1" dirty="0">
                <a:solidFill>
                  <a:srgbClr val="FF0000"/>
                </a:solidFill>
              </a:rPr>
              <a:t>高通信负载问题</a:t>
            </a:r>
            <a:r>
              <a:rPr lang="zh-CN" altLang="en-US" sz="1600" b="1" dirty="0">
                <a:solidFill>
                  <a:prstClr val="black"/>
                </a:solidFill>
              </a:rPr>
              <a:t>。该框架考虑具有海量行的数据矩阵与多个输入向量相乘。我们将产生海量数据的边缘设备直接作为存储和计算资源，数据矩阵按行分布式存储在边缘设备中，设备通过接入点进行交互，来协同完成分布式矩阵乘法运算。框架由</a:t>
            </a:r>
            <a:r>
              <a:rPr lang="zh-CN" altLang="en-US" sz="1600" b="1" dirty="0">
                <a:solidFill>
                  <a:srgbClr val="0070C0"/>
                </a:solidFill>
              </a:rPr>
              <a:t>文献</a:t>
            </a:r>
            <a:r>
              <a:rPr lang="en-US" altLang="zh-CN" sz="1600" b="1" dirty="0">
                <a:solidFill>
                  <a:srgbClr val="0070C0"/>
                </a:solidFill>
              </a:rPr>
              <a:t>[</a:t>
            </a:r>
            <a:r>
              <a:rPr lang="it-IT" altLang="zh-CN" sz="1600" b="1" dirty="0">
                <a:solidFill>
                  <a:srgbClr val="0070C0"/>
                </a:solidFill>
              </a:rPr>
              <a:t>Li et al. GC</a:t>
            </a:r>
            <a:r>
              <a:rPr lang="en-US" altLang="zh-CN" sz="1600" b="1" dirty="0">
                <a:solidFill>
                  <a:srgbClr val="0070C0"/>
                </a:solidFill>
              </a:rPr>
              <a:t> </a:t>
            </a:r>
            <a:r>
              <a:rPr lang="en-US" altLang="zh-CN" sz="1600" b="1" dirty="0" err="1">
                <a:solidFill>
                  <a:srgbClr val="0070C0"/>
                </a:solidFill>
              </a:rPr>
              <a:t>Wkshps</a:t>
            </a:r>
            <a:r>
              <a:rPr lang="it-IT" altLang="zh-CN" sz="1600" b="1" dirty="0">
                <a:solidFill>
                  <a:srgbClr val="0070C0"/>
                </a:solidFill>
              </a:rPr>
              <a:t> 2016</a:t>
            </a:r>
            <a:r>
              <a:rPr lang="en-US" altLang="zh-CN" sz="1600" b="1" dirty="0">
                <a:solidFill>
                  <a:srgbClr val="0070C0"/>
                </a:solidFill>
              </a:rPr>
              <a:t>]</a:t>
            </a:r>
            <a:r>
              <a:rPr lang="zh-CN" altLang="en-US" sz="1600" b="1" dirty="0">
                <a:solidFill>
                  <a:prstClr val="black"/>
                </a:solidFill>
              </a:rPr>
              <a:t>扩展而来，相比之前的工作，创新点如下：</a:t>
            </a:r>
            <a:endParaRPr lang="en-US" altLang="zh-CN" sz="1600" b="1" dirty="0">
              <a:solidFill>
                <a:prstClr val="black"/>
              </a:solidFill>
            </a:endParaRPr>
          </a:p>
          <a:p>
            <a:pPr>
              <a:lnSpc>
                <a:spcPct val="150000"/>
              </a:lnSpc>
            </a:pPr>
            <a:endParaRPr lang="en-US" altLang="zh-CN" sz="800" b="1" dirty="0">
              <a:solidFill>
                <a:prstClr val="black"/>
              </a:solidFill>
            </a:endParaRPr>
          </a:p>
          <a:p>
            <a:pPr marL="360000" lvl="1" indent="-285750">
              <a:lnSpc>
                <a:spcPct val="150000"/>
              </a:lnSpc>
              <a:buFont typeface="Wingdings" panose="05000000000000000000" pitchFamily="2" charset="2"/>
              <a:buChar char="Ø"/>
            </a:pPr>
            <a:r>
              <a:rPr lang="zh-CN" altLang="en-US" sz="1400" dirty="0">
                <a:solidFill>
                  <a:prstClr val="black"/>
                </a:solidFill>
              </a:rPr>
              <a:t>提出了适用于边缘计算的基于接入点交互的无线分布式矩阵乘法框架</a:t>
            </a:r>
            <a:endParaRPr lang="en-US" altLang="zh-CN" sz="1400" dirty="0">
              <a:solidFill>
                <a:prstClr val="black"/>
              </a:solidFill>
            </a:endParaRPr>
          </a:p>
          <a:p>
            <a:pPr marL="360000" lvl="1" indent="-285750">
              <a:lnSpc>
                <a:spcPct val="150000"/>
              </a:lnSpc>
              <a:buFont typeface="Wingdings" panose="05000000000000000000" pitchFamily="2" charset="2"/>
              <a:buChar char="Ø"/>
            </a:pPr>
            <a:r>
              <a:rPr lang="zh-CN" altLang="en-US" sz="1400" dirty="0">
                <a:solidFill>
                  <a:prstClr val="black"/>
                </a:solidFill>
              </a:rPr>
              <a:t>设备输出向量的分配更加灵活。当总的输出向量不能平均分配给参与输出的设备时，可以自适应地分配给这些设备不同的数量的输出向量。而</a:t>
            </a:r>
            <a:r>
              <a:rPr lang="zh-CN" altLang="en-US" sz="1400" dirty="0">
                <a:solidFill>
                  <a:srgbClr val="0070C0"/>
                </a:solidFill>
              </a:rPr>
              <a:t>文献</a:t>
            </a:r>
            <a:r>
              <a:rPr lang="en-US" altLang="zh-CN" sz="1400" dirty="0">
                <a:solidFill>
                  <a:srgbClr val="0070C0"/>
                </a:solidFill>
              </a:rPr>
              <a:t>[</a:t>
            </a:r>
            <a:r>
              <a:rPr lang="it-IT" altLang="zh-CN" sz="1400" dirty="0">
                <a:solidFill>
                  <a:srgbClr val="0070C0"/>
                </a:solidFill>
              </a:rPr>
              <a:t>Li et al. GC</a:t>
            </a:r>
            <a:r>
              <a:rPr lang="en-US" altLang="zh-CN" sz="1400" dirty="0">
                <a:solidFill>
                  <a:srgbClr val="0070C0"/>
                </a:solidFill>
              </a:rPr>
              <a:t> </a:t>
            </a:r>
            <a:r>
              <a:rPr lang="en-US" altLang="zh-CN" sz="1400" dirty="0" err="1">
                <a:solidFill>
                  <a:srgbClr val="0070C0"/>
                </a:solidFill>
              </a:rPr>
              <a:t>Wkshps</a:t>
            </a:r>
            <a:r>
              <a:rPr lang="it-IT" altLang="zh-CN" sz="1400" dirty="0">
                <a:solidFill>
                  <a:srgbClr val="0070C0"/>
                </a:solidFill>
              </a:rPr>
              <a:t> 2016</a:t>
            </a:r>
            <a:r>
              <a:rPr lang="en-US" altLang="zh-CN" sz="1400" dirty="0">
                <a:solidFill>
                  <a:srgbClr val="0070C0"/>
                </a:solidFill>
              </a:rPr>
              <a:t>]</a:t>
            </a:r>
            <a:r>
              <a:rPr lang="zh-CN" altLang="en-US" sz="1400" dirty="0">
                <a:solidFill>
                  <a:prstClr val="black"/>
                </a:solidFill>
              </a:rPr>
              <a:t>必须要求总的输出向量能够被参与输出的设备平分，其可以视为本章框架的一种特殊情况</a:t>
            </a:r>
            <a:endParaRPr lang="en-US" altLang="zh-CN" sz="1400" dirty="0">
              <a:solidFill>
                <a:prstClr val="black"/>
              </a:solidFill>
            </a:endParaRPr>
          </a:p>
          <a:p>
            <a:pPr marL="360000" lvl="1" indent="-285750">
              <a:lnSpc>
                <a:spcPct val="150000"/>
              </a:lnSpc>
              <a:buFont typeface="Wingdings" panose="05000000000000000000" pitchFamily="2" charset="2"/>
              <a:buChar char="Ø"/>
            </a:pPr>
            <a:r>
              <a:rPr lang="zh-CN" altLang="en-US" sz="1400" dirty="0">
                <a:solidFill>
                  <a:prstClr val="black"/>
                </a:solidFill>
              </a:rPr>
              <a:t>提出改进的编码传输策略，使得从移动设备到接入点的上行传输负载与</a:t>
            </a:r>
            <a:r>
              <a:rPr lang="zh-CN" altLang="en-US" sz="1400" dirty="0">
                <a:solidFill>
                  <a:srgbClr val="0070C0"/>
                </a:solidFill>
              </a:rPr>
              <a:t>文献</a:t>
            </a:r>
            <a:r>
              <a:rPr lang="en-US" altLang="zh-CN" sz="1400" dirty="0">
                <a:solidFill>
                  <a:srgbClr val="0070C0"/>
                </a:solidFill>
              </a:rPr>
              <a:t>[</a:t>
            </a:r>
            <a:r>
              <a:rPr lang="it-IT" altLang="zh-CN" sz="1400" dirty="0">
                <a:solidFill>
                  <a:srgbClr val="0070C0"/>
                </a:solidFill>
              </a:rPr>
              <a:t>Li et al. GC</a:t>
            </a:r>
            <a:r>
              <a:rPr lang="en-US" altLang="zh-CN" sz="1400" dirty="0">
                <a:solidFill>
                  <a:srgbClr val="0070C0"/>
                </a:solidFill>
              </a:rPr>
              <a:t> </a:t>
            </a:r>
            <a:r>
              <a:rPr lang="en-US" altLang="zh-CN" sz="1400" dirty="0" err="1">
                <a:solidFill>
                  <a:srgbClr val="0070C0"/>
                </a:solidFill>
              </a:rPr>
              <a:t>Wkshps</a:t>
            </a:r>
            <a:r>
              <a:rPr lang="it-IT" altLang="zh-CN" sz="1400" dirty="0">
                <a:solidFill>
                  <a:srgbClr val="0070C0"/>
                </a:solidFill>
              </a:rPr>
              <a:t> 2016</a:t>
            </a:r>
            <a:r>
              <a:rPr lang="en-US" altLang="zh-CN" sz="1400" dirty="0">
                <a:solidFill>
                  <a:srgbClr val="0070C0"/>
                </a:solidFill>
              </a:rPr>
              <a:t>]</a:t>
            </a:r>
            <a:r>
              <a:rPr lang="zh-CN" altLang="en-US" sz="1400" dirty="0">
                <a:solidFill>
                  <a:prstClr val="black"/>
                </a:solidFill>
              </a:rPr>
              <a:t>等效的总线链路传输负载相比较，性能得到提升（总线链路的网络拓扑不存在接入点，节点间可以直接通信因此没有上、下行传输）</a:t>
            </a:r>
            <a:endParaRPr lang="en-US" altLang="zh-CN" sz="1400" dirty="0">
              <a:solidFill>
                <a:prstClr val="black"/>
              </a:solidFill>
            </a:endParaRPr>
          </a:p>
          <a:p>
            <a:pPr marL="360000" lvl="1" indent="-285750">
              <a:lnSpc>
                <a:spcPct val="150000"/>
              </a:lnSpc>
              <a:buFont typeface="Wingdings" panose="05000000000000000000" pitchFamily="2" charset="2"/>
              <a:buChar char="Ø"/>
            </a:pPr>
            <a:r>
              <a:rPr lang="zh-CN" altLang="en-US" sz="1400" dirty="0">
                <a:solidFill>
                  <a:prstClr val="black"/>
                </a:solidFill>
              </a:rPr>
              <a:t>在接入点运用随机线性编码技术，与上行传输量相比，进一步减少了从接入点到设备的下行传输负载</a:t>
            </a:r>
            <a:endParaRPr lang="en-US" altLang="zh-CN" sz="1400" dirty="0">
              <a:solidFill>
                <a:prstClr val="black"/>
              </a:solidFill>
            </a:endParaRPr>
          </a:p>
          <a:p>
            <a:pPr marL="360000" lvl="1" indent="-285750">
              <a:lnSpc>
                <a:spcPct val="150000"/>
              </a:lnSpc>
              <a:buFont typeface="Wingdings" panose="05000000000000000000" pitchFamily="2" charset="2"/>
              <a:buChar char="Ø"/>
            </a:pPr>
            <a:r>
              <a:rPr lang="zh-CN" altLang="en-US" sz="1400" dirty="0">
                <a:solidFill>
                  <a:prstClr val="black"/>
                </a:solidFill>
              </a:rPr>
              <a:t>提出基于灵活的输出向量分配方案的上、下行传输负载的信息理论下界；并且当所有设备完成本地运算时，我们证明在输出向量能够被参与输出的设备平分时，本文框架中的上行、下行传输负载可以接近理论最优</a:t>
            </a:r>
            <a:endParaRPr lang="en-US" altLang="zh-CN" sz="1400" dirty="0">
              <a:solidFill>
                <a:prstClr val="black"/>
              </a:solidFill>
            </a:endParaRPr>
          </a:p>
          <a:p>
            <a:pPr marL="360000" lvl="1" indent="-285750">
              <a:lnSpc>
                <a:spcPct val="150000"/>
              </a:lnSpc>
              <a:buFont typeface="Wingdings" panose="05000000000000000000" pitchFamily="2" charset="2"/>
              <a:buChar char="Ø"/>
            </a:pPr>
            <a:r>
              <a:rPr lang="zh-CN" altLang="en-US" sz="1400" dirty="0">
                <a:solidFill>
                  <a:prstClr val="black"/>
                </a:solidFill>
              </a:rPr>
              <a:t>对比</a:t>
            </a:r>
            <a:r>
              <a:rPr lang="en-US" altLang="zh-CN" sz="1400" dirty="0">
                <a:solidFill>
                  <a:srgbClr val="0070C0"/>
                </a:solidFill>
              </a:rPr>
              <a:t>[</a:t>
            </a:r>
            <a:r>
              <a:rPr lang="it-IT" altLang="zh-CN" sz="1400" dirty="0">
                <a:solidFill>
                  <a:srgbClr val="0070C0"/>
                </a:solidFill>
              </a:rPr>
              <a:t>Li et al. GC</a:t>
            </a:r>
            <a:r>
              <a:rPr lang="en-US" altLang="zh-CN" sz="1400" dirty="0">
                <a:solidFill>
                  <a:srgbClr val="0070C0"/>
                </a:solidFill>
              </a:rPr>
              <a:t> </a:t>
            </a:r>
            <a:r>
              <a:rPr lang="en-US" altLang="zh-CN" sz="1400" dirty="0" err="1">
                <a:solidFill>
                  <a:srgbClr val="0070C0"/>
                </a:solidFill>
              </a:rPr>
              <a:t>Wkshps</a:t>
            </a:r>
            <a:r>
              <a:rPr lang="it-IT" altLang="zh-CN" sz="1400" dirty="0">
                <a:solidFill>
                  <a:srgbClr val="0070C0"/>
                </a:solidFill>
              </a:rPr>
              <a:t> 2016</a:t>
            </a:r>
            <a:r>
              <a:rPr lang="en-US" altLang="zh-CN" sz="1400" dirty="0">
                <a:solidFill>
                  <a:srgbClr val="0070C0"/>
                </a:solidFill>
              </a:rPr>
              <a:t>]</a:t>
            </a:r>
            <a:r>
              <a:rPr lang="zh-CN" altLang="en-US" sz="1400" dirty="0">
                <a:solidFill>
                  <a:prstClr val="black"/>
                </a:solidFill>
              </a:rPr>
              <a:t>中只考虑</a:t>
            </a:r>
            <a:r>
              <a:rPr lang="en-US" altLang="zh-CN" sz="1400" dirty="0">
                <a:solidFill>
                  <a:prstClr val="black"/>
                </a:solidFill>
              </a:rPr>
              <a:t>Map</a:t>
            </a:r>
            <a:r>
              <a:rPr lang="zh-CN" altLang="en-US" sz="1400" dirty="0">
                <a:solidFill>
                  <a:prstClr val="black"/>
                </a:solidFill>
              </a:rPr>
              <a:t>阶段的计算时延，本章提出考虑</a:t>
            </a:r>
            <a:r>
              <a:rPr lang="en-US" altLang="zh-CN" sz="1400" dirty="0">
                <a:solidFill>
                  <a:prstClr val="black"/>
                </a:solidFill>
              </a:rPr>
              <a:t>Map</a:t>
            </a:r>
            <a:r>
              <a:rPr lang="zh-CN" altLang="en-US" sz="1400" dirty="0">
                <a:solidFill>
                  <a:prstClr val="black"/>
                </a:solidFill>
              </a:rPr>
              <a:t>，</a:t>
            </a:r>
            <a:r>
              <a:rPr lang="en-US" altLang="zh-CN" sz="1400" dirty="0">
                <a:solidFill>
                  <a:prstClr val="black"/>
                </a:solidFill>
              </a:rPr>
              <a:t>Shuffle</a:t>
            </a:r>
            <a:r>
              <a:rPr lang="zh-CN" altLang="en-US" sz="1400" dirty="0">
                <a:solidFill>
                  <a:prstClr val="black"/>
                </a:solidFill>
              </a:rPr>
              <a:t>和</a:t>
            </a:r>
            <a:r>
              <a:rPr lang="en-US" altLang="zh-CN" sz="1400" dirty="0">
                <a:solidFill>
                  <a:prstClr val="black"/>
                </a:solidFill>
              </a:rPr>
              <a:t>Reduce</a:t>
            </a:r>
            <a:r>
              <a:rPr lang="zh-CN" altLang="en-US" sz="1400" dirty="0">
                <a:solidFill>
                  <a:prstClr val="black"/>
                </a:solidFill>
              </a:rPr>
              <a:t>三个阶段的时延模型来衡量框架的性能</a:t>
            </a:r>
            <a:endParaRPr lang="en-US" altLang="zh-CN" sz="1400" dirty="0">
              <a:solidFill>
                <a:prstClr val="black"/>
              </a:solidFill>
            </a:endParaRPr>
          </a:p>
          <a:p>
            <a:pPr marL="74250" lvl="1">
              <a:lnSpc>
                <a:spcPct val="150000"/>
              </a:lnSpc>
            </a:pPr>
            <a:endParaRPr lang="en-US" altLang="zh-CN" dirty="0">
              <a:solidFill>
                <a:prstClr val="black"/>
              </a:solidFill>
            </a:endParaRPr>
          </a:p>
          <a:p>
            <a:pPr marL="74250" lvl="1">
              <a:lnSpc>
                <a:spcPct val="150000"/>
              </a:lnSpc>
            </a:pPr>
            <a:endParaRPr lang="en-US" altLang="zh-CN" dirty="0">
              <a:solidFill>
                <a:prstClr val="black"/>
              </a:solidFill>
            </a:endParaRPr>
          </a:p>
          <a:p>
            <a:pPr marL="74250" lvl="1"/>
            <a:r>
              <a:rPr lang="en-US" altLang="zh-CN" sz="1200" dirty="0">
                <a:solidFill>
                  <a:srgbClr val="0070C0"/>
                </a:solidFill>
              </a:rPr>
              <a:t>[</a:t>
            </a:r>
            <a:r>
              <a:rPr lang="it-IT" altLang="zh-CN" sz="1200" dirty="0">
                <a:solidFill>
                  <a:srgbClr val="0070C0"/>
                </a:solidFill>
              </a:rPr>
              <a:t>Li et al. GC</a:t>
            </a:r>
            <a:r>
              <a:rPr lang="en-US" altLang="zh-CN" sz="1200" dirty="0">
                <a:solidFill>
                  <a:srgbClr val="0070C0"/>
                </a:solidFill>
              </a:rPr>
              <a:t> </a:t>
            </a:r>
            <a:r>
              <a:rPr lang="en-US" altLang="zh-CN" sz="1200" dirty="0" err="1">
                <a:solidFill>
                  <a:srgbClr val="0070C0"/>
                </a:solidFill>
              </a:rPr>
              <a:t>Wkshps</a:t>
            </a:r>
            <a:r>
              <a:rPr lang="it-IT" altLang="zh-CN" sz="1200" dirty="0">
                <a:solidFill>
                  <a:srgbClr val="0070C0"/>
                </a:solidFill>
              </a:rPr>
              <a:t> 2016</a:t>
            </a:r>
            <a:r>
              <a:rPr lang="en-US" altLang="zh-CN" sz="1200" dirty="0">
                <a:solidFill>
                  <a:srgbClr val="0070C0"/>
                </a:solidFill>
              </a:rPr>
              <a:t>] </a:t>
            </a:r>
            <a:r>
              <a:rPr lang="en-US" altLang="zh-CN" sz="1200" dirty="0">
                <a:solidFill>
                  <a:prstClr val="black"/>
                </a:solidFill>
              </a:rPr>
              <a:t>LI S, MADDAH-ALI M A, AVESTIMEHR A S. A unified coding framework for distributed computing with straggling servers[C] // 2016 IEEE </a:t>
            </a:r>
            <a:r>
              <a:rPr lang="en-US" altLang="zh-CN" sz="1200" dirty="0" err="1">
                <a:solidFill>
                  <a:prstClr val="black"/>
                </a:solidFill>
              </a:rPr>
              <a:t>Globecom</a:t>
            </a:r>
            <a:r>
              <a:rPr lang="en-US" altLang="zh-CN" sz="1200" dirty="0">
                <a:solidFill>
                  <a:prstClr val="black"/>
                </a:solidFill>
              </a:rPr>
              <a:t> Workshops (GC </a:t>
            </a:r>
            <a:r>
              <a:rPr lang="en-US" altLang="zh-CN" sz="1200" dirty="0" err="1">
                <a:solidFill>
                  <a:prstClr val="black"/>
                </a:solidFill>
              </a:rPr>
              <a:t>Wkshps</a:t>
            </a:r>
            <a:r>
              <a:rPr lang="en-US" altLang="zh-CN" sz="1200" dirty="0">
                <a:solidFill>
                  <a:prstClr val="black"/>
                </a:solidFill>
              </a:rPr>
              <a:t>). 2016 : 1 – 6.</a:t>
            </a:r>
          </a:p>
        </p:txBody>
      </p:sp>
      <p:sp>
        <p:nvSpPr>
          <p:cNvPr id="7" name="灯片编号占位符 6">
            <a:extLst>
              <a:ext uri="{FF2B5EF4-FFF2-40B4-BE49-F238E27FC236}">
                <a16:creationId xmlns:a16="http://schemas.microsoft.com/office/drawing/2014/main" id="{FAEF96A4-DFD2-48C0-987D-3930CF8D7A97}"/>
              </a:ext>
            </a:extLst>
          </p:cNvPr>
          <p:cNvSpPr>
            <a:spLocks noGrp="1"/>
          </p:cNvSpPr>
          <p:nvPr>
            <p:ph type="sldNum" sz="quarter" idx="12"/>
          </p:nvPr>
        </p:nvSpPr>
        <p:spPr/>
        <p:txBody>
          <a:bodyPr/>
          <a:lstStyle/>
          <a:p>
            <a:fld id="{B125EA80-F692-46D2-AFCC-CA48803B46EF}" type="slidenum">
              <a:rPr lang="zh-CN" altLang="en-US" smtClean="0"/>
              <a:t>28</a:t>
            </a:fld>
            <a:endParaRPr lang="zh-CN" altLang="en-US" dirty="0"/>
          </a:p>
        </p:txBody>
      </p:sp>
    </p:spTree>
    <p:extLst>
      <p:ext uri="{BB962C8B-B14F-4D97-AF65-F5344CB8AC3E}">
        <p14:creationId xmlns:p14="http://schemas.microsoft.com/office/powerpoint/2010/main" val="13507691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文本框 26">
            <a:extLst>
              <a:ext uri="{FF2B5EF4-FFF2-40B4-BE49-F238E27FC236}">
                <a16:creationId xmlns:a16="http://schemas.microsoft.com/office/drawing/2014/main" id="{663C2739-4499-48DE-BBF6-DC56B01690F3}"/>
              </a:ext>
            </a:extLst>
          </p:cNvPr>
          <p:cNvSpPr txBox="1"/>
          <p:nvPr/>
        </p:nvSpPr>
        <p:spPr>
          <a:xfrm>
            <a:off x="0" y="0"/>
            <a:ext cx="12192000" cy="764312"/>
          </a:xfrm>
          <a:prstGeom prst="rect">
            <a:avLst/>
          </a:prstGeom>
          <a:solidFill>
            <a:srgbClr val="0070C0"/>
          </a:solidFill>
        </p:spPr>
        <p:txBody>
          <a:bodyPr wrap="square" rtlCol="0">
            <a:spAutoFit/>
          </a:bodyPr>
          <a:lstStyle/>
          <a:p>
            <a:pPr lvl="0">
              <a:lnSpc>
                <a:spcPts val="4400"/>
              </a:lnSpc>
              <a:defRPr/>
            </a:pP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 </a:t>
            </a:r>
            <a:r>
              <a:rPr lang="en-US" altLang="zh-CN" sz="2800" b="1" dirty="0">
                <a:solidFill>
                  <a:prstClr val="white"/>
                </a:solidFill>
                <a:latin typeface="Arial"/>
                <a:ea typeface="微软雅黑"/>
              </a:rPr>
              <a:t>5</a:t>
            </a:r>
            <a:r>
              <a:rPr kumimoji="0" lang="en-US" altLang="zh-CN" sz="2800" b="1" i="0" u="none" strike="noStrike" kern="1200" cap="none" spc="0" normalizeH="0" baseline="0" noProof="0" dirty="0">
                <a:ln>
                  <a:noFill/>
                </a:ln>
                <a:solidFill>
                  <a:prstClr val="white"/>
                </a:solidFill>
                <a:effectLst/>
                <a:uLnTx/>
                <a:uFillTx/>
                <a:latin typeface="Arial"/>
                <a:ea typeface="微软雅黑"/>
                <a:cs typeface="+mn-cs"/>
              </a:rPr>
              <a:t>. </a:t>
            </a:r>
            <a:r>
              <a:rPr kumimoji="0" lang="zh-CN" altLang="en-US" sz="2800" b="1" i="0" u="none" strike="noStrike" kern="1200" cap="none" spc="0" normalizeH="0" baseline="0" noProof="0" dirty="0">
                <a:ln>
                  <a:noFill/>
                </a:ln>
                <a:solidFill>
                  <a:prstClr val="white"/>
                </a:solidFill>
                <a:effectLst/>
                <a:uLnTx/>
                <a:uFillTx/>
                <a:latin typeface="Arial"/>
                <a:ea typeface="微软雅黑"/>
                <a:cs typeface="+mn-cs"/>
              </a:rPr>
              <a:t>总结（创新点）</a:t>
            </a:r>
            <a:endParaRPr kumimoji="0" lang="en-US" altLang="zh-CN" sz="2800" b="1" i="0" u="none" strike="noStrike" kern="1200" cap="none" spc="0" normalizeH="0" baseline="0" noProof="0" dirty="0">
              <a:ln>
                <a:noFill/>
              </a:ln>
              <a:solidFill>
                <a:prstClr val="white"/>
              </a:solidFill>
              <a:effectLst/>
              <a:uLnTx/>
              <a:uFillTx/>
              <a:latin typeface="Arial"/>
              <a:ea typeface="微软雅黑"/>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0" normalizeH="0" baseline="0" noProof="0" dirty="0">
              <a:ln>
                <a:noFill/>
              </a:ln>
              <a:solidFill>
                <a:prstClr val="white"/>
              </a:solidFill>
              <a:effectLst/>
              <a:uLnTx/>
              <a:uFillTx/>
              <a:latin typeface="Arial"/>
              <a:ea typeface="微软雅黑"/>
              <a:cs typeface="+mn-cs"/>
            </a:endParaRPr>
          </a:p>
        </p:txBody>
      </p:sp>
      <p:sp>
        <p:nvSpPr>
          <p:cNvPr id="2" name="文本框 1">
            <a:extLst>
              <a:ext uri="{FF2B5EF4-FFF2-40B4-BE49-F238E27FC236}">
                <a16:creationId xmlns:a16="http://schemas.microsoft.com/office/drawing/2014/main" id="{A869762B-3FC4-422B-8D7C-B74731649032}"/>
              </a:ext>
            </a:extLst>
          </p:cNvPr>
          <p:cNvSpPr txBox="1"/>
          <p:nvPr/>
        </p:nvSpPr>
        <p:spPr>
          <a:xfrm>
            <a:off x="155448" y="917829"/>
            <a:ext cx="11868912" cy="5678478"/>
          </a:xfrm>
          <a:prstGeom prst="rect">
            <a:avLst/>
          </a:prstGeom>
          <a:noFill/>
        </p:spPr>
        <p:txBody>
          <a:bodyPr wrap="square" rtlCol="0">
            <a:spAutoFit/>
          </a:bodyPr>
          <a:lstStyle/>
          <a:p>
            <a:pPr marL="285750" indent="-285750">
              <a:lnSpc>
                <a:spcPct val="150000"/>
              </a:lnSpc>
              <a:buFont typeface="Wingdings" panose="05000000000000000000" pitchFamily="2" charset="2"/>
              <a:buChar char="p"/>
            </a:pPr>
            <a:r>
              <a:rPr lang="zh-CN" altLang="en-US" sz="1600" b="1" dirty="0">
                <a:solidFill>
                  <a:prstClr val="black"/>
                </a:solidFill>
              </a:rPr>
              <a:t>我们提出一个集成的压缩编码算法来加速边缘雾网络中多个</a:t>
            </a:r>
            <a:r>
              <a:rPr lang="en-US" altLang="zh-CN" sz="1600" b="1" dirty="0">
                <a:solidFill>
                  <a:prstClr val="black"/>
                </a:solidFill>
              </a:rPr>
              <a:t>MapReduce</a:t>
            </a:r>
            <a:r>
              <a:rPr lang="zh-CN" altLang="en-US" sz="1600" b="1" dirty="0">
                <a:solidFill>
                  <a:prstClr val="black"/>
                </a:solidFill>
              </a:rPr>
              <a:t>作业下的大规模</a:t>
            </a:r>
            <a:r>
              <a:rPr lang="zh-CN" altLang="en-US" sz="1600" b="1" dirty="0">
                <a:solidFill>
                  <a:srgbClr val="FF0000"/>
                </a:solidFill>
              </a:rPr>
              <a:t>矩阵</a:t>
            </a:r>
            <a:r>
              <a:rPr lang="en-US" altLang="zh-CN" sz="1600" b="1" dirty="0">
                <a:solidFill>
                  <a:srgbClr val="FF0000"/>
                </a:solidFill>
              </a:rPr>
              <a:t>-</a:t>
            </a:r>
            <a:r>
              <a:rPr lang="zh-CN" altLang="en-US" sz="1600" b="1" dirty="0">
                <a:solidFill>
                  <a:srgbClr val="FF0000"/>
                </a:solidFill>
              </a:rPr>
              <a:t>向量乘法运算（</a:t>
            </a:r>
            <a:r>
              <a:rPr lang="en-US" altLang="zh-CN" sz="1600" b="1" dirty="0">
                <a:solidFill>
                  <a:srgbClr val="FF0000"/>
                </a:solidFill>
              </a:rPr>
              <a:t>Matrix-Vector Multiplication</a:t>
            </a:r>
            <a:r>
              <a:rPr lang="zh-CN" altLang="en-US" sz="1600" b="1" dirty="0">
                <a:solidFill>
                  <a:srgbClr val="FF0000"/>
                </a:solidFill>
              </a:rPr>
              <a:t>）</a:t>
            </a:r>
            <a:r>
              <a:rPr lang="zh-CN" altLang="en-US" sz="1600" b="1" dirty="0">
                <a:solidFill>
                  <a:prstClr val="black"/>
                </a:solidFill>
              </a:rPr>
              <a:t>。基于数据矩阵按</a:t>
            </a:r>
            <a:r>
              <a:rPr lang="zh-CN" altLang="en-US" sz="1600" b="1" dirty="0">
                <a:solidFill>
                  <a:srgbClr val="FF0000"/>
                </a:solidFill>
              </a:rPr>
              <a:t>列</a:t>
            </a:r>
            <a:r>
              <a:rPr lang="zh-CN" altLang="en-US" sz="1600" b="1" dirty="0">
                <a:solidFill>
                  <a:prstClr val="black"/>
                </a:solidFill>
              </a:rPr>
              <a:t>划分的分布式存储方式，算法将采用编码技术与压缩技术相结合的方式实现，两种技术在减少传输量方面的共同作用显著提高了分布式计算的</a:t>
            </a:r>
            <a:r>
              <a:rPr lang="zh-CN" altLang="en-US" sz="1600" b="1">
                <a:solidFill>
                  <a:prstClr val="black"/>
                </a:solidFill>
              </a:rPr>
              <a:t>性能。算法基于</a:t>
            </a:r>
            <a:r>
              <a:rPr lang="zh-CN" altLang="en-US" sz="1600" b="1" dirty="0">
                <a:solidFill>
                  <a:srgbClr val="0070C0"/>
                </a:solidFill>
              </a:rPr>
              <a:t>文献</a:t>
            </a:r>
            <a:r>
              <a:rPr lang="en-US" altLang="zh-CN" sz="1600" b="1" dirty="0">
                <a:solidFill>
                  <a:srgbClr val="0070C0"/>
                </a:solidFill>
              </a:rPr>
              <a:t>[</a:t>
            </a:r>
            <a:r>
              <a:rPr lang="it-IT" altLang="zh-CN" sz="1600" b="1" dirty="0">
                <a:solidFill>
                  <a:srgbClr val="0070C0"/>
                </a:solidFill>
              </a:rPr>
              <a:t>Li et al. </a:t>
            </a:r>
            <a:r>
              <a:rPr lang="en-US" altLang="zh-CN" sz="1600" b="1" dirty="0">
                <a:solidFill>
                  <a:srgbClr val="0070C0"/>
                </a:solidFill>
              </a:rPr>
              <a:t>ISIT 2018]</a:t>
            </a:r>
            <a:r>
              <a:rPr lang="zh-CN" altLang="en-US" sz="1600" b="1" dirty="0">
                <a:solidFill>
                  <a:prstClr val="black"/>
                </a:solidFill>
              </a:rPr>
              <a:t>中的思想，相比之前的工作，创新点如下：</a:t>
            </a:r>
            <a:endParaRPr lang="en-US" altLang="zh-CN" sz="1600" b="1" dirty="0">
              <a:solidFill>
                <a:prstClr val="black"/>
              </a:solidFill>
            </a:endParaRPr>
          </a:p>
          <a:p>
            <a:pPr>
              <a:lnSpc>
                <a:spcPct val="150000"/>
              </a:lnSpc>
            </a:pPr>
            <a:endParaRPr lang="en-US" altLang="zh-CN" sz="800" b="1" dirty="0">
              <a:solidFill>
                <a:prstClr val="black"/>
              </a:solidFill>
            </a:endParaRPr>
          </a:p>
          <a:p>
            <a:pPr marL="360000" lvl="1" indent="-285750">
              <a:lnSpc>
                <a:spcPct val="150000"/>
              </a:lnSpc>
              <a:buFont typeface="Wingdings" panose="05000000000000000000" pitchFamily="2" charset="2"/>
              <a:buChar char="Ø"/>
            </a:pPr>
            <a:r>
              <a:rPr lang="zh-CN" altLang="en-US" sz="1400" dirty="0">
                <a:solidFill>
                  <a:prstClr val="black"/>
                </a:solidFill>
              </a:rPr>
              <a:t>算法推广到了适用于雾网络环境下的分布式计算场景</a:t>
            </a:r>
            <a:endParaRPr lang="en-US" altLang="zh-CN" sz="1400" dirty="0">
              <a:solidFill>
                <a:prstClr val="black"/>
              </a:solidFill>
            </a:endParaRPr>
          </a:p>
          <a:p>
            <a:pPr marL="360000" lvl="1" indent="-285750">
              <a:lnSpc>
                <a:spcPct val="150000"/>
              </a:lnSpc>
              <a:buFont typeface="Wingdings" panose="05000000000000000000" pitchFamily="2" charset="2"/>
              <a:buChar char="Ø"/>
            </a:pPr>
            <a:r>
              <a:rPr lang="zh-CN" altLang="en-US" sz="1400" dirty="0">
                <a:solidFill>
                  <a:prstClr val="black"/>
                </a:solidFill>
              </a:rPr>
              <a:t>结合矩阵乘法运算的特点，将算法应用到了矩阵</a:t>
            </a:r>
            <a:r>
              <a:rPr lang="en-US" altLang="zh-CN" sz="1400" dirty="0">
                <a:solidFill>
                  <a:prstClr val="black"/>
                </a:solidFill>
              </a:rPr>
              <a:t>-</a:t>
            </a:r>
            <a:r>
              <a:rPr lang="zh-CN" altLang="en-US" sz="1400" dirty="0">
                <a:solidFill>
                  <a:prstClr val="black"/>
                </a:solidFill>
              </a:rPr>
              <a:t>向量分布式乘法运算。具体地，在完成本地运算后进行数据交互前，对矩阵乘法运算中间结果进行预压缩（累加）处理来减少传输量；在传输阶段，运用编码技术在压缩数据的基础上进一步减少边缘节点间数据交互的传输负载。而</a:t>
            </a:r>
            <a:r>
              <a:rPr lang="zh-CN" altLang="en-US" sz="1400" dirty="0">
                <a:solidFill>
                  <a:srgbClr val="0070C0"/>
                </a:solidFill>
              </a:rPr>
              <a:t>文献</a:t>
            </a:r>
            <a:r>
              <a:rPr lang="it-IT" altLang="zh-CN" sz="1400" dirty="0">
                <a:solidFill>
                  <a:srgbClr val="0070C0"/>
                </a:solidFill>
              </a:rPr>
              <a:t>[Li et al. ISIT 2018]</a:t>
            </a:r>
            <a:r>
              <a:rPr lang="zh-CN" altLang="en-US" sz="1400" dirty="0"/>
              <a:t>并没有考虑矩阵的分布式乘法运算，也没有针对矩阵乘法运算进行相应的数学建模与方案设计</a:t>
            </a:r>
            <a:endParaRPr lang="en-US" altLang="zh-CN" sz="1400" dirty="0"/>
          </a:p>
          <a:p>
            <a:pPr marL="360000" lvl="1" indent="-285750">
              <a:lnSpc>
                <a:spcPct val="150000"/>
              </a:lnSpc>
              <a:buFont typeface="Wingdings" panose="05000000000000000000" pitchFamily="2" charset="2"/>
              <a:buChar char="Ø"/>
            </a:pPr>
            <a:r>
              <a:rPr lang="zh-CN" altLang="en-US" sz="1400" dirty="0">
                <a:solidFill>
                  <a:prstClr val="black"/>
                </a:solidFill>
              </a:rPr>
              <a:t>对比其他的分布式矩阵乘法相关文献，以往文献大多考虑矩阵按行分块的分布式存储方式，我们的算法适用于数据矩阵按列分块情况下的矩阵乘法运算</a:t>
            </a:r>
            <a:endParaRPr lang="en-US" altLang="zh-CN" sz="1400" dirty="0">
              <a:solidFill>
                <a:prstClr val="black"/>
              </a:solidFill>
            </a:endParaRPr>
          </a:p>
          <a:p>
            <a:pPr marL="360000" lvl="1" indent="-285750">
              <a:lnSpc>
                <a:spcPct val="150000"/>
              </a:lnSpc>
              <a:buFont typeface="Wingdings" panose="05000000000000000000" pitchFamily="2" charset="2"/>
              <a:buChar char="Ø"/>
            </a:pPr>
            <a:r>
              <a:rPr lang="zh-CN" altLang="en-US" sz="1400" dirty="0">
                <a:solidFill>
                  <a:prstClr val="black"/>
                </a:solidFill>
              </a:rPr>
              <a:t>我们还将算法进行了应用扩展，多个</a:t>
            </a:r>
            <a:r>
              <a:rPr lang="en-US" altLang="zh-CN" sz="1400" dirty="0">
                <a:solidFill>
                  <a:prstClr val="black"/>
                </a:solidFill>
              </a:rPr>
              <a:t>MapReduce</a:t>
            </a:r>
            <a:r>
              <a:rPr lang="zh-CN" altLang="en-US" sz="1400" dirty="0">
                <a:solidFill>
                  <a:prstClr val="black"/>
                </a:solidFill>
              </a:rPr>
              <a:t>作业还可以共同协作，来完成单个更大规模的矩阵</a:t>
            </a:r>
            <a:r>
              <a:rPr lang="en-US" altLang="zh-CN" sz="1400" dirty="0">
                <a:solidFill>
                  <a:prstClr val="black"/>
                </a:solidFill>
              </a:rPr>
              <a:t>-</a:t>
            </a:r>
            <a:r>
              <a:rPr lang="zh-CN" altLang="en-US" sz="1400" dirty="0">
                <a:solidFill>
                  <a:prstClr val="black"/>
                </a:solidFill>
              </a:rPr>
              <a:t>向量乘法运算</a:t>
            </a:r>
            <a:endParaRPr lang="en-US" altLang="zh-CN" sz="1400" dirty="0">
              <a:solidFill>
                <a:prstClr val="black"/>
              </a:solidFill>
            </a:endParaRPr>
          </a:p>
          <a:p>
            <a:pPr marL="74250" lvl="1">
              <a:lnSpc>
                <a:spcPct val="150000"/>
              </a:lnSpc>
            </a:pPr>
            <a:endParaRPr lang="en-US" altLang="zh-CN" sz="1400" dirty="0">
              <a:solidFill>
                <a:prstClr val="black"/>
              </a:solidFill>
            </a:endParaRPr>
          </a:p>
          <a:p>
            <a:pPr marL="360000" lvl="1" indent="-285750">
              <a:lnSpc>
                <a:spcPct val="150000"/>
              </a:lnSpc>
              <a:buFont typeface="Wingdings" panose="05000000000000000000" pitchFamily="2" charset="2"/>
              <a:buChar char="Ø"/>
            </a:pPr>
            <a:endParaRPr lang="en-US" altLang="zh-CN" sz="1400" dirty="0">
              <a:solidFill>
                <a:prstClr val="black"/>
              </a:solidFill>
            </a:endParaRPr>
          </a:p>
          <a:p>
            <a:pPr marL="74250" lvl="1">
              <a:lnSpc>
                <a:spcPct val="150000"/>
              </a:lnSpc>
            </a:pPr>
            <a:endParaRPr lang="en-US" altLang="zh-CN" sz="1400" dirty="0">
              <a:solidFill>
                <a:prstClr val="black"/>
              </a:solidFill>
            </a:endParaRPr>
          </a:p>
          <a:p>
            <a:pPr marL="74250" lvl="1">
              <a:lnSpc>
                <a:spcPct val="150000"/>
              </a:lnSpc>
            </a:pPr>
            <a:endParaRPr lang="en-US" altLang="zh-CN" sz="1400" dirty="0">
              <a:solidFill>
                <a:prstClr val="black"/>
              </a:solidFill>
            </a:endParaRPr>
          </a:p>
          <a:p>
            <a:pPr marL="74250" lvl="1"/>
            <a:r>
              <a:rPr lang="it-IT" altLang="zh-CN" sz="1200" dirty="0">
                <a:solidFill>
                  <a:srgbClr val="0070C0"/>
                </a:solidFill>
              </a:rPr>
              <a:t>[Li et al. ISIT 2018] </a:t>
            </a:r>
            <a:r>
              <a:rPr lang="en-US" altLang="zh-CN" sz="1200" dirty="0">
                <a:solidFill>
                  <a:prstClr val="black"/>
                </a:solidFill>
              </a:rPr>
              <a:t>LI S, MADDAH-ALI M A, AVESTIMEHR A S. Compressed coded distributed computing[C] //2018 IEEE International Symposium on Information Theory (ISIT). 2018: 2032–2036.</a:t>
            </a:r>
          </a:p>
        </p:txBody>
      </p:sp>
      <p:sp>
        <p:nvSpPr>
          <p:cNvPr id="7" name="灯片编号占位符 6">
            <a:extLst>
              <a:ext uri="{FF2B5EF4-FFF2-40B4-BE49-F238E27FC236}">
                <a16:creationId xmlns:a16="http://schemas.microsoft.com/office/drawing/2014/main" id="{FAEF96A4-DFD2-48C0-987D-3930CF8D7A97}"/>
              </a:ext>
            </a:extLst>
          </p:cNvPr>
          <p:cNvSpPr>
            <a:spLocks noGrp="1"/>
          </p:cNvSpPr>
          <p:nvPr>
            <p:ph type="sldNum" sz="quarter" idx="12"/>
          </p:nvPr>
        </p:nvSpPr>
        <p:spPr/>
        <p:txBody>
          <a:bodyPr/>
          <a:lstStyle/>
          <a:p>
            <a:fld id="{B125EA80-F692-46D2-AFCC-CA48803B46EF}" type="slidenum">
              <a:rPr lang="zh-CN" altLang="en-US" smtClean="0"/>
              <a:t>29</a:t>
            </a:fld>
            <a:endParaRPr lang="zh-CN" altLang="en-US" dirty="0"/>
          </a:p>
        </p:txBody>
      </p:sp>
    </p:spTree>
    <p:extLst>
      <p:ext uri="{BB962C8B-B14F-4D97-AF65-F5344CB8AC3E}">
        <p14:creationId xmlns:p14="http://schemas.microsoft.com/office/powerpoint/2010/main" val="17180871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13B7231E-914E-466F-818B-D31A5F0F5541}"/>
              </a:ext>
            </a:extLst>
          </p:cNvPr>
          <p:cNvSpPr txBox="1"/>
          <p:nvPr/>
        </p:nvSpPr>
        <p:spPr>
          <a:xfrm>
            <a:off x="1740690" y="1610655"/>
            <a:ext cx="8710615" cy="1323439"/>
          </a:xfrm>
          <a:prstGeom prst="rect">
            <a:avLst/>
          </a:prstGeom>
          <a:noFill/>
        </p:spPr>
        <p:txBody>
          <a:bodyPr wrap="square" rtlCol="0">
            <a:spAutoFit/>
          </a:bodyPr>
          <a:lstStyle/>
          <a:p>
            <a:r>
              <a:rPr lang="zh-CN" altLang="en-US" sz="8000" dirty="0"/>
              <a:t>感谢您的批评指正！ </a:t>
            </a:r>
          </a:p>
        </p:txBody>
      </p:sp>
      <p:sp>
        <p:nvSpPr>
          <p:cNvPr id="6" name="文本框 5">
            <a:extLst>
              <a:ext uri="{FF2B5EF4-FFF2-40B4-BE49-F238E27FC236}">
                <a16:creationId xmlns:a16="http://schemas.microsoft.com/office/drawing/2014/main" id="{7C86457D-7B9B-452F-BA2C-EE8612B87263}"/>
              </a:ext>
            </a:extLst>
          </p:cNvPr>
          <p:cNvSpPr txBox="1"/>
          <p:nvPr/>
        </p:nvSpPr>
        <p:spPr>
          <a:xfrm>
            <a:off x="835408" y="3923906"/>
            <a:ext cx="10521181" cy="2031325"/>
          </a:xfrm>
          <a:prstGeom prst="rect">
            <a:avLst/>
          </a:prstGeom>
          <a:noFill/>
        </p:spPr>
        <p:txBody>
          <a:bodyPr wrap="square" rtlCol="0">
            <a:spAutoFit/>
          </a:bodyPr>
          <a:lstStyle/>
          <a:p>
            <a:pPr algn="ctr"/>
            <a:r>
              <a:rPr lang="zh-CN" altLang="en-US" b="1" dirty="0"/>
              <a:t>答辩人：赵家毅</a:t>
            </a:r>
            <a:endParaRPr lang="en-US" altLang="zh-CN" b="1" dirty="0"/>
          </a:p>
          <a:p>
            <a:pPr algn="ctr"/>
            <a:endParaRPr lang="en-US" altLang="zh-CN" b="1" dirty="0"/>
          </a:p>
          <a:p>
            <a:pPr algn="ctr"/>
            <a:r>
              <a:rPr lang="zh-CN" altLang="en-US" b="1" dirty="0"/>
              <a:t>学号：</a:t>
            </a:r>
            <a:r>
              <a:rPr lang="en-US" altLang="zh-CN" b="1" dirty="0"/>
              <a:t>19215858</a:t>
            </a:r>
          </a:p>
          <a:p>
            <a:pPr algn="ctr"/>
            <a:endParaRPr lang="en-US" altLang="zh-CN" b="1" dirty="0"/>
          </a:p>
          <a:p>
            <a:pPr algn="ctr"/>
            <a:r>
              <a:rPr lang="zh-CN" altLang="en-US" b="1" dirty="0"/>
              <a:t>指导老师：张金钡副教授</a:t>
            </a:r>
            <a:endParaRPr lang="en-US" altLang="zh-CN" b="1" dirty="0"/>
          </a:p>
          <a:p>
            <a:pPr algn="ctr"/>
            <a:endParaRPr lang="en-US" altLang="zh-CN" b="1" dirty="0"/>
          </a:p>
          <a:p>
            <a:pPr algn="ctr"/>
            <a:r>
              <a:rPr lang="zh-CN" altLang="en-US" b="1" dirty="0"/>
              <a:t>电子与通信工程学院</a:t>
            </a:r>
            <a:endParaRPr lang="en-US" altLang="zh-CN" b="1" dirty="0"/>
          </a:p>
        </p:txBody>
      </p:sp>
      <p:sp>
        <p:nvSpPr>
          <p:cNvPr id="7" name="灯片编号占位符 6">
            <a:extLst>
              <a:ext uri="{FF2B5EF4-FFF2-40B4-BE49-F238E27FC236}">
                <a16:creationId xmlns:a16="http://schemas.microsoft.com/office/drawing/2014/main" id="{6BAE371D-9437-41BE-BE17-5F54BD43419B}"/>
              </a:ext>
            </a:extLst>
          </p:cNvPr>
          <p:cNvSpPr>
            <a:spLocks noGrp="1"/>
          </p:cNvSpPr>
          <p:nvPr>
            <p:ph type="sldNum" sz="quarter" idx="12"/>
          </p:nvPr>
        </p:nvSpPr>
        <p:spPr/>
        <p:txBody>
          <a:bodyPr/>
          <a:lstStyle/>
          <a:p>
            <a:fld id="{B125EA80-F692-46D2-AFCC-CA48803B46EF}" type="slidenum">
              <a:rPr lang="zh-CN" altLang="en-US" smtClean="0"/>
              <a:t>30</a:t>
            </a:fld>
            <a:endParaRPr lang="zh-CN" altLang="en-US" dirty="0"/>
          </a:p>
        </p:txBody>
      </p:sp>
    </p:spTree>
    <p:extLst>
      <p:ext uri="{BB962C8B-B14F-4D97-AF65-F5344CB8AC3E}">
        <p14:creationId xmlns:p14="http://schemas.microsoft.com/office/powerpoint/2010/main" val="3659675289"/>
      </p:ext>
    </p:extLst>
  </p:cSld>
  <p:clrMapOvr>
    <a:masterClrMapping/>
  </p:clrMapOvr>
</p:sld>
</file>

<file path=ppt/theme/theme1.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2">
      <a:majorFont>
        <a:latin typeface="Arial"/>
        <a:ea typeface="微软雅黑"/>
        <a:cs typeface=""/>
      </a:majorFont>
      <a:minorFont>
        <a:latin typeface="Arial"/>
        <a:ea typeface="微软雅黑"/>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7138</TotalTime>
  <Words>4215</Words>
  <Application>Microsoft Office PowerPoint</Application>
  <PresentationFormat>宽屏</PresentationFormat>
  <Paragraphs>493</Paragraphs>
  <Slides>30</Slides>
  <Notes>23</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30</vt:i4>
      </vt:variant>
    </vt:vector>
  </HeadingPairs>
  <TitlesOfParts>
    <vt:vector size="37" baseType="lpstr">
      <vt:lpstr>等线</vt:lpstr>
      <vt:lpstr>Arial</vt:lpstr>
      <vt:lpstr>Calibri</vt:lpstr>
      <vt:lpstr>Cambria Math</vt:lpstr>
      <vt:lpstr>Times New Roman</vt:lpstr>
      <vt:lpstr>Wingdings</vt:lpstr>
      <vt:lpstr>Office Theme</vt:lpstr>
      <vt:lpstr>边缘计算网络下的 编码分布式矩阵乘法运算研究 Coded Distributed Matrix Multiplication in Edge Computing Networks     </vt:lpstr>
      <vt:lpstr>目录</vt:lpstr>
      <vt:lpstr>PowerPoint 演示文稿</vt:lpstr>
      <vt:lpstr>PowerPoint 演示文稿</vt:lpstr>
      <vt:lpstr>目录</vt:lpstr>
      <vt:lpstr>PowerPoint 演示文稿</vt:lpstr>
      <vt:lpstr>PowerPoint 演示文稿</vt:lpstr>
      <vt:lpstr>PowerPoint 演示文稿</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目录</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目录</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赵 家毅</dc:creator>
  <cp:lastModifiedBy>赵 家毅</cp:lastModifiedBy>
  <cp:revision>565</cp:revision>
  <dcterms:created xsi:type="dcterms:W3CDTF">2019-08-01T11:36:26Z</dcterms:created>
  <dcterms:modified xsi:type="dcterms:W3CDTF">2021-04-29T03:07:55Z</dcterms:modified>
</cp:coreProperties>
</file>