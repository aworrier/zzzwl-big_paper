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7" r:id="rId2"/>
    <p:sldId id="258" r:id="rId3"/>
    <p:sldId id="259" r:id="rId4"/>
    <p:sldId id="260" r:id="rId5"/>
    <p:sldId id="263" r:id="rId6"/>
    <p:sldId id="264" r:id="rId7"/>
    <p:sldId id="265" r:id="rId8"/>
    <p:sldId id="266" r:id="rId9"/>
    <p:sldId id="267" r:id="rId10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6C6"/>
    <a:srgbClr val="DEEBF7"/>
    <a:srgbClr val="DCEBFF"/>
    <a:srgbClr val="8FAADC"/>
    <a:srgbClr val="FFFFFF"/>
    <a:srgbClr val="FFEBDC"/>
    <a:srgbClr val="FFFADC"/>
    <a:srgbClr val="DCFFE6"/>
    <a:srgbClr val="FF7474"/>
    <a:srgbClr val="4682B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00" d="100"/>
          <a:sy n="100" d="100"/>
        </p:scale>
        <p:origin x="562" y="47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2026/03/02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0.png"/><Relationship Id="rId4" Type="http://schemas.openxmlformats.org/officeDocument/2006/relationships/image" Target="../media/image130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7" Type="http://schemas.openxmlformats.org/officeDocument/2006/relationships/image" Target="../media/image26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sv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svg"/><Relationship Id="rId4" Type="http://schemas.openxmlformats.org/officeDocument/2006/relationships/image" Target="../media/image2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6" name="组合 75">
            <a:extLst>
              <a:ext uri="{FF2B5EF4-FFF2-40B4-BE49-F238E27FC236}">
                <a16:creationId xmlns:a16="http://schemas.microsoft.com/office/drawing/2014/main" id="{231F2443-310D-AB25-CE15-61D155D4F03F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0"/>
            <a:chExt cx="11790381" cy="5595583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0"/>
              <a:ext cx="11790381" cy="5595583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908259"/>
              <a:ext cx="11421876" cy="608737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/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solidFill>
                  <a:schemeClr val="accent5">
                    <a:lumMod val="20000"/>
                    <a:lumOff val="80000"/>
                  </a:schemeClr>
                </a:solidFill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三维混合参数空间分解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业务流量特征</a:t>
                  </a:r>
                  <a14:m>
                    <m:oMath xmlns:m="http://schemas.openxmlformats.org/officeDocument/2006/math">
                      <m:r>
                        <a:rPr lang="en-US" altLang="zh-CN" sz="1400" b="0" i="1" smtClean="0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zh-CN" altLang="en-US" sz="1400" i="1">
                          <a:latin typeface="Cambria Math" panose="02040503050406030204" pitchFamily="18" charset="0"/>
                        </a:rPr>
                        <m:t>协议</m:t>
                      </m:r>
                    </m:oMath>
                  </a14:m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专属参数</a:t>
                  </a:r>
                </a:p>
              </p:txBody>
            </p:sp>
          </mc:Choice>
          <mc:Fallback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F8F41CDD-8AD1-8E56-9CAF-C966EA5D863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70459" y="925881"/>
                  <a:ext cx="5716057" cy="573494"/>
                </a:xfrm>
                <a:prstGeom prst="rect">
                  <a:avLst/>
                </a:prstGeom>
                <a:blipFill>
                  <a:blip r:embed="rId3"/>
                  <a:stretch>
                    <a:fillRect t="-2326" b="-10465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516997"/>
              <a:ext cx="0" cy="3538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926656"/>
              <a:ext cx="3266245" cy="477374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877235"/>
              <a:ext cx="3327742" cy="57349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40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400">
                  <a:latin typeface="Times New Roman" panose="02020603050405020304" pitchFamily="18" charset="0"/>
                  <a:ea typeface="宋体" panose="02010600030101010101" pitchFamily="2" charset="-122"/>
                </a:rPr>
                <a:t>流量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到达类型：</a:t>
              </a:r>
              <a:r>
                <a:rPr lang="en-US" altLang="zh-CN" sz="140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4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92665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4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4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870839"/>
                  <a:ext cx="3327742" cy="586285"/>
                </a:xfrm>
                <a:prstGeom prst="rect">
                  <a:avLst/>
                </a:prstGeom>
                <a:blipFill>
                  <a:blip r:embed="rId4"/>
                  <a:stretch>
                    <a:fillRect t="-2222" b="-777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901225"/>
              <a:ext cx="3266245" cy="477374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40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协议参数</a:t>
                  </a:r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4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4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4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841227"/>
                  <a:ext cx="3327742" cy="594649"/>
                </a:xfrm>
                <a:prstGeom prst="rect">
                  <a:avLst/>
                </a:prstGeom>
                <a:blipFill>
                  <a:blip r:embed="rId5"/>
                  <a:stretch>
                    <a:fillRect t="-1087" b="-326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755568"/>
              <a:ext cx="3266246" cy="2161210"/>
            </a:xfrm>
            <a:prstGeom prst="rect">
              <a:avLst/>
            </a:prstGeom>
            <a:solidFill>
              <a:srgbClr val="FFC6C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3104708"/>
              <a:ext cx="3201762" cy="145060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1" name="组合 40">
              <a:extLst>
                <a:ext uri="{FF2B5EF4-FFF2-40B4-BE49-F238E27FC236}">
                  <a16:creationId xmlns:a16="http://schemas.microsoft.com/office/drawing/2014/main" id="{4C545FAD-BD84-F350-6262-248D2E7D3D2D}"/>
                </a:ext>
              </a:extLst>
            </p:cNvPr>
            <p:cNvGrpSpPr/>
            <p:nvPr/>
          </p:nvGrpSpPr>
          <p:grpSpPr>
            <a:xfrm>
              <a:off x="4496504" y="2755568"/>
              <a:ext cx="7342920" cy="989481"/>
              <a:chOff x="10041208" y="3127023"/>
              <a:chExt cx="1220992" cy="797619"/>
            </a:xfrm>
          </p:grpSpPr>
          <p:sp>
            <p:nvSpPr>
              <p:cNvPr id="37" name="矩形 36">
                <a:extLst>
                  <a:ext uri="{FF2B5EF4-FFF2-40B4-BE49-F238E27FC236}">
                    <a16:creationId xmlns:a16="http://schemas.microsoft.com/office/drawing/2014/main" id="{DA0FAF06-94EE-0621-9DEB-7546AB4A129A}"/>
                  </a:ext>
                </a:extLst>
              </p:cNvPr>
              <p:cNvSpPr/>
              <p:nvPr/>
            </p:nvSpPr>
            <p:spPr>
              <a:xfrm>
                <a:off x="10041208" y="3127023"/>
                <a:ext cx="1220992" cy="28056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一阶段采样</a:t>
                </a:r>
              </a:p>
            </p:txBody>
          </p:sp>
          <p:sp>
            <p:nvSpPr>
              <p:cNvPr id="38" name="矩形 37">
                <a:extLst>
                  <a:ext uri="{FF2B5EF4-FFF2-40B4-BE49-F238E27FC236}">
                    <a16:creationId xmlns:a16="http://schemas.microsoft.com/office/drawing/2014/main" id="{504D3CE2-C8C6-2AA0-1B45-58572AA1BF9F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单一粒度均匀网格采样，快速获取性能曲线轮廓</a:t>
                </a:r>
              </a:p>
            </p:txBody>
          </p:sp>
        </p:grpSp>
        <p:grpSp>
          <p:nvGrpSpPr>
            <p:cNvPr id="42" name="组合 41">
              <a:extLst>
                <a:ext uri="{FF2B5EF4-FFF2-40B4-BE49-F238E27FC236}">
                  <a16:creationId xmlns:a16="http://schemas.microsoft.com/office/drawing/2014/main" id="{56580D02-DA21-4574-C9BE-1743765E0A33}"/>
                </a:ext>
              </a:extLst>
            </p:cNvPr>
            <p:cNvGrpSpPr/>
            <p:nvPr/>
          </p:nvGrpSpPr>
          <p:grpSpPr>
            <a:xfrm>
              <a:off x="4496504" y="3964389"/>
              <a:ext cx="7342920" cy="952389"/>
              <a:chOff x="10041208" y="3156923"/>
              <a:chExt cx="1220992" cy="767719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10041208" y="3156923"/>
                <a:ext cx="1220992" cy="250669"/>
              </a:xfrm>
              <a:prstGeom prst="rect">
                <a:avLst/>
              </a:prstGeom>
              <a:solidFill>
                <a:schemeClr val="accent2">
                  <a:lumMod val="60000"/>
                  <a:lumOff val="4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p:sp>
            <p:nvSpPr>
              <p:cNvPr id="44" name="矩形 43">
                <a:extLst>
                  <a:ext uri="{FF2B5EF4-FFF2-40B4-BE49-F238E27FC236}">
                    <a16:creationId xmlns:a16="http://schemas.microsoft.com/office/drawing/2014/main" id="{2EC0E218-FC4F-8249-4726-54E888AACFA4}"/>
                  </a:ext>
                </a:extLst>
              </p:cNvPr>
              <p:cNvSpPr/>
              <p:nvPr/>
            </p:nvSpPr>
            <p:spPr>
              <a:xfrm>
                <a:off x="10041208" y="3407592"/>
                <a:ext cx="1220992" cy="517050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关键区间加密采样以增强细粒度变化</a:t>
                </a:r>
              </a:p>
            </p:txBody>
          </p:sp>
        </p:grp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4E2DC232-768F-C0D9-E364-6BB96334A480}"/>
                </a:ext>
              </a:extLst>
            </p:cNvPr>
            <p:cNvCxnSpPr>
              <a:stCxn id="38" idx="2"/>
              <a:endCxn id="43" idx="0"/>
            </p:cNvCxnSpPr>
            <p:nvPr/>
          </p:nvCxnSpPr>
          <p:spPr>
            <a:xfrm>
              <a:off x="8167964" y="3745049"/>
              <a:ext cx="0" cy="21934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457125"/>
              <a:ext cx="0" cy="29844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435877"/>
              <a:ext cx="0" cy="31969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450729"/>
              <a:ext cx="1140" cy="3048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516997"/>
              <a:ext cx="0" cy="360238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516997"/>
              <a:ext cx="0" cy="32423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233296" y="399652"/>
              <a:ext cx="3235451" cy="43855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</a:t>
              </a:r>
            </a:p>
          </p:txBody>
        </p:sp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44E2B7A6-3B5F-8F3C-1B03-CE8810C8031A}"/>
                </a:ext>
              </a:extLst>
            </p:cNvPr>
            <p:cNvSpPr/>
            <p:nvPr/>
          </p:nvSpPr>
          <p:spPr>
            <a:xfrm>
              <a:off x="449437" y="5315779"/>
              <a:ext cx="11262813" cy="515444"/>
            </a:xfrm>
            <a:prstGeom prst="rect">
              <a:avLst/>
            </a:prstGeom>
            <a:solidFill>
              <a:srgbClr val="FF7474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组装特征和标签，形成完整监督学习数据集</a:t>
              </a:r>
            </a:p>
          </p:txBody>
        </p:sp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916778"/>
              <a:ext cx="1141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916778"/>
              <a:ext cx="0" cy="39900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组合 7">
            <a:extLst>
              <a:ext uri="{FF2B5EF4-FFF2-40B4-BE49-F238E27FC236}">
                <a16:creationId xmlns:a16="http://schemas.microsoft.com/office/drawing/2014/main" id="{EF176E4A-D12B-6F57-670C-9D04B3712B49}"/>
              </a:ext>
            </a:extLst>
          </p:cNvPr>
          <p:cNvGrpSpPr/>
          <p:nvPr/>
        </p:nvGrpSpPr>
        <p:grpSpPr>
          <a:xfrm>
            <a:off x="1290015" y="941692"/>
            <a:ext cx="9939960" cy="4840842"/>
            <a:chOff x="1102290" y="1189973"/>
            <a:chExt cx="9939960" cy="4840842"/>
          </a:xfrm>
        </p:grpSpPr>
        <p:grpSp>
          <p:nvGrpSpPr>
            <p:cNvPr id="53" name="组合 52">
              <a:extLst>
                <a:ext uri="{FF2B5EF4-FFF2-40B4-BE49-F238E27FC236}">
                  <a16:creationId xmlns:a16="http://schemas.microsoft.com/office/drawing/2014/main" id="{4CE5A9EA-CE06-C7A5-9A2D-CB5BC38B3E56}"/>
                </a:ext>
              </a:extLst>
            </p:cNvPr>
            <p:cNvGrpSpPr/>
            <p:nvPr/>
          </p:nvGrpSpPr>
          <p:grpSpPr>
            <a:xfrm>
              <a:off x="1102290" y="1189973"/>
              <a:ext cx="4452586" cy="4288931"/>
              <a:chOff x="1102290" y="1189973"/>
              <a:chExt cx="4452586" cy="428893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081984B5-1984-313B-9424-3CAF9731773A}"/>
                  </a:ext>
                </a:extLst>
              </p:cNvPr>
              <p:cNvSpPr/>
              <p:nvPr/>
            </p:nvSpPr>
            <p:spPr>
              <a:xfrm>
                <a:off x="1102290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终端</a:t>
                </a:r>
              </a:p>
            </p:txBody>
          </p:sp>
          <p:sp>
            <p:nvSpPr>
              <p:cNvPr id="3" name="矩形 2">
                <a:extLst>
                  <a:ext uri="{FF2B5EF4-FFF2-40B4-BE49-F238E27FC236}">
                    <a16:creationId xmlns:a16="http://schemas.microsoft.com/office/drawing/2014/main" id="{09D08743-8186-2B7D-A8DD-F2E852763B3A}"/>
                  </a:ext>
                </a:extLst>
              </p:cNvPr>
              <p:cNvSpPr/>
              <p:nvPr/>
            </p:nvSpPr>
            <p:spPr>
              <a:xfrm>
                <a:off x="4502689" y="1189973"/>
                <a:ext cx="1052187" cy="688931"/>
              </a:xfrm>
              <a:prstGeom prst="rect">
                <a:avLst/>
              </a:prstGeom>
              <a:noFill/>
              <a:ln w="158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基站</a:t>
                </a:r>
              </a:p>
            </p:txBody>
          </p:sp>
          <p:cxnSp>
            <p:nvCxnSpPr>
              <p:cNvPr id="5" name="直接箭头连接符 4">
                <a:extLst>
                  <a:ext uri="{FF2B5EF4-FFF2-40B4-BE49-F238E27FC236}">
                    <a16:creationId xmlns:a16="http://schemas.microsoft.com/office/drawing/2014/main" id="{17136C98-1C3B-1865-27D4-F67328B5A397}"/>
                  </a:ext>
                </a:extLst>
              </p:cNvPr>
              <p:cNvCxnSpPr>
                <a:stCxn id="2" idx="2"/>
              </p:cNvCxnSpPr>
              <p:nvPr/>
            </p:nvCxnSpPr>
            <p:spPr>
              <a:xfrm flipH="1">
                <a:off x="1628383" y="1878904"/>
                <a:ext cx="1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" name="直接箭头连接符 8">
                <a:extLst>
                  <a:ext uri="{FF2B5EF4-FFF2-40B4-BE49-F238E27FC236}">
                    <a16:creationId xmlns:a16="http://schemas.microsoft.com/office/drawing/2014/main" id="{DC57C7FE-5E56-309A-8219-10C41B83C94B}"/>
                  </a:ext>
                </a:extLst>
              </p:cNvPr>
              <p:cNvCxnSpPr>
                <a:stCxn id="3" idx="2"/>
              </p:cNvCxnSpPr>
              <p:nvPr/>
            </p:nvCxnSpPr>
            <p:spPr>
              <a:xfrm>
                <a:off x="5028783" y="1878904"/>
                <a:ext cx="35490" cy="360000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直接箭头连接符 13">
                <a:extLst>
                  <a:ext uri="{FF2B5EF4-FFF2-40B4-BE49-F238E27FC236}">
                    <a16:creationId xmlns:a16="http://schemas.microsoft.com/office/drawing/2014/main" id="{0BC37A36-AC0D-1737-F772-D5E608986A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3" y="2499360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接箭头连接符 14">
                <a:extLst>
                  <a:ext uri="{FF2B5EF4-FFF2-40B4-BE49-F238E27FC236}">
                    <a16:creationId xmlns:a16="http://schemas.microsoft.com/office/drawing/2014/main" id="{E22D7F04-9410-9648-A668-BBB878CA769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628382" y="4236720"/>
                <a:ext cx="3435891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直接箭头连接符 16">
                <a:extLst>
                  <a:ext uri="{FF2B5EF4-FFF2-40B4-BE49-F238E27FC236}">
                    <a16:creationId xmlns:a16="http://schemas.microsoft.com/office/drawing/2014/main" id="{DA21A69A-EBA6-0CDF-C318-60BC2F1FB54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28382" y="3322320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71154223-CD89-A27C-7652-475411DBBB7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610635" y="5120640"/>
                <a:ext cx="3453638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9" name="文本框 18">
                <a:extLst>
                  <a:ext uri="{FF2B5EF4-FFF2-40B4-BE49-F238E27FC236}">
                    <a16:creationId xmlns:a16="http://schemas.microsoft.com/office/drawing/2014/main" id="{D976A72B-6B39-A0FC-EC75-C1BD6134B09A}"/>
                  </a:ext>
                </a:extLst>
              </p:cNvPr>
              <p:cNvSpPr txBox="1"/>
              <p:nvPr/>
            </p:nvSpPr>
            <p:spPr>
              <a:xfrm>
                <a:off x="2283148" y="2127943"/>
                <a:ext cx="2117941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Msg1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：前导序列</a:t>
                </a:r>
              </a:p>
            </p:txBody>
          </p:sp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A779A4C8-BF8F-36E5-7807-FD323DF7D762}"/>
                  </a:ext>
                </a:extLst>
              </p:cNvPr>
              <p:cNvSpPr txBox="1"/>
              <p:nvPr/>
            </p:nvSpPr>
            <p:spPr>
              <a:xfrm>
                <a:off x="1909558" y="3003094"/>
                <a:ext cx="286512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Msg2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：随机接入响应报文</a:t>
                </a:r>
              </a:p>
            </p:txBody>
          </p:sp>
          <p:sp>
            <p:nvSpPr>
              <p:cNvPr id="22" name="文本框 21">
                <a:extLst>
                  <a:ext uri="{FF2B5EF4-FFF2-40B4-BE49-F238E27FC236}">
                    <a16:creationId xmlns:a16="http://schemas.microsoft.com/office/drawing/2014/main" id="{FDB78DD2-FDAB-24EE-A485-45CCA9CB0890}"/>
                  </a:ext>
                </a:extLst>
              </p:cNvPr>
              <p:cNvSpPr txBox="1"/>
              <p:nvPr/>
            </p:nvSpPr>
            <p:spPr>
              <a:xfrm>
                <a:off x="1675843" y="3878245"/>
                <a:ext cx="3332550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Msg3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：短数据报文</a:t>
                </a:r>
              </a:p>
            </p:txBody>
          </p:sp>
          <p:sp>
            <p:nvSpPr>
              <p:cNvPr id="23" name="文本框 22">
                <a:extLst>
                  <a:ext uri="{FF2B5EF4-FFF2-40B4-BE49-F238E27FC236}">
                    <a16:creationId xmlns:a16="http://schemas.microsoft.com/office/drawing/2014/main" id="{83960ED7-47B6-ED66-C559-176F06B5535D}"/>
                  </a:ext>
                </a:extLst>
              </p:cNvPr>
              <p:cNvSpPr txBox="1"/>
              <p:nvPr/>
            </p:nvSpPr>
            <p:spPr>
              <a:xfrm>
                <a:off x="1962846" y="4753395"/>
                <a:ext cx="2758544" cy="369332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Msg4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：确认答复报文</a:t>
                </a:r>
              </a:p>
            </p:txBody>
          </p:sp>
        </p:grpSp>
        <p:sp>
          <p:nvSpPr>
            <p:cNvPr id="34" name="矩形 33">
              <a:extLst>
                <a:ext uri="{FF2B5EF4-FFF2-40B4-BE49-F238E27FC236}">
                  <a16:creationId xmlns:a16="http://schemas.microsoft.com/office/drawing/2014/main" id="{30406AED-C2E2-C582-C3D0-D383BF1C0C46}"/>
                </a:ext>
              </a:extLst>
            </p:cNvPr>
            <p:cNvSpPr/>
            <p:nvPr/>
          </p:nvSpPr>
          <p:spPr>
            <a:xfrm>
              <a:off x="6589664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5" name="矩形 34">
              <a:extLst>
                <a:ext uri="{FF2B5EF4-FFF2-40B4-BE49-F238E27FC236}">
                  <a16:creationId xmlns:a16="http://schemas.microsoft.com/office/drawing/2014/main" id="{D7F0F3AE-4AB1-4194-64AF-079573F6F6F8}"/>
                </a:ext>
              </a:extLst>
            </p:cNvPr>
            <p:cNvSpPr/>
            <p:nvPr/>
          </p:nvSpPr>
          <p:spPr>
            <a:xfrm>
              <a:off x="9990063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36" name="直接箭头连接符 35">
              <a:extLst>
                <a:ext uri="{FF2B5EF4-FFF2-40B4-BE49-F238E27FC236}">
                  <a16:creationId xmlns:a16="http://schemas.microsoft.com/office/drawing/2014/main" id="{C526CF12-E7BF-F813-B90B-E8F59E7AB6D6}"/>
                </a:ext>
              </a:extLst>
            </p:cNvPr>
            <p:cNvCxnSpPr>
              <a:stCxn id="34" idx="2"/>
            </p:cNvCxnSpPr>
            <p:nvPr/>
          </p:nvCxnSpPr>
          <p:spPr>
            <a:xfrm flipH="1">
              <a:off x="7115757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接箭头连接符 36">
              <a:extLst>
                <a:ext uri="{FF2B5EF4-FFF2-40B4-BE49-F238E27FC236}">
                  <a16:creationId xmlns:a16="http://schemas.microsoft.com/office/drawing/2014/main" id="{52D0BE3B-F41D-313D-9D54-CCDFB8DA3F64}"/>
                </a:ext>
              </a:extLst>
            </p:cNvPr>
            <p:cNvCxnSpPr>
              <a:stCxn id="35" idx="2"/>
            </p:cNvCxnSpPr>
            <p:nvPr/>
          </p:nvCxnSpPr>
          <p:spPr>
            <a:xfrm>
              <a:off x="10516157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0" name="组合 39">
              <a:extLst>
                <a:ext uri="{FF2B5EF4-FFF2-40B4-BE49-F238E27FC236}">
                  <a16:creationId xmlns:a16="http://schemas.microsoft.com/office/drawing/2014/main" id="{2BB71B87-58CB-7FCC-FFE8-E4594220A992}"/>
                </a:ext>
              </a:extLst>
            </p:cNvPr>
            <p:cNvGrpSpPr/>
            <p:nvPr/>
          </p:nvGrpSpPr>
          <p:grpSpPr>
            <a:xfrm>
              <a:off x="7115756" y="3322320"/>
              <a:ext cx="3418146" cy="822960"/>
              <a:chOff x="7115756" y="3259756"/>
              <a:chExt cx="3418146" cy="822960"/>
            </a:xfrm>
          </p:grpSpPr>
          <p:cxnSp>
            <p:nvCxnSpPr>
              <p:cNvPr id="38" name="直接箭头连接符 37">
                <a:extLst>
                  <a:ext uri="{FF2B5EF4-FFF2-40B4-BE49-F238E27FC236}">
                    <a16:creationId xmlns:a16="http://schemas.microsoft.com/office/drawing/2014/main" id="{B8D48B1D-848D-DDEA-FF2F-47AE8B70880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15757" y="3259756"/>
                <a:ext cx="3400399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直接箭头连接符 38">
                <a:extLst>
                  <a:ext uri="{FF2B5EF4-FFF2-40B4-BE49-F238E27FC236}">
                    <a16:creationId xmlns:a16="http://schemas.microsoft.com/office/drawing/2014/main" id="{500809F9-3854-7828-2FAF-EC79576B32C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115756" y="4082716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42" name="直接箭头连接符 41">
              <a:extLst>
                <a:ext uri="{FF2B5EF4-FFF2-40B4-BE49-F238E27FC236}">
                  <a16:creationId xmlns:a16="http://schemas.microsoft.com/office/drawing/2014/main" id="{676B5DFB-2CEC-15A3-470C-3FBD12ECC444}"/>
                </a:ext>
              </a:extLst>
            </p:cNvPr>
            <p:cNvCxnSpPr/>
            <p:nvPr/>
          </p:nvCxnSpPr>
          <p:spPr>
            <a:xfrm>
              <a:off x="5046528" y="2497275"/>
              <a:ext cx="2069228" cy="825045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接箭头连接符 43">
              <a:extLst>
                <a:ext uri="{FF2B5EF4-FFF2-40B4-BE49-F238E27FC236}">
                  <a16:creationId xmlns:a16="http://schemas.microsoft.com/office/drawing/2014/main" id="{3B77ADF2-4FD4-9F6B-A30C-31B7CB85DD97}"/>
                </a:ext>
              </a:extLst>
            </p:cNvPr>
            <p:cNvCxnSpPr/>
            <p:nvPr/>
          </p:nvCxnSpPr>
          <p:spPr>
            <a:xfrm flipV="1">
              <a:off x="5046528" y="3322320"/>
              <a:ext cx="2069228" cy="925257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接箭头连接符 45">
              <a:extLst>
                <a:ext uri="{FF2B5EF4-FFF2-40B4-BE49-F238E27FC236}">
                  <a16:creationId xmlns:a16="http://schemas.microsoft.com/office/drawing/2014/main" id="{918B934F-A2A7-769D-2002-AC17404034C9}"/>
                </a:ext>
              </a:extLst>
            </p:cNvPr>
            <p:cNvCxnSpPr/>
            <p:nvPr/>
          </p:nvCxnSpPr>
          <p:spPr>
            <a:xfrm>
              <a:off x="5046528" y="3322320"/>
              <a:ext cx="2069228" cy="8229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接箭头连接符 47">
              <a:extLst>
                <a:ext uri="{FF2B5EF4-FFF2-40B4-BE49-F238E27FC236}">
                  <a16:creationId xmlns:a16="http://schemas.microsoft.com/office/drawing/2014/main" id="{5A9FB945-9663-C504-847E-DF6163E87053}"/>
                </a:ext>
              </a:extLst>
            </p:cNvPr>
            <p:cNvCxnSpPr/>
            <p:nvPr/>
          </p:nvCxnSpPr>
          <p:spPr>
            <a:xfrm flipV="1">
              <a:off x="5046528" y="4145280"/>
              <a:ext cx="2069228" cy="97536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DC6877E1-730E-0966-A10A-6A66ADD73C7A}"/>
                </a:ext>
              </a:extLst>
            </p:cNvPr>
            <p:cNvSpPr txBox="1"/>
            <p:nvPr/>
          </p:nvSpPr>
          <p:spPr>
            <a:xfrm>
              <a:off x="7423509" y="2929047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sp>
          <p:nvSpPr>
            <p:cNvPr id="52" name="文本框 51">
              <a:extLst>
                <a:ext uri="{FF2B5EF4-FFF2-40B4-BE49-F238E27FC236}">
                  <a16:creationId xmlns:a16="http://schemas.microsoft.com/office/drawing/2014/main" id="{DEF0FDD2-18EA-6FFA-BD4F-8A06790EAD81}"/>
                </a:ext>
              </a:extLst>
            </p:cNvPr>
            <p:cNvSpPr txBox="1"/>
            <p:nvPr/>
          </p:nvSpPr>
          <p:spPr>
            <a:xfrm>
              <a:off x="7412277" y="3764838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MsgB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：竞争冲突解决</a:t>
              </a:r>
            </a:p>
          </p:txBody>
        </p:sp>
        <p:sp>
          <p:nvSpPr>
            <p:cNvPr id="6" name="文本框 5">
              <a:extLst>
                <a:ext uri="{FF2B5EF4-FFF2-40B4-BE49-F238E27FC236}">
                  <a16:creationId xmlns:a16="http://schemas.microsoft.com/office/drawing/2014/main" id="{19C69D56-0317-FF97-A7C0-2B1DAA67B956}"/>
                </a:ext>
              </a:extLst>
            </p:cNvPr>
            <p:cNvSpPr txBox="1"/>
            <p:nvPr/>
          </p:nvSpPr>
          <p:spPr>
            <a:xfrm>
              <a:off x="1638850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四步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sp>
          <p:nvSpPr>
            <p:cNvPr id="7" name="文本框 6">
              <a:extLst>
                <a:ext uri="{FF2B5EF4-FFF2-40B4-BE49-F238E27FC236}">
                  <a16:creationId xmlns:a16="http://schemas.microsoft.com/office/drawing/2014/main" id="{AF68249D-F6DA-AD52-8630-4846FDC11604}"/>
                </a:ext>
              </a:extLst>
            </p:cNvPr>
            <p:cNvSpPr txBox="1"/>
            <p:nvPr/>
          </p:nvSpPr>
          <p:spPr>
            <a:xfrm>
              <a:off x="7315201" y="5661483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两步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SDT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8" name="组合 217">
            <a:extLst>
              <a:ext uri="{FF2B5EF4-FFF2-40B4-BE49-F238E27FC236}">
                <a16:creationId xmlns:a16="http://schemas.microsoft.com/office/drawing/2014/main" id="{A95C7B50-75E7-51DF-90E0-FA18AFA0CF50}"/>
              </a:ext>
            </a:extLst>
          </p:cNvPr>
          <p:cNvGrpSpPr/>
          <p:nvPr/>
        </p:nvGrpSpPr>
        <p:grpSpPr>
          <a:xfrm>
            <a:off x="575311" y="283113"/>
            <a:ext cx="11041378" cy="6507166"/>
            <a:chOff x="655320" y="283113"/>
            <a:chExt cx="11041378" cy="6507166"/>
          </a:xfrm>
        </p:grpSpPr>
        <p:grpSp>
          <p:nvGrpSpPr>
            <p:cNvPr id="96" name="组合 95">
              <a:extLst>
                <a:ext uri="{FF2B5EF4-FFF2-40B4-BE49-F238E27FC236}">
                  <a16:creationId xmlns:a16="http://schemas.microsoft.com/office/drawing/2014/main" id="{70FC21AD-66C9-8082-E91B-A82CC788FB91}"/>
                </a:ext>
              </a:extLst>
            </p:cNvPr>
            <p:cNvGrpSpPr/>
            <p:nvPr/>
          </p:nvGrpSpPr>
          <p:grpSpPr>
            <a:xfrm>
              <a:off x="655320" y="283113"/>
              <a:ext cx="3320230" cy="1088543"/>
              <a:chOff x="889026" y="2307271"/>
              <a:chExt cx="2413214" cy="986391"/>
            </a:xfrm>
          </p:grpSpPr>
          <p:sp>
            <p:nvSpPr>
              <p:cNvPr id="2" name="矩形 1">
                <a:extLst>
                  <a:ext uri="{FF2B5EF4-FFF2-40B4-BE49-F238E27FC236}">
                    <a16:creationId xmlns:a16="http://schemas.microsoft.com/office/drawing/2014/main" id="{11339D1B-3C73-529F-5BEB-6C2B1EF0DAA5}"/>
                  </a:ext>
                </a:extLst>
              </p:cNvPr>
              <p:cNvSpPr/>
              <p:nvPr/>
            </p:nvSpPr>
            <p:spPr>
              <a:xfrm>
                <a:off x="1037621" y="2307271"/>
                <a:ext cx="2185478" cy="9863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3C28E2EE-28FF-44B4-7C4A-09596371771C}"/>
                      </a:ext>
                    </a:extLst>
                  </p:cNvPr>
                  <p:cNvSpPr txBox="1"/>
                  <p:nvPr/>
                </p:nvSpPr>
                <p:spPr>
                  <a:xfrm>
                    <a:off x="889026" y="2463355"/>
                    <a:ext cx="2413214" cy="728393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初始化竞争窗口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𝐶𝑊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𝑚𝑖𝑛</m:t>
                            </m:r>
                          </m:sub>
                        </m:sSub>
                      </m:oMath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生成随机数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:</a:t>
                    </a:r>
                    <a14:m>
                      <m:oMath xmlns:m="http://schemas.openxmlformats.org/officeDocument/2006/math"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𝐶𝑊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3" name="文本框 2">
                    <a:extLst>
                      <a:ext uri="{FF2B5EF4-FFF2-40B4-BE49-F238E27FC236}">
                        <a16:creationId xmlns:a16="http://schemas.microsoft.com/office/drawing/2014/main" id="{3C28E2EE-28FF-44B4-7C4A-09596371771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89026" y="2463355"/>
                    <a:ext cx="2413214" cy="728393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b="-227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866664" y="827385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组合 7">
              <a:extLst>
                <a:ext uri="{FF2B5EF4-FFF2-40B4-BE49-F238E27FC236}">
                  <a16:creationId xmlns:a16="http://schemas.microsoft.com/office/drawing/2014/main" id="{104C9BB0-BCFD-6ACE-1E6D-5CBC48698FDC}"/>
                </a:ext>
              </a:extLst>
            </p:cNvPr>
            <p:cNvGrpSpPr/>
            <p:nvPr/>
          </p:nvGrpSpPr>
          <p:grpSpPr>
            <a:xfrm>
              <a:off x="8005876" y="1575365"/>
              <a:ext cx="2470522" cy="690539"/>
              <a:chOff x="1271081" y="1407269"/>
              <a:chExt cx="1900556" cy="778214"/>
            </a:xfrm>
          </p:grpSpPr>
          <p:sp>
            <p:nvSpPr>
              <p:cNvPr id="9" name="矩形 8">
                <a:extLst>
                  <a:ext uri="{FF2B5EF4-FFF2-40B4-BE49-F238E27FC236}">
                    <a16:creationId xmlns:a16="http://schemas.microsoft.com/office/drawing/2014/main" id="{50DF8695-7FF0-E790-0616-C1876B489F98}"/>
                  </a:ext>
                </a:extLst>
              </p:cNvPr>
              <p:cNvSpPr/>
              <p:nvPr/>
            </p:nvSpPr>
            <p:spPr>
              <a:xfrm>
                <a:off x="1271081" y="1407269"/>
                <a:ext cx="1893651" cy="778214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6D9731EB-1D08-F1B0-5EF7-7E3983DACE05}"/>
                      </a:ext>
                    </a:extLst>
                  </p:cNvPr>
                  <p:cNvSpPr txBox="1"/>
                  <p:nvPr/>
                </p:nvSpPr>
                <p:spPr>
                  <a:xfrm>
                    <a:off x="1277986" y="1611708"/>
                    <a:ext cx="18936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ea typeface="宋体" panose="02010600030101010101" pitchFamily="2" charset="-122"/>
                      </a:rPr>
                      <a:t>随机数</a:t>
                    </a:r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保持</a:t>
                    </a:r>
                  </a:p>
                </p:txBody>
              </p:sp>
            </mc:Choice>
            <mc:Fallback>
              <p:sp>
                <p:nvSpPr>
                  <p:cNvPr id="10" name="文本框 9">
                    <a:extLst>
                      <a:ext uri="{FF2B5EF4-FFF2-40B4-BE49-F238E27FC236}">
                        <a16:creationId xmlns:a16="http://schemas.microsoft.com/office/drawing/2014/main" id="{6D9731EB-1D08-F1B0-5EF7-7E3983DACE0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77986" y="1611708"/>
                    <a:ext cx="1893651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795195" y="1371697"/>
              <a:ext cx="1" cy="2036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0"/>
            </p:cNvCxnSpPr>
            <p:nvPr/>
          </p:nvCxnSpPr>
          <p:spPr>
            <a:xfrm>
              <a:off x="7330500" y="827426"/>
              <a:ext cx="1906149" cy="7479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直接箭头连接符 32">
              <a:extLst>
                <a:ext uri="{FF2B5EF4-FFF2-40B4-BE49-F238E27FC236}">
                  <a16:creationId xmlns:a16="http://schemas.microsoft.com/office/drawing/2014/main" id="{E54D4EF5-22F8-015A-9454-E5E6365F4050}"/>
                </a:ext>
              </a:extLst>
            </p:cNvPr>
            <p:cNvCxnSpPr>
              <a:cxnSpLocks/>
              <a:stCxn id="9" idx="3"/>
              <a:endCxn id="107" idx="0"/>
            </p:cNvCxnSpPr>
            <p:nvPr/>
          </p:nvCxnSpPr>
          <p:spPr>
            <a:xfrm flipH="1" flipV="1">
              <a:off x="5795196" y="283154"/>
              <a:ext cx="4672226" cy="1637481"/>
            </a:xfrm>
            <a:prstGeom prst="bentConnector4">
              <a:avLst>
                <a:gd name="adj1" fmla="val -30988"/>
                <a:gd name="adj2" fmla="val 11396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8" name="组合 57">
              <a:extLst>
                <a:ext uri="{FF2B5EF4-FFF2-40B4-BE49-F238E27FC236}">
                  <a16:creationId xmlns:a16="http://schemas.microsoft.com/office/drawing/2014/main" id="{48188DF4-E787-E568-BCE9-1916F6269672}"/>
                </a:ext>
              </a:extLst>
            </p:cNvPr>
            <p:cNvGrpSpPr/>
            <p:nvPr/>
          </p:nvGrpSpPr>
          <p:grpSpPr>
            <a:xfrm>
              <a:off x="4372642" y="3736611"/>
              <a:ext cx="2845108" cy="492439"/>
              <a:chOff x="1118682" y="1407268"/>
              <a:chExt cx="2188723" cy="778213"/>
            </a:xfrm>
          </p:grpSpPr>
          <p:sp>
            <p:nvSpPr>
              <p:cNvPr id="59" name="矩形 58">
                <a:extLst>
                  <a:ext uri="{FF2B5EF4-FFF2-40B4-BE49-F238E27FC236}">
                    <a16:creationId xmlns:a16="http://schemas.microsoft.com/office/drawing/2014/main" id="{76372893-1E17-1D23-4F3D-5C7750259369}"/>
                  </a:ext>
                </a:extLst>
              </p:cNvPr>
              <p:cNvSpPr/>
              <p:nvPr/>
            </p:nvSpPr>
            <p:spPr>
              <a:xfrm>
                <a:off x="1121927" y="1407268"/>
                <a:ext cx="2185478" cy="778213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>
                <a:extLst>
                  <a:ext uri="{FF2B5EF4-FFF2-40B4-BE49-F238E27FC236}">
                    <a16:creationId xmlns:a16="http://schemas.microsoft.com/office/drawing/2014/main" id="{C7730E32-5870-741F-A9F2-1EA01F4FF09A}"/>
                  </a:ext>
                </a:extLst>
              </p:cNvPr>
              <p:cNvSpPr txBox="1"/>
              <p:nvPr/>
            </p:nvSpPr>
            <p:spPr>
              <a:xfrm>
                <a:off x="1118682" y="1537419"/>
                <a:ext cx="2188721" cy="51790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数据传输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795196" y="3494854"/>
              <a:ext cx="2109" cy="24175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2B51E7D3-46F8-43EF-42AC-E82393F7B6C3}"/>
                </a:ext>
              </a:extLst>
            </p:cNvPr>
            <p:cNvGrpSpPr/>
            <p:nvPr/>
          </p:nvGrpSpPr>
          <p:grpSpPr>
            <a:xfrm>
              <a:off x="7891027" y="5589950"/>
              <a:ext cx="3805671" cy="1200329"/>
              <a:chOff x="7466795" y="4151153"/>
              <a:chExt cx="2804577" cy="1352731"/>
            </a:xfrm>
          </p:grpSpPr>
          <p:sp>
            <p:nvSpPr>
              <p:cNvPr id="82" name="矩形 81">
                <a:extLst>
                  <a:ext uri="{FF2B5EF4-FFF2-40B4-BE49-F238E27FC236}">
                    <a16:creationId xmlns:a16="http://schemas.microsoft.com/office/drawing/2014/main" id="{CF2727FE-FA1F-D0D3-CC3D-946F6E0803A2}"/>
                  </a:ext>
                </a:extLst>
              </p:cNvPr>
              <p:cNvSpPr/>
              <p:nvPr/>
            </p:nvSpPr>
            <p:spPr>
              <a:xfrm>
                <a:off x="7555149" y="4174373"/>
                <a:ext cx="2716223" cy="1306291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4EDBF2F0-6ADF-02D9-7154-244748AB621B}"/>
                      </a:ext>
                    </a:extLst>
                  </p:cNvPr>
                  <p:cNvSpPr txBox="1"/>
                  <p:nvPr/>
                </p:nvSpPr>
                <p:spPr>
                  <a:xfrm>
                    <a:off x="7466795" y="4151153"/>
                    <a:ext cx="2804577" cy="13527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调整窗口：</a:t>
                    </a:r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𝑛𝑒𝑤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=</m:t>
                          </m:r>
                          <m:r>
                            <m:rPr>
                              <m:sty m:val="p"/>
                            </m:rPr>
                            <a:rPr lang="en-US" altLang="zh-CN" b="0" i="0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min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⁡(2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𝑜𝑙𝑑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+1,</m:t>
                          </m:r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b="0" i="1" dirty="0" smtClean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𝑚𝑎𝑥</m:t>
                              </m:r>
                            </m:sub>
                          </m:s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)</m:t>
                          </m:r>
                        </m:oMath>
                      </m:oMathPara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生成随机数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N:</a:t>
                    </a: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𝑁</m:t>
                          </m:r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∈ [0,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 </m:t>
                          </m:r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𝐶</m:t>
                          </m:r>
                          <m:sSub>
                            <m:sSubPr>
                              <m:ctrlP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US" altLang="zh-CN" i="1" dirty="0"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𝑛𝑒𝑤</m:t>
                              </m:r>
                            </m:sub>
                          </m:sSub>
                          <m:r>
                            <a:rPr lang="en-US" altLang="zh-CN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]</m:t>
                          </m:r>
                        </m:oMath>
                      </m:oMathPara>
                    </a14:m>
                    <a:endPara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83" name="文本框 82">
                    <a:extLst>
                      <a:ext uri="{FF2B5EF4-FFF2-40B4-BE49-F238E27FC236}">
                        <a16:creationId xmlns:a16="http://schemas.microsoft.com/office/drawing/2014/main" id="{4EDBF2F0-6ADF-02D9-7154-244748AB621B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466795" y="4151153"/>
                    <a:ext cx="2804577" cy="1352731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t="-3553" b="-5076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795194" y="5370656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7213534" y="4614813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3" idx="3"/>
              <a:endCxn id="107" idx="0"/>
            </p:cNvCxnSpPr>
            <p:nvPr/>
          </p:nvCxnSpPr>
          <p:spPr>
            <a:xfrm flipH="1" flipV="1">
              <a:off x="5795196" y="283154"/>
              <a:ext cx="5901502" cy="5906961"/>
            </a:xfrm>
            <a:prstGeom prst="bentConnector4">
              <a:avLst>
                <a:gd name="adj1" fmla="val -3874"/>
                <a:gd name="adj2" fmla="val 10387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14" name="组合 113">
              <a:extLst>
                <a:ext uri="{FF2B5EF4-FFF2-40B4-BE49-F238E27FC236}">
                  <a16:creationId xmlns:a16="http://schemas.microsoft.com/office/drawing/2014/main" id="{AF300D9C-0884-E56B-19BE-6843D70C8C15}"/>
                </a:ext>
              </a:extLst>
            </p:cNvPr>
            <p:cNvGrpSpPr/>
            <p:nvPr/>
          </p:nvGrpSpPr>
          <p:grpSpPr>
            <a:xfrm>
              <a:off x="4259891" y="283154"/>
              <a:ext cx="3070609" cy="1088543"/>
              <a:chOff x="3482339" y="283154"/>
              <a:chExt cx="2362199" cy="1226751"/>
            </a:xfrm>
          </p:grpSpPr>
          <p:sp>
            <p:nvSpPr>
              <p:cNvPr id="12" name="文本框 11">
                <a:extLst>
                  <a:ext uri="{FF2B5EF4-FFF2-40B4-BE49-F238E27FC236}">
                    <a16:creationId xmlns:a16="http://schemas.microsoft.com/office/drawing/2014/main" id="{291D4D9A-7140-DC53-AF53-11A38DE92E5C}"/>
                  </a:ext>
                </a:extLst>
              </p:cNvPr>
              <p:cNvSpPr txBox="1"/>
              <p:nvPr/>
            </p:nvSpPr>
            <p:spPr>
              <a:xfrm>
                <a:off x="3737010" y="532145"/>
                <a:ext cx="1893651" cy="6463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信道检测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CCA</a:t>
                </a:r>
              </a:p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信道是否空闲？</a:t>
                </a:r>
              </a:p>
            </p:txBody>
          </p:sp>
          <p:sp>
            <p:nvSpPr>
              <p:cNvPr id="107" name="流程图: 决策 106">
                <a:extLst>
                  <a:ext uri="{FF2B5EF4-FFF2-40B4-BE49-F238E27FC236}">
                    <a16:creationId xmlns:a16="http://schemas.microsoft.com/office/drawing/2014/main" id="{C1EE22BA-8A63-38B0-13F4-288805170A7C}"/>
                  </a:ext>
                </a:extLst>
              </p:cNvPr>
              <p:cNvSpPr/>
              <p:nvPr/>
            </p:nvSpPr>
            <p:spPr>
              <a:xfrm>
                <a:off x="3482339" y="283154"/>
                <a:ext cx="2362199" cy="1226751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36" name="组合 135">
              <a:extLst>
                <a:ext uri="{FF2B5EF4-FFF2-40B4-BE49-F238E27FC236}">
                  <a16:creationId xmlns:a16="http://schemas.microsoft.com/office/drawing/2014/main" id="{0D619366-FB41-1A0F-92C4-3518BD9729BE}"/>
                </a:ext>
              </a:extLst>
            </p:cNvPr>
            <p:cNvGrpSpPr/>
            <p:nvPr/>
          </p:nvGrpSpPr>
          <p:grpSpPr>
            <a:xfrm>
              <a:off x="4259891" y="2479464"/>
              <a:ext cx="3070609" cy="1015390"/>
              <a:chOff x="3482339" y="283155"/>
              <a:chExt cx="2362199" cy="1144310"/>
            </a:xfrm>
          </p:grpSpPr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22286C28-1E9E-92F1-B3CA-484CB3D3C9A1}"/>
                      </a:ext>
                    </a:extLst>
                  </p:cNvPr>
                  <p:cNvSpPr txBox="1"/>
                  <p:nvPr/>
                </p:nvSpPr>
                <p:spPr>
                  <a:xfrm>
                    <a:off x="3716613" y="670644"/>
                    <a:ext cx="1893651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=0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？</a:t>
                    </a:r>
                  </a:p>
                </p:txBody>
              </p:sp>
            </mc:Choice>
            <mc:Fallback>
              <p:sp>
                <p:nvSpPr>
                  <p:cNvPr id="137" name="文本框 136">
                    <a:extLst>
                      <a:ext uri="{FF2B5EF4-FFF2-40B4-BE49-F238E27FC236}">
                        <a16:creationId xmlns:a16="http://schemas.microsoft.com/office/drawing/2014/main" id="{22286C28-1E9E-92F1-B3CA-484CB3D3C9A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716613" y="670644"/>
                    <a:ext cx="1893651" cy="36933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8" name="流程图: 决策 137">
                <a:extLst>
                  <a:ext uri="{FF2B5EF4-FFF2-40B4-BE49-F238E27FC236}">
                    <a16:creationId xmlns:a16="http://schemas.microsoft.com/office/drawing/2014/main" id="{5699C3B1-C901-1ABD-1DF2-84A9FD263E4C}"/>
                  </a:ext>
                </a:extLst>
              </p:cNvPr>
              <p:cNvSpPr/>
              <p:nvPr/>
            </p:nvSpPr>
            <p:spPr>
              <a:xfrm>
                <a:off x="3482339" y="283155"/>
                <a:ext cx="2362199" cy="1144310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143" name="组合 142">
              <a:extLst>
                <a:ext uri="{FF2B5EF4-FFF2-40B4-BE49-F238E27FC236}">
                  <a16:creationId xmlns:a16="http://schemas.microsoft.com/office/drawing/2014/main" id="{A6D93B86-E45E-EE69-19B2-730C55D26571}"/>
                </a:ext>
              </a:extLst>
            </p:cNvPr>
            <p:cNvGrpSpPr/>
            <p:nvPr/>
          </p:nvGrpSpPr>
          <p:grpSpPr>
            <a:xfrm>
              <a:off x="4259891" y="4416714"/>
              <a:ext cx="3070609" cy="1015390"/>
              <a:chOff x="3482339" y="283155"/>
              <a:chExt cx="2362199" cy="1144310"/>
            </a:xfrm>
          </p:grpSpPr>
          <p:sp>
            <p:nvSpPr>
              <p:cNvPr id="144" name="文本框 143">
                <a:extLst>
                  <a:ext uri="{FF2B5EF4-FFF2-40B4-BE49-F238E27FC236}">
                    <a16:creationId xmlns:a16="http://schemas.microsoft.com/office/drawing/2014/main" id="{7518033F-BF6B-E207-24C5-8BDCC1A12D11}"/>
                  </a:ext>
                </a:extLst>
              </p:cNvPr>
              <p:cNvSpPr txBox="1"/>
              <p:nvPr/>
            </p:nvSpPr>
            <p:spPr>
              <a:xfrm>
                <a:off x="3716613" y="670644"/>
                <a:ext cx="1893651" cy="369332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是否接收到</a:t>
                </a:r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？</a:t>
                </a:r>
              </a:p>
            </p:txBody>
          </p:sp>
          <p:sp>
            <p:nvSpPr>
              <p:cNvPr id="145" name="流程图: 决策 144">
                <a:extLst>
                  <a:ext uri="{FF2B5EF4-FFF2-40B4-BE49-F238E27FC236}">
                    <a16:creationId xmlns:a16="http://schemas.microsoft.com/office/drawing/2014/main" id="{A6E2F20E-4DA2-AF16-219F-F27A8C5A46F5}"/>
                  </a:ext>
                </a:extLst>
              </p:cNvPr>
              <p:cNvSpPr/>
              <p:nvPr/>
            </p:nvSpPr>
            <p:spPr>
              <a:xfrm>
                <a:off x="3482339" y="283155"/>
                <a:ext cx="2362199" cy="1144310"/>
              </a:xfrm>
              <a:prstGeom prst="flowChartDecision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213" name="组合 212">
              <a:extLst>
                <a:ext uri="{FF2B5EF4-FFF2-40B4-BE49-F238E27FC236}">
                  <a16:creationId xmlns:a16="http://schemas.microsoft.com/office/drawing/2014/main" id="{15C6B8F9-2F7D-67A0-CBC2-D051E00B7B54}"/>
                </a:ext>
              </a:extLst>
            </p:cNvPr>
            <p:cNvGrpSpPr/>
            <p:nvPr/>
          </p:nvGrpSpPr>
          <p:grpSpPr>
            <a:xfrm>
              <a:off x="4564422" y="1575364"/>
              <a:ext cx="2461546" cy="690538"/>
              <a:chOff x="4564422" y="1575364"/>
              <a:chExt cx="2461546" cy="690538"/>
            </a:xfrm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564422" y="1575364"/>
                <a:ext cx="2461546" cy="69053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727239" y="1756771"/>
                    <a:ext cx="2135911" cy="327722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27239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8519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stCxn id="148" idx="2"/>
              <a:endCxn id="138" idx="0"/>
            </p:cNvCxnSpPr>
            <p:nvPr/>
          </p:nvCxnSpPr>
          <p:spPr>
            <a:xfrm>
              <a:off x="5795196" y="2265902"/>
              <a:ext cx="0" cy="21356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4" name="直接箭头连接符 153">
              <a:extLst>
                <a:ext uri="{FF2B5EF4-FFF2-40B4-BE49-F238E27FC236}">
                  <a16:creationId xmlns:a16="http://schemas.microsoft.com/office/drawing/2014/main" id="{FE4E6AED-1301-7DA5-4B38-A6561A77AA5E}"/>
                </a:ext>
              </a:extLst>
            </p:cNvPr>
            <p:cNvCxnSpPr>
              <a:cxnSpLocks/>
              <a:stCxn id="138" idx="3"/>
              <a:endCxn id="107" idx="0"/>
            </p:cNvCxnSpPr>
            <p:nvPr/>
          </p:nvCxnSpPr>
          <p:spPr>
            <a:xfrm flipH="1" flipV="1">
              <a:off x="5795196" y="283154"/>
              <a:ext cx="1535304" cy="2704005"/>
            </a:xfrm>
            <a:prstGeom prst="bentConnector4">
              <a:avLst>
                <a:gd name="adj1" fmla="val -299281"/>
                <a:gd name="adj2" fmla="val 108454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790950" y="5432104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  <a:endCxn id="82" idx="0"/>
            </p:cNvCxnSpPr>
            <p:nvPr/>
          </p:nvCxnSpPr>
          <p:spPr>
            <a:xfrm>
              <a:off x="7330500" y="4924409"/>
              <a:ext cx="2523309" cy="686145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795196" y="4229049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7213534" y="265943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795194" y="3413981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795194" y="129894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7213534" y="49621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grpSp>
          <p:nvGrpSpPr>
            <p:cNvPr id="210" name="组合 209">
              <a:extLst>
                <a:ext uri="{FF2B5EF4-FFF2-40B4-BE49-F238E27FC236}">
                  <a16:creationId xmlns:a16="http://schemas.microsoft.com/office/drawing/2014/main" id="{387F3B54-D71B-482B-AC3A-A74F3E1E4F3C}"/>
                </a:ext>
              </a:extLst>
            </p:cNvPr>
            <p:cNvGrpSpPr/>
            <p:nvPr/>
          </p:nvGrpSpPr>
          <p:grpSpPr>
            <a:xfrm>
              <a:off x="4370505" y="5787206"/>
              <a:ext cx="2840890" cy="787681"/>
              <a:chOff x="2846505" y="5787206"/>
              <a:chExt cx="2840890" cy="787681"/>
            </a:xfrm>
          </p:grpSpPr>
          <p:sp>
            <p:nvSpPr>
              <p:cNvPr id="208" name="流程图: 终止 207">
                <a:extLst>
                  <a:ext uri="{FF2B5EF4-FFF2-40B4-BE49-F238E27FC236}">
                    <a16:creationId xmlns:a16="http://schemas.microsoft.com/office/drawing/2014/main" id="{54E9F143-8E2C-997A-7871-9A067D7C36FA}"/>
                  </a:ext>
                </a:extLst>
              </p:cNvPr>
              <p:cNvSpPr/>
              <p:nvPr/>
            </p:nvSpPr>
            <p:spPr>
              <a:xfrm>
                <a:off x="3076398" y="5787206"/>
                <a:ext cx="2381104" cy="787681"/>
              </a:xfrm>
              <a:prstGeom prst="flowChartTerminator">
                <a:avLst/>
              </a:prstGeom>
              <a:solidFill>
                <a:srgbClr val="DCEBFF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8" name="文本框 77">
                <a:extLst>
                  <a:ext uri="{FF2B5EF4-FFF2-40B4-BE49-F238E27FC236}">
                    <a16:creationId xmlns:a16="http://schemas.microsoft.com/office/drawing/2014/main" id="{2F3754FC-C540-2C55-E949-1F089EF2695F}"/>
                  </a:ext>
                </a:extLst>
              </p:cNvPr>
              <p:cNvSpPr txBox="1"/>
              <p:nvPr/>
            </p:nvSpPr>
            <p:spPr>
              <a:xfrm>
                <a:off x="2846505" y="6069931"/>
                <a:ext cx="2840890" cy="222231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传输结束</a:t>
                </a:r>
                <a:endPara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216" name="组合 215">
              <a:extLst>
                <a:ext uri="{FF2B5EF4-FFF2-40B4-BE49-F238E27FC236}">
                  <a16:creationId xmlns:a16="http://schemas.microsoft.com/office/drawing/2014/main" id="{871A0380-BCA4-97A2-B70C-6C5281139252}"/>
                </a:ext>
              </a:extLst>
            </p:cNvPr>
            <p:cNvGrpSpPr/>
            <p:nvPr/>
          </p:nvGrpSpPr>
          <p:grpSpPr>
            <a:xfrm>
              <a:off x="934784" y="3038881"/>
              <a:ext cx="2837501" cy="995670"/>
              <a:chOff x="859765" y="2290034"/>
              <a:chExt cx="2837501" cy="995670"/>
            </a:xfrm>
          </p:grpSpPr>
          <p:sp>
            <p:nvSpPr>
              <p:cNvPr id="211" name="流程图: 准备 210">
                <a:extLst>
                  <a:ext uri="{FF2B5EF4-FFF2-40B4-BE49-F238E27FC236}">
                    <a16:creationId xmlns:a16="http://schemas.microsoft.com/office/drawing/2014/main" id="{DCD0C7F8-7689-8C03-CC93-30457941711F}"/>
                  </a:ext>
                </a:extLst>
              </p:cNvPr>
              <p:cNvSpPr/>
              <p:nvPr/>
            </p:nvSpPr>
            <p:spPr>
              <a:xfrm>
                <a:off x="859765" y="2290034"/>
                <a:ext cx="2837501" cy="995670"/>
              </a:xfrm>
              <a:prstGeom prst="flowChartPreparation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F3C3F635-4962-6F51-0772-54F35730F63E}"/>
                      </a:ext>
                    </a:extLst>
                  </p:cNvPr>
                  <p:cNvSpPr txBox="1"/>
                  <p:nvPr/>
                </p:nvSpPr>
                <p:spPr>
                  <a:xfrm>
                    <a:off x="859765" y="2464704"/>
                    <a:ext cx="2837501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确定优先级和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LBT</a:t>
                    </a:r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参数</a:t>
                    </a:r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(</a:t>
                    </a:r>
                    <a14:m>
                      <m:oMath xmlns:m="http://schemas.openxmlformats.org/officeDocument/2006/math"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𝑚𝑖𝑛</m:t>
                            </m:r>
                          </m:sub>
                        </m:sSub>
                        <m:r>
                          <a:rPr lang="zh-CN" altLang="en-US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、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zh-CN" altLang="en-US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等</m:t>
                        </m:r>
                      </m:oMath>
                    </a14:m>
                    <a:r>
                      <a:rPr lang="en-US" altLang="zh-CN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)</a:t>
                    </a:r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>
              <p:sp>
                <p:nvSpPr>
                  <p:cNvPr id="212" name="文本框 211">
                    <a:extLst>
                      <a:ext uri="{FF2B5EF4-FFF2-40B4-BE49-F238E27FC236}">
                        <a16:creationId xmlns:a16="http://schemas.microsoft.com/office/drawing/2014/main" id="{F3C3F635-4962-6F51-0772-54F35730F63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59765" y="2464704"/>
                    <a:ext cx="2837501" cy="646331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604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stCxn id="211" idx="0"/>
              <a:endCxn id="2" idx="2"/>
            </p:cNvCxnSpPr>
            <p:nvPr/>
          </p:nvCxnSpPr>
          <p:spPr>
            <a:xfrm flipV="1">
              <a:off x="2353535" y="1371656"/>
              <a:ext cx="9680" cy="166722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49466CFA-C8F0-14EF-535C-39367FC37735}"/>
              </a:ext>
            </a:extLst>
          </p:cNvPr>
          <p:cNvSpPr/>
          <p:nvPr/>
        </p:nvSpPr>
        <p:spPr>
          <a:xfrm>
            <a:off x="3282229" y="1428761"/>
            <a:ext cx="963930" cy="369331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12CD0FA-E786-7CF2-0277-D35B077B29DB}"/>
              </a:ext>
            </a:extLst>
          </p:cNvPr>
          <p:cNvSpPr/>
          <p:nvPr/>
        </p:nvSpPr>
        <p:spPr>
          <a:xfrm>
            <a:off x="905056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5A8E55AE-C4C5-61C9-D3D2-C645CE43C251}"/>
              </a:ext>
            </a:extLst>
          </p:cNvPr>
          <p:cNvSpPr/>
          <p:nvPr/>
        </p:nvSpPr>
        <p:spPr>
          <a:xfrm>
            <a:off x="5620299" y="1428761"/>
            <a:ext cx="963930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C888AF54-3DC3-C8B7-225D-48555EC6400D}"/>
              </a:ext>
            </a:extLst>
          </p:cNvPr>
          <p:cNvSpPr/>
          <p:nvPr/>
        </p:nvSpPr>
        <p:spPr>
          <a:xfrm>
            <a:off x="3282229" y="3071497"/>
            <a:ext cx="963930" cy="369331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packet1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1678FF6-DC44-2523-C8BE-04F13D7F490E}"/>
              </a:ext>
            </a:extLst>
          </p:cNvPr>
          <p:cNvSpPr/>
          <p:nvPr/>
        </p:nvSpPr>
        <p:spPr>
          <a:xfrm>
            <a:off x="5246388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69C1602D-85E9-B769-0C8D-ACF08845CBE5}"/>
              </a:ext>
            </a:extLst>
          </p:cNvPr>
          <p:cNvSpPr/>
          <p:nvPr/>
        </p:nvSpPr>
        <p:spPr>
          <a:xfrm>
            <a:off x="4267356" y="3071496"/>
            <a:ext cx="963930" cy="369332"/>
          </a:xfrm>
          <a:prstGeom prst="rect">
            <a:avLst/>
          </a:prstGeom>
          <a:solidFill>
            <a:srgbClr val="FFC6C6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packet2</a:t>
            </a:r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3" name="直接箭头连接符 2">
            <a:extLst>
              <a:ext uri="{FF2B5EF4-FFF2-40B4-BE49-F238E27FC236}">
                <a16:creationId xmlns:a16="http://schemas.microsoft.com/office/drawing/2014/main" id="{ED76A790-3312-AF98-E625-A11D0003B861}"/>
              </a:ext>
            </a:extLst>
          </p:cNvPr>
          <p:cNvCxnSpPr>
            <a:cxnSpLocks/>
          </p:cNvCxnSpPr>
          <p:nvPr/>
        </p:nvCxnSpPr>
        <p:spPr>
          <a:xfrm>
            <a:off x="2455459" y="1798093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文本框 13">
            <a:extLst>
              <a:ext uri="{FF2B5EF4-FFF2-40B4-BE49-F238E27FC236}">
                <a16:creationId xmlns:a16="http://schemas.microsoft.com/office/drawing/2014/main" id="{0C2CCB4A-48C5-346A-3A25-1E4CE39F7F58}"/>
              </a:ext>
            </a:extLst>
          </p:cNvPr>
          <p:cNvSpPr txBox="1"/>
          <p:nvPr/>
        </p:nvSpPr>
        <p:spPr>
          <a:xfrm>
            <a:off x="9930679" y="1798093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2C87FDF5-BC8E-E9DC-5FC1-59659EE8396E}"/>
              </a:ext>
            </a:extLst>
          </p:cNvPr>
          <p:cNvSpPr txBox="1"/>
          <p:nvPr/>
        </p:nvSpPr>
        <p:spPr>
          <a:xfrm>
            <a:off x="481494" y="2134221"/>
            <a:ext cx="2369820" cy="369332"/>
          </a:xfrm>
          <a:prstGeom prst="rect">
            <a:avLst/>
          </a:prstGeom>
          <a:solidFill>
            <a:srgbClr val="FFC6C6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应用连续传输机制后</a:t>
            </a:r>
          </a:p>
        </p:txBody>
      </p: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BA4EBEDC-B16F-2CA6-69D5-646114E78692}"/>
              </a:ext>
            </a:extLst>
          </p:cNvPr>
          <p:cNvCxnSpPr>
            <a:cxnSpLocks/>
          </p:cNvCxnSpPr>
          <p:nvPr/>
        </p:nvCxnSpPr>
        <p:spPr>
          <a:xfrm>
            <a:off x="2455459" y="3442227"/>
            <a:ext cx="827532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文本框 24">
            <a:extLst>
              <a:ext uri="{FF2B5EF4-FFF2-40B4-BE49-F238E27FC236}">
                <a16:creationId xmlns:a16="http://schemas.microsoft.com/office/drawing/2014/main" id="{B26EB5C3-F79F-D9FB-18DB-F0D7BC4A494B}"/>
              </a:ext>
            </a:extLst>
          </p:cNvPr>
          <p:cNvSpPr txBox="1"/>
          <p:nvPr/>
        </p:nvSpPr>
        <p:spPr>
          <a:xfrm>
            <a:off x="9930679" y="3442227"/>
            <a:ext cx="800100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时间</a:t>
            </a:r>
          </a:p>
        </p:txBody>
      </p: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CE672089-5FDA-2292-DCD3-78EF11C55FEE}"/>
              </a:ext>
            </a:extLst>
          </p:cNvPr>
          <p:cNvCxnSpPr>
            <a:cxnSpLocks/>
            <a:stCxn id="75" idx="0"/>
            <a:endCxn id="4" idx="0"/>
          </p:cNvCxnSpPr>
          <p:nvPr/>
        </p:nvCxnSpPr>
        <p:spPr>
          <a:xfrm rot="16200000" flipH="1">
            <a:off x="3167489" y="832056"/>
            <a:ext cx="207568" cy="985842"/>
          </a:xfrm>
          <a:prstGeom prst="curvedConnector3">
            <a:avLst>
              <a:gd name="adj1" fmla="val -9177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3">
            <a:extLst>
              <a:ext uri="{FF2B5EF4-FFF2-40B4-BE49-F238E27FC236}">
                <a16:creationId xmlns:a16="http://schemas.microsoft.com/office/drawing/2014/main" id="{FB263111-7A71-DE6A-067B-F77A1F858C19}"/>
              </a:ext>
            </a:extLst>
          </p:cNvPr>
          <p:cNvCxnSpPr>
            <a:cxnSpLocks/>
            <a:stCxn id="72" idx="0"/>
            <a:endCxn id="8" idx="0"/>
          </p:cNvCxnSpPr>
          <p:nvPr/>
        </p:nvCxnSpPr>
        <p:spPr>
          <a:xfrm rot="16200000" flipH="1">
            <a:off x="5728766" y="-2375007"/>
            <a:ext cx="207568" cy="7399968"/>
          </a:xfrm>
          <a:prstGeom prst="curvedConnector3">
            <a:avLst>
              <a:gd name="adj1" fmla="val -260648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7A7DAEB8-D8E9-CBB5-FF48-F3556E0A05A8}"/>
              </a:ext>
            </a:extLst>
          </p:cNvPr>
          <p:cNvCxnSpPr>
            <a:cxnSpLocks/>
            <a:stCxn id="74" idx="0"/>
            <a:endCxn id="9" idx="0"/>
          </p:cNvCxnSpPr>
          <p:nvPr/>
        </p:nvCxnSpPr>
        <p:spPr>
          <a:xfrm rot="16200000" flipH="1">
            <a:off x="4175077" y="-498425"/>
            <a:ext cx="207568" cy="3646805"/>
          </a:xfrm>
          <a:prstGeom prst="curvedConnector3">
            <a:avLst>
              <a:gd name="adj1" fmla="val -18355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4BD7258C-D88C-C9B9-0964-4B58173C6A24}"/>
              </a:ext>
            </a:extLst>
          </p:cNvPr>
          <p:cNvCxnSpPr>
            <a:cxnSpLocks/>
            <a:stCxn id="92" idx="0"/>
            <a:endCxn id="29" idx="0"/>
          </p:cNvCxnSpPr>
          <p:nvPr/>
        </p:nvCxnSpPr>
        <p:spPr>
          <a:xfrm rot="16200000" flipH="1">
            <a:off x="3178181" y="2485484"/>
            <a:ext cx="186184" cy="985842"/>
          </a:xfrm>
          <a:prstGeom prst="curvedConnector3">
            <a:avLst>
              <a:gd name="adj1" fmla="val -114596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9A5406E-B98A-E04B-0D00-33DDF24A9075}"/>
              </a:ext>
            </a:extLst>
          </p:cNvPr>
          <p:cNvCxnSpPr>
            <a:cxnSpLocks/>
            <a:stCxn id="91" idx="0"/>
            <a:endCxn id="31" idx="0"/>
          </p:cNvCxnSpPr>
          <p:nvPr/>
        </p:nvCxnSpPr>
        <p:spPr>
          <a:xfrm rot="16200000" flipH="1">
            <a:off x="3509298" y="1831473"/>
            <a:ext cx="186183" cy="2293862"/>
          </a:xfrm>
          <a:prstGeom prst="curvedConnector3">
            <a:avLst>
              <a:gd name="adj1" fmla="val -159617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1694DDB6-DF38-74CB-9C4D-BEB0368322E7}"/>
              </a:ext>
            </a:extLst>
          </p:cNvPr>
          <p:cNvCxnSpPr>
            <a:cxnSpLocks/>
            <a:stCxn id="90" idx="0"/>
            <a:endCxn id="30" idx="0"/>
          </p:cNvCxnSpPr>
          <p:nvPr/>
        </p:nvCxnSpPr>
        <p:spPr>
          <a:xfrm rot="16200000" flipH="1">
            <a:off x="3837367" y="1180511"/>
            <a:ext cx="186183" cy="3595787"/>
          </a:xfrm>
          <a:prstGeom prst="curvedConnector3">
            <a:avLst>
              <a:gd name="adj1" fmla="val -196451"/>
            </a:avLst>
          </a:prstGeom>
          <a:ln w="19050">
            <a:solidFill>
              <a:schemeClr val="tx1"/>
            </a:solidFill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文本框 59">
            <a:extLst>
              <a:ext uri="{FF2B5EF4-FFF2-40B4-BE49-F238E27FC236}">
                <a16:creationId xmlns:a16="http://schemas.microsoft.com/office/drawing/2014/main" id="{59BAAD1A-60A9-A365-52EE-2C9255BF2A01}"/>
              </a:ext>
            </a:extLst>
          </p:cNvPr>
          <p:cNvSpPr txBox="1"/>
          <p:nvPr/>
        </p:nvSpPr>
        <p:spPr>
          <a:xfrm>
            <a:off x="481494" y="424989"/>
            <a:ext cx="2369820" cy="369332"/>
          </a:xfrm>
          <a:prstGeom prst="rect">
            <a:avLst/>
          </a:prstGeom>
          <a:solidFill>
            <a:srgbClr val="DEEBF7"/>
          </a:solidFill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传统随机接入机制</a:t>
            </a:r>
          </a:p>
        </p:txBody>
      </p:sp>
      <p:grpSp>
        <p:nvGrpSpPr>
          <p:cNvPr id="84" name="组合 83">
            <a:extLst>
              <a:ext uri="{FF2B5EF4-FFF2-40B4-BE49-F238E27FC236}">
                <a16:creationId xmlns:a16="http://schemas.microsoft.com/office/drawing/2014/main" id="{35C8D724-4DDC-8C2D-49DA-29588656C354}"/>
              </a:ext>
            </a:extLst>
          </p:cNvPr>
          <p:cNvGrpSpPr/>
          <p:nvPr/>
        </p:nvGrpSpPr>
        <p:grpSpPr>
          <a:xfrm>
            <a:off x="256032" y="1144096"/>
            <a:ext cx="2718816" cy="579120"/>
            <a:chOff x="256032" y="4328160"/>
            <a:chExt cx="2718816" cy="579120"/>
          </a:xfrm>
        </p:grpSpPr>
        <p:grpSp>
          <p:nvGrpSpPr>
            <p:cNvPr id="76" name="组合 75">
              <a:extLst>
                <a:ext uri="{FF2B5EF4-FFF2-40B4-BE49-F238E27FC236}">
                  <a16:creationId xmlns:a16="http://schemas.microsoft.com/office/drawing/2014/main" id="{0953BE78-5B73-B76C-06F7-A9C8FDEFA1BB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72" name="矩形 71">
                <a:extLst>
                  <a:ext uri="{FF2B5EF4-FFF2-40B4-BE49-F238E27FC236}">
                    <a16:creationId xmlns:a16="http://schemas.microsoft.com/office/drawing/2014/main" id="{6BB7F5FE-E83B-C7CA-17F3-A454C86CC732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4" name="矩形 73">
                <a:extLst>
                  <a:ext uri="{FF2B5EF4-FFF2-40B4-BE49-F238E27FC236}">
                    <a16:creationId xmlns:a16="http://schemas.microsoft.com/office/drawing/2014/main" id="{018F82A5-958C-9CEA-EC30-845013297CBD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75" name="矩形 74">
                <a:extLst>
                  <a:ext uri="{FF2B5EF4-FFF2-40B4-BE49-F238E27FC236}">
                    <a16:creationId xmlns:a16="http://schemas.microsoft.com/office/drawing/2014/main" id="{9978708F-72D2-C894-BDC5-EB50909F0B3B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DEEBF7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0" name="直接连接符 79">
              <a:extLst>
                <a:ext uri="{FF2B5EF4-FFF2-40B4-BE49-F238E27FC236}">
                  <a16:creationId xmlns:a16="http://schemas.microsoft.com/office/drawing/2014/main" id="{79A8ACC0-1C86-2AC0-A131-C177277C9C30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直接连接符 80">
              <a:extLst>
                <a:ext uri="{FF2B5EF4-FFF2-40B4-BE49-F238E27FC236}">
                  <a16:creationId xmlns:a16="http://schemas.microsoft.com/office/drawing/2014/main" id="{7E2232ED-6E26-3BC5-E597-578AF5CD04ED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28A62B2-D4F4-ED8B-BE2F-123E3DDECDEA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0D2A7A03-EFFB-BE7B-B607-A0DEA7DAB629}"/>
              </a:ext>
            </a:extLst>
          </p:cNvPr>
          <p:cNvGrpSpPr/>
          <p:nvPr/>
        </p:nvGrpSpPr>
        <p:grpSpPr>
          <a:xfrm>
            <a:off x="256032" y="2808216"/>
            <a:ext cx="2718816" cy="579120"/>
            <a:chOff x="256032" y="4328160"/>
            <a:chExt cx="2718816" cy="579120"/>
          </a:xfrm>
        </p:grpSpPr>
        <p:grpSp>
          <p:nvGrpSpPr>
            <p:cNvPr id="86" name="组合 85">
              <a:extLst>
                <a:ext uri="{FF2B5EF4-FFF2-40B4-BE49-F238E27FC236}">
                  <a16:creationId xmlns:a16="http://schemas.microsoft.com/office/drawing/2014/main" id="{2E62753C-D3CD-32F6-A61A-4E1DBAA87C14}"/>
                </a:ext>
              </a:extLst>
            </p:cNvPr>
            <p:cNvGrpSpPr/>
            <p:nvPr/>
          </p:nvGrpSpPr>
          <p:grpSpPr>
            <a:xfrm>
              <a:off x="2004550" y="4405257"/>
              <a:ext cx="901818" cy="421582"/>
              <a:chOff x="2627376" y="4370725"/>
              <a:chExt cx="901818" cy="421582"/>
            </a:xfrm>
          </p:grpSpPr>
          <p:sp>
            <p:nvSpPr>
              <p:cNvPr id="90" name="矩形 89">
                <a:extLst>
                  <a:ext uri="{FF2B5EF4-FFF2-40B4-BE49-F238E27FC236}">
                    <a16:creationId xmlns:a16="http://schemas.microsoft.com/office/drawing/2014/main" id="{A9600834-8E62-BC5B-C3B9-31534167BE2D}"/>
                  </a:ext>
                </a:extLst>
              </p:cNvPr>
              <p:cNvSpPr/>
              <p:nvPr/>
            </p:nvSpPr>
            <p:spPr>
              <a:xfrm>
                <a:off x="2627376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1" name="矩形 90">
                <a:extLst>
                  <a:ext uri="{FF2B5EF4-FFF2-40B4-BE49-F238E27FC236}">
                    <a16:creationId xmlns:a16="http://schemas.microsoft.com/office/drawing/2014/main" id="{FEE0903C-4565-4D44-FF86-91E07963B9F3}"/>
                  </a:ext>
                </a:extLst>
              </p:cNvPr>
              <p:cNvSpPr/>
              <p:nvPr/>
            </p:nvSpPr>
            <p:spPr>
              <a:xfrm>
                <a:off x="2950269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92" name="矩形 91">
                <a:extLst>
                  <a:ext uri="{FF2B5EF4-FFF2-40B4-BE49-F238E27FC236}">
                    <a16:creationId xmlns:a16="http://schemas.microsoft.com/office/drawing/2014/main" id="{2A544E07-0065-B670-88D7-F141B4256B65}"/>
                  </a:ext>
                </a:extLst>
              </p:cNvPr>
              <p:cNvSpPr/>
              <p:nvPr/>
            </p:nvSpPr>
            <p:spPr>
              <a:xfrm>
                <a:off x="3273162" y="4370725"/>
                <a:ext cx="256032" cy="421582"/>
              </a:xfrm>
              <a:prstGeom prst="rect">
                <a:avLst/>
              </a:prstGeom>
              <a:solidFill>
                <a:srgbClr val="FFC6C6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87" name="直接连接符 86">
              <a:extLst>
                <a:ext uri="{FF2B5EF4-FFF2-40B4-BE49-F238E27FC236}">
                  <a16:creationId xmlns:a16="http://schemas.microsoft.com/office/drawing/2014/main" id="{A4619430-A3D7-D8E7-2FD4-2A10536FE621}"/>
                </a:ext>
              </a:extLst>
            </p:cNvPr>
            <p:cNvCxnSpPr/>
            <p:nvPr/>
          </p:nvCxnSpPr>
          <p:spPr>
            <a:xfrm>
              <a:off x="256032" y="432816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直接连接符 87">
              <a:extLst>
                <a:ext uri="{FF2B5EF4-FFF2-40B4-BE49-F238E27FC236}">
                  <a16:creationId xmlns:a16="http://schemas.microsoft.com/office/drawing/2014/main" id="{A4264FAF-E462-BA65-A4E9-CAB6E9E22911}"/>
                </a:ext>
              </a:extLst>
            </p:cNvPr>
            <p:cNvCxnSpPr/>
            <p:nvPr/>
          </p:nvCxnSpPr>
          <p:spPr>
            <a:xfrm>
              <a:off x="256032" y="4907280"/>
              <a:ext cx="2718816" cy="0"/>
            </a:xfrm>
            <a:prstGeom prst="line">
              <a:avLst/>
            </a:prstGeom>
            <a:ln w="19050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文本框 88">
              <a:extLst>
                <a:ext uri="{FF2B5EF4-FFF2-40B4-BE49-F238E27FC236}">
                  <a16:creationId xmlns:a16="http://schemas.microsoft.com/office/drawing/2014/main" id="{DAE27B3B-2C18-C340-F9C5-03212E8913D9}"/>
                </a:ext>
              </a:extLst>
            </p:cNvPr>
            <p:cNvSpPr txBox="1"/>
            <p:nvPr/>
          </p:nvSpPr>
          <p:spPr>
            <a:xfrm>
              <a:off x="287838" y="4433059"/>
              <a:ext cx="1139952" cy="36932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zh-CN" altLang="en-US" b="0" cap="none" spc="0" dirty="0">
                  <a:ln>
                    <a:noFill/>
                  </a:ln>
                  <a:solidFill>
                    <a:schemeClr val="tx1"/>
                  </a:solidFill>
                  <a:effectLst/>
                  <a:latin typeface="宋体" panose="02010600030101010101" pitchFamily="2" charset="-122"/>
                  <a:ea typeface="宋体" panose="02010600030101010101" pitchFamily="2" charset="-122"/>
                </a:rPr>
                <a:t>数据队列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2813</TotalTime>
  <Words>527</Words>
  <Application>Microsoft Office PowerPoint</Application>
  <PresentationFormat>宽屏</PresentationFormat>
  <Paragraphs>157</Paragraphs>
  <Slides>9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6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164</cp:revision>
  <dcterms:created xsi:type="dcterms:W3CDTF">2026-01-14T02:59:18Z</dcterms:created>
  <dcterms:modified xsi:type="dcterms:W3CDTF">2026-03-02T15:12:52Z</dcterms:modified>
</cp:coreProperties>
</file>