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FFFFFF"/>
    <a:srgbClr val="ECFDF5"/>
    <a:srgbClr val="F3E3D6"/>
    <a:srgbClr val="29B95C"/>
    <a:srgbClr val="DCEBFF"/>
    <a:srgbClr val="F3ECCB"/>
    <a:srgbClr val="DDEFDF"/>
    <a:srgbClr val="7B8794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16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流程图: 决策 106">
            <a:extLst>
              <a:ext uri="{FF2B5EF4-FFF2-40B4-BE49-F238E27FC236}">
                <a16:creationId xmlns:a16="http://schemas.microsoft.com/office/drawing/2014/main" id="{C1EE22BA-8A63-38B0-13F4-288805170A7C}"/>
              </a:ext>
            </a:extLst>
          </p:cNvPr>
          <p:cNvSpPr/>
          <p:nvPr/>
        </p:nvSpPr>
        <p:spPr>
          <a:xfrm>
            <a:off x="3927520" y="450795"/>
            <a:ext cx="3070609" cy="1088543"/>
          </a:xfrm>
          <a:prstGeom prst="flowChartDecision">
            <a:avLst/>
          </a:prstGeom>
          <a:solidFill>
            <a:srgbClr val="DCEB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138" name="流程图: 决策 137">
            <a:extLst>
              <a:ext uri="{FF2B5EF4-FFF2-40B4-BE49-F238E27FC236}">
                <a16:creationId xmlns:a16="http://schemas.microsoft.com/office/drawing/2014/main" id="{5699C3B1-C901-1ABD-1DF2-84A9FD263E4C}"/>
              </a:ext>
            </a:extLst>
          </p:cNvPr>
          <p:cNvSpPr/>
          <p:nvPr/>
        </p:nvSpPr>
        <p:spPr>
          <a:xfrm>
            <a:off x="4394868" y="2756173"/>
            <a:ext cx="2135912" cy="787681"/>
          </a:xfrm>
          <a:prstGeom prst="flowChartDecision">
            <a:avLst/>
          </a:prstGeom>
          <a:solidFill>
            <a:srgbClr val="DCEB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145" name="流程图: 决策 144">
            <a:extLst>
              <a:ext uri="{FF2B5EF4-FFF2-40B4-BE49-F238E27FC236}">
                <a16:creationId xmlns:a16="http://schemas.microsoft.com/office/drawing/2014/main" id="{A6E2F20E-4DA2-AF16-219F-F27A8C5A46F5}"/>
              </a:ext>
            </a:extLst>
          </p:cNvPr>
          <p:cNvSpPr/>
          <p:nvPr/>
        </p:nvSpPr>
        <p:spPr>
          <a:xfrm>
            <a:off x="3927520" y="4584355"/>
            <a:ext cx="3070609" cy="1015390"/>
          </a:xfrm>
          <a:prstGeom prst="flowChartDecision">
            <a:avLst/>
          </a:prstGeom>
          <a:solidFill>
            <a:srgbClr val="DCEB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339D1B-3C73-529F-5BEB-6C2B1EF0DAA5}"/>
              </a:ext>
            </a:extLst>
          </p:cNvPr>
          <p:cNvSpPr/>
          <p:nvPr/>
        </p:nvSpPr>
        <p:spPr>
          <a:xfrm>
            <a:off x="527394" y="450753"/>
            <a:ext cx="3006899" cy="1088542"/>
          </a:xfrm>
          <a:prstGeom prst="rect">
            <a:avLst/>
          </a:prstGeom>
          <a:solidFill>
            <a:srgbClr val="EDEDE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3C28E2EE-28FF-44B4-7C4A-09596371771C}"/>
                  </a:ext>
                </a:extLst>
              </p:cNvPr>
              <p:cNvSpPr txBox="1"/>
              <p:nvPr/>
            </p:nvSpPr>
            <p:spPr>
              <a:xfrm>
                <a:off x="322949" y="701747"/>
                <a:ext cx="3320230" cy="6463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初始化竞争窗口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𝐶𝑊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</m:t>
                    </m:r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𝑚𝑖𝑛</m:t>
                        </m:r>
                      </m:sub>
                    </m:sSub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生成随机数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𝑁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∈ [0, 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𝐶𝑊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3C28E2EE-28FF-44B4-7C4A-095963717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49" y="701747"/>
                <a:ext cx="3320230" cy="646331"/>
              </a:xfrm>
              <a:prstGeom prst="rect">
                <a:avLst/>
              </a:prstGeom>
              <a:blipFill>
                <a:blip r:embed="rId2"/>
                <a:stretch>
                  <a:fillRect t="-6604" b="-132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4BC76EE-D638-3D3C-9B19-EE30CE24575E}"/>
              </a:ext>
            </a:extLst>
          </p:cNvPr>
          <p:cNvCxnSpPr>
            <a:cxnSpLocks/>
            <a:stCxn id="2" idx="3"/>
            <a:endCxn id="107" idx="1"/>
          </p:cNvCxnSpPr>
          <p:nvPr/>
        </p:nvCxnSpPr>
        <p:spPr>
          <a:xfrm>
            <a:off x="3534293" y="995026"/>
            <a:ext cx="393227" cy="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0DF8695-7FF0-E790-0616-C1876B489F98}"/>
              </a:ext>
            </a:extLst>
          </p:cNvPr>
          <p:cNvSpPr/>
          <p:nvPr/>
        </p:nvSpPr>
        <p:spPr>
          <a:xfrm>
            <a:off x="8365172" y="646310"/>
            <a:ext cx="2461546" cy="690539"/>
          </a:xfrm>
          <a:prstGeom prst="rect">
            <a:avLst/>
          </a:prstGeom>
          <a:solidFill>
            <a:srgbClr val="ECFDF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D9731EB-1D08-F1B0-5EF7-7E3983DACE05}"/>
                  </a:ext>
                </a:extLst>
              </p:cNvPr>
              <p:cNvSpPr txBox="1"/>
              <p:nvPr/>
            </p:nvSpPr>
            <p:spPr>
              <a:xfrm>
                <a:off x="8404334" y="806912"/>
                <a:ext cx="2391652" cy="369332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ea typeface="宋体" panose="02010600030101010101" pitchFamily="2" charset="-122"/>
                  </a:rPr>
                  <a:t>随机数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𝑁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保持</a:t>
                </a: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D9731EB-1D08-F1B0-5EF7-7E3983DAC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334" y="806912"/>
                <a:ext cx="2391652" cy="369332"/>
              </a:xfrm>
              <a:prstGeom prst="rect">
                <a:avLst/>
              </a:prstGeom>
              <a:blipFill>
                <a:blip r:embed="rId3"/>
                <a:stretch>
                  <a:fillRect t="-11475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F139A33-A66D-9793-8D9A-115F2F295C70}"/>
              </a:ext>
            </a:extLst>
          </p:cNvPr>
          <p:cNvCxnSpPr>
            <a:cxnSpLocks/>
            <a:stCxn id="107" idx="2"/>
            <a:endCxn id="148" idx="0"/>
          </p:cNvCxnSpPr>
          <p:nvPr/>
        </p:nvCxnSpPr>
        <p:spPr>
          <a:xfrm flipH="1">
            <a:off x="5462824" y="1539338"/>
            <a:ext cx="1" cy="27224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668789DC-78DB-E6B5-339A-50559D807B14}"/>
              </a:ext>
            </a:extLst>
          </p:cNvPr>
          <p:cNvCxnSpPr>
            <a:cxnSpLocks/>
            <a:stCxn id="107" idx="3"/>
            <a:endCxn id="9" idx="1"/>
          </p:cNvCxnSpPr>
          <p:nvPr/>
        </p:nvCxnSpPr>
        <p:spPr>
          <a:xfrm flipV="1">
            <a:off x="6998129" y="991580"/>
            <a:ext cx="1367043" cy="34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76372893-1E17-1D23-4F3D-5C7750259369}"/>
              </a:ext>
            </a:extLst>
          </p:cNvPr>
          <p:cNvSpPr/>
          <p:nvPr/>
        </p:nvSpPr>
        <p:spPr>
          <a:xfrm>
            <a:off x="4044489" y="3904252"/>
            <a:ext cx="2840890" cy="4924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7730E32-5870-741F-A9F2-1EA01F4FF09A}"/>
              </a:ext>
            </a:extLst>
          </p:cNvPr>
          <p:cNvSpPr txBox="1"/>
          <p:nvPr/>
        </p:nvSpPr>
        <p:spPr>
          <a:xfrm>
            <a:off x="4040271" y="3986609"/>
            <a:ext cx="2845105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C2EE79CC-FD9C-0628-8A98-17D90987ACFD}"/>
              </a:ext>
            </a:extLst>
          </p:cNvPr>
          <p:cNvCxnSpPr>
            <a:cxnSpLocks/>
            <a:stCxn id="138" idx="2"/>
            <a:endCxn id="59" idx="0"/>
          </p:cNvCxnSpPr>
          <p:nvPr/>
        </p:nvCxnSpPr>
        <p:spPr>
          <a:xfrm>
            <a:off x="5462824" y="3543854"/>
            <a:ext cx="2110" cy="3603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CF2727FE-FA1F-D0D3-CC3D-946F6E0803A2}"/>
              </a:ext>
            </a:extLst>
          </p:cNvPr>
          <p:cNvSpPr/>
          <p:nvPr/>
        </p:nvSpPr>
        <p:spPr>
          <a:xfrm>
            <a:off x="7757271" y="4511126"/>
            <a:ext cx="3685779" cy="1314365"/>
          </a:xfrm>
          <a:prstGeom prst="rect">
            <a:avLst/>
          </a:prstGeom>
          <a:solidFill>
            <a:srgbClr val="ECFDF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4EDBF2F0-6ADF-02D9-7154-244748AB621B}"/>
                  </a:ext>
                </a:extLst>
              </p:cNvPr>
              <p:cNvSpPr txBox="1"/>
              <p:nvPr/>
            </p:nvSpPr>
            <p:spPr>
              <a:xfrm>
                <a:off x="7761553" y="4568144"/>
                <a:ext cx="3681497" cy="1200329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调整窗口：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𝑛𝑒𝑤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min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⁡(2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𝑜𝑙𝑑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+1,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</m:oMath>
                  </m:oMathPara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生成随机数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𝑛𝑒𝑤</m:t>
                          </m:r>
                        </m:sub>
                      </m:sSub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m:oMathPara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4EDBF2F0-6ADF-02D9-7154-244748AB6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1553" y="4568144"/>
                <a:ext cx="3681497" cy="1200329"/>
              </a:xfrm>
              <a:prstGeom prst="rect">
                <a:avLst/>
              </a:prstGeom>
              <a:blipFill>
                <a:blip r:embed="rId4"/>
                <a:stretch>
                  <a:fillRect t="-3046" b="-50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文本框 86">
            <a:extLst>
              <a:ext uri="{FF2B5EF4-FFF2-40B4-BE49-F238E27FC236}">
                <a16:creationId xmlns:a16="http://schemas.microsoft.com/office/drawing/2014/main" id="{E56AF2DA-0137-2FF5-E175-62BB2CCE2AEF}"/>
              </a:ext>
            </a:extLst>
          </p:cNvPr>
          <p:cNvSpPr txBox="1"/>
          <p:nvPr/>
        </p:nvSpPr>
        <p:spPr>
          <a:xfrm>
            <a:off x="5462823" y="5538297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1D975BDE-7641-ECBD-833C-55C75FA704CB}"/>
              </a:ext>
            </a:extLst>
          </p:cNvPr>
          <p:cNvSpPr txBox="1"/>
          <p:nvPr/>
        </p:nvSpPr>
        <p:spPr>
          <a:xfrm>
            <a:off x="6881163" y="4782454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否</a:t>
            </a: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9C5B583-D8BC-B16B-99CB-DAF8D1D1CC46}"/>
              </a:ext>
            </a:extLst>
          </p:cNvPr>
          <p:cNvCxnSpPr>
            <a:cxnSpLocks/>
            <a:stCxn id="82" idx="3"/>
            <a:endCxn id="107" idx="0"/>
          </p:cNvCxnSpPr>
          <p:nvPr/>
        </p:nvCxnSpPr>
        <p:spPr>
          <a:xfrm flipH="1" flipV="1">
            <a:off x="5462825" y="450795"/>
            <a:ext cx="5980225" cy="4717514"/>
          </a:xfrm>
          <a:prstGeom prst="bentConnector4">
            <a:avLst>
              <a:gd name="adj1" fmla="val -7263"/>
              <a:gd name="adj2" fmla="val 1063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291D4D9A-7140-DC53-AF53-11A38DE92E5C}"/>
              </a:ext>
            </a:extLst>
          </p:cNvPr>
          <p:cNvSpPr txBox="1"/>
          <p:nvPr/>
        </p:nvSpPr>
        <p:spPr>
          <a:xfrm>
            <a:off x="4258565" y="671734"/>
            <a:ext cx="2461546" cy="57351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信道检测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CCA</a:t>
            </a:r>
          </a:p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信道是否空闲？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22286C28-1E9E-92F1-B3CA-484CB3D3C9A1}"/>
                  </a:ext>
                </a:extLst>
              </p:cNvPr>
              <p:cNvSpPr txBox="1"/>
              <p:nvPr/>
            </p:nvSpPr>
            <p:spPr>
              <a:xfrm>
                <a:off x="4738553" y="2970134"/>
                <a:ext cx="1545036" cy="369332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𝑁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=0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？</a:t>
                </a:r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22286C28-1E9E-92F1-B3CA-484CB3D3C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553" y="2970134"/>
                <a:ext cx="1545036" cy="369332"/>
              </a:xfrm>
              <a:prstGeom prst="rect">
                <a:avLst/>
              </a:prstGeom>
              <a:blipFill>
                <a:blip r:embed="rId5"/>
                <a:stretch>
                  <a:fillRect t="-11475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文本框 143">
            <a:extLst>
              <a:ext uri="{FF2B5EF4-FFF2-40B4-BE49-F238E27FC236}">
                <a16:creationId xmlns:a16="http://schemas.microsoft.com/office/drawing/2014/main" id="{7518033F-BF6B-E207-24C5-8BDCC1A12D11}"/>
              </a:ext>
            </a:extLst>
          </p:cNvPr>
          <p:cNvSpPr txBox="1"/>
          <p:nvPr/>
        </p:nvSpPr>
        <p:spPr>
          <a:xfrm>
            <a:off x="4232051" y="4928189"/>
            <a:ext cx="2461546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是否接收到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ACK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？</a:t>
            </a:r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90E7A618-E0BD-CD94-624A-F5A90A8428B6}"/>
              </a:ext>
            </a:extLst>
          </p:cNvPr>
          <p:cNvGrpSpPr/>
          <p:nvPr/>
        </p:nvGrpSpPr>
        <p:grpSpPr>
          <a:xfrm>
            <a:off x="4232051" y="1811585"/>
            <a:ext cx="2461546" cy="690538"/>
            <a:chOff x="4334019" y="1575364"/>
            <a:chExt cx="2461546" cy="690538"/>
          </a:xfrm>
          <a:solidFill>
            <a:srgbClr val="ECFDF5"/>
          </a:solidFill>
        </p:grpSpPr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5C2E3FE1-814F-09F1-8D46-A3C36BB6192F}"/>
                </a:ext>
              </a:extLst>
            </p:cNvPr>
            <p:cNvSpPr/>
            <p:nvPr/>
          </p:nvSpPr>
          <p:spPr>
            <a:xfrm>
              <a:off x="4334019" y="1575364"/>
              <a:ext cx="2461546" cy="690538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CD8618B-2C2F-387F-50CC-0E38C6D7A2BF}"/>
                    </a:ext>
                  </a:extLst>
                </p:cNvPr>
                <p:cNvSpPr txBox="1"/>
                <p:nvPr/>
              </p:nvSpPr>
              <p:spPr>
                <a:xfrm>
                  <a:off x="4496837" y="1756771"/>
                  <a:ext cx="2135911" cy="327722"/>
                </a:xfrm>
                <a:prstGeom prst="rect">
                  <a:avLst/>
                </a:prstGeom>
                <a:grp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随机数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减一</a:t>
                  </a:r>
                </a:p>
              </p:txBody>
            </p:sp>
          </mc:Choice>
          <mc:Fallback xmlns="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CD8618B-2C2F-387F-50CC-0E38C6D7A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837" y="1756771"/>
                  <a:ext cx="2135911" cy="327722"/>
                </a:xfrm>
                <a:prstGeom prst="rect">
                  <a:avLst/>
                </a:prstGeom>
                <a:blipFill>
                  <a:blip r:embed="rId6"/>
                  <a:stretch>
                    <a:fillRect t="-20370" b="-3148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1DE760E3-80F4-0734-A0BC-9F6C1C1D68AA}"/>
              </a:ext>
            </a:extLst>
          </p:cNvPr>
          <p:cNvCxnSpPr>
            <a:cxnSpLocks/>
            <a:stCxn id="148" idx="2"/>
            <a:endCxn id="138" idx="0"/>
          </p:cNvCxnSpPr>
          <p:nvPr/>
        </p:nvCxnSpPr>
        <p:spPr>
          <a:xfrm>
            <a:off x="5462824" y="2502123"/>
            <a:ext cx="0" cy="2540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66257E67-5CF8-8B36-658C-7B2DCA817D0C}"/>
              </a:ext>
            </a:extLst>
          </p:cNvPr>
          <p:cNvCxnSpPr>
            <a:cxnSpLocks/>
            <a:stCxn id="145" idx="2"/>
            <a:endCxn id="208" idx="0"/>
          </p:cNvCxnSpPr>
          <p:nvPr/>
        </p:nvCxnSpPr>
        <p:spPr>
          <a:xfrm flipH="1">
            <a:off x="5458579" y="5599745"/>
            <a:ext cx="4246" cy="3551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箭头连接符 173">
            <a:extLst>
              <a:ext uri="{FF2B5EF4-FFF2-40B4-BE49-F238E27FC236}">
                <a16:creationId xmlns:a16="http://schemas.microsoft.com/office/drawing/2014/main" id="{EA425204-CD49-FAD0-8A03-5182B225D575}"/>
              </a:ext>
            </a:extLst>
          </p:cNvPr>
          <p:cNvCxnSpPr>
            <a:cxnSpLocks/>
            <a:stCxn id="145" idx="3"/>
          </p:cNvCxnSpPr>
          <p:nvPr/>
        </p:nvCxnSpPr>
        <p:spPr>
          <a:xfrm flipV="1">
            <a:off x="6998129" y="5090686"/>
            <a:ext cx="759141" cy="13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AFF29800-BAA3-2D68-74BB-2E34D3ADBCFE}"/>
              </a:ext>
            </a:extLst>
          </p:cNvPr>
          <p:cNvCxnSpPr>
            <a:stCxn id="59" idx="2"/>
            <a:endCxn id="145" idx="0"/>
          </p:cNvCxnSpPr>
          <p:nvPr/>
        </p:nvCxnSpPr>
        <p:spPr>
          <a:xfrm flipH="1">
            <a:off x="5462825" y="4396690"/>
            <a:ext cx="2109" cy="1876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文本框 186">
            <a:extLst>
              <a:ext uri="{FF2B5EF4-FFF2-40B4-BE49-F238E27FC236}">
                <a16:creationId xmlns:a16="http://schemas.microsoft.com/office/drawing/2014/main" id="{F238CA07-EE20-B274-9CCC-2487E0A8882C}"/>
              </a:ext>
            </a:extLst>
          </p:cNvPr>
          <p:cNvSpPr txBox="1"/>
          <p:nvPr/>
        </p:nvSpPr>
        <p:spPr>
          <a:xfrm>
            <a:off x="6881163" y="2827078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否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D643235A-30B3-4A36-647B-B4932738206A}"/>
              </a:ext>
            </a:extLst>
          </p:cNvPr>
          <p:cNvSpPr txBox="1"/>
          <p:nvPr/>
        </p:nvSpPr>
        <p:spPr>
          <a:xfrm>
            <a:off x="5462823" y="3581622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F9D7C336-2B36-037D-A56E-BF8B32180ADB}"/>
              </a:ext>
            </a:extLst>
          </p:cNvPr>
          <p:cNvSpPr txBox="1"/>
          <p:nvPr/>
        </p:nvSpPr>
        <p:spPr>
          <a:xfrm>
            <a:off x="5462823" y="1466589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A55EC7A4-F28D-42CC-AB9D-E4B77238E520}"/>
              </a:ext>
            </a:extLst>
          </p:cNvPr>
          <p:cNvSpPr txBox="1"/>
          <p:nvPr/>
        </p:nvSpPr>
        <p:spPr>
          <a:xfrm>
            <a:off x="6881163" y="663858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否</a:t>
            </a:r>
          </a:p>
        </p:txBody>
      </p:sp>
      <p:sp>
        <p:nvSpPr>
          <p:cNvPr id="208" name="流程图: 终止 207">
            <a:extLst>
              <a:ext uri="{FF2B5EF4-FFF2-40B4-BE49-F238E27FC236}">
                <a16:creationId xmlns:a16="http://schemas.microsoft.com/office/drawing/2014/main" id="{54E9F143-8E2C-997A-7871-9A067D7C36FA}"/>
              </a:ext>
            </a:extLst>
          </p:cNvPr>
          <p:cNvSpPr/>
          <p:nvPr/>
        </p:nvSpPr>
        <p:spPr>
          <a:xfrm>
            <a:off x="4268027" y="5954847"/>
            <a:ext cx="2381104" cy="787681"/>
          </a:xfrm>
          <a:prstGeom prst="flowChartTerminator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F3754FC-C540-2C55-E949-1F089EF2695F}"/>
              </a:ext>
            </a:extLst>
          </p:cNvPr>
          <p:cNvSpPr txBox="1"/>
          <p:nvPr/>
        </p:nvSpPr>
        <p:spPr>
          <a:xfrm>
            <a:off x="4038134" y="6237572"/>
            <a:ext cx="2840890" cy="22223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传输结束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6776D8BC-D26D-269A-D6BF-7D6030CA5693}"/>
              </a:ext>
            </a:extLst>
          </p:cNvPr>
          <p:cNvCxnSpPr>
            <a:cxnSpLocks/>
            <a:stCxn id="22" idx="0"/>
            <a:endCxn id="2" idx="2"/>
          </p:cNvCxnSpPr>
          <p:nvPr/>
        </p:nvCxnSpPr>
        <p:spPr>
          <a:xfrm flipV="1">
            <a:off x="2030844" y="1539297"/>
            <a:ext cx="0" cy="14185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0ECA69D-1ADB-D004-83CD-0AB0821D932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0826718" y="991580"/>
            <a:ext cx="1042334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终止 21">
            <a:extLst>
              <a:ext uri="{FF2B5EF4-FFF2-40B4-BE49-F238E27FC236}">
                <a16:creationId xmlns:a16="http://schemas.microsoft.com/office/drawing/2014/main" id="{7CF13436-AD08-D1C6-167F-AF3BF9710B61}"/>
              </a:ext>
            </a:extLst>
          </p:cNvPr>
          <p:cNvSpPr/>
          <p:nvPr/>
        </p:nvSpPr>
        <p:spPr>
          <a:xfrm>
            <a:off x="527394" y="2957802"/>
            <a:ext cx="3006899" cy="787681"/>
          </a:xfrm>
          <a:prstGeom prst="flowChartTerminator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27D1599-0021-4CCD-F79B-F21DF6CAD45F}"/>
                  </a:ext>
                </a:extLst>
              </p:cNvPr>
              <p:cNvSpPr txBox="1"/>
              <p:nvPr/>
            </p:nvSpPr>
            <p:spPr>
              <a:xfrm>
                <a:off x="562619" y="3028477"/>
                <a:ext cx="2840890" cy="6463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确定优先级和 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LBT 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参数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𝑚𝑖𝑛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、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𝑚𝑎𝑥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等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)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27D1599-0021-4CCD-F79B-F21DF6CAD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19" y="3028477"/>
                <a:ext cx="2840890" cy="646331"/>
              </a:xfrm>
              <a:prstGeom prst="rect">
                <a:avLst/>
              </a:prstGeom>
              <a:blipFill>
                <a:blip r:embed="rId7"/>
                <a:stretch>
                  <a:fillRect t="-6604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E54FC1CE-A9F7-00EF-5631-5DBCBE356A26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530780" y="3150014"/>
            <a:ext cx="5338272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9466CFA-C8F0-14EF-535C-39367FC37735}"/>
              </a:ext>
            </a:extLst>
          </p:cNvPr>
          <p:cNvSpPr/>
          <p:nvPr/>
        </p:nvSpPr>
        <p:spPr>
          <a:xfrm>
            <a:off x="3282229" y="1428761"/>
            <a:ext cx="963930" cy="369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12CD0FA-E786-7CF2-0277-D35B077B29DB}"/>
              </a:ext>
            </a:extLst>
          </p:cNvPr>
          <p:cNvSpPr/>
          <p:nvPr/>
        </p:nvSpPr>
        <p:spPr>
          <a:xfrm>
            <a:off x="905056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8E55AE-C4C5-61C9-D3D2-C645CE43C251}"/>
              </a:ext>
            </a:extLst>
          </p:cNvPr>
          <p:cNvSpPr/>
          <p:nvPr/>
        </p:nvSpPr>
        <p:spPr>
          <a:xfrm>
            <a:off x="562029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888AF54-3DC3-C8B7-225D-48555EC6400D}"/>
              </a:ext>
            </a:extLst>
          </p:cNvPr>
          <p:cNvSpPr/>
          <p:nvPr/>
        </p:nvSpPr>
        <p:spPr>
          <a:xfrm>
            <a:off x="3282229" y="3071497"/>
            <a:ext cx="963930" cy="369331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1678FF6-DC44-2523-C8BE-04F13D7F490E}"/>
              </a:ext>
            </a:extLst>
          </p:cNvPr>
          <p:cNvSpPr/>
          <p:nvPr/>
        </p:nvSpPr>
        <p:spPr>
          <a:xfrm>
            <a:off x="5246388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9C1602D-85E9-B769-0C8D-ACF08845CBE5}"/>
              </a:ext>
            </a:extLst>
          </p:cNvPr>
          <p:cNvSpPr/>
          <p:nvPr/>
        </p:nvSpPr>
        <p:spPr>
          <a:xfrm>
            <a:off x="4267356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ED76A790-3312-AF98-E625-A11D0003B861}"/>
              </a:ext>
            </a:extLst>
          </p:cNvPr>
          <p:cNvCxnSpPr>
            <a:cxnSpLocks/>
          </p:cNvCxnSpPr>
          <p:nvPr/>
        </p:nvCxnSpPr>
        <p:spPr>
          <a:xfrm>
            <a:off x="2455459" y="1798093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C2CCB4A-48C5-346A-3A25-1E4CE39F7F58}"/>
              </a:ext>
            </a:extLst>
          </p:cNvPr>
          <p:cNvSpPr txBox="1"/>
          <p:nvPr/>
        </p:nvSpPr>
        <p:spPr>
          <a:xfrm>
            <a:off x="9930679" y="1798093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87FDF5-BC8E-E9DC-5FC1-59659EE8396E}"/>
              </a:ext>
            </a:extLst>
          </p:cNvPr>
          <p:cNvSpPr txBox="1"/>
          <p:nvPr/>
        </p:nvSpPr>
        <p:spPr>
          <a:xfrm>
            <a:off x="481494" y="2134221"/>
            <a:ext cx="2369820" cy="369332"/>
          </a:xfrm>
          <a:prstGeom prst="rect">
            <a:avLst/>
          </a:prstGeom>
          <a:solidFill>
            <a:srgbClr val="FFC6C6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应用连续传输机制后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A4EBEDC-B16F-2CA6-69D5-646114E78692}"/>
              </a:ext>
            </a:extLst>
          </p:cNvPr>
          <p:cNvCxnSpPr>
            <a:cxnSpLocks/>
          </p:cNvCxnSpPr>
          <p:nvPr/>
        </p:nvCxnSpPr>
        <p:spPr>
          <a:xfrm>
            <a:off x="2455459" y="3442227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B26EB5C3-F79F-D9FB-18DB-F0D7BC4A494B}"/>
              </a:ext>
            </a:extLst>
          </p:cNvPr>
          <p:cNvSpPr txBox="1"/>
          <p:nvPr/>
        </p:nvSpPr>
        <p:spPr>
          <a:xfrm>
            <a:off x="9930679" y="3442227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E672089-5FDA-2292-DCD3-78EF11C55FEE}"/>
              </a:ext>
            </a:extLst>
          </p:cNvPr>
          <p:cNvCxnSpPr>
            <a:cxnSpLocks/>
            <a:stCxn id="75" idx="0"/>
            <a:endCxn id="4" idx="0"/>
          </p:cNvCxnSpPr>
          <p:nvPr/>
        </p:nvCxnSpPr>
        <p:spPr>
          <a:xfrm rot="16200000" flipH="1">
            <a:off x="3167489" y="832056"/>
            <a:ext cx="207568" cy="985842"/>
          </a:xfrm>
          <a:prstGeom prst="curvedConnector3">
            <a:avLst>
              <a:gd name="adj1" fmla="val -9177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3">
            <a:extLst>
              <a:ext uri="{FF2B5EF4-FFF2-40B4-BE49-F238E27FC236}">
                <a16:creationId xmlns:a16="http://schemas.microsoft.com/office/drawing/2014/main" id="{FB263111-7A71-DE6A-067B-F77A1F858C19}"/>
              </a:ext>
            </a:extLst>
          </p:cNvPr>
          <p:cNvCxnSpPr>
            <a:cxnSpLocks/>
            <a:stCxn id="72" idx="0"/>
            <a:endCxn id="8" idx="0"/>
          </p:cNvCxnSpPr>
          <p:nvPr/>
        </p:nvCxnSpPr>
        <p:spPr>
          <a:xfrm rot="16200000" flipH="1">
            <a:off x="5728766" y="-2375007"/>
            <a:ext cx="207568" cy="7399968"/>
          </a:xfrm>
          <a:prstGeom prst="curvedConnector3">
            <a:avLst>
              <a:gd name="adj1" fmla="val -26064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7A7DAEB8-D8E9-CBB5-FF48-F3556E0A05A8}"/>
              </a:ext>
            </a:extLst>
          </p:cNvPr>
          <p:cNvCxnSpPr>
            <a:cxnSpLocks/>
            <a:stCxn id="74" idx="0"/>
            <a:endCxn id="9" idx="0"/>
          </p:cNvCxnSpPr>
          <p:nvPr/>
        </p:nvCxnSpPr>
        <p:spPr>
          <a:xfrm rot="16200000" flipH="1">
            <a:off x="4175077" y="-498425"/>
            <a:ext cx="207568" cy="3646805"/>
          </a:xfrm>
          <a:prstGeom prst="curvedConnector3">
            <a:avLst>
              <a:gd name="adj1" fmla="val -18355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4BD7258C-D88C-C9B9-0964-4B58173C6A24}"/>
              </a:ext>
            </a:extLst>
          </p:cNvPr>
          <p:cNvCxnSpPr>
            <a:cxnSpLocks/>
            <a:stCxn id="92" idx="0"/>
            <a:endCxn id="29" idx="0"/>
          </p:cNvCxnSpPr>
          <p:nvPr/>
        </p:nvCxnSpPr>
        <p:spPr>
          <a:xfrm rot="16200000" flipH="1">
            <a:off x="3178181" y="2485484"/>
            <a:ext cx="186184" cy="985842"/>
          </a:xfrm>
          <a:prstGeom prst="curvedConnector3">
            <a:avLst>
              <a:gd name="adj1" fmla="val -11459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9A5406E-B98A-E04B-0D00-33DDF24A9075}"/>
              </a:ext>
            </a:extLst>
          </p:cNvPr>
          <p:cNvCxnSpPr>
            <a:cxnSpLocks/>
            <a:stCxn id="91" idx="0"/>
            <a:endCxn id="31" idx="0"/>
          </p:cNvCxnSpPr>
          <p:nvPr/>
        </p:nvCxnSpPr>
        <p:spPr>
          <a:xfrm rot="16200000" flipH="1">
            <a:off x="3509298" y="1831473"/>
            <a:ext cx="186183" cy="2293862"/>
          </a:xfrm>
          <a:prstGeom prst="curvedConnector3">
            <a:avLst>
              <a:gd name="adj1" fmla="val -159617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1694DDB6-DF38-74CB-9C4D-BEB0368322E7}"/>
              </a:ext>
            </a:extLst>
          </p:cNvPr>
          <p:cNvCxnSpPr>
            <a:cxnSpLocks/>
            <a:stCxn id="90" idx="0"/>
            <a:endCxn id="30" idx="0"/>
          </p:cNvCxnSpPr>
          <p:nvPr/>
        </p:nvCxnSpPr>
        <p:spPr>
          <a:xfrm rot="16200000" flipH="1">
            <a:off x="3837367" y="1180511"/>
            <a:ext cx="186183" cy="3595787"/>
          </a:xfrm>
          <a:prstGeom prst="curvedConnector3">
            <a:avLst>
              <a:gd name="adj1" fmla="val -196451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59BAAD1A-60A9-A365-52EE-2C9255BF2A01}"/>
              </a:ext>
            </a:extLst>
          </p:cNvPr>
          <p:cNvSpPr txBox="1"/>
          <p:nvPr/>
        </p:nvSpPr>
        <p:spPr>
          <a:xfrm>
            <a:off x="481494" y="424989"/>
            <a:ext cx="2369820" cy="369332"/>
          </a:xfrm>
          <a:prstGeom prst="rect">
            <a:avLst/>
          </a:prstGeom>
          <a:solidFill>
            <a:srgbClr val="DEEBF7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传统随机接入机制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5C8D724-4DDC-8C2D-49DA-29588656C354}"/>
              </a:ext>
            </a:extLst>
          </p:cNvPr>
          <p:cNvGrpSpPr/>
          <p:nvPr/>
        </p:nvGrpSpPr>
        <p:grpSpPr>
          <a:xfrm>
            <a:off x="256032" y="1144096"/>
            <a:ext cx="2718816" cy="579120"/>
            <a:chOff x="256032" y="4328160"/>
            <a:chExt cx="2718816" cy="579120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0953BE78-5B73-B76C-06F7-A9C8FDEFA1BB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6BB7F5FE-E83B-C7CA-17F3-A454C86CC732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018F82A5-958C-9CEA-EC30-845013297CBD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9978708F-72D2-C894-BDC5-EB50909F0B3B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79A8ACC0-1C86-2AC0-A131-C177277C9C30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7E2232ED-6E26-3BC5-E597-578AF5CD04ED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28A62B2-D4F4-ED8B-BE2F-123E3DDECDEA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0D2A7A03-EFFB-BE7B-B607-A0DEA7DAB629}"/>
              </a:ext>
            </a:extLst>
          </p:cNvPr>
          <p:cNvGrpSpPr/>
          <p:nvPr/>
        </p:nvGrpSpPr>
        <p:grpSpPr>
          <a:xfrm>
            <a:off x="256032" y="2808216"/>
            <a:ext cx="2718816" cy="579120"/>
            <a:chOff x="256032" y="4328160"/>
            <a:chExt cx="2718816" cy="579120"/>
          </a:xfrm>
        </p:grpSpPr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2E62753C-D3CD-32F6-A61A-4E1DBAA87C14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A9600834-8E62-BC5B-C3B9-31534167BE2D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EE0903C-4565-4D44-FF86-91E07963B9F3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2A544E07-0065-B670-88D7-F141B4256B65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A4619430-A3D7-D8E7-2FD4-2A10536FE621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A4264FAF-E462-BA65-A4E9-CAB6E9E22911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DAE27B3B-2C18-C340-F9C5-03212E8913D9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AF74B55-9CAD-1606-ED15-3676731F4BE4}"/>
              </a:ext>
            </a:extLst>
          </p:cNvPr>
          <p:cNvSpPr/>
          <p:nvPr/>
        </p:nvSpPr>
        <p:spPr>
          <a:xfrm>
            <a:off x="564337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7880E56-439D-3623-734F-166D14B9A507}"/>
              </a:ext>
            </a:extLst>
          </p:cNvPr>
          <p:cNvSpPr/>
          <p:nvPr/>
        </p:nvSpPr>
        <p:spPr>
          <a:xfrm>
            <a:off x="3964736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1913DAB9-D655-5DA2-C031-88903A3CC4CA}"/>
              </a:ext>
            </a:extLst>
          </p:cNvPr>
          <p:cNvCxnSpPr>
            <a:stCxn id="2" idx="2"/>
          </p:cNvCxnSpPr>
          <p:nvPr/>
        </p:nvCxnSpPr>
        <p:spPr>
          <a:xfrm flipH="1">
            <a:off x="1090430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0D5538B-DF7A-DE49-8ACE-232A1B0DB0E2}"/>
              </a:ext>
            </a:extLst>
          </p:cNvPr>
          <p:cNvCxnSpPr>
            <a:stCxn id="3" idx="2"/>
          </p:cNvCxnSpPr>
          <p:nvPr/>
        </p:nvCxnSpPr>
        <p:spPr>
          <a:xfrm>
            <a:off x="4490830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D33E62-3DA5-7CA6-44F5-71504FFE0595}"/>
              </a:ext>
            </a:extLst>
          </p:cNvPr>
          <p:cNvGrpSpPr/>
          <p:nvPr/>
        </p:nvGrpSpPr>
        <p:grpSpPr>
          <a:xfrm>
            <a:off x="1090429" y="2280755"/>
            <a:ext cx="3418146" cy="822960"/>
            <a:chOff x="7115756" y="3259756"/>
            <a:chExt cx="3418146" cy="822960"/>
          </a:xfrm>
        </p:grpSpPr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850D8C88-5497-0FBF-9297-B90EA25D2EEA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21DF994-39CF-E5B1-DD19-802BA4F85C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24864884-1762-5DBC-84F3-CD66F3E19D3C}"/>
              </a:ext>
            </a:extLst>
          </p:cNvPr>
          <p:cNvSpPr txBox="1"/>
          <p:nvPr/>
        </p:nvSpPr>
        <p:spPr>
          <a:xfrm>
            <a:off x="1398182" y="1887482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F11908-F8F2-B963-699E-303C38D49FA7}"/>
              </a:ext>
            </a:extLst>
          </p:cNvPr>
          <p:cNvSpPr txBox="1"/>
          <p:nvPr/>
        </p:nvSpPr>
        <p:spPr>
          <a:xfrm>
            <a:off x="1386950" y="272327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0046AE-100B-50B5-DD6B-0341B2C80BE0}"/>
              </a:ext>
            </a:extLst>
          </p:cNvPr>
          <p:cNvSpPr txBox="1"/>
          <p:nvPr/>
        </p:nvSpPr>
        <p:spPr>
          <a:xfrm>
            <a:off x="1289874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4536</TotalTime>
  <Words>818</Words>
  <Application>Microsoft Office PowerPoint</Application>
  <PresentationFormat>宽屏</PresentationFormat>
  <Paragraphs>244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228</cp:revision>
  <dcterms:created xsi:type="dcterms:W3CDTF">2026-01-14T02:59:18Z</dcterms:created>
  <dcterms:modified xsi:type="dcterms:W3CDTF">2026-03-21T00:35:42Z</dcterms:modified>
</cp:coreProperties>
</file>