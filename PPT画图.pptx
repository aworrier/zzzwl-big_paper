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DC"/>
    <a:srgbClr val="FFFADC"/>
    <a:srgbClr val="DCFFE6"/>
    <a:srgbClr val="FFFFFF"/>
    <a:srgbClr val="FF7474"/>
    <a:srgbClr val="FFC6C6"/>
    <a:srgbClr val="4682B4"/>
    <a:srgbClr val="DC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82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E4601-79B1-425F-B925-3F7BE382BF19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98381-BA92-42C7-9348-61BD6E356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48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98381-BA92-42C7-9348-61BD6E356A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108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4A9D9-320D-08D5-43F6-F1B0EB1AA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F1CF6A-1CB2-3EA5-DA7F-D19C36AA5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571D86-5EB3-78D4-3572-30ECE9D4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E149BC-8E0A-E356-A5A8-D4DD8B03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F52257-6F73-65C9-300B-DA10B4BA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18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4BFCC-83C3-8F52-6166-88FB32519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EF84E6-D090-6994-D488-A5F45C3F5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8A8241-0388-27A9-9413-62F4DA12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E684B0-3C09-DE1B-DBB0-5EE65E9E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BF56DE-4217-EFC0-FEE4-17D372E83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98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E9F5EA-63DC-3438-1FC0-071A6166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FED89E-B92B-D360-ED9D-6C4A00793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B8C119-7B04-6E54-E0F4-BDFB5EF6D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8DEB60-CA7B-76F9-CCAB-371F5702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9379CA-4474-155F-C24E-EC299CE1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37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ED6E5-02BF-150F-62CD-DEEB5DAE2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E4944-A71A-8AB6-22D7-7C9BC6722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2472C2-4524-F305-C6BD-56FB565BA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53FF88-1F08-EB92-B2EE-410ED8777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54182A-2BBC-7BD6-2D99-F2D31EA4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9D3BE8-409C-3A86-7D13-36AEF6EA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087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14FBE-D0D0-7642-675B-35C21330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14D2E6-21FF-444C-8580-856CEE22E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AC5A58-1BB6-83F7-6501-151C2F75E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4AF812-6606-827F-4F9D-ADB104C27D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DDBE2F-F701-E11F-4AE9-AEFF2D102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05EB9A3-40C8-6BA1-652B-5AEED525C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9D5EE4-ADD1-9FB1-DCBF-35731D7F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7DC580-F712-58AB-573B-20EBAE91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65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782531-8E00-DCB6-C18F-92C729D6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D6A14A-82D8-BA05-48A9-13EC5A86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4BCDD9-E253-7C82-F8B4-3639D6A8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8C7DC1-36F7-BD3D-5985-0641A2AA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491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75D9E9-4450-7682-7FFB-D976699B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BE8EDC-0B49-91D0-A4D9-A0EAEF96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492D67-E97B-81E6-6923-1E37E535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39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35E2B-8E07-B59E-1940-88B62005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64C4E-C524-278A-3E91-FDFCF3881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228E51-CE59-C3B7-0E11-A1DF8478E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0ACBAC-96D5-1893-B8EC-38CAAF3F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0A80B5-C333-F80B-965F-81E4AEE0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512A81-08F1-F6AC-424B-B0D6A122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56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B54F0-03F9-D716-1F37-B8C324385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A8D523-6679-0E48-5EA9-67E8CB5B2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6F0696-5CA0-A98E-2FA9-46028F9FC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E613B2-AF1A-57EB-61F5-29B0ADE8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0E0014-0CD5-2FDD-8CF0-1E4BF116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A92C0C-34AA-7BDD-EAD9-D06E2CBC3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62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D7DBC7-E62E-76B0-8C7D-FC82F3F86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F17919-80AB-2E50-EF9E-0FEF31658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079E29-3F1A-DD78-CCC4-457FBA37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A85E65-37A2-B27F-33E0-E6E23231F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51E36E-C54C-B77E-F115-D761423E1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354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36978D-644F-1BE9-F9CD-D37B07708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C8C215-EEC3-2FFD-2A58-7E266EFF1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E043B5-7AAB-90B8-21C0-B404F408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DBB7A7-6F16-F0AB-CDB6-A805BC00D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8554C0-E770-DCE5-455A-D7BC1E4C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42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16BB2D-3AF4-DC4B-128F-E4D28F4F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993293-3928-B7D6-8346-764B941D3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1E1BA-5FFA-7075-F250-DC7E40EA1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E9D4A-569D-49DD-9DBB-BF425DFB68D5}" type="datetimeFigureOut">
              <a:rPr lang="zh-CN" altLang="en-US" smtClean="0"/>
              <a:t>2026/01/29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885496-804A-D5B9-B1FF-B6A5F24B5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EEE3A-A95C-1C62-48C3-B9213FE3E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D2FA5-0E4F-4C50-A8C0-A4C093CC1B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688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4CE35-0E28-5873-E2A7-31E84620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25BDB130-DBA1-C255-9352-1A326E6EB1DD}"/>
              </a:ext>
            </a:extLst>
          </p:cNvPr>
          <p:cNvGrpSpPr/>
          <p:nvPr/>
        </p:nvGrpSpPr>
        <p:grpSpPr>
          <a:xfrm>
            <a:off x="443361" y="454622"/>
            <a:ext cx="3240000" cy="5334853"/>
            <a:chOff x="3159266" y="181667"/>
            <a:chExt cx="3240000" cy="5334853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AB53D81E-FBED-CE64-FA0C-AC8E15E00722}"/>
                </a:ext>
              </a:extLst>
            </p:cNvPr>
            <p:cNvGrpSpPr/>
            <p:nvPr/>
          </p:nvGrpSpPr>
          <p:grpSpPr>
            <a:xfrm>
              <a:off x="3159266" y="1238743"/>
              <a:ext cx="3240000" cy="585181"/>
              <a:chOff x="3472140" y="1311131"/>
              <a:chExt cx="3240000" cy="585181"/>
            </a:xfrm>
            <a:solidFill>
              <a:srgbClr val="DCFFE6"/>
            </a:solidFill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95299D1-6565-5471-85F1-DF19378673BF}"/>
                  </a:ext>
                </a:extLst>
              </p:cNvPr>
              <p:cNvSpPr/>
              <p:nvPr/>
            </p:nvSpPr>
            <p:spPr>
              <a:xfrm>
                <a:off x="3472140" y="1311131"/>
                <a:ext cx="3240000" cy="585181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82E5737C-2243-11F1-2E35-63A8A8213731}"/>
                      </a:ext>
                    </a:extLst>
                  </p:cNvPr>
                  <p:cNvSpPr txBox="1"/>
                  <p:nvPr/>
                </p:nvSpPr>
                <p:spPr>
                  <a:xfrm>
                    <a:off x="3644121" y="1419055"/>
                    <a:ext cx="2896039" cy="369332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仿真器</a:t>
                    </a:r>
                    <a:r>
                      <a:rPr lang="en-US" altLang="zh-C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/</a:t>
                    </a:r>
                    <a:r>
                      <a: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代理模型</a:t>
                    </a:r>
                    <a:r>
                      <a:rPr lang="en-US" altLang="zh-CN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S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oMath>
                    </a14:m>
                    <a:endPara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82E5737C-2243-11F1-2E35-63A8A82137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44121" y="1419055"/>
                    <a:ext cx="2896039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13333" b="-2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B1A31FC1-AFA6-6925-80B3-3485F9693AB0}"/>
                </a:ext>
              </a:extLst>
            </p:cNvPr>
            <p:cNvGrpSpPr/>
            <p:nvPr/>
          </p:nvGrpSpPr>
          <p:grpSpPr>
            <a:xfrm>
              <a:off x="3159266" y="181667"/>
              <a:ext cx="3240000" cy="466284"/>
              <a:chOff x="3607636" y="181667"/>
              <a:chExt cx="3240000" cy="466284"/>
            </a:xfrm>
            <a:solidFill>
              <a:srgbClr val="DCEBFF"/>
            </a:solidFill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F24BB83-AA7D-CAA1-7295-E3CEF5D8D433}"/>
                  </a:ext>
                </a:extLst>
              </p:cNvPr>
              <p:cNvSpPr/>
              <p:nvPr/>
            </p:nvSpPr>
            <p:spPr>
              <a:xfrm>
                <a:off x="3607636" y="181667"/>
                <a:ext cx="3240000" cy="46628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DD5929D2-C11E-F1D9-1D2F-2686045FEAEC}"/>
                      </a:ext>
                    </a:extLst>
                  </p:cNvPr>
                  <p:cNvSpPr txBox="1"/>
                  <p:nvPr/>
                </p:nvSpPr>
                <p:spPr>
                  <a:xfrm>
                    <a:off x="4195152" y="230143"/>
                    <a:ext cx="2064969" cy="369332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统一输入向量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</m:oMath>
                    </a14:m>
                    <a:endPara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DD5929D2-C11E-F1D9-1D2F-2686045FEA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5152" y="230143"/>
                    <a:ext cx="206496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3333" b="-2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E0DCFC41-2FE1-6955-8652-53BE3BA19AF2}"/>
                    </a:ext>
                  </a:extLst>
                </p:cNvPr>
                <p:cNvSpPr txBox="1"/>
                <p:nvPr/>
              </p:nvSpPr>
              <p:spPr>
                <a:xfrm>
                  <a:off x="4771839" y="752758"/>
                  <a:ext cx="12898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m:t>S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E0DCFC41-2FE1-6955-8652-53BE3BA19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1839" y="752758"/>
                  <a:ext cx="128984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43BE1C5-F753-57B2-A412-62FCB3853190}"/>
                </a:ext>
              </a:extLst>
            </p:cNvPr>
            <p:cNvCxnSpPr>
              <a:cxnSpLocks/>
              <a:stCxn id="6" idx="2"/>
              <a:endCxn id="12" idx="0"/>
            </p:cNvCxnSpPr>
            <p:nvPr/>
          </p:nvCxnSpPr>
          <p:spPr>
            <a:xfrm>
              <a:off x="4779266" y="647951"/>
              <a:ext cx="0" cy="5907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4462F855-F248-1892-3957-ED2C063F20CC}"/>
                </a:ext>
              </a:extLst>
            </p:cNvPr>
            <p:cNvGrpSpPr/>
            <p:nvPr/>
          </p:nvGrpSpPr>
          <p:grpSpPr>
            <a:xfrm>
              <a:off x="3159266" y="2414716"/>
              <a:ext cx="3240000" cy="720000"/>
              <a:chOff x="3159266" y="2440596"/>
              <a:chExt cx="3240000" cy="720000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BBF3B146-0C6A-3867-2BAD-ACCEEEE8D4F6}"/>
                  </a:ext>
                </a:extLst>
              </p:cNvPr>
              <p:cNvSpPr/>
              <p:nvPr/>
            </p:nvSpPr>
            <p:spPr>
              <a:xfrm>
                <a:off x="3159266" y="2440596"/>
                <a:ext cx="3240000" cy="720000"/>
              </a:xfrm>
              <a:prstGeom prst="rect">
                <a:avLst/>
              </a:prstGeom>
              <a:solidFill>
                <a:srgbClr val="FFFAD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99A57D5F-CCC9-B268-8472-BE7198D687D6}"/>
                      </a:ext>
                    </a:extLst>
                  </p:cNvPr>
                  <p:cNvSpPr txBox="1"/>
                  <p:nvPr/>
                </p:nvSpPr>
                <p:spPr>
                  <a:xfrm>
                    <a:off x="3346011" y="2477431"/>
                    <a:ext cx="286651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性能指标向量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a14:m>
                    <a:endParaRPr lang="en-US" altLang="zh-C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归一化处理 </a:t>
                    </a:r>
                    <a14:m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altLang="zh-C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norm </a:t>
                    </a:r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zh-C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99A57D5F-CCC9-B268-8472-BE7198D687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6011" y="2477431"/>
                    <a:ext cx="2866510" cy="64633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7547" b="-1509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A21682C-C131-E511-7AA3-3110F3E26F96}"/>
                </a:ext>
              </a:extLst>
            </p:cNvPr>
            <p:cNvGrpSpPr/>
            <p:nvPr/>
          </p:nvGrpSpPr>
          <p:grpSpPr>
            <a:xfrm>
              <a:off x="3159266" y="3725508"/>
              <a:ext cx="3240000" cy="468000"/>
              <a:chOff x="3159266" y="3888527"/>
              <a:chExt cx="3240000" cy="468000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8961367-FBFE-7F15-01BC-43A27CD2FCD5}"/>
                  </a:ext>
                </a:extLst>
              </p:cNvPr>
              <p:cNvSpPr/>
              <p:nvPr/>
            </p:nvSpPr>
            <p:spPr>
              <a:xfrm>
                <a:off x="3159266" y="3888527"/>
                <a:ext cx="3240000" cy="468000"/>
              </a:xfrm>
              <a:prstGeom prst="rect">
                <a:avLst/>
              </a:prstGeom>
              <a:solidFill>
                <a:srgbClr val="FFEBD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6F54DAE4-77B3-AD3D-6F79-F04BD11D0EFC}"/>
                      </a:ext>
                    </a:extLst>
                  </p:cNvPr>
                  <p:cNvSpPr txBox="1"/>
                  <p:nvPr/>
                </p:nvSpPr>
                <p:spPr>
                  <a:xfrm>
                    <a:off x="3346011" y="3937861"/>
                    <a:ext cx="286651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综合效用函数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m:t>U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(∙)</m:t>
                        </m:r>
                      </m:oMath>
                    </a14:m>
                    <a:r>
                      <a: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6F54DAE4-77B3-AD3D-6F79-F04BD11D0E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6011" y="3937861"/>
                    <a:ext cx="286651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1475" b="-213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A006578-EE79-4849-C962-2F3DCA3F3A09}"/>
                </a:ext>
              </a:extLst>
            </p:cNvPr>
            <p:cNvCxnSpPr>
              <a:cxnSpLocks/>
              <a:stCxn id="12" idx="2"/>
              <a:endCxn id="18" idx="0"/>
            </p:cNvCxnSpPr>
            <p:nvPr/>
          </p:nvCxnSpPr>
          <p:spPr>
            <a:xfrm>
              <a:off x="4779266" y="1823924"/>
              <a:ext cx="0" cy="5907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15AF58E-F1D4-8393-0E29-26375D7D5017}"/>
                </a:ext>
              </a:extLst>
            </p:cNvPr>
            <p:cNvCxnSpPr>
              <a:stCxn id="18" idx="2"/>
              <a:endCxn id="24" idx="0"/>
            </p:cNvCxnSpPr>
            <p:nvPr/>
          </p:nvCxnSpPr>
          <p:spPr>
            <a:xfrm>
              <a:off x="4779266" y="3134716"/>
              <a:ext cx="0" cy="5907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4267E82B-4F42-D535-F25F-FE84174F1691}"/>
                </a:ext>
              </a:extLst>
            </p:cNvPr>
            <p:cNvGrpSpPr/>
            <p:nvPr/>
          </p:nvGrpSpPr>
          <p:grpSpPr>
            <a:xfrm>
              <a:off x="3159266" y="4784302"/>
              <a:ext cx="3240000" cy="732218"/>
              <a:chOff x="3159266" y="5077734"/>
              <a:chExt cx="3240000" cy="732218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E7E98EF-16B6-8459-FDA9-89B8BAEF8761}"/>
                  </a:ext>
                </a:extLst>
              </p:cNvPr>
              <p:cNvSpPr/>
              <p:nvPr/>
            </p:nvSpPr>
            <p:spPr>
              <a:xfrm>
                <a:off x="3159266" y="5077734"/>
                <a:ext cx="3240000" cy="720000"/>
              </a:xfrm>
              <a:prstGeom prst="rect">
                <a:avLst/>
              </a:prstGeom>
              <a:solidFill>
                <a:srgbClr val="4682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0FF3CA23-5369-BB36-C2EE-04D22C518E45}"/>
                      </a:ext>
                    </a:extLst>
                  </p:cNvPr>
                  <p:cNvSpPr txBox="1"/>
                  <p:nvPr/>
                </p:nvSpPr>
                <p:spPr>
                  <a:xfrm>
                    <a:off x="3346011" y="5087510"/>
                    <a:ext cx="2866510" cy="7224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最优协议与参数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proto</m:t>
                            </m:r>
                          </m:sub>
                          <m:sup>
                            <m:r>
                              <a:rPr lang="en-US" altLang="zh-CN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a14:m>
                    <a:endPara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proto</m:t>
                            </m:r>
                          </m:sub>
                          <m:sup>
                            <m:r>
                              <a:rPr lang="en-US" altLang="zh-CN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=[</m:t>
                        </m:r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sub>
                          <m:sup>
                            <m:r>
                              <a:rPr lang="en-US" altLang="zh-CN" b="1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a14:m>
                    <a:r>
                      <a:rPr lang="en-US" altLang="zh-C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0FF3CA23-5369-BB36-C2EE-04D22C518E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6011" y="5087510"/>
                    <a:ext cx="2866510" cy="72244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6723" b="-84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FC5AD407-8F45-C8EA-0933-B8BCCC9684B9}"/>
                </a:ext>
              </a:extLst>
            </p:cNvPr>
            <p:cNvCxnSpPr>
              <a:stCxn id="24" idx="2"/>
              <a:endCxn id="33" idx="0"/>
            </p:cNvCxnSpPr>
            <p:nvPr/>
          </p:nvCxnSpPr>
          <p:spPr>
            <a:xfrm>
              <a:off x="4779266" y="4193508"/>
              <a:ext cx="0" cy="5907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DF8A4DB-6D6C-EC9C-6177-038A7BAF04B6}"/>
                    </a:ext>
                  </a:extLst>
                </p:cNvPr>
                <p:cNvSpPr txBox="1"/>
                <p:nvPr/>
              </p:nvSpPr>
              <p:spPr>
                <a:xfrm>
                  <a:off x="4771839" y="3245242"/>
                  <a:ext cx="7592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U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̃"/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DF8A4DB-6D6C-EC9C-6177-038A7BAF0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1839" y="3245242"/>
                  <a:ext cx="75922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6400" t="-8197" r="-7200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70AF696E-28EE-E847-85A2-D83E65FF7AF0}"/>
                </a:ext>
              </a:extLst>
            </p:cNvPr>
            <p:cNvSpPr txBox="1"/>
            <p:nvPr/>
          </p:nvSpPr>
          <p:spPr>
            <a:xfrm>
              <a:off x="4771839" y="1940577"/>
              <a:ext cx="962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输出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98D9D83-D73F-B0F1-2F1C-D10905084495}"/>
                </a:ext>
              </a:extLst>
            </p:cNvPr>
            <p:cNvSpPr txBox="1"/>
            <p:nvPr/>
          </p:nvSpPr>
          <p:spPr>
            <a:xfrm>
              <a:off x="4771839" y="4298317"/>
              <a:ext cx="1083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arg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max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8095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299FD-CD18-CB3D-E3F0-4B2F68D9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>
            <a:extLst>
              <a:ext uri="{FF2B5EF4-FFF2-40B4-BE49-F238E27FC236}">
                <a16:creationId xmlns:a16="http://schemas.microsoft.com/office/drawing/2014/main" id="{FFB5C3E2-469D-875B-435B-DD74815EE9B6}"/>
              </a:ext>
            </a:extLst>
          </p:cNvPr>
          <p:cNvGrpSpPr/>
          <p:nvPr/>
        </p:nvGrpSpPr>
        <p:grpSpPr>
          <a:xfrm>
            <a:off x="281408" y="265292"/>
            <a:ext cx="11255072" cy="2539288"/>
            <a:chOff x="304268" y="2787512"/>
            <a:chExt cx="11255072" cy="2539288"/>
          </a:xfrm>
        </p:grpSpPr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0C3832B5-3D89-C6BC-DF41-1578C692D971}"/>
                </a:ext>
              </a:extLst>
            </p:cNvPr>
            <p:cNvCxnSpPr>
              <a:cxnSpLocks/>
              <a:stCxn id="52" idx="2"/>
              <a:endCxn id="33" idx="3"/>
            </p:cNvCxnSpPr>
            <p:nvPr/>
          </p:nvCxnSpPr>
          <p:spPr>
            <a:xfrm rot="5400000">
              <a:off x="8627976" y="2740316"/>
              <a:ext cx="674699" cy="282703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59FF324-B7C5-7C5D-BA2F-1A461F8CB89B}"/>
                    </a:ext>
                  </a:extLst>
                </p:cNvPr>
                <p:cNvSpPr txBox="1"/>
                <p:nvPr/>
              </p:nvSpPr>
              <p:spPr>
                <a:xfrm>
                  <a:off x="7646841" y="4133048"/>
                  <a:ext cx="10839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59FF324-B7C5-7C5D-BA2F-1A461F8CB8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841" y="4133048"/>
                  <a:ext cx="1083949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7B31BC74-2E15-16ED-F1AD-BCF7C4907C07}"/>
                </a:ext>
              </a:extLst>
            </p:cNvPr>
            <p:cNvGrpSpPr/>
            <p:nvPr/>
          </p:nvGrpSpPr>
          <p:grpSpPr>
            <a:xfrm>
              <a:off x="304268" y="2787512"/>
              <a:ext cx="11255072" cy="1305973"/>
              <a:chOff x="304268" y="2787512"/>
              <a:chExt cx="11255072" cy="130597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9347E19E-9F33-B6F5-F3C6-824C88E469B9}"/>
                      </a:ext>
                    </a:extLst>
                  </p:cNvPr>
                  <p:cNvSpPr txBox="1"/>
                  <p:nvPr/>
                </p:nvSpPr>
                <p:spPr>
                  <a:xfrm>
                    <a:off x="2228801" y="2797820"/>
                    <a:ext cx="12898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m:t>S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mc:Choice>
            <mc:Fallback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9347E19E-9F33-B6F5-F3C6-824C88E469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8801" y="2797820"/>
                    <a:ext cx="128984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6DF2FA46-B853-7F4A-1A2D-557B4CD80A70}"/>
                      </a:ext>
                    </a:extLst>
                  </p:cNvPr>
                  <p:cNvSpPr txBox="1"/>
                  <p:nvPr/>
                </p:nvSpPr>
                <p:spPr>
                  <a:xfrm>
                    <a:off x="8471778" y="2787512"/>
                    <a:ext cx="75922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CN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U</a:t>
                    </a:r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̃"/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zh-CN" alt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mc:Choice>
            <mc:Fallback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6DF2FA46-B853-7F4A-1A2D-557B4CD80A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71778" y="2787512"/>
                    <a:ext cx="75922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200" t="-10000" r="-64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6FDA3E6-CE51-B14C-6E88-BEF200FFB254}"/>
                  </a:ext>
                </a:extLst>
              </p:cNvPr>
              <p:cNvSpPr txBox="1"/>
              <p:nvPr/>
            </p:nvSpPr>
            <p:spPr>
              <a:xfrm>
                <a:off x="5380325" y="2809840"/>
                <a:ext cx="9628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输出</a:t>
                </a: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07EBDBCA-C76A-3653-4BCB-032952E94BF5}"/>
                  </a:ext>
                </a:extLst>
              </p:cNvPr>
              <p:cNvGrpSpPr/>
              <p:nvPr/>
            </p:nvGrpSpPr>
            <p:grpSpPr>
              <a:xfrm>
                <a:off x="304268" y="2932394"/>
                <a:ext cx="2068616" cy="999077"/>
                <a:chOff x="4489559" y="2221387"/>
                <a:chExt cx="2068616" cy="999077"/>
              </a:xfrm>
            </p:grpSpPr>
            <p:grpSp>
              <p:nvGrpSpPr>
                <p:cNvPr id="43" name="组合 42">
                  <a:extLst>
                    <a:ext uri="{FF2B5EF4-FFF2-40B4-BE49-F238E27FC236}">
                      <a16:creationId xmlns:a16="http://schemas.microsoft.com/office/drawing/2014/main" id="{35B6E8F2-40D8-AE3B-09E2-8F8AD9889A81}"/>
                    </a:ext>
                  </a:extLst>
                </p:cNvPr>
                <p:cNvGrpSpPr/>
                <p:nvPr/>
              </p:nvGrpSpPr>
              <p:grpSpPr>
                <a:xfrm>
                  <a:off x="4679362" y="2221387"/>
                  <a:ext cx="1689011" cy="466284"/>
                  <a:chOff x="3607636" y="181667"/>
                  <a:chExt cx="3240000" cy="466284"/>
                </a:xfrm>
                <a:solidFill>
                  <a:srgbClr val="DCEBFF"/>
                </a:solidFill>
              </p:grpSpPr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1E74DDD8-8834-B94C-34D8-1B636CAFB018}"/>
                      </a:ext>
                    </a:extLst>
                  </p:cNvPr>
                  <p:cNvSpPr/>
                  <p:nvPr/>
                </p:nvSpPr>
                <p:spPr>
                  <a:xfrm>
                    <a:off x="3607636" y="181667"/>
                    <a:ext cx="3240000" cy="466284"/>
                  </a:xfrm>
                  <a:prstGeom prst="rect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" name="文本框 4">
                        <a:extLst>
                          <a:ext uri="{FF2B5EF4-FFF2-40B4-BE49-F238E27FC236}">
                            <a16:creationId xmlns:a16="http://schemas.microsoft.com/office/drawing/2014/main" id="{D0BAC6B0-88BC-3B29-E0E1-5D57FB4DA4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95150" y="230143"/>
                        <a:ext cx="2064970" cy="369332"/>
                      </a:xfrm>
                      <a:prstGeom prst="rect">
                        <a:avLst/>
                      </a:prstGeom>
                      <a:grp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in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5" name="文本框 4">
                        <a:extLst>
                          <a:ext uri="{FF2B5EF4-FFF2-40B4-BE49-F238E27FC236}">
                            <a16:creationId xmlns:a16="http://schemas.microsoft.com/office/drawing/2014/main" id="{D0BAC6B0-88BC-3B29-E0E1-5D57FB4DA48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195150" y="230143"/>
                        <a:ext cx="2064970" cy="36933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538B2A64-0375-6E74-83EC-58C3A8EA571A}"/>
                    </a:ext>
                  </a:extLst>
                </p:cNvPr>
                <p:cNvSpPr txBox="1"/>
                <p:nvPr/>
              </p:nvSpPr>
              <p:spPr>
                <a:xfrm>
                  <a:off x="4489559" y="2851132"/>
                  <a:ext cx="206861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构建</a:t>
                  </a:r>
                  <a:r>
                    <a:rPr lang="zh-CN" alt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统一输入向量</a:t>
                  </a:r>
                  <a:endParaRPr lang="zh-CN" altLang="en-US" dirty="0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B77FDD60-B316-7CBE-3C09-4191F5EF8FAD}"/>
                  </a:ext>
                </a:extLst>
              </p:cNvPr>
              <p:cNvGrpSpPr/>
              <p:nvPr/>
            </p:nvGrpSpPr>
            <p:grpSpPr>
              <a:xfrm>
                <a:off x="3234064" y="2932394"/>
                <a:ext cx="2360992" cy="999077"/>
                <a:chOff x="6851146" y="3212184"/>
                <a:chExt cx="2360992" cy="999077"/>
              </a:xfrm>
            </p:grpSpPr>
            <p:grpSp>
              <p:nvGrpSpPr>
                <p:cNvPr id="20" name="组合 19">
                  <a:extLst>
                    <a:ext uri="{FF2B5EF4-FFF2-40B4-BE49-F238E27FC236}">
                      <a16:creationId xmlns:a16="http://schemas.microsoft.com/office/drawing/2014/main" id="{1537D228-95D5-BE0B-B38E-ACE8E9BEB81B}"/>
                    </a:ext>
                  </a:extLst>
                </p:cNvPr>
                <p:cNvGrpSpPr/>
                <p:nvPr/>
              </p:nvGrpSpPr>
              <p:grpSpPr>
                <a:xfrm>
                  <a:off x="7187137" y="3212184"/>
                  <a:ext cx="1689011" cy="466284"/>
                  <a:chOff x="7040950" y="3212184"/>
                  <a:chExt cx="1689011" cy="466284"/>
                </a:xfrm>
              </p:grpSpPr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86BB859B-4336-4C6C-3184-1C02FD38F768}"/>
                      </a:ext>
                    </a:extLst>
                  </p:cNvPr>
                  <p:cNvSpPr/>
                  <p:nvPr/>
                </p:nvSpPr>
                <p:spPr>
                  <a:xfrm>
                    <a:off x="7040950" y="3212184"/>
                    <a:ext cx="1689011" cy="466284"/>
                  </a:xfrm>
                  <a:prstGeom prst="rect">
                    <a:avLst/>
                  </a:prstGeom>
                  <a:solidFill>
                    <a:srgbClr val="DCFFE6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9" name="文本框 18">
                        <a:extLst>
                          <a:ext uri="{FF2B5EF4-FFF2-40B4-BE49-F238E27FC236}">
                            <a16:creationId xmlns:a16="http://schemas.microsoft.com/office/drawing/2014/main" id="{BA961639-0D9C-C90A-B55E-F0B0C026AC7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47221" y="3260660"/>
                        <a:ext cx="1076468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CN" i="1" dirty="0"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S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9" name="文本框 18">
                        <a:extLst>
                          <a:ext uri="{FF2B5EF4-FFF2-40B4-BE49-F238E27FC236}">
                            <a16:creationId xmlns:a16="http://schemas.microsoft.com/office/drawing/2014/main" id="{BA961639-0D9C-C90A-B55E-F0B0C026AC7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347221" y="3260660"/>
                        <a:ext cx="1076468" cy="36933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5BCCF3A-D07F-C0D8-8E37-F9578A15CF4F}"/>
                    </a:ext>
                  </a:extLst>
                </p:cNvPr>
                <p:cNvSpPr txBox="1"/>
                <p:nvPr/>
              </p:nvSpPr>
              <p:spPr>
                <a:xfrm>
                  <a:off x="6851146" y="3841929"/>
                  <a:ext cx="236099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构建仿真器</a:t>
                  </a:r>
                  <a:r>
                    <a:rPr lang="en-US" altLang="zh-CN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/</a:t>
                  </a:r>
                  <a:r>
                    <a: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代理模型</a:t>
                  </a:r>
                  <a:endParaRPr lang="zh-CN" altLang="en-US" dirty="0"/>
                </a:p>
              </p:txBody>
            </p:sp>
          </p:grp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9F7B95EB-D121-D79F-DF3F-902B098938E6}"/>
                  </a:ext>
                </a:extLst>
              </p:cNvPr>
              <p:cNvCxnSpPr>
                <a:stCxn id="6" idx="3"/>
                <a:endCxn id="16" idx="1"/>
              </p:cNvCxnSpPr>
              <p:nvPr/>
            </p:nvCxnSpPr>
            <p:spPr>
              <a:xfrm>
                <a:off x="2183082" y="3165536"/>
                <a:ext cx="138697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7DF1E761-F1B7-B91F-CDE6-A0CF5F261FFD}"/>
                  </a:ext>
                </a:extLst>
              </p:cNvPr>
              <p:cNvGrpSpPr/>
              <p:nvPr/>
            </p:nvGrpSpPr>
            <p:grpSpPr>
              <a:xfrm>
                <a:off x="6136196" y="2932394"/>
                <a:ext cx="2360992" cy="1161091"/>
                <a:chOff x="6426171" y="5318912"/>
                <a:chExt cx="2360992" cy="1161091"/>
              </a:xfrm>
            </p:grpSpPr>
            <p:grpSp>
              <p:nvGrpSpPr>
                <p:cNvPr id="42" name="组合 41">
                  <a:extLst>
                    <a:ext uri="{FF2B5EF4-FFF2-40B4-BE49-F238E27FC236}">
                      <a16:creationId xmlns:a16="http://schemas.microsoft.com/office/drawing/2014/main" id="{F39DF3CC-9234-C04F-5D1B-85EE7B0C11F1}"/>
                    </a:ext>
                  </a:extLst>
                </p:cNvPr>
                <p:cNvGrpSpPr/>
                <p:nvPr/>
              </p:nvGrpSpPr>
              <p:grpSpPr>
                <a:xfrm>
                  <a:off x="6634935" y="5318912"/>
                  <a:ext cx="1943465" cy="466284"/>
                  <a:chOff x="6716842" y="5318912"/>
                  <a:chExt cx="1943465" cy="466284"/>
                </a:xfrm>
              </p:grpSpPr>
              <p:sp>
                <p:nvSpPr>
                  <p:cNvPr id="34" name="矩形 33">
                    <a:extLst>
                      <a:ext uri="{FF2B5EF4-FFF2-40B4-BE49-F238E27FC236}">
                        <a16:creationId xmlns:a16="http://schemas.microsoft.com/office/drawing/2014/main" id="{8FACE45B-5BCB-B19B-56F9-306A419FEE89}"/>
                      </a:ext>
                    </a:extLst>
                  </p:cNvPr>
                  <p:cNvSpPr/>
                  <p:nvPr/>
                </p:nvSpPr>
                <p:spPr>
                  <a:xfrm>
                    <a:off x="6716842" y="5318912"/>
                    <a:ext cx="1943465" cy="466284"/>
                  </a:xfrm>
                  <a:prstGeom prst="rect">
                    <a:avLst/>
                  </a:prstGeom>
                  <a:solidFill>
                    <a:srgbClr val="FFFADC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6" name="文本框 35">
                        <a:extLst>
                          <a:ext uri="{FF2B5EF4-FFF2-40B4-BE49-F238E27FC236}">
                            <a16:creationId xmlns:a16="http://schemas.microsoft.com/office/drawing/2014/main" id="{81485C5B-40F4-AB5A-CE78-1E4CDA94A83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16450" y="5367388"/>
                        <a:ext cx="1744248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CN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、</m:t>
                            </m:r>
                            <m:acc>
                              <m:accPr>
                                <m:chr m:val="̃"/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</m:acc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oMath>
                        </a14:m>
                        <a:r>
                          <a:rPr lang="en-US" altLang="zh-CN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norm </a:t>
                        </a:r>
                        <a14:m>
                          <m:oMath xmlns:m="http://schemas.openxmlformats.org/officeDocument/2006/math"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a14:m>
                        <a:r>
                          <a:rPr lang="en-US" altLang="zh-CN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 </a:t>
                        </a:r>
                        <a:endPara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6" name="文本框 35">
                        <a:extLst>
                          <a:ext uri="{FF2B5EF4-FFF2-40B4-BE49-F238E27FC236}">
                            <a16:creationId xmlns:a16="http://schemas.microsoft.com/office/drawing/2014/main" id="{81485C5B-40F4-AB5A-CE78-1E4CDA94A83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16450" y="5367388"/>
                        <a:ext cx="1744248" cy="369332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t="-8197" r="-1045" b="-2459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E1A169C-AA49-AB5C-C60E-B11F7E6B3A82}"/>
                    </a:ext>
                  </a:extLst>
                </p:cNvPr>
                <p:cNvSpPr txBox="1"/>
                <p:nvPr/>
              </p:nvSpPr>
              <p:spPr>
                <a:xfrm>
                  <a:off x="6426171" y="5833672"/>
                  <a:ext cx="236099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设计性能指标</a:t>
                  </a:r>
                  <a:endPara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以及指标归一化 </a:t>
                  </a:r>
                  <a:endParaRPr lang="zh-CN" altLang="en-US" dirty="0"/>
                </a:p>
              </p:txBody>
            </p:sp>
          </p:grp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837C8036-66EB-1792-A2BD-1DAECC2B42F4}"/>
                  </a:ext>
                </a:extLst>
              </p:cNvPr>
              <p:cNvCxnSpPr>
                <a:stCxn id="16" idx="3"/>
                <a:endCxn id="34" idx="1"/>
              </p:cNvCxnSpPr>
              <p:nvPr/>
            </p:nvCxnSpPr>
            <p:spPr>
              <a:xfrm>
                <a:off x="5259066" y="3165536"/>
                <a:ext cx="108589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525309C-85C7-1D7D-2F28-284293E95212}"/>
                  </a:ext>
                </a:extLst>
              </p:cNvPr>
              <p:cNvGrpSpPr/>
              <p:nvPr/>
            </p:nvGrpSpPr>
            <p:grpSpPr>
              <a:xfrm>
                <a:off x="9198348" y="2932394"/>
                <a:ext cx="2360992" cy="884092"/>
                <a:chOff x="9198348" y="5318912"/>
                <a:chExt cx="2360992" cy="884092"/>
              </a:xfrm>
            </p:grpSpPr>
            <p:grpSp>
              <p:nvGrpSpPr>
                <p:cNvPr id="62" name="组合 61">
                  <a:extLst>
                    <a:ext uri="{FF2B5EF4-FFF2-40B4-BE49-F238E27FC236}">
                      <a16:creationId xmlns:a16="http://schemas.microsoft.com/office/drawing/2014/main" id="{2ACD958B-6682-F33E-0880-4D437DE9CDA2}"/>
                    </a:ext>
                  </a:extLst>
                </p:cNvPr>
                <p:cNvGrpSpPr/>
                <p:nvPr/>
              </p:nvGrpSpPr>
              <p:grpSpPr>
                <a:xfrm>
                  <a:off x="9407112" y="5318912"/>
                  <a:ext cx="1943465" cy="466284"/>
                  <a:chOff x="9407112" y="5318912"/>
                  <a:chExt cx="1943465" cy="466284"/>
                </a:xfrm>
              </p:grpSpPr>
              <p:sp>
                <p:nvSpPr>
                  <p:cNvPr id="50" name="矩形 49">
                    <a:extLst>
                      <a:ext uri="{FF2B5EF4-FFF2-40B4-BE49-F238E27FC236}">
                        <a16:creationId xmlns:a16="http://schemas.microsoft.com/office/drawing/2014/main" id="{E4F6C566-F3CC-DC9C-334B-6A3F8F29D2DD}"/>
                      </a:ext>
                    </a:extLst>
                  </p:cNvPr>
                  <p:cNvSpPr/>
                  <p:nvPr/>
                </p:nvSpPr>
                <p:spPr>
                  <a:xfrm>
                    <a:off x="9407112" y="5318912"/>
                    <a:ext cx="1943465" cy="466284"/>
                  </a:xfrm>
                  <a:prstGeom prst="rect">
                    <a:avLst/>
                  </a:prstGeom>
                  <a:solidFill>
                    <a:srgbClr val="FFEBDC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1" name="文本框 50">
                        <a:extLst>
                          <a:ext uri="{FF2B5EF4-FFF2-40B4-BE49-F238E27FC236}">
                            <a16:creationId xmlns:a16="http://schemas.microsoft.com/office/drawing/2014/main" id="{E52100FB-1639-5362-6C95-3E61B3F0770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815598" y="5367388"/>
                        <a:ext cx="112649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CN" i="1" dirty="0"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U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(∙)</m:t>
                              </m:r>
                            </m:oMath>
                          </m:oMathPara>
                        </a14:m>
                        <a:endPara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51" name="文本框 50">
                        <a:extLst>
                          <a:ext uri="{FF2B5EF4-FFF2-40B4-BE49-F238E27FC236}">
                            <a16:creationId xmlns:a16="http://schemas.microsoft.com/office/drawing/2014/main" id="{E52100FB-1639-5362-6C95-3E61B3F0770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815598" y="5367388"/>
                        <a:ext cx="1126492" cy="369332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1475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4DD6E9A0-006B-82F9-F2A1-9AA50E31B200}"/>
                    </a:ext>
                  </a:extLst>
                </p:cNvPr>
                <p:cNvSpPr txBox="1"/>
                <p:nvPr/>
              </p:nvSpPr>
              <p:spPr>
                <a:xfrm>
                  <a:off x="9198348" y="5833672"/>
                  <a:ext cx="236099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设计综合效用函数</a:t>
                  </a:r>
                  <a:endParaRPr lang="zh-CN" altLang="en-US" dirty="0"/>
                </a:p>
              </p:txBody>
            </p:sp>
          </p:grp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06916E8A-7E3A-DE7E-B0FC-755B12CBB6DE}"/>
                  </a:ext>
                </a:extLst>
              </p:cNvPr>
              <p:cNvCxnSpPr>
                <a:stCxn id="34" idx="3"/>
                <a:endCxn id="50" idx="1"/>
              </p:cNvCxnSpPr>
              <p:nvPr/>
            </p:nvCxnSpPr>
            <p:spPr>
              <a:xfrm>
                <a:off x="8288425" y="3165536"/>
                <a:ext cx="111868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B3BE2BE5-C467-31EE-07C1-61D5A7478806}"/>
                </a:ext>
              </a:extLst>
            </p:cNvPr>
            <p:cNvGrpSpPr/>
            <p:nvPr/>
          </p:nvGrpSpPr>
          <p:grpSpPr>
            <a:xfrm>
              <a:off x="4031668" y="4131185"/>
              <a:ext cx="3800273" cy="1195615"/>
              <a:chOff x="3821866" y="4557905"/>
              <a:chExt cx="3800273" cy="1195615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A201CC16-C720-5420-96AF-3C326BF9F98E}"/>
                  </a:ext>
                </a:extLst>
              </p:cNvPr>
              <p:cNvGrpSpPr/>
              <p:nvPr/>
            </p:nvGrpSpPr>
            <p:grpSpPr>
              <a:xfrm>
                <a:off x="4102003" y="4557905"/>
                <a:ext cx="3240000" cy="720000"/>
                <a:chOff x="3159266" y="5077734"/>
                <a:chExt cx="3240000" cy="720000"/>
              </a:xfrm>
            </p:grpSpPr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B7ADD4A7-EF14-8945-045C-BC38ACEC7E8B}"/>
                    </a:ext>
                  </a:extLst>
                </p:cNvPr>
                <p:cNvSpPr/>
                <p:nvPr/>
              </p:nvSpPr>
              <p:spPr>
                <a:xfrm>
                  <a:off x="3159266" y="5077734"/>
                  <a:ext cx="3240000" cy="720000"/>
                </a:xfrm>
                <a:prstGeom prst="rect">
                  <a:avLst/>
                </a:prstGeom>
                <a:solidFill>
                  <a:srgbClr val="4682B4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2" name="文本框 31">
                      <a:extLst>
                        <a:ext uri="{FF2B5EF4-FFF2-40B4-BE49-F238E27FC236}">
                          <a16:creationId xmlns:a16="http://schemas.microsoft.com/office/drawing/2014/main" id="{928435EC-927A-FF64-D3E7-230226E803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46011" y="5087510"/>
                      <a:ext cx="2866510" cy="70108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proto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arg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r>
                                  <m:rPr>
                                    <m:nor/>
                                  </m:rPr>
                                  <a:rPr lang="en-US" altLang="zh-CN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</m:e>
                                </m:acc>
                                <m:r>
                                  <a:rPr lang="en-US" altLang="zh-CN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func>
                          </m:oMath>
                        </m:oMathPara>
                      </a14:m>
                      <a:endParaRPr lang="en-US" altLang="zh-CN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endParaRPr>
                    </a:p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proto</m:t>
                              </m:r>
                            </m:sub>
                            <m:sup>
                              <m:r>
                                <a:rPr lang="en-US" altLang="zh-CN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=[</m:t>
                          </m:r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  <m:sup>
                              <m:r>
                                <a:rPr lang="en-US" altLang="zh-CN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oMath>
                      </a14:m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32" name="文本框 31">
                      <a:extLst>
                        <a:ext uri="{FF2B5EF4-FFF2-40B4-BE49-F238E27FC236}">
                          <a16:creationId xmlns:a16="http://schemas.microsoft.com/office/drawing/2014/main" id="{928435EC-927A-FF64-D3E7-230226E803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6011" y="5087510"/>
                      <a:ext cx="2866510" cy="70108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43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FAAC7C90-C68E-7779-BF95-D080DDAEBFE8}"/>
                  </a:ext>
                </a:extLst>
              </p:cNvPr>
              <p:cNvSpPr txBox="1"/>
              <p:nvPr/>
            </p:nvSpPr>
            <p:spPr>
              <a:xfrm>
                <a:off x="3821866" y="5384188"/>
                <a:ext cx="38002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/>
                  <a:t>选取最优协议与最优协议参数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0706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DAE7EFC4-BB32-22CF-B878-68A68FA633AE}"/>
              </a:ext>
            </a:extLst>
          </p:cNvPr>
          <p:cNvGrpSpPr/>
          <p:nvPr/>
        </p:nvGrpSpPr>
        <p:grpSpPr>
          <a:xfrm>
            <a:off x="477142" y="103516"/>
            <a:ext cx="11237715" cy="6650968"/>
            <a:chOff x="207525" y="1110575"/>
            <a:chExt cx="9257489" cy="541344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E815B88-F159-9327-4D02-A5E43CECC3EE}"/>
                </a:ext>
              </a:extLst>
            </p:cNvPr>
            <p:cNvSpPr/>
            <p:nvPr/>
          </p:nvSpPr>
          <p:spPr>
            <a:xfrm>
              <a:off x="207525" y="1110575"/>
              <a:ext cx="2856397" cy="541344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F823AAC-39F7-DB5C-F04C-7F046E61A97B}"/>
                </a:ext>
              </a:extLst>
            </p:cNvPr>
            <p:cNvGrpSpPr/>
            <p:nvPr/>
          </p:nvGrpSpPr>
          <p:grpSpPr>
            <a:xfrm>
              <a:off x="207525" y="2859122"/>
              <a:ext cx="1181100" cy="1550432"/>
              <a:chOff x="253731" y="3345505"/>
              <a:chExt cx="1181100" cy="1550432"/>
            </a:xfrm>
          </p:grpSpPr>
          <p:pic>
            <p:nvPicPr>
              <p:cNvPr id="7" name="图形 6">
                <a:extLst>
                  <a:ext uri="{FF2B5EF4-FFF2-40B4-BE49-F238E27FC236}">
                    <a16:creationId xmlns:a16="http://schemas.microsoft.com/office/drawing/2014/main" id="{DA6B5533-0055-6165-5AF5-6EF0FAEEC0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53731" y="3345505"/>
                <a:ext cx="1181100" cy="1181100"/>
              </a:xfrm>
              <a:prstGeom prst="rect">
                <a:avLst/>
              </a:prstGeom>
            </p:spPr>
          </p:pic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E255EC-BE87-4986-27C1-C19801ECB154}"/>
                  </a:ext>
                </a:extLst>
              </p:cNvPr>
              <p:cNvSpPr txBox="1"/>
              <p:nvPr/>
            </p:nvSpPr>
            <p:spPr>
              <a:xfrm>
                <a:off x="386270" y="4526605"/>
                <a:ext cx="9160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数据集</a:t>
                </a: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4E5CAB59-A72E-A296-9E17-82654A1046FD}"/>
                </a:ext>
              </a:extLst>
            </p:cNvPr>
            <p:cNvGrpSpPr/>
            <p:nvPr/>
          </p:nvGrpSpPr>
          <p:grpSpPr>
            <a:xfrm>
              <a:off x="1446991" y="1746765"/>
              <a:ext cx="1010866" cy="1340795"/>
              <a:chOff x="1952828" y="1951206"/>
              <a:chExt cx="1010866" cy="1340795"/>
            </a:xfrm>
          </p:grpSpPr>
          <p:pic>
            <p:nvPicPr>
              <p:cNvPr id="11" name="图形 10">
                <a:extLst>
                  <a:ext uri="{FF2B5EF4-FFF2-40B4-BE49-F238E27FC236}">
                    <a16:creationId xmlns:a16="http://schemas.microsoft.com/office/drawing/2014/main" id="{A8C110EA-7ED7-0E8D-28A7-1FCB9C90CB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952828" y="1951206"/>
                <a:ext cx="1010866" cy="1010866"/>
              </a:xfrm>
              <a:prstGeom prst="rect">
                <a:avLst/>
              </a:prstGeom>
            </p:spPr>
          </p:pic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2F0A2B0-4069-5DDF-1325-97D24DB56E3A}"/>
                  </a:ext>
                </a:extLst>
              </p:cNvPr>
              <p:cNvSpPr txBox="1"/>
              <p:nvPr/>
            </p:nvSpPr>
            <p:spPr>
              <a:xfrm>
                <a:off x="1952829" y="2922669"/>
                <a:ext cx="10108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训练集</a:t>
                </a: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E82F5BCD-D156-168B-7BF2-377C02E5BECB}"/>
                </a:ext>
              </a:extLst>
            </p:cNvPr>
            <p:cNvGrpSpPr/>
            <p:nvPr/>
          </p:nvGrpSpPr>
          <p:grpSpPr>
            <a:xfrm>
              <a:off x="1042046" y="5084807"/>
              <a:ext cx="1744495" cy="1379367"/>
              <a:chOff x="1551939" y="1951206"/>
              <a:chExt cx="1744495" cy="1379367"/>
            </a:xfrm>
          </p:grpSpPr>
          <p:pic>
            <p:nvPicPr>
              <p:cNvPr id="17" name="图形 16">
                <a:extLst>
                  <a:ext uri="{FF2B5EF4-FFF2-40B4-BE49-F238E27FC236}">
                    <a16:creationId xmlns:a16="http://schemas.microsoft.com/office/drawing/2014/main" id="{AAAE8D9B-EDAD-2E79-D706-2E3148F5E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952828" y="1951206"/>
                <a:ext cx="1010866" cy="1010866"/>
              </a:xfrm>
              <a:prstGeom prst="rect">
                <a:avLst/>
              </a:prstGeom>
            </p:spPr>
          </p:pic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CEB1D6B-8249-86AC-C948-88281C4B97F6}"/>
                  </a:ext>
                </a:extLst>
              </p:cNvPr>
              <p:cNvSpPr txBox="1"/>
              <p:nvPr/>
            </p:nvSpPr>
            <p:spPr>
              <a:xfrm>
                <a:off x="1551939" y="2961241"/>
                <a:ext cx="17444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测试集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&amp;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验证集</a:t>
                </a:r>
              </a:p>
            </p:txBody>
          </p:sp>
        </p:grp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2474E62-4792-313D-27C1-690412774C18}"/>
                </a:ext>
              </a:extLst>
            </p:cNvPr>
            <p:cNvCxnSpPr>
              <a:endCxn id="11" idx="1"/>
            </p:cNvCxnSpPr>
            <p:nvPr/>
          </p:nvCxnSpPr>
          <p:spPr>
            <a:xfrm flipV="1">
              <a:off x="797668" y="2252198"/>
              <a:ext cx="649323" cy="606924"/>
            </a:xfrm>
            <a:prstGeom prst="bentConnector3">
              <a:avLst>
                <a:gd name="adj1" fmla="val 1061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877A4D0A-AD67-C405-76F3-5365C78C2968}"/>
                </a:ext>
              </a:extLst>
            </p:cNvPr>
            <p:cNvCxnSpPr>
              <a:stCxn id="9" idx="2"/>
              <a:endCxn id="17" idx="1"/>
            </p:cNvCxnSpPr>
            <p:nvPr/>
          </p:nvCxnSpPr>
          <p:spPr>
            <a:xfrm rot="16200000" flipH="1">
              <a:off x="530162" y="4677467"/>
              <a:ext cx="1180686" cy="64486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7FCBC68-70CA-4FCF-880A-CB0E21ED6E73}"/>
                </a:ext>
              </a:extLst>
            </p:cNvPr>
            <p:cNvSpPr txBox="1"/>
            <p:nvPr/>
          </p:nvSpPr>
          <p:spPr>
            <a:xfrm>
              <a:off x="207525" y="1176030"/>
              <a:ext cx="1669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1.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数据预处理</a:t>
              </a: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252D36C6-8F43-045A-17AB-DA6875EFC7BC}"/>
                </a:ext>
              </a:extLst>
            </p:cNvPr>
            <p:cNvGrpSpPr/>
            <p:nvPr/>
          </p:nvGrpSpPr>
          <p:grpSpPr>
            <a:xfrm>
              <a:off x="3292520" y="1143301"/>
              <a:ext cx="3202314" cy="1489953"/>
              <a:chOff x="3691647" y="1110575"/>
              <a:chExt cx="3202314" cy="1489953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2D857E4-F963-AECD-7636-CD26E67BAEF8}"/>
                  </a:ext>
                </a:extLst>
              </p:cNvPr>
              <p:cNvSpPr txBox="1"/>
              <p:nvPr/>
            </p:nvSpPr>
            <p:spPr>
              <a:xfrm>
                <a:off x="4460132" y="1817858"/>
                <a:ext cx="21919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损失函数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MMSE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80FCB1C-C2E1-ABB8-6061-FCA6B5A6F055}"/>
                  </a:ext>
                </a:extLst>
              </p:cNvPr>
              <p:cNvGrpSpPr/>
              <p:nvPr/>
            </p:nvGrpSpPr>
            <p:grpSpPr>
              <a:xfrm>
                <a:off x="3691647" y="1110575"/>
                <a:ext cx="3202314" cy="1489953"/>
                <a:chOff x="3691647" y="1110575"/>
                <a:chExt cx="3202314" cy="1489953"/>
              </a:xfrm>
            </p:grpSpPr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5D737D50-B313-7D6D-034C-E7F32CB47B11}"/>
                    </a:ext>
                  </a:extLst>
                </p:cNvPr>
                <p:cNvSpPr/>
                <p:nvPr/>
              </p:nvSpPr>
              <p:spPr>
                <a:xfrm>
                  <a:off x="3839183" y="1110575"/>
                  <a:ext cx="3054778" cy="148995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C5C31074-6261-1CD7-CF57-0F23AF6C309E}"/>
                    </a:ext>
                  </a:extLst>
                </p:cNvPr>
                <p:cNvSpPr txBox="1"/>
                <p:nvPr/>
              </p:nvSpPr>
              <p:spPr>
                <a:xfrm>
                  <a:off x="3691647" y="1158925"/>
                  <a:ext cx="15369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3.</a:t>
                  </a:r>
                  <a:r>
                    <a: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损失函数</a:t>
                  </a:r>
                </a:p>
              </p:txBody>
            </p:sp>
          </p:grp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8AA14FB4-FDFD-CAE4-10B0-6B0ABA5FD5C5}"/>
                </a:ext>
              </a:extLst>
            </p:cNvPr>
            <p:cNvGrpSpPr/>
            <p:nvPr/>
          </p:nvGrpSpPr>
          <p:grpSpPr>
            <a:xfrm>
              <a:off x="7165076" y="1143301"/>
              <a:ext cx="2299938" cy="1489953"/>
              <a:chOff x="8424154" y="1462353"/>
              <a:chExt cx="1964987" cy="1093307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B16AABA-2E16-F04B-CF7F-4763A5726CDA}"/>
                  </a:ext>
                </a:extLst>
              </p:cNvPr>
              <p:cNvSpPr txBox="1"/>
              <p:nvPr/>
            </p:nvSpPr>
            <p:spPr>
              <a:xfrm>
                <a:off x="8512574" y="2033021"/>
                <a:ext cx="1876567" cy="271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优化器</a:t>
                </a:r>
                <a:r>
                  <a:rPr lang="en-US" altLang="zh-CN" dirty="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AdamW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6E6D8856-41D1-D2FA-274B-EBAC330BD373}"/>
                  </a:ext>
                </a:extLst>
              </p:cNvPr>
              <p:cNvGrpSpPr/>
              <p:nvPr/>
            </p:nvGrpSpPr>
            <p:grpSpPr>
              <a:xfrm>
                <a:off x="8424154" y="1462353"/>
                <a:ext cx="1964987" cy="1093307"/>
                <a:chOff x="8618707" y="1507221"/>
                <a:chExt cx="1964987" cy="1093307"/>
              </a:xfrm>
            </p:grpSpPr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36EF50B6-8614-6B1D-AA4F-0B8AA43D4065}"/>
                    </a:ext>
                  </a:extLst>
                </p:cNvPr>
                <p:cNvSpPr/>
                <p:nvPr/>
              </p:nvSpPr>
              <p:spPr>
                <a:xfrm>
                  <a:off x="8618707" y="1507221"/>
                  <a:ext cx="1964987" cy="109330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B0A4F75-3FEC-401D-7873-A0D85F382FC9}"/>
                    </a:ext>
                  </a:extLst>
                </p:cNvPr>
                <p:cNvSpPr txBox="1"/>
                <p:nvPr/>
              </p:nvSpPr>
              <p:spPr>
                <a:xfrm>
                  <a:off x="8673830" y="1555251"/>
                  <a:ext cx="849549" cy="2710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4.</a:t>
                  </a:r>
                  <a:r>
                    <a: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优化</a:t>
                  </a:r>
                </a:p>
              </p:txBody>
            </p:sp>
          </p:grp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DEF30DAD-BEC4-8EAD-10A9-14338510D8C5}"/>
                </a:ext>
              </a:extLst>
            </p:cNvPr>
            <p:cNvGrpSpPr/>
            <p:nvPr/>
          </p:nvGrpSpPr>
          <p:grpSpPr>
            <a:xfrm>
              <a:off x="3472774" y="2834651"/>
              <a:ext cx="5992239" cy="3664895"/>
              <a:chOff x="3897549" y="2859122"/>
              <a:chExt cx="5625830" cy="3664895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0B56B3B9-E292-3BD7-4F13-0CA23124BEA3}"/>
                  </a:ext>
                </a:extLst>
              </p:cNvPr>
              <p:cNvSpPr/>
              <p:nvPr/>
            </p:nvSpPr>
            <p:spPr>
              <a:xfrm>
                <a:off x="3897549" y="2859122"/>
                <a:ext cx="5625830" cy="366489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6F9FE90-4986-AD30-B5A7-C36D8C511602}"/>
                  </a:ext>
                </a:extLst>
              </p:cNvPr>
              <p:cNvSpPr txBox="1"/>
              <p:nvPr/>
            </p:nvSpPr>
            <p:spPr>
              <a:xfrm>
                <a:off x="4045087" y="2937753"/>
                <a:ext cx="2364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2. 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多任务神经网络架构</a:t>
                </a:r>
              </a:p>
            </p:txBody>
          </p:sp>
        </p:grp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1757C63-CA56-11E4-ECCF-1B28BB3119E9}"/>
                </a:ext>
              </a:extLst>
            </p:cNvPr>
            <p:cNvSpPr/>
            <p:nvPr/>
          </p:nvSpPr>
          <p:spPr>
            <a:xfrm>
              <a:off x="3768282" y="3340537"/>
              <a:ext cx="5436678" cy="303529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5E08EB73-0EBF-3E56-3EF2-874E8B28ED55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rot="16200000" flipH="1">
              <a:off x="2213398" y="2826586"/>
              <a:ext cx="1356443" cy="187838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05BC51E5-2035-1623-CD8B-7ED5A11238A0}"/>
                </a:ext>
              </a:extLst>
            </p:cNvPr>
            <p:cNvGrpSpPr/>
            <p:nvPr/>
          </p:nvGrpSpPr>
          <p:grpSpPr>
            <a:xfrm>
              <a:off x="3831981" y="3573970"/>
              <a:ext cx="817163" cy="2601956"/>
              <a:chOff x="3805332" y="3533873"/>
              <a:chExt cx="817163" cy="2016227"/>
            </a:xfrm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5533EB0E-34CB-0000-4100-A9C0964163AD}"/>
                  </a:ext>
                </a:extLst>
              </p:cNvPr>
              <p:cNvSpPr/>
              <p:nvPr/>
            </p:nvSpPr>
            <p:spPr>
              <a:xfrm>
                <a:off x="3829892" y="3533873"/>
                <a:ext cx="768042" cy="201622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BE01B920-9475-632E-0610-A90341EC118C}"/>
                  </a:ext>
                </a:extLst>
              </p:cNvPr>
              <p:cNvSpPr txBox="1"/>
              <p:nvPr/>
            </p:nvSpPr>
            <p:spPr>
              <a:xfrm>
                <a:off x="3805332" y="4410709"/>
                <a:ext cx="817163" cy="321965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pPr algn="ctr"/>
                <a:r>
                  <a:rPr lang="zh-CN" altLang="en-US" sz="105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归一化层</a:t>
                </a:r>
                <a:endPara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/>
                <a:r>
                  <a:rPr lang="en-US" altLang="zh-CN" sz="1050" dirty="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LayerNorm</a:t>
                </a:r>
                <a:endParaRPr lang="zh-CN" altLang="en-US" sz="105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4719EDE1-F0DE-0573-8811-8A70C06BF588}"/>
                </a:ext>
              </a:extLst>
            </p:cNvPr>
            <p:cNvGrpSpPr/>
            <p:nvPr/>
          </p:nvGrpSpPr>
          <p:grpSpPr>
            <a:xfrm>
              <a:off x="8086283" y="3459248"/>
              <a:ext cx="1005838" cy="2846017"/>
              <a:chOff x="9775746" y="2956216"/>
              <a:chExt cx="1005838" cy="2368430"/>
            </a:xfrm>
          </p:grpSpPr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98688545-7D7A-1190-8924-EDEF9F0AF8CA}"/>
                  </a:ext>
                </a:extLst>
              </p:cNvPr>
              <p:cNvGrpSpPr/>
              <p:nvPr/>
            </p:nvGrpSpPr>
            <p:grpSpPr>
              <a:xfrm>
                <a:off x="9775746" y="2956216"/>
                <a:ext cx="1005838" cy="2368430"/>
                <a:chOff x="9775746" y="2956216"/>
                <a:chExt cx="1005838" cy="2368430"/>
              </a:xfrm>
            </p:grpSpPr>
            <p:grpSp>
              <p:nvGrpSpPr>
                <p:cNvPr id="76" name="组合 75">
                  <a:extLst>
                    <a:ext uri="{FF2B5EF4-FFF2-40B4-BE49-F238E27FC236}">
                      <a16:creationId xmlns:a16="http://schemas.microsoft.com/office/drawing/2014/main" id="{DE1B644C-B85E-8F5A-7CFE-E4B339B071A8}"/>
                    </a:ext>
                  </a:extLst>
                </p:cNvPr>
                <p:cNvGrpSpPr/>
                <p:nvPr/>
              </p:nvGrpSpPr>
              <p:grpSpPr>
                <a:xfrm>
                  <a:off x="9775746" y="2956216"/>
                  <a:ext cx="1005838" cy="633687"/>
                  <a:chOff x="9775746" y="2956216"/>
                  <a:chExt cx="1005838" cy="633687"/>
                </a:xfrm>
              </p:grpSpPr>
              <p:sp>
                <p:nvSpPr>
                  <p:cNvPr id="74" name="矩形 73">
                    <a:extLst>
                      <a:ext uri="{FF2B5EF4-FFF2-40B4-BE49-F238E27FC236}">
                        <a16:creationId xmlns:a16="http://schemas.microsoft.com/office/drawing/2014/main" id="{EBDC5CDB-502E-BE8C-E091-59B0362CF213}"/>
                      </a:ext>
                    </a:extLst>
                  </p:cNvPr>
                  <p:cNvSpPr/>
                  <p:nvPr/>
                </p:nvSpPr>
                <p:spPr>
                  <a:xfrm>
                    <a:off x="9775746" y="2956216"/>
                    <a:ext cx="1005838" cy="28346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任务</a:t>
                    </a:r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1</a:t>
                    </a:r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输出头</a:t>
                    </a:r>
                  </a:p>
                </p:txBody>
              </p:sp>
              <p:sp>
                <p:nvSpPr>
                  <p:cNvPr id="75" name="矩形 74">
                    <a:extLst>
                      <a:ext uri="{FF2B5EF4-FFF2-40B4-BE49-F238E27FC236}">
                        <a16:creationId xmlns:a16="http://schemas.microsoft.com/office/drawing/2014/main" id="{F225BD3A-2D2C-5890-0AF6-83F784083EE3}"/>
                      </a:ext>
                    </a:extLst>
                  </p:cNvPr>
                  <p:cNvSpPr/>
                  <p:nvPr/>
                </p:nvSpPr>
                <p:spPr>
                  <a:xfrm>
                    <a:off x="9775746" y="3239680"/>
                    <a:ext cx="1005838" cy="350223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线性层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FC128</a:t>
                    </a:r>
                    <a:endParaRPr lang="zh-CN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7" name="组合 76">
                  <a:extLst>
                    <a:ext uri="{FF2B5EF4-FFF2-40B4-BE49-F238E27FC236}">
                      <a16:creationId xmlns:a16="http://schemas.microsoft.com/office/drawing/2014/main" id="{80A52979-008E-F334-CC64-6E6DD6D54D80}"/>
                    </a:ext>
                  </a:extLst>
                </p:cNvPr>
                <p:cNvGrpSpPr/>
                <p:nvPr/>
              </p:nvGrpSpPr>
              <p:grpSpPr>
                <a:xfrm>
                  <a:off x="9775746" y="3661145"/>
                  <a:ext cx="1005838" cy="633687"/>
                  <a:chOff x="9775746" y="2956216"/>
                  <a:chExt cx="1005838" cy="633687"/>
                </a:xfrm>
              </p:grpSpPr>
              <p:sp>
                <p:nvSpPr>
                  <p:cNvPr id="78" name="矩形 77">
                    <a:extLst>
                      <a:ext uri="{FF2B5EF4-FFF2-40B4-BE49-F238E27FC236}">
                        <a16:creationId xmlns:a16="http://schemas.microsoft.com/office/drawing/2014/main" id="{9F2B6779-B0F1-53AE-B214-8022C4C05FBD}"/>
                      </a:ext>
                    </a:extLst>
                  </p:cNvPr>
                  <p:cNvSpPr/>
                  <p:nvPr/>
                </p:nvSpPr>
                <p:spPr>
                  <a:xfrm>
                    <a:off x="9775746" y="2956216"/>
                    <a:ext cx="1005838" cy="28346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任务</a:t>
                    </a:r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2</a:t>
                    </a:r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输出头</a:t>
                    </a:r>
                  </a:p>
                </p:txBody>
              </p:sp>
              <p:sp>
                <p:nvSpPr>
                  <p:cNvPr id="79" name="矩形 78">
                    <a:extLst>
                      <a:ext uri="{FF2B5EF4-FFF2-40B4-BE49-F238E27FC236}">
                        <a16:creationId xmlns:a16="http://schemas.microsoft.com/office/drawing/2014/main" id="{B6DB6774-AA80-38EA-8D55-C37F28F57A64}"/>
                      </a:ext>
                    </a:extLst>
                  </p:cNvPr>
                  <p:cNvSpPr/>
                  <p:nvPr/>
                </p:nvSpPr>
                <p:spPr>
                  <a:xfrm>
                    <a:off x="9775746" y="3239680"/>
                    <a:ext cx="1005838" cy="350223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线性层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FC128</a:t>
                    </a:r>
                    <a:endParaRPr lang="zh-CN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0" name="组合 79">
                  <a:extLst>
                    <a:ext uri="{FF2B5EF4-FFF2-40B4-BE49-F238E27FC236}">
                      <a16:creationId xmlns:a16="http://schemas.microsoft.com/office/drawing/2014/main" id="{7F444A52-521E-2FD4-7D2C-F73224C56F6B}"/>
                    </a:ext>
                  </a:extLst>
                </p:cNvPr>
                <p:cNvGrpSpPr/>
                <p:nvPr/>
              </p:nvGrpSpPr>
              <p:grpSpPr>
                <a:xfrm>
                  <a:off x="9775746" y="4690959"/>
                  <a:ext cx="1005838" cy="633687"/>
                  <a:chOff x="9775746" y="2956216"/>
                  <a:chExt cx="1005838" cy="633687"/>
                </a:xfrm>
              </p:grpSpPr>
              <p:sp>
                <p:nvSpPr>
                  <p:cNvPr id="81" name="矩形 80">
                    <a:extLst>
                      <a:ext uri="{FF2B5EF4-FFF2-40B4-BE49-F238E27FC236}">
                        <a16:creationId xmlns:a16="http://schemas.microsoft.com/office/drawing/2014/main" id="{AFC2FAAF-E8BD-3D23-ECA5-2DFD8F7860FA}"/>
                      </a:ext>
                    </a:extLst>
                  </p:cNvPr>
                  <p:cNvSpPr/>
                  <p:nvPr/>
                </p:nvSpPr>
                <p:spPr>
                  <a:xfrm>
                    <a:off x="9775746" y="2956216"/>
                    <a:ext cx="1005838" cy="28346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任务</a:t>
                    </a:r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4</a:t>
                    </a:r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输出头</a:t>
                    </a:r>
                  </a:p>
                </p:txBody>
              </p:sp>
              <p:sp>
                <p:nvSpPr>
                  <p:cNvPr id="82" name="矩形 81">
                    <a:extLst>
                      <a:ext uri="{FF2B5EF4-FFF2-40B4-BE49-F238E27FC236}">
                        <a16:creationId xmlns:a16="http://schemas.microsoft.com/office/drawing/2014/main" id="{1632100C-0880-F984-9791-E5BB1B757910}"/>
                      </a:ext>
                    </a:extLst>
                  </p:cNvPr>
                  <p:cNvSpPr/>
                  <p:nvPr/>
                </p:nvSpPr>
                <p:spPr>
                  <a:xfrm>
                    <a:off x="9775746" y="3239680"/>
                    <a:ext cx="1005838" cy="350223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线性层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FC128</a:t>
                    </a:r>
                    <a:endParaRPr lang="zh-CN" altLang="en-US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F7C1D770-9EB4-FB5C-BC41-82FAF9423935}"/>
                  </a:ext>
                </a:extLst>
              </p:cNvPr>
              <p:cNvSpPr txBox="1"/>
              <p:nvPr/>
            </p:nvSpPr>
            <p:spPr>
              <a:xfrm>
                <a:off x="9775746" y="4297766"/>
                <a:ext cx="1005838" cy="307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…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09018DC0-46D8-BB91-6CF2-1F1598175414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 flipV="1">
              <a:off x="1952424" y="4913282"/>
              <a:ext cx="1879557" cy="171525"/>
            </a:xfrm>
            <a:prstGeom prst="bentConnector3">
              <a:avLst>
                <a:gd name="adj1" fmla="val -465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1ADEF32-EF9A-6F80-D5F8-EACFA93AC6B3}"/>
                </a:ext>
              </a:extLst>
            </p:cNvPr>
            <p:cNvSpPr txBox="1"/>
            <p:nvPr/>
          </p:nvSpPr>
          <p:spPr>
            <a:xfrm>
              <a:off x="5533855" y="3607670"/>
              <a:ext cx="1596985" cy="253917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zh-CN" altLang="en-US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共享特征提取层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7CBB046-BAB7-ABBD-FFFE-25F4F0248AC9}"/>
                </a:ext>
              </a:extLst>
            </p:cNvPr>
            <p:cNvSpPr/>
            <p:nvPr/>
          </p:nvSpPr>
          <p:spPr>
            <a:xfrm>
              <a:off x="4719874" y="3573971"/>
              <a:ext cx="3224949" cy="260195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zh-CN" alt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200106F4-5ADA-2B4B-1F3C-9A24203566DF}"/>
                </a:ext>
              </a:extLst>
            </p:cNvPr>
            <p:cNvGrpSpPr/>
            <p:nvPr/>
          </p:nvGrpSpPr>
          <p:grpSpPr>
            <a:xfrm>
              <a:off x="4902044" y="3747172"/>
              <a:ext cx="2949340" cy="2314353"/>
              <a:chOff x="4902044" y="3678932"/>
              <a:chExt cx="2949340" cy="2314353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7CDC2FC7-6873-C453-51E6-3A3ED8F29D84}"/>
                  </a:ext>
                </a:extLst>
              </p:cNvPr>
              <p:cNvGrpSpPr/>
              <p:nvPr/>
            </p:nvGrpSpPr>
            <p:grpSpPr>
              <a:xfrm>
                <a:off x="4902044" y="3939354"/>
                <a:ext cx="2949340" cy="2053931"/>
                <a:chOff x="4889118" y="3723382"/>
                <a:chExt cx="2949340" cy="1669480"/>
              </a:xfrm>
            </p:grpSpPr>
            <p:grpSp>
              <p:nvGrpSpPr>
                <p:cNvPr id="62" name="组合 61">
                  <a:extLst>
                    <a:ext uri="{FF2B5EF4-FFF2-40B4-BE49-F238E27FC236}">
                      <a16:creationId xmlns:a16="http://schemas.microsoft.com/office/drawing/2014/main" id="{746CF857-36F2-7EDB-49F6-030F2A76FDCF}"/>
                    </a:ext>
                  </a:extLst>
                </p:cNvPr>
                <p:cNvGrpSpPr/>
                <p:nvPr/>
              </p:nvGrpSpPr>
              <p:grpSpPr>
                <a:xfrm>
                  <a:off x="4889118" y="3723382"/>
                  <a:ext cx="914274" cy="1669480"/>
                  <a:chOff x="9710928" y="2308040"/>
                  <a:chExt cx="920496" cy="1669480"/>
                </a:xfrm>
              </p:grpSpPr>
              <p:sp>
                <p:nvSpPr>
                  <p:cNvPr id="58" name="矩形 57">
                    <a:extLst>
                      <a:ext uri="{FF2B5EF4-FFF2-40B4-BE49-F238E27FC236}">
                        <a16:creationId xmlns:a16="http://schemas.microsoft.com/office/drawing/2014/main" id="{2F44776D-E4D9-F9E7-ACF3-BB0F0DD3E8DA}"/>
                      </a:ext>
                    </a:extLst>
                  </p:cNvPr>
                  <p:cNvSpPr/>
                  <p:nvPr/>
                </p:nvSpPr>
                <p:spPr>
                  <a:xfrm>
                    <a:off x="9710928" y="2308040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线性层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FC128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9" name="矩形 58">
                    <a:extLst>
                      <a:ext uri="{FF2B5EF4-FFF2-40B4-BE49-F238E27FC236}">
                        <a16:creationId xmlns:a16="http://schemas.microsoft.com/office/drawing/2014/main" id="{026F9296-CA64-E0F7-F34E-F26DDFEEE2FE}"/>
                      </a:ext>
                    </a:extLst>
                  </p:cNvPr>
                  <p:cNvSpPr/>
                  <p:nvPr/>
                </p:nvSpPr>
                <p:spPr>
                  <a:xfrm>
                    <a:off x="9710928" y="2727804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归一化层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 err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LayerNorm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0" name="矩形 59">
                    <a:extLst>
                      <a:ext uri="{FF2B5EF4-FFF2-40B4-BE49-F238E27FC236}">
                        <a16:creationId xmlns:a16="http://schemas.microsoft.com/office/drawing/2014/main" id="{FD89E1A8-D85E-2CBC-3564-BCB1249DCE8A}"/>
                      </a:ext>
                    </a:extLst>
                  </p:cNvPr>
                  <p:cNvSpPr/>
                  <p:nvPr/>
                </p:nvSpPr>
                <p:spPr>
                  <a:xfrm>
                    <a:off x="9710928" y="3147568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非线性激活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GELU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1" name="矩形 60">
                    <a:extLst>
                      <a:ext uri="{FF2B5EF4-FFF2-40B4-BE49-F238E27FC236}">
                        <a16:creationId xmlns:a16="http://schemas.microsoft.com/office/drawing/2014/main" id="{AFA50921-B47A-D60C-195D-BE2B8ECC6CFE}"/>
                      </a:ext>
                    </a:extLst>
                  </p:cNvPr>
                  <p:cNvSpPr/>
                  <p:nvPr/>
                </p:nvSpPr>
                <p:spPr>
                  <a:xfrm>
                    <a:off x="9710928" y="3567332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池化层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Dropout(0.1)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3" name="组合 62">
                  <a:extLst>
                    <a:ext uri="{FF2B5EF4-FFF2-40B4-BE49-F238E27FC236}">
                      <a16:creationId xmlns:a16="http://schemas.microsoft.com/office/drawing/2014/main" id="{A187E5AA-238B-AA3C-0D68-538660031E8D}"/>
                    </a:ext>
                  </a:extLst>
                </p:cNvPr>
                <p:cNvGrpSpPr/>
                <p:nvPr/>
              </p:nvGrpSpPr>
              <p:grpSpPr>
                <a:xfrm>
                  <a:off x="5906651" y="3723382"/>
                  <a:ext cx="914274" cy="1669480"/>
                  <a:chOff x="9710928" y="2308040"/>
                  <a:chExt cx="920496" cy="1669480"/>
                </a:xfrm>
              </p:grpSpPr>
              <p:sp>
                <p:nvSpPr>
                  <p:cNvPr id="64" name="矩形 63">
                    <a:extLst>
                      <a:ext uri="{FF2B5EF4-FFF2-40B4-BE49-F238E27FC236}">
                        <a16:creationId xmlns:a16="http://schemas.microsoft.com/office/drawing/2014/main" id="{ADB1D238-7326-62D0-802F-ACA5F40C5BCD}"/>
                      </a:ext>
                    </a:extLst>
                  </p:cNvPr>
                  <p:cNvSpPr/>
                  <p:nvPr/>
                </p:nvSpPr>
                <p:spPr>
                  <a:xfrm>
                    <a:off x="9710928" y="2308040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线性层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FC128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" name="矩形 64">
                    <a:extLst>
                      <a:ext uri="{FF2B5EF4-FFF2-40B4-BE49-F238E27FC236}">
                        <a16:creationId xmlns:a16="http://schemas.microsoft.com/office/drawing/2014/main" id="{550312D8-71DD-1E3F-3422-C5936E362932}"/>
                      </a:ext>
                    </a:extLst>
                  </p:cNvPr>
                  <p:cNvSpPr/>
                  <p:nvPr/>
                </p:nvSpPr>
                <p:spPr>
                  <a:xfrm>
                    <a:off x="9710928" y="2727804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归一化层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 err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LayerNorm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6" name="矩形 65">
                    <a:extLst>
                      <a:ext uri="{FF2B5EF4-FFF2-40B4-BE49-F238E27FC236}">
                        <a16:creationId xmlns:a16="http://schemas.microsoft.com/office/drawing/2014/main" id="{21CDB939-7927-BDAE-1A38-0F15ADBFB951}"/>
                      </a:ext>
                    </a:extLst>
                  </p:cNvPr>
                  <p:cNvSpPr/>
                  <p:nvPr/>
                </p:nvSpPr>
                <p:spPr>
                  <a:xfrm>
                    <a:off x="9710928" y="3147568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非线性激活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GELU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" name="矩形 66">
                    <a:extLst>
                      <a:ext uri="{FF2B5EF4-FFF2-40B4-BE49-F238E27FC236}">
                        <a16:creationId xmlns:a16="http://schemas.microsoft.com/office/drawing/2014/main" id="{F8C60D7D-610D-7319-6067-E2D6C5A7B247}"/>
                      </a:ext>
                    </a:extLst>
                  </p:cNvPr>
                  <p:cNvSpPr/>
                  <p:nvPr/>
                </p:nvSpPr>
                <p:spPr>
                  <a:xfrm>
                    <a:off x="9710928" y="3567332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池化层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Dropout(0.1)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:a16="http://schemas.microsoft.com/office/drawing/2014/main" id="{F6C8EA70-1AF8-AB5A-9D81-3223BEB36958}"/>
                    </a:ext>
                  </a:extLst>
                </p:cNvPr>
                <p:cNvGrpSpPr/>
                <p:nvPr/>
              </p:nvGrpSpPr>
              <p:grpSpPr>
                <a:xfrm>
                  <a:off x="6924184" y="3723382"/>
                  <a:ext cx="914274" cy="1669480"/>
                  <a:chOff x="9710928" y="2308040"/>
                  <a:chExt cx="920496" cy="1669480"/>
                </a:xfrm>
              </p:grpSpPr>
              <p:sp>
                <p:nvSpPr>
                  <p:cNvPr id="69" name="矩形 68">
                    <a:extLst>
                      <a:ext uri="{FF2B5EF4-FFF2-40B4-BE49-F238E27FC236}">
                        <a16:creationId xmlns:a16="http://schemas.microsoft.com/office/drawing/2014/main" id="{3E9686A9-A365-874B-4EDC-6BD7A69DA16A}"/>
                      </a:ext>
                    </a:extLst>
                  </p:cNvPr>
                  <p:cNvSpPr/>
                  <p:nvPr/>
                </p:nvSpPr>
                <p:spPr>
                  <a:xfrm>
                    <a:off x="9710928" y="2308040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线性层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FC128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0" name="矩形 69">
                    <a:extLst>
                      <a:ext uri="{FF2B5EF4-FFF2-40B4-BE49-F238E27FC236}">
                        <a16:creationId xmlns:a16="http://schemas.microsoft.com/office/drawing/2014/main" id="{1F043644-1141-6824-B3D4-F050444C4F71}"/>
                      </a:ext>
                    </a:extLst>
                  </p:cNvPr>
                  <p:cNvSpPr/>
                  <p:nvPr/>
                </p:nvSpPr>
                <p:spPr>
                  <a:xfrm>
                    <a:off x="9710928" y="2727804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归一化层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 err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LayerNorm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1" name="矩形 70">
                    <a:extLst>
                      <a:ext uri="{FF2B5EF4-FFF2-40B4-BE49-F238E27FC236}">
                        <a16:creationId xmlns:a16="http://schemas.microsoft.com/office/drawing/2014/main" id="{F1F4BE2A-92B8-3E50-C1C9-8ABFDB412C8E}"/>
                      </a:ext>
                    </a:extLst>
                  </p:cNvPr>
                  <p:cNvSpPr/>
                  <p:nvPr/>
                </p:nvSpPr>
                <p:spPr>
                  <a:xfrm>
                    <a:off x="9710928" y="3147568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非线性激活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GELU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2" name="矩形 71">
                    <a:extLst>
                      <a:ext uri="{FF2B5EF4-FFF2-40B4-BE49-F238E27FC236}">
                        <a16:creationId xmlns:a16="http://schemas.microsoft.com/office/drawing/2014/main" id="{6D3556AD-492A-6589-688D-A2AF1F698183}"/>
                      </a:ext>
                    </a:extLst>
                  </p:cNvPr>
                  <p:cNvSpPr/>
                  <p:nvPr/>
                </p:nvSpPr>
                <p:spPr>
                  <a:xfrm>
                    <a:off x="9710928" y="3567332"/>
                    <a:ext cx="920496" cy="4101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anchorCtr="0">
                    <a:normAutofit/>
                  </a:bodyPr>
                  <a:lstStyle/>
                  <a:p>
                    <a:pPr algn="ctr"/>
                    <a:r>
                      <a:rPr lang="zh-CN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池化层</a:t>
                    </a:r>
                    <a:endParaRPr lang="en-US" altLang="zh-CN" sz="11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 algn="ctr"/>
                    <a:r>
                      <a:rPr lang="en-US" altLang="zh-CN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Dropout(0.1)</a:t>
                    </a:r>
                    <a:endParaRPr lang="zh-CN" altLang="en-US" sz="11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CAB053F7-E5CE-52DD-5C29-F8DE36A3A333}"/>
                  </a:ext>
                </a:extLst>
              </p:cNvPr>
              <p:cNvSpPr txBox="1"/>
              <p:nvPr/>
            </p:nvSpPr>
            <p:spPr>
              <a:xfrm>
                <a:off x="7129359" y="3678932"/>
                <a:ext cx="526609" cy="253917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pPr algn="ctr"/>
                <a:r>
                  <a:rPr lang="en-US" altLang="zh-CN" sz="105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zh-CN" altLang="en-US" sz="105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可选</a:t>
                </a:r>
                <a:r>
                  <a:rPr lang="en-US" altLang="zh-CN" sz="105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zh-CN" altLang="en-US" sz="105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2278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231F2443-310D-AB25-CE15-61D155D4F03F}"/>
              </a:ext>
            </a:extLst>
          </p:cNvPr>
          <p:cNvGrpSpPr/>
          <p:nvPr/>
        </p:nvGrpSpPr>
        <p:grpSpPr>
          <a:xfrm>
            <a:off x="233296" y="388961"/>
            <a:ext cx="11790381" cy="5105060"/>
            <a:chOff x="233296" y="388960"/>
            <a:chExt cx="11790381" cy="559558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953B85B-4540-45DB-9B59-49A52AE7D063}"/>
                </a:ext>
              </a:extLst>
            </p:cNvPr>
            <p:cNvSpPr/>
            <p:nvPr/>
          </p:nvSpPr>
          <p:spPr>
            <a:xfrm>
              <a:off x="233296" y="388960"/>
              <a:ext cx="11790381" cy="559558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B828D90-089F-1EF0-22CB-7F3A47C57B8F}"/>
                </a:ext>
              </a:extLst>
            </p:cNvPr>
            <p:cNvSpPr/>
            <p:nvPr/>
          </p:nvSpPr>
          <p:spPr>
            <a:xfrm>
              <a:off x="417549" y="908259"/>
              <a:ext cx="11421876" cy="6087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F8F41CDD-8AD1-8E56-9CAF-C966EA5D8630}"/>
                    </a:ext>
                  </a:extLst>
                </p:cNvPr>
                <p:cNvSpPr txBox="1"/>
                <p:nvPr/>
              </p:nvSpPr>
              <p:spPr>
                <a:xfrm>
                  <a:off x="3270459" y="925881"/>
                  <a:ext cx="5716057" cy="573494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 anchor="ctr" anchorCtr="1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三位混合参数空间分解</a:t>
                  </a:r>
                  <a:endPara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sz="1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业务流量特征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协议</m:t>
                      </m:r>
                    </m:oMath>
                  </a14:m>
                  <a:r>
                    <a:rPr lang="zh-CN" altLang="en-US" sz="1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专属参数</a:t>
                  </a: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F8F41CDD-8AD1-8E56-9CAF-C966EA5D86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0459" y="925881"/>
                  <a:ext cx="5716057" cy="573494"/>
                </a:xfrm>
                <a:prstGeom prst="rect">
                  <a:avLst/>
                </a:prstGeom>
                <a:blipFill>
                  <a:blip r:embed="rId3"/>
                  <a:stretch>
                    <a:fillRect t="-2326" b="-104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7519377-3840-2610-0994-026C8D3094BB}"/>
                </a:ext>
              </a:extLst>
            </p:cNvPr>
            <p:cNvCxnSpPr>
              <a:cxnSpLocks/>
              <a:stCxn id="2" idx="2"/>
              <a:endCxn id="9" idx="0"/>
            </p:cNvCxnSpPr>
            <p:nvPr/>
          </p:nvCxnSpPr>
          <p:spPr>
            <a:xfrm>
              <a:off x="6128487" y="1516997"/>
              <a:ext cx="0" cy="3538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2C58D7B-C247-7067-104F-EA18557E6C5F}"/>
                </a:ext>
              </a:extLst>
            </p:cNvPr>
            <p:cNvSpPr/>
            <p:nvPr/>
          </p:nvSpPr>
          <p:spPr>
            <a:xfrm>
              <a:off x="449437" y="1926656"/>
              <a:ext cx="3266245" cy="47737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6B054EC-B63D-0A2B-DFED-B5F95F457728}"/>
                </a:ext>
              </a:extLst>
            </p:cNvPr>
            <p:cNvSpPr txBox="1"/>
            <p:nvPr/>
          </p:nvSpPr>
          <p:spPr>
            <a:xfrm>
              <a:off x="417549" y="1877235"/>
              <a:ext cx="3327742" cy="5734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流量形态</a:t>
              </a:r>
              <a:endParaRPr lang="en-US" altLang="zh-CN" sz="1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0">
                  <a:latin typeface="Times New Roman" panose="02020603050405020304" pitchFamily="18" charset="0"/>
                  <a:ea typeface="宋体" panose="02010600030101010101" pitchFamily="2" charset="-122"/>
                </a:rPr>
                <a:t>流量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到达类型：</a:t>
              </a:r>
              <a:r>
                <a:rPr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U/B/P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437ED65-DEFE-C0F7-74F0-42ED86DCE96B}"/>
                </a:ext>
              </a:extLst>
            </p:cNvPr>
            <p:cNvSpPr/>
            <p:nvPr/>
          </p:nvSpPr>
          <p:spPr>
            <a:xfrm>
              <a:off x="4496504" y="1926655"/>
              <a:ext cx="3266245" cy="47737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EB63583-7A4A-26FF-45B0-BE8215375892}"/>
                    </a:ext>
                  </a:extLst>
                </p:cNvPr>
                <p:cNvSpPr txBox="1"/>
                <p:nvPr/>
              </p:nvSpPr>
              <p:spPr>
                <a:xfrm>
                  <a:off x="4464616" y="1870839"/>
                  <a:ext cx="3327742" cy="5862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 anchor="ctr" anchorCtr="1">
                  <a:spAutoFit/>
                </a:bodyPr>
                <a:lstStyle>
                  <a:defPPr>
                    <a:defRPr lang="zh-CN"/>
                  </a:defPPr>
                  <a:lvl1pPr algn="ctr">
                    <a:defRPr sz="1200"/>
                  </a:lvl1pPr>
                </a:lstStyle>
                <a:p>
                  <a:r>
                    <a:rPr lang="zh-CN" altLang="en-US" sz="1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流量强度</a:t>
                  </a:r>
                  <a:endPara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r>
                    <a:rPr lang="zh-CN" altLang="en-US" sz="1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归一化平均到达率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40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</m:oMath>
                  </a14:m>
                  <a:endPara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EB63583-7A4A-26FF-45B0-BE8215375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4616" y="1870839"/>
                  <a:ext cx="3327742" cy="586285"/>
                </a:xfrm>
                <a:prstGeom prst="rect">
                  <a:avLst/>
                </a:prstGeom>
                <a:blipFill>
                  <a:blip r:embed="rId4"/>
                  <a:stretch>
                    <a:fillRect t="-2222" b="-7778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FFBAA93-B867-3365-BC10-3400D70B6C90}"/>
                </a:ext>
              </a:extLst>
            </p:cNvPr>
            <p:cNvSpPr/>
            <p:nvPr/>
          </p:nvSpPr>
          <p:spPr>
            <a:xfrm>
              <a:off x="8543570" y="1901225"/>
              <a:ext cx="3266245" cy="47737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9FABF3D-D036-86E5-5433-AFCE9F05BC01}"/>
                    </a:ext>
                  </a:extLst>
                </p:cNvPr>
                <p:cNvSpPr txBox="1"/>
                <p:nvPr/>
              </p:nvSpPr>
              <p:spPr>
                <a:xfrm>
                  <a:off x="8511682" y="1841227"/>
                  <a:ext cx="3327742" cy="59464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 anchor="ctr" anchorCtr="1">
                  <a:spAutoFit/>
                </a:bodyPr>
                <a:lstStyle>
                  <a:defPPr>
                    <a:defRPr lang="zh-CN"/>
                  </a:defPPr>
                  <a:lvl1pPr algn="ctr">
                    <a:defRPr sz="1200"/>
                  </a:lvl1pPr>
                </a:lstStyle>
                <a:p>
                  <a:r>
                    <a:rPr lang="zh-CN" altLang="en-US" sz="14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协议参数</a:t>
                  </a:r>
                  <a:endPara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r>
                    <a:rPr lang="zh-CN" altLang="en-US" sz="1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关键参数组合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>
                              <a:latin typeface="Cambria Math" panose="02040503050406030204" pitchFamily="18" charset="0"/>
                            </a:rPr>
                            <m:t>𝑝𝑟𝑜𝑡𝑜</m:t>
                          </m:r>
                        </m:sub>
                      </m:sSub>
                    </m:oMath>
                  </a14:m>
                  <a:endPara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E9FABF3D-D036-86E5-5433-AFCE9F05B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1682" y="1841227"/>
                  <a:ext cx="3327742" cy="594649"/>
                </a:xfrm>
                <a:prstGeom prst="rect">
                  <a:avLst/>
                </a:prstGeom>
                <a:blipFill>
                  <a:blip r:embed="rId5"/>
                  <a:stretch>
                    <a:fillRect t="-1087" b="-326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E12D68F-283F-2EB1-265D-800E4645DEE5}"/>
                </a:ext>
              </a:extLst>
            </p:cNvPr>
            <p:cNvSpPr/>
            <p:nvPr/>
          </p:nvSpPr>
          <p:spPr>
            <a:xfrm>
              <a:off x="449437" y="2755568"/>
              <a:ext cx="3266246" cy="2161210"/>
            </a:xfrm>
            <a:prstGeom prst="rect">
              <a:avLst/>
            </a:prstGeom>
            <a:solidFill>
              <a:srgbClr val="FFC6C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327BB64-D3F2-FE09-939B-0C4C8329A64C}"/>
                </a:ext>
              </a:extLst>
            </p:cNvPr>
            <p:cNvSpPr txBox="1"/>
            <p:nvPr/>
          </p:nvSpPr>
          <p:spPr>
            <a:xfrm>
              <a:off x="479750" y="3104708"/>
              <a:ext cx="3201762" cy="1450602"/>
            </a:xfrm>
            <a:prstGeom prst="rect">
              <a:avLst/>
            </a:prstGeom>
            <a:solidFill>
              <a:srgbClr val="FFC6C6"/>
            </a:solidFill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固定离散场景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两阶段保持一致遍历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4C545FAD-BD84-F350-6262-248D2E7D3D2D}"/>
                </a:ext>
              </a:extLst>
            </p:cNvPr>
            <p:cNvGrpSpPr/>
            <p:nvPr/>
          </p:nvGrpSpPr>
          <p:grpSpPr>
            <a:xfrm>
              <a:off x="4496504" y="2755568"/>
              <a:ext cx="7342920" cy="989481"/>
              <a:chOff x="10041208" y="3127023"/>
              <a:chExt cx="1220992" cy="797619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DA0FAF06-94EE-0621-9DEB-7546AB4A129A}"/>
                  </a:ext>
                </a:extLst>
              </p:cNvPr>
              <p:cNvSpPr/>
              <p:nvPr/>
            </p:nvSpPr>
            <p:spPr>
              <a:xfrm>
                <a:off x="10041208" y="3127023"/>
                <a:ext cx="1220992" cy="28056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一阶段采样</a:t>
                </a: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04D3CE2-C8C6-2AA0-1B45-58572AA1BF9F}"/>
                  </a:ext>
                </a:extLst>
              </p:cNvPr>
              <p:cNvSpPr/>
              <p:nvPr/>
            </p:nvSpPr>
            <p:spPr>
              <a:xfrm>
                <a:off x="10041208" y="3407592"/>
                <a:ext cx="1220992" cy="5170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单一粒度均匀网格采样，快速获取性能曲线轮廓</a:t>
                </a: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56580D02-DA21-4574-C9BE-1743765E0A33}"/>
                </a:ext>
              </a:extLst>
            </p:cNvPr>
            <p:cNvGrpSpPr/>
            <p:nvPr/>
          </p:nvGrpSpPr>
          <p:grpSpPr>
            <a:xfrm>
              <a:off x="4496504" y="3964389"/>
              <a:ext cx="7342920" cy="952389"/>
              <a:chOff x="10041208" y="3156923"/>
              <a:chExt cx="1220992" cy="767719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C23FE968-AA31-72BB-0337-A4BB5F01B0CF}"/>
                  </a:ext>
                </a:extLst>
              </p:cNvPr>
              <p:cNvSpPr/>
              <p:nvPr/>
            </p:nvSpPr>
            <p:spPr>
              <a:xfrm>
                <a:off x="10041208" y="3156923"/>
                <a:ext cx="1220992" cy="250669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二阶段采样</a:t>
                </a: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EC0E218-FC4F-8249-4726-54E888AACFA4}"/>
                  </a:ext>
                </a:extLst>
              </p:cNvPr>
              <p:cNvSpPr/>
              <p:nvPr/>
            </p:nvSpPr>
            <p:spPr>
              <a:xfrm>
                <a:off x="10041208" y="3407592"/>
                <a:ext cx="1220992" cy="5170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关键区间加密采样以增强细粒度变化</a:t>
                </a:r>
              </a:p>
            </p:txBody>
          </p:sp>
        </p:grp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4E2DC232-768F-C0D9-E364-6BB96334A480}"/>
                </a:ext>
              </a:extLst>
            </p:cNvPr>
            <p:cNvCxnSpPr>
              <a:stCxn id="38" idx="2"/>
              <a:endCxn id="43" idx="0"/>
            </p:cNvCxnSpPr>
            <p:nvPr/>
          </p:nvCxnSpPr>
          <p:spPr>
            <a:xfrm>
              <a:off x="8167964" y="3745049"/>
              <a:ext cx="0" cy="2193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68D26837-1D96-D635-D059-21461F4A0F28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6128487" y="2457125"/>
              <a:ext cx="0" cy="2984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6E21DAD0-36B5-6E49-F8D4-CF1DA64C7896}"/>
                </a:ext>
              </a:extLst>
            </p:cNvPr>
            <p:cNvCxnSpPr>
              <a:stCxn id="12" idx="2"/>
            </p:cNvCxnSpPr>
            <p:nvPr/>
          </p:nvCxnSpPr>
          <p:spPr>
            <a:xfrm>
              <a:off x="10175553" y="2435877"/>
              <a:ext cx="0" cy="31969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91BEC67A-A277-3A25-D224-0519CCD30529}"/>
                </a:ext>
              </a:extLst>
            </p:cNvPr>
            <p:cNvCxnSpPr>
              <a:stCxn id="5" idx="2"/>
              <a:endCxn id="32" idx="0"/>
            </p:cNvCxnSpPr>
            <p:nvPr/>
          </p:nvCxnSpPr>
          <p:spPr>
            <a:xfrm>
              <a:off x="2081420" y="2450729"/>
              <a:ext cx="1140" cy="3048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3D6646B4-24EE-1E21-05DB-70054581DA98}"/>
                </a:ext>
              </a:extLst>
            </p:cNvPr>
            <p:cNvCxnSpPr>
              <a:stCxn id="5" idx="0"/>
            </p:cNvCxnSpPr>
            <p:nvPr/>
          </p:nvCxnSpPr>
          <p:spPr>
            <a:xfrm flipV="1">
              <a:off x="2081420" y="1516997"/>
              <a:ext cx="0" cy="36023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B6A75991-5A28-496B-C80C-DEB0DD0BE7D2}"/>
                </a:ext>
              </a:extLst>
            </p:cNvPr>
            <p:cNvCxnSpPr>
              <a:stCxn id="12" idx="0"/>
            </p:cNvCxnSpPr>
            <p:nvPr/>
          </p:nvCxnSpPr>
          <p:spPr>
            <a:xfrm flipV="1">
              <a:off x="10175553" y="1516997"/>
              <a:ext cx="0" cy="32423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A3D0BA87-1E6F-F03B-B6DB-85F400B05927}"/>
                </a:ext>
              </a:extLst>
            </p:cNvPr>
            <p:cNvSpPr txBox="1"/>
            <p:nvPr/>
          </p:nvSpPr>
          <p:spPr>
            <a:xfrm>
              <a:off x="233296" y="399652"/>
              <a:ext cx="3235451" cy="438555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数据集采样策略</a:t>
              </a: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4E2B7A6-3B5F-8F3C-1B03-CE8810C8031A}"/>
                </a:ext>
              </a:extLst>
            </p:cNvPr>
            <p:cNvSpPr/>
            <p:nvPr/>
          </p:nvSpPr>
          <p:spPr>
            <a:xfrm>
              <a:off x="449437" y="5315779"/>
              <a:ext cx="11262813" cy="515444"/>
            </a:xfrm>
            <a:prstGeom prst="rect">
              <a:avLst/>
            </a:prstGeom>
            <a:solidFill>
              <a:srgbClr val="FF747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组装特征和标签，形成完整监督学习数据集</a:t>
              </a:r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A44EE741-7B54-8502-DA4D-470076DEACDD}"/>
                </a:ext>
              </a:extLst>
            </p:cNvPr>
            <p:cNvCxnSpPr>
              <a:stCxn id="32" idx="2"/>
            </p:cNvCxnSpPr>
            <p:nvPr/>
          </p:nvCxnSpPr>
          <p:spPr>
            <a:xfrm flipH="1">
              <a:off x="2081420" y="4916778"/>
              <a:ext cx="1141" cy="39900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E8DE245D-917C-C0B4-F454-F6C2A0D04226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>
              <a:off x="8167964" y="4916778"/>
              <a:ext cx="0" cy="39900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35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 anchorCtr="1">
        <a:spAutoFit/>
      </a:bodyPr>
      <a:lstStyle>
        <a:defPPr algn="ctr">
          <a:defRPr sz="105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2295</TotalTime>
  <Words>303</Words>
  <Application>Microsoft Office PowerPoint</Application>
  <PresentationFormat>宽屏</PresentationFormat>
  <Paragraphs>93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W.L.</dc:creator>
  <cp:lastModifiedBy>W.L.</cp:lastModifiedBy>
  <cp:revision>80</cp:revision>
  <dcterms:created xsi:type="dcterms:W3CDTF">2026-01-14T02:59:18Z</dcterms:created>
  <dcterms:modified xsi:type="dcterms:W3CDTF">2026-01-30T06:12:04Z</dcterms:modified>
</cp:coreProperties>
</file>