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682B4"/>
    <a:srgbClr val="FFEBDC"/>
    <a:srgbClr val="FFFADC"/>
    <a:srgbClr val="DCFFE6"/>
    <a:srgbClr val="DCEB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0" d="100"/>
          <a:sy n="140" d="100"/>
        </p:scale>
        <p:origin x="126" y="5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64A9D9-320D-08D5-43F6-F1B0EB1AAD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3F1CF6A-1CB2-3EA5-DA7F-D19C36AA52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7571D86-5EB3-78D4-3572-30ECE9D4A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2026/01/14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8E149BC-8E0A-E356-A5A8-D4DD8B0310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8F52257-6F73-65C9-300B-DA10B4BA7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461800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04BFCC-83C3-8F52-6166-88FB32519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2EF84E6-D090-6994-D488-A5F45C3F59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F8A8241-0388-27A9-9413-62F4DA1299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2026/01/14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6E684B0-3C09-DE1B-DBB0-5EE65E9ECA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BBF56DE-4217-EFC0-FEE4-17D372E83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59890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E9F5EA-63DC-3438-1FC0-071A61660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FED89E-B92B-D360-ED9D-6C4A00793D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8B8C119-7B04-6E54-E0F4-BDFB5EF6D2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2026/01/14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68DEB60-CA7B-76F9-CCAB-371F57022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79379CA-4474-155F-C24E-EC299CE16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53732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4ED6E5-02BF-150F-62CD-DEEB5DAE29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2EE4944-A71A-8AB6-22D7-7C9BC6722E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E2472C2-4524-F305-C6BD-56FB565BA3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553FF88-1F08-EB92-B2EE-410ED8777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2026/01/14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554182A-2BBC-7BD6-2D99-F2D31EA41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39D3BE8-409C-3A86-7D13-36AEF6EA67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10877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9114FBE-D0D0-7642-675B-35C21330C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214D2E6-21FF-444C-8580-856CEE22E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6AC5A58-1BB6-83F7-6501-151C2F75E9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54AF812-6606-827F-4F9D-ADB104C27D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DDDBE2F-F701-E11F-4AE9-AEFF2D1022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05EB9A3-40C8-6BA1-652B-5AEED525C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2026/01/14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C9D5EE4-ADD1-9FB1-DCBF-35731D7FB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17DC580-F712-58AB-573B-20EBAE913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66538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5782531-8E00-DCB6-C18F-92C729D61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0D6A14A-82D8-BA05-48A9-13EC5A866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2026/01/14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34BCDD9-E253-7C82-F8B4-3639D6A83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F8C7DC1-36F7-BD3D-5985-0641A2AA3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344918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875D9E9-4450-7682-7FFB-D976699B8D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2026/01/14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DBE8EDC-0B49-91D0-A4D9-A0EAEF96D1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6492D67-E97B-81E6-6923-1E37E535B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253902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E35E2B-8E07-B59E-1940-88B62005C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4364C4E-C524-278A-3E91-FDFCF38814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F228E51-CE59-C3B7-0E11-A1DF8478E8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80ACBAC-96D5-1893-B8EC-38CAAF3F7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2026/01/14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70A80B5-C333-F80B-965F-81E4AEE0F2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C512A81-08F1-F6AC-424B-B0D6A1229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05614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DB54F0-03F9-D716-1F37-B8C324385D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2A8D523-6679-0E48-5EA9-67E8CB5B2A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56F0696-5CA0-A98E-2FA9-46028F9FCB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0E613B2-AF1A-57EB-61F5-29B0ADE89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2026/01/14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70E0014-0CD5-2FDD-8CF0-1E4BF1165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AA92C0C-34AA-7BDD-EAD9-D06E2CBC3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46226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3D7DBC7-E62E-76B0-8C7D-FC82F3F86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1F17919-80AB-2E50-EF9E-0FEF316582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4079E29-3F1A-DD78-CCC4-457FBA37A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2026/01/14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AA85E65-37A2-B27F-33E0-E6E23231F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251E36E-C54C-B77E-F115-D761423E1D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93540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D36978D-644F-1BE9-F9CD-D37B07708D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FC8C215-EEC3-2FFD-2A58-7E266EFF1E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CE043B5-7AAB-90B8-21C0-B404F408F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2026/01/14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5DBB7A7-6F16-F0AB-CDB6-A805BC00D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58554C0-E770-DCE5-455A-D7BC1E4CB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74284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716BB2D-3AF4-DC4B-128F-E4D28F4FD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1993293-3928-B7D6-8346-764B941D37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AB1E1BA-5FFA-7075-F250-DC7E40EA12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2E9D4A-569D-49DD-9DBB-BF425DFB68D5}" type="datetimeFigureOut">
              <a:rPr lang="zh-CN" altLang="en-US" smtClean="0"/>
              <a:t>2026/01/14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F885496-804A-D5B9-B1FF-B6A5F24B50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4DEEE3A-A95C-1C62-48C3-B9213FE3E0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856884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4CE35-0E28-5873-E2A7-31E846204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组合 48">
            <a:extLst>
              <a:ext uri="{FF2B5EF4-FFF2-40B4-BE49-F238E27FC236}">
                <a16:creationId xmlns:a16="http://schemas.microsoft.com/office/drawing/2014/main" id="{25BDB130-DBA1-C255-9352-1A326E6EB1DD}"/>
              </a:ext>
            </a:extLst>
          </p:cNvPr>
          <p:cNvGrpSpPr/>
          <p:nvPr/>
        </p:nvGrpSpPr>
        <p:grpSpPr>
          <a:xfrm>
            <a:off x="443361" y="454622"/>
            <a:ext cx="3240000" cy="5334853"/>
            <a:chOff x="3159266" y="181667"/>
            <a:chExt cx="3240000" cy="5334853"/>
          </a:xfrm>
        </p:grpSpPr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AB53D81E-FBED-CE64-FA0C-AC8E15E00722}"/>
                </a:ext>
              </a:extLst>
            </p:cNvPr>
            <p:cNvGrpSpPr/>
            <p:nvPr/>
          </p:nvGrpSpPr>
          <p:grpSpPr>
            <a:xfrm>
              <a:off x="3159266" y="1238743"/>
              <a:ext cx="3240000" cy="585181"/>
              <a:chOff x="3472140" y="1311131"/>
              <a:chExt cx="3240000" cy="585181"/>
            </a:xfrm>
            <a:solidFill>
              <a:srgbClr val="DCFFE6"/>
            </a:solidFill>
          </p:grpSpPr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495299D1-6565-5471-85F1-DF19378673BF}"/>
                  </a:ext>
                </a:extLst>
              </p:cNvPr>
              <p:cNvSpPr/>
              <p:nvPr/>
            </p:nvSpPr>
            <p:spPr>
              <a:xfrm>
                <a:off x="3472140" y="1311131"/>
                <a:ext cx="3240000" cy="585181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82E5737C-2243-11F1-2E35-63A8A8213731}"/>
                      </a:ext>
                    </a:extLst>
                  </p:cNvPr>
                  <p:cNvSpPr txBox="1"/>
                  <p:nvPr/>
                </p:nvSpPr>
                <p:spPr>
                  <a:xfrm>
                    <a:off x="3644121" y="1419055"/>
                    <a:ext cx="2896039" cy="369332"/>
                  </a:xfrm>
                  <a:prstGeom prst="rect">
                    <a:avLst/>
                  </a:prstGeom>
                  <a:grp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仿真器</a:t>
                    </a:r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/</a:t>
                    </a:r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代理模型</a:t>
                    </a:r>
                    <a:r>
                      <a:rPr lang="en-US" altLang="zh-CN" i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S</a:t>
                    </a:r>
                    <a14:m>
                      <m:oMath xmlns:m="http://schemas.openxmlformats.org/officeDocument/2006/math">
                        <m:d>
                          <m:d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</m:e>
                        </m:d>
                      </m:oMath>
                    </a14:m>
                    <a:endPara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82E5737C-2243-11F1-2E35-63A8A821373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44121" y="1419055"/>
                    <a:ext cx="2896039" cy="36933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t="-13333" b="-2833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43" name="组合 42">
              <a:extLst>
                <a:ext uri="{FF2B5EF4-FFF2-40B4-BE49-F238E27FC236}">
                  <a16:creationId xmlns:a16="http://schemas.microsoft.com/office/drawing/2014/main" id="{B1A31FC1-AFA6-6925-80B3-3485F9693AB0}"/>
                </a:ext>
              </a:extLst>
            </p:cNvPr>
            <p:cNvGrpSpPr/>
            <p:nvPr/>
          </p:nvGrpSpPr>
          <p:grpSpPr>
            <a:xfrm>
              <a:off x="3159266" y="181667"/>
              <a:ext cx="3240000" cy="466284"/>
              <a:chOff x="3607636" y="181667"/>
              <a:chExt cx="3240000" cy="466284"/>
            </a:xfrm>
            <a:solidFill>
              <a:srgbClr val="DCEBFF"/>
            </a:solidFill>
          </p:grpSpPr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6F24BB83-AA7D-CAA1-7295-E3CEF5D8D433}"/>
                  </a:ext>
                </a:extLst>
              </p:cNvPr>
              <p:cNvSpPr/>
              <p:nvPr/>
            </p:nvSpPr>
            <p:spPr>
              <a:xfrm>
                <a:off x="3607636" y="181667"/>
                <a:ext cx="3240000" cy="46628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DD5929D2-C11E-F1D9-1D2F-2686045FEAEC}"/>
                      </a:ext>
                    </a:extLst>
                  </p:cNvPr>
                  <p:cNvSpPr txBox="1"/>
                  <p:nvPr/>
                </p:nvSpPr>
                <p:spPr>
                  <a:xfrm>
                    <a:off x="4195152" y="230143"/>
                    <a:ext cx="2064969" cy="369332"/>
                  </a:xfrm>
                  <a:prstGeom prst="rect">
                    <a:avLst/>
                  </a:prstGeom>
                  <a:grp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统一输入向量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in</m:t>
                            </m:r>
                          </m:sub>
                        </m:sSub>
                      </m:oMath>
                    </a14:m>
                    <a:endPara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DD5929D2-C11E-F1D9-1D2F-2686045FEAE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95152" y="230143"/>
                    <a:ext cx="2064969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t="-13333" b="-2333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E0DCFC41-2FE1-6955-8652-53BE3BA19AF2}"/>
                    </a:ext>
                  </a:extLst>
                </p:cNvPr>
                <p:cNvSpPr txBox="1"/>
                <p:nvPr/>
              </p:nvSpPr>
              <p:spPr>
                <a:xfrm>
                  <a:off x="4771839" y="752758"/>
                  <a:ext cx="128984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𝐲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 altLang="zh-CN" i="1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m:t>S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in</m:t>
                            </m:r>
                          </m:sub>
                        </m:sSub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E0DCFC41-2FE1-6955-8652-53BE3BA19A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71839" y="752758"/>
                  <a:ext cx="1289849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E43BE1C5-F753-57B2-A412-62FCB3853190}"/>
                </a:ext>
              </a:extLst>
            </p:cNvPr>
            <p:cNvCxnSpPr>
              <a:cxnSpLocks/>
              <a:stCxn id="6" idx="2"/>
              <a:endCxn id="12" idx="0"/>
            </p:cNvCxnSpPr>
            <p:nvPr/>
          </p:nvCxnSpPr>
          <p:spPr>
            <a:xfrm>
              <a:off x="4779266" y="647951"/>
              <a:ext cx="0" cy="59079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5" name="组合 44">
              <a:extLst>
                <a:ext uri="{FF2B5EF4-FFF2-40B4-BE49-F238E27FC236}">
                  <a16:creationId xmlns:a16="http://schemas.microsoft.com/office/drawing/2014/main" id="{4462F855-F248-1892-3957-ED2C063F20CC}"/>
                </a:ext>
              </a:extLst>
            </p:cNvPr>
            <p:cNvGrpSpPr/>
            <p:nvPr/>
          </p:nvGrpSpPr>
          <p:grpSpPr>
            <a:xfrm>
              <a:off x="3159266" y="2414716"/>
              <a:ext cx="3240000" cy="720000"/>
              <a:chOff x="3159266" y="2440596"/>
              <a:chExt cx="3240000" cy="720000"/>
            </a:xfrm>
          </p:grpSpPr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BBF3B146-0C6A-3867-2BAD-ACCEEEE8D4F6}"/>
                  </a:ext>
                </a:extLst>
              </p:cNvPr>
              <p:cNvSpPr/>
              <p:nvPr/>
            </p:nvSpPr>
            <p:spPr>
              <a:xfrm>
                <a:off x="3159266" y="2440596"/>
                <a:ext cx="3240000" cy="720000"/>
              </a:xfrm>
              <a:prstGeom prst="rect">
                <a:avLst/>
              </a:prstGeom>
              <a:solidFill>
                <a:srgbClr val="FFFADC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7" name="文本框 16">
                    <a:extLst>
                      <a:ext uri="{FF2B5EF4-FFF2-40B4-BE49-F238E27FC236}">
                        <a16:creationId xmlns:a16="http://schemas.microsoft.com/office/drawing/2014/main" id="{99A57D5F-CCC9-B268-8472-BE7198D687D6}"/>
                      </a:ext>
                    </a:extLst>
                  </p:cNvPr>
                  <p:cNvSpPr txBox="1"/>
                  <p:nvPr/>
                </p:nvSpPr>
                <p:spPr>
                  <a:xfrm>
                    <a:off x="3346011" y="2477431"/>
                    <a:ext cx="2866510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性能指标向量</a:t>
                    </a:r>
                    <a14:m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oMath>
                    </a14:m>
                    <a:endPara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归一化处理 </a:t>
                    </a:r>
                    <a14:m>
                      <m:oMath xmlns:m="http://schemas.openxmlformats.org/officeDocument/2006/math">
                        <m:acc>
                          <m:accPr>
                            <m:chr m:val="̃"/>
                            <m:ctrlPr>
                              <a:rPr lang="en-US" altLang="zh-CN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</m:acc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a14:m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norm </a:t>
                    </a:r>
                    <a14:m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𝐲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 </a:t>
                    </a:r>
                  </a:p>
                </p:txBody>
              </p:sp>
            </mc:Choice>
            <mc:Fallback>
              <p:sp>
                <p:nvSpPr>
                  <p:cNvPr id="17" name="文本框 16">
                    <a:extLst>
                      <a:ext uri="{FF2B5EF4-FFF2-40B4-BE49-F238E27FC236}">
                        <a16:creationId xmlns:a16="http://schemas.microsoft.com/office/drawing/2014/main" id="{99A57D5F-CCC9-B268-8472-BE7198D687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46011" y="2477431"/>
                    <a:ext cx="2866510" cy="646331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t="-7547" b="-15094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FA21682C-C131-E511-7AA3-3110F3E26F96}"/>
                </a:ext>
              </a:extLst>
            </p:cNvPr>
            <p:cNvGrpSpPr/>
            <p:nvPr/>
          </p:nvGrpSpPr>
          <p:grpSpPr>
            <a:xfrm>
              <a:off x="3159266" y="3725508"/>
              <a:ext cx="3240000" cy="468000"/>
              <a:chOff x="3159266" y="3888527"/>
              <a:chExt cx="3240000" cy="468000"/>
            </a:xfrm>
          </p:grpSpPr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38961367-FBFE-7F15-01BC-43A27CD2FCD5}"/>
                  </a:ext>
                </a:extLst>
              </p:cNvPr>
              <p:cNvSpPr/>
              <p:nvPr/>
            </p:nvSpPr>
            <p:spPr>
              <a:xfrm>
                <a:off x="3159266" y="3888527"/>
                <a:ext cx="3240000" cy="468000"/>
              </a:xfrm>
              <a:prstGeom prst="rect">
                <a:avLst/>
              </a:prstGeom>
              <a:solidFill>
                <a:srgbClr val="FFEBDC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6F54DAE4-77B3-AD3D-6F79-F04BD11D0EFC}"/>
                      </a:ext>
                    </a:extLst>
                  </p:cNvPr>
                  <p:cNvSpPr txBox="1"/>
                  <p:nvPr/>
                </p:nvSpPr>
                <p:spPr>
                  <a:xfrm>
                    <a:off x="3346011" y="3937861"/>
                    <a:ext cx="286651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综合效用函数</a:t>
                    </a:r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zh-CN" i="1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m:t>U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(∙)</m:t>
                        </m:r>
                      </m:oMath>
                    </a14:m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 </a:t>
                    </a:r>
                  </a:p>
                </p:txBody>
              </p:sp>
            </mc:Choice>
            <mc:Fallback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6F54DAE4-77B3-AD3D-6F79-F04BD11D0EF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46011" y="3937861"/>
                    <a:ext cx="286651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t="-11475" b="-21311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6" name="直接箭头连接符 25">
              <a:extLst>
                <a:ext uri="{FF2B5EF4-FFF2-40B4-BE49-F238E27FC236}">
                  <a16:creationId xmlns:a16="http://schemas.microsoft.com/office/drawing/2014/main" id="{9A006578-EE79-4849-C962-2F3DCA3F3A09}"/>
                </a:ext>
              </a:extLst>
            </p:cNvPr>
            <p:cNvCxnSpPr>
              <a:cxnSpLocks/>
              <a:stCxn id="12" idx="2"/>
              <a:endCxn id="18" idx="0"/>
            </p:cNvCxnSpPr>
            <p:nvPr/>
          </p:nvCxnSpPr>
          <p:spPr>
            <a:xfrm>
              <a:off x="4779266" y="1823924"/>
              <a:ext cx="0" cy="59079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箭头连接符 28">
              <a:extLst>
                <a:ext uri="{FF2B5EF4-FFF2-40B4-BE49-F238E27FC236}">
                  <a16:creationId xmlns:a16="http://schemas.microsoft.com/office/drawing/2014/main" id="{215AF58E-F1D4-8393-0E29-26375D7D5017}"/>
                </a:ext>
              </a:extLst>
            </p:cNvPr>
            <p:cNvCxnSpPr>
              <a:stCxn id="18" idx="2"/>
              <a:endCxn id="24" idx="0"/>
            </p:cNvCxnSpPr>
            <p:nvPr/>
          </p:nvCxnSpPr>
          <p:spPr>
            <a:xfrm>
              <a:off x="4779266" y="3134716"/>
              <a:ext cx="0" cy="59079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7" name="组合 46">
              <a:extLst>
                <a:ext uri="{FF2B5EF4-FFF2-40B4-BE49-F238E27FC236}">
                  <a16:creationId xmlns:a16="http://schemas.microsoft.com/office/drawing/2014/main" id="{4267E82B-4F42-D535-F25F-FE84174F1691}"/>
                </a:ext>
              </a:extLst>
            </p:cNvPr>
            <p:cNvGrpSpPr/>
            <p:nvPr/>
          </p:nvGrpSpPr>
          <p:grpSpPr>
            <a:xfrm>
              <a:off x="3159266" y="4784302"/>
              <a:ext cx="3240000" cy="732218"/>
              <a:chOff x="3159266" y="5077734"/>
              <a:chExt cx="3240000" cy="732218"/>
            </a:xfrm>
          </p:grpSpPr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3E7E98EF-16B6-8459-FDA9-89B8BAEF8761}"/>
                  </a:ext>
                </a:extLst>
              </p:cNvPr>
              <p:cNvSpPr/>
              <p:nvPr/>
            </p:nvSpPr>
            <p:spPr>
              <a:xfrm>
                <a:off x="3159266" y="5077734"/>
                <a:ext cx="3240000" cy="720000"/>
              </a:xfrm>
              <a:prstGeom prst="rect">
                <a:avLst/>
              </a:prstGeom>
              <a:solidFill>
                <a:srgbClr val="4682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2" name="文本框 31">
                    <a:extLst>
                      <a:ext uri="{FF2B5EF4-FFF2-40B4-BE49-F238E27FC236}">
                        <a16:creationId xmlns:a16="http://schemas.microsoft.com/office/drawing/2014/main" id="{0FF3CA23-5369-BB36-C2EE-04D22C518E45}"/>
                      </a:ext>
                    </a:extLst>
                  </p:cNvPr>
                  <p:cNvSpPr txBox="1"/>
                  <p:nvPr/>
                </p:nvSpPr>
                <p:spPr>
                  <a:xfrm>
                    <a:off x="3346011" y="5087510"/>
                    <a:ext cx="2866510" cy="72244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最优协议与参数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proto</m:t>
                            </m:r>
                          </m:sub>
                          <m:sup>
                            <m: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oMath>
                    </a14:m>
                    <a:endParaRPr lang="en-US" altLang="zh-CN" dirty="0">
                      <a:solidFill>
                        <a:schemeClr val="bg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proto</m:t>
                            </m:r>
                          </m:sub>
                          <m:sup>
                            <m: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en-US" altLang="zh-CN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=[</m:t>
                        </m:r>
                        <m:sSup>
                          <m:sSupPr>
                            <m:ctrlPr>
                              <a:rPr lang="en-US" altLang="zh-CN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en-US" altLang="zh-CN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altLang="zh-CN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altLang="zh-CN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𝒑</m:t>
                            </m:r>
                          </m:sub>
                          <m:sup>
                            <m:r>
                              <a:rPr lang="en-US" altLang="zh-CN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en-US" altLang="zh-CN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a14:m>
                    <a:r>
                      <a:rPr lang="en-US" altLang="zh-CN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 </a:t>
                    </a:r>
                  </a:p>
                </p:txBody>
              </p:sp>
            </mc:Choice>
            <mc:Fallback>
              <p:sp>
                <p:nvSpPr>
                  <p:cNvPr id="32" name="文本框 31">
                    <a:extLst>
                      <a:ext uri="{FF2B5EF4-FFF2-40B4-BE49-F238E27FC236}">
                        <a16:creationId xmlns:a16="http://schemas.microsoft.com/office/drawing/2014/main" id="{0FF3CA23-5369-BB36-C2EE-04D22C518E4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46011" y="5087510"/>
                    <a:ext cx="2866510" cy="72244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t="-6723" b="-840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FC5AD407-8F45-C8EA-0933-B8BCCC9684B9}"/>
                </a:ext>
              </a:extLst>
            </p:cNvPr>
            <p:cNvCxnSpPr>
              <a:stCxn id="24" idx="2"/>
              <a:endCxn id="33" idx="0"/>
            </p:cNvCxnSpPr>
            <p:nvPr/>
          </p:nvCxnSpPr>
          <p:spPr>
            <a:xfrm>
              <a:off x="4779266" y="4193508"/>
              <a:ext cx="0" cy="59079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7" name="文本框 36">
                  <a:extLst>
                    <a:ext uri="{FF2B5EF4-FFF2-40B4-BE49-F238E27FC236}">
                      <a16:creationId xmlns:a16="http://schemas.microsoft.com/office/drawing/2014/main" id="{3DF8A4DB-6D6C-EC9C-6177-038A7BAF04B6}"/>
                    </a:ext>
                  </a:extLst>
                </p:cNvPr>
                <p:cNvSpPr txBox="1"/>
                <p:nvPr/>
              </p:nvSpPr>
              <p:spPr>
                <a:xfrm>
                  <a:off x="4771839" y="3245242"/>
                  <a:ext cx="75922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zh-CN" i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U</a:t>
                  </a:r>
                  <a14:m>
                    <m:oMath xmlns:m="http://schemas.openxmlformats.org/officeDocument/2006/math"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̃"/>
                          <m:ctrlPr>
                            <a:rPr lang="en-US" altLang="zh-C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𝐲</m:t>
                          </m:r>
                        </m:e>
                      </m:acc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zh-CN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>
            <p:sp>
              <p:nvSpPr>
                <p:cNvPr id="37" name="文本框 36">
                  <a:extLst>
                    <a:ext uri="{FF2B5EF4-FFF2-40B4-BE49-F238E27FC236}">
                      <a16:creationId xmlns:a16="http://schemas.microsoft.com/office/drawing/2014/main" id="{3DF8A4DB-6D6C-EC9C-6177-038A7BAF04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71839" y="3245242"/>
                  <a:ext cx="759226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6400" t="-8197" r="-7200" b="-2459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70AF696E-28EE-E847-85A2-D83E65FF7AF0}"/>
                </a:ext>
              </a:extLst>
            </p:cNvPr>
            <p:cNvSpPr txBox="1"/>
            <p:nvPr/>
          </p:nvSpPr>
          <p:spPr>
            <a:xfrm>
              <a:off x="4771839" y="1940577"/>
              <a:ext cx="9628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输出</a:t>
              </a: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E98D9D83-D73F-B0F1-2F1C-D10905084495}"/>
                </a:ext>
              </a:extLst>
            </p:cNvPr>
            <p:cNvSpPr txBox="1"/>
            <p:nvPr/>
          </p:nvSpPr>
          <p:spPr>
            <a:xfrm>
              <a:off x="4771839" y="4298317"/>
              <a:ext cx="10839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 err="1">
                  <a:latin typeface="Times New Roman" panose="02020603050405020304" pitchFamily="18" charset="0"/>
                  <a:ea typeface="宋体" panose="02010600030101010101" pitchFamily="2" charset="-122"/>
                </a:rPr>
                <a:t>arg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 max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180956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299FD-CD18-CB3D-E3F0-4B2F68D96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组合 48">
            <a:extLst>
              <a:ext uri="{FF2B5EF4-FFF2-40B4-BE49-F238E27FC236}">
                <a16:creationId xmlns:a16="http://schemas.microsoft.com/office/drawing/2014/main" id="{5BE26EA9-7B62-70CA-6AF6-8C186648E98F}"/>
              </a:ext>
            </a:extLst>
          </p:cNvPr>
          <p:cNvGrpSpPr/>
          <p:nvPr/>
        </p:nvGrpSpPr>
        <p:grpSpPr>
          <a:xfrm>
            <a:off x="443361" y="454622"/>
            <a:ext cx="3240000" cy="5334853"/>
            <a:chOff x="3159266" y="181667"/>
            <a:chExt cx="3240000" cy="5334853"/>
          </a:xfrm>
        </p:grpSpPr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92421E56-D7C5-686E-DA57-E0BDB889DD30}"/>
                </a:ext>
              </a:extLst>
            </p:cNvPr>
            <p:cNvGrpSpPr/>
            <p:nvPr/>
          </p:nvGrpSpPr>
          <p:grpSpPr>
            <a:xfrm>
              <a:off x="3159266" y="1238743"/>
              <a:ext cx="3240000" cy="585181"/>
              <a:chOff x="3472140" y="1311131"/>
              <a:chExt cx="3240000" cy="585181"/>
            </a:xfrm>
            <a:solidFill>
              <a:srgbClr val="DCFFE6"/>
            </a:solidFill>
          </p:grpSpPr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6FF3F5A8-8ABC-DD86-6D00-7BB2A840098E}"/>
                  </a:ext>
                </a:extLst>
              </p:cNvPr>
              <p:cNvSpPr/>
              <p:nvPr/>
            </p:nvSpPr>
            <p:spPr>
              <a:xfrm>
                <a:off x="3472140" y="1311131"/>
                <a:ext cx="3240000" cy="585181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39BEE58F-E797-F7A7-B922-9B68BC435A1F}"/>
                      </a:ext>
                    </a:extLst>
                  </p:cNvPr>
                  <p:cNvSpPr txBox="1"/>
                  <p:nvPr/>
                </p:nvSpPr>
                <p:spPr>
                  <a:xfrm>
                    <a:off x="3644121" y="1419055"/>
                    <a:ext cx="2896039" cy="369332"/>
                  </a:xfrm>
                  <a:prstGeom prst="rect">
                    <a:avLst/>
                  </a:prstGeom>
                  <a:grp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仿真器</a:t>
                    </a:r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/</a:t>
                    </a:r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代理模型</a:t>
                    </a:r>
                    <a:r>
                      <a:rPr lang="en-US" altLang="zh-CN" i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S</a:t>
                    </a:r>
                    <a14:m>
                      <m:oMath xmlns:m="http://schemas.openxmlformats.org/officeDocument/2006/math">
                        <m:d>
                          <m:d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</m:e>
                        </m:d>
                      </m:oMath>
                    </a14:m>
                    <a:endPara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39BEE58F-E797-F7A7-B922-9B68BC435A1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44121" y="1419055"/>
                    <a:ext cx="2896039" cy="36933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t="-13333" b="-2833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43" name="组合 42">
              <a:extLst>
                <a:ext uri="{FF2B5EF4-FFF2-40B4-BE49-F238E27FC236}">
                  <a16:creationId xmlns:a16="http://schemas.microsoft.com/office/drawing/2014/main" id="{35B6E8F2-40D8-AE3B-09E2-8F8AD9889A81}"/>
                </a:ext>
              </a:extLst>
            </p:cNvPr>
            <p:cNvGrpSpPr/>
            <p:nvPr/>
          </p:nvGrpSpPr>
          <p:grpSpPr>
            <a:xfrm>
              <a:off x="3159266" y="181667"/>
              <a:ext cx="3240000" cy="466284"/>
              <a:chOff x="3607636" y="181667"/>
              <a:chExt cx="3240000" cy="466284"/>
            </a:xfrm>
            <a:solidFill>
              <a:srgbClr val="DCEBFF"/>
            </a:solidFill>
          </p:grpSpPr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1E74DDD8-8834-B94C-34D8-1B636CAFB018}"/>
                  </a:ext>
                </a:extLst>
              </p:cNvPr>
              <p:cNvSpPr/>
              <p:nvPr/>
            </p:nvSpPr>
            <p:spPr>
              <a:xfrm>
                <a:off x="3607636" y="181667"/>
                <a:ext cx="3240000" cy="46628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D0BAC6B0-88BC-3B29-E0E1-5D57FB4DA486}"/>
                      </a:ext>
                    </a:extLst>
                  </p:cNvPr>
                  <p:cNvSpPr txBox="1"/>
                  <p:nvPr/>
                </p:nvSpPr>
                <p:spPr>
                  <a:xfrm>
                    <a:off x="4195152" y="230143"/>
                    <a:ext cx="2064969" cy="369332"/>
                  </a:xfrm>
                  <a:prstGeom prst="rect">
                    <a:avLst/>
                  </a:prstGeom>
                  <a:grp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统一输入向量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in</m:t>
                            </m:r>
                          </m:sub>
                        </m:sSub>
                      </m:oMath>
                    </a14:m>
                    <a:endPara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D0BAC6B0-88BC-3B29-E0E1-5D57FB4DA48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95152" y="230143"/>
                    <a:ext cx="2064969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t="-13333" b="-2333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9347E19E-9F33-B6F5-F3C6-824C88E469B9}"/>
                    </a:ext>
                  </a:extLst>
                </p:cNvPr>
                <p:cNvSpPr txBox="1"/>
                <p:nvPr/>
              </p:nvSpPr>
              <p:spPr>
                <a:xfrm>
                  <a:off x="4771839" y="752758"/>
                  <a:ext cx="128984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𝐲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 altLang="zh-CN" i="1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m:t>S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in</m:t>
                            </m:r>
                          </m:sub>
                        </m:sSub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9347E19E-9F33-B6F5-F3C6-824C88E469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71839" y="752758"/>
                  <a:ext cx="1289849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A88C9D37-8943-9300-AFC3-936F05F31171}"/>
                </a:ext>
              </a:extLst>
            </p:cNvPr>
            <p:cNvCxnSpPr>
              <a:cxnSpLocks/>
              <a:stCxn id="6" idx="2"/>
              <a:endCxn id="12" idx="0"/>
            </p:cNvCxnSpPr>
            <p:nvPr/>
          </p:nvCxnSpPr>
          <p:spPr>
            <a:xfrm>
              <a:off x="4779266" y="647951"/>
              <a:ext cx="0" cy="59079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5" name="组合 44">
              <a:extLst>
                <a:ext uri="{FF2B5EF4-FFF2-40B4-BE49-F238E27FC236}">
                  <a16:creationId xmlns:a16="http://schemas.microsoft.com/office/drawing/2014/main" id="{438A6AD3-6000-6281-3074-1F486F4E9AC0}"/>
                </a:ext>
              </a:extLst>
            </p:cNvPr>
            <p:cNvGrpSpPr/>
            <p:nvPr/>
          </p:nvGrpSpPr>
          <p:grpSpPr>
            <a:xfrm>
              <a:off x="3159266" y="2414716"/>
              <a:ext cx="3240000" cy="720000"/>
              <a:chOff x="3159266" y="2440596"/>
              <a:chExt cx="3240000" cy="720000"/>
            </a:xfrm>
          </p:grpSpPr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50404F99-79A8-EDB1-B7F4-6748EE890DF7}"/>
                  </a:ext>
                </a:extLst>
              </p:cNvPr>
              <p:cNvSpPr/>
              <p:nvPr/>
            </p:nvSpPr>
            <p:spPr>
              <a:xfrm>
                <a:off x="3159266" y="2440596"/>
                <a:ext cx="3240000" cy="720000"/>
              </a:xfrm>
              <a:prstGeom prst="rect">
                <a:avLst/>
              </a:prstGeom>
              <a:solidFill>
                <a:srgbClr val="FFFADC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7" name="文本框 16">
                    <a:extLst>
                      <a:ext uri="{FF2B5EF4-FFF2-40B4-BE49-F238E27FC236}">
                        <a16:creationId xmlns:a16="http://schemas.microsoft.com/office/drawing/2014/main" id="{54C54E61-074F-1537-1C27-A623F33BD1D8}"/>
                      </a:ext>
                    </a:extLst>
                  </p:cNvPr>
                  <p:cNvSpPr txBox="1"/>
                  <p:nvPr/>
                </p:nvSpPr>
                <p:spPr>
                  <a:xfrm>
                    <a:off x="3346011" y="2477431"/>
                    <a:ext cx="2866510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性能指标向量</a:t>
                    </a:r>
                    <a14:m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oMath>
                    </a14:m>
                    <a:endPara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归一化处理 </a:t>
                    </a:r>
                    <a14:m>
                      <m:oMath xmlns:m="http://schemas.openxmlformats.org/officeDocument/2006/math">
                        <m:acc>
                          <m:accPr>
                            <m:chr m:val="̃"/>
                            <m:ctrlPr>
                              <a:rPr lang="en-US" altLang="zh-CN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</m:acc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a14:m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norm </a:t>
                    </a:r>
                    <a14:m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𝐲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 </a:t>
                    </a:r>
                  </a:p>
                </p:txBody>
              </p:sp>
            </mc:Choice>
            <mc:Fallback>
              <p:sp>
                <p:nvSpPr>
                  <p:cNvPr id="17" name="文本框 16">
                    <a:extLst>
                      <a:ext uri="{FF2B5EF4-FFF2-40B4-BE49-F238E27FC236}">
                        <a16:creationId xmlns:a16="http://schemas.microsoft.com/office/drawing/2014/main" id="{54C54E61-074F-1537-1C27-A623F33BD1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46011" y="2477431"/>
                    <a:ext cx="2866510" cy="646331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t="-7547" b="-15094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77C408C9-45A3-36DC-0B4B-7D04EEC46253}"/>
                </a:ext>
              </a:extLst>
            </p:cNvPr>
            <p:cNvGrpSpPr/>
            <p:nvPr/>
          </p:nvGrpSpPr>
          <p:grpSpPr>
            <a:xfrm>
              <a:off x="3159266" y="3725508"/>
              <a:ext cx="3240000" cy="468000"/>
              <a:chOff x="3159266" y="3888527"/>
              <a:chExt cx="3240000" cy="468000"/>
            </a:xfrm>
          </p:grpSpPr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34873F60-3B9F-8DBE-E447-EB67EC56A037}"/>
                  </a:ext>
                </a:extLst>
              </p:cNvPr>
              <p:cNvSpPr/>
              <p:nvPr/>
            </p:nvSpPr>
            <p:spPr>
              <a:xfrm>
                <a:off x="3159266" y="3888527"/>
                <a:ext cx="3240000" cy="468000"/>
              </a:xfrm>
              <a:prstGeom prst="rect">
                <a:avLst/>
              </a:prstGeom>
              <a:solidFill>
                <a:srgbClr val="FFEBDC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D46FBEF7-0129-18DC-5701-3EDEF6768E0A}"/>
                      </a:ext>
                    </a:extLst>
                  </p:cNvPr>
                  <p:cNvSpPr txBox="1"/>
                  <p:nvPr/>
                </p:nvSpPr>
                <p:spPr>
                  <a:xfrm>
                    <a:off x="3346011" y="3937861"/>
                    <a:ext cx="286651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综合效用函数</a:t>
                    </a:r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zh-CN" i="1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m:t>U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(∙)</m:t>
                        </m:r>
                      </m:oMath>
                    </a14:m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 </a:t>
                    </a:r>
                  </a:p>
                </p:txBody>
              </p:sp>
            </mc:Choice>
            <mc:Fallback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D46FBEF7-0129-18DC-5701-3EDEF6768E0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46011" y="3937861"/>
                    <a:ext cx="286651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t="-11475" b="-21311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6" name="直接箭头连接符 25">
              <a:extLst>
                <a:ext uri="{FF2B5EF4-FFF2-40B4-BE49-F238E27FC236}">
                  <a16:creationId xmlns:a16="http://schemas.microsoft.com/office/drawing/2014/main" id="{084FC642-B382-CD16-998E-FC546AB47524}"/>
                </a:ext>
              </a:extLst>
            </p:cNvPr>
            <p:cNvCxnSpPr>
              <a:cxnSpLocks/>
              <a:stCxn id="12" idx="2"/>
              <a:endCxn id="18" idx="0"/>
            </p:cNvCxnSpPr>
            <p:nvPr/>
          </p:nvCxnSpPr>
          <p:spPr>
            <a:xfrm>
              <a:off x="4779266" y="1823924"/>
              <a:ext cx="0" cy="59079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箭头连接符 28">
              <a:extLst>
                <a:ext uri="{FF2B5EF4-FFF2-40B4-BE49-F238E27FC236}">
                  <a16:creationId xmlns:a16="http://schemas.microsoft.com/office/drawing/2014/main" id="{A26C3EAC-C021-7ACF-AA79-08B4B2D859FA}"/>
                </a:ext>
              </a:extLst>
            </p:cNvPr>
            <p:cNvCxnSpPr>
              <a:stCxn id="18" idx="2"/>
              <a:endCxn id="24" idx="0"/>
            </p:cNvCxnSpPr>
            <p:nvPr/>
          </p:nvCxnSpPr>
          <p:spPr>
            <a:xfrm>
              <a:off x="4779266" y="3134716"/>
              <a:ext cx="0" cy="59079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7" name="组合 46">
              <a:extLst>
                <a:ext uri="{FF2B5EF4-FFF2-40B4-BE49-F238E27FC236}">
                  <a16:creationId xmlns:a16="http://schemas.microsoft.com/office/drawing/2014/main" id="{A201CC16-C720-5420-96AF-3C326BF9F98E}"/>
                </a:ext>
              </a:extLst>
            </p:cNvPr>
            <p:cNvGrpSpPr/>
            <p:nvPr/>
          </p:nvGrpSpPr>
          <p:grpSpPr>
            <a:xfrm>
              <a:off x="3159266" y="4784302"/>
              <a:ext cx="3240000" cy="732218"/>
              <a:chOff x="3159266" y="5077734"/>
              <a:chExt cx="3240000" cy="732218"/>
            </a:xfrm>
          </p:grpSpPr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B7ADD4A7-EF14-8945-045C-BC38ACEC7E8B}"/>
                  </a:ext>
                </a:extLst>
              </p:cNvPr>
              <p:cNvSpPr/>
              <p:nvPr/>
            </p:nvSpPr>
            <p:spPr>
              <a:xfrm>
                <a:off x="3159266" y="5077734"/>
                <a:ext cx="3240000" cy="720000"/>
              </a:xfrm>
              <a:prstGeom prst="rect">
                <a:avLst/>
              </a:prstGeom>
              <a:solidFill>
                <a:srgbClr val="4682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2" name="文本框 31">
                    <a:extLst>
                      <a:ext uri="{FF2B5EF4-FFF2-40B4-BE49-F238E27FC236}">
                        <a16:creationId xmlns:a16="http://schemas.microsoft.com/office/drawing/2014/main" id="{928435EC-927A-FF64-D3E7-230226E80369}"/>
                      </a:ext>
                    </a:extLst>
                  </p:cNvPr>
                  <p:cNvSpPr txBox="1"/>
                  <p:nvPr/>
                </p:nvSpPr>
                <p:spPr>
                  <a:xfrm>
                    <a:off x="3346011" y="5087510"/>
                    <a:ext cx="2866510" cy="72244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最优协议与参数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proto</m:t>
                            </m:r>
                          </m:sub>
                          <m:sup>
                            <m: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oMath>
                    </a14:m>
                    <a:endParaRPr lang="en-US" altLang="zh-CN" dirty="0">
                      <a:solidFill>
                        <a:schemeClr val="bg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proto</m:t>
                            </m:r>
                          </m:sub>
                          <m:sup>
                            <m: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en-US" altLang="zh-CN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=[</m:t>
                        </m:r>
                        <m:sSup>
                          <m:sSupPr>
                            <m:ctrlPr>
                              <a:rPr lang="en-US" altLang="zh-CN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en-US" altLang="zh-CN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altLang="zh-CN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altLang="zh-CN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𝒑</m:t>
                            </m:r>
                          </m:sub>
                          <m:sup>
                            <m:r>
                              <a:rPr lang="en-US" altLang="zh-CN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en-US" altLang="zh-CN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a14:m>
                    <a:r>
                      <a:rPr lang="en-US" altLang="zh-CN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 </a:t>
                    </a:r>
                  </a:p>
                </p:txBody>
              </p:sp>
            </mc:Choice>
            <mc:Fallback>
              <p:sp>
                <p:nvSpPr>
                  <p:cNvPr id="32" name="文本框 31">
                    <a:extLst>
                      <a:ext uri="{FF2B5EF4-FFF2-40B4-BE49-F238E27FC236}">
                        <a16:creationId xmlns:a16="http://schemas.microsoft.com/office/drawing/2014/main" id="{928435EC-927A-FF64-D3E7-230226E8036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46011" y="5087510"/>
                    <a:ext cx="2866510" cy="72244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t="-6723" b="-840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0C3832B5-3D89-C6BC-DF41-1578C692D971}"/>
                </a:ext>
              </a:extLst>
            </p:cNvPr>
            <p:cNvCxnSpPr>
              <a:stCxn id="24" idx="2"/>
              <a:endCxn id="33" idx="0"/>
            </p:cNvCxnSpPr>
            <p:nvPr/>
          </p:nvCxnSpPr>
          <p:spPr>
            <a:xfrm>
              <a:off x="4779266" y="4193508"/>
              <a:ext cx="0" cy="59079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7" name="文本框 36">
                  <a:extLst>
                    <a:ext uri="{FF2B5EF4-FFF2-40B4-BE49-F238E27FC236}">
                      <a16:creationId xmlns:a16="http://schemas.microsoft.com/office/drawing/2014/main" id="{6DF2FA46-B853-7F4A-1A2D-557B4CD80A70}"/>
                    </a:ext>
                  </a:extLst>
                </p:cNvPr>
                <p:cNvSpPr txBox="1"/>
                <p:nvPr/>
              </p:nvSpPr>
              <p:spPr>
                <a:xfrm>
                  <a:off x="4771839" y="3245242"/>
                  <a:ext cx="75922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zh-CN" i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U</a:t>
                  </a:r>
                  <a14:m>
                    <m:oMath xmlns:m="http://schemas.openxmlformats.org/officeDocument/2006/math"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̃"/>
                          <m:ctrlPr>
                            <a:rPr lang="en-US" altLang="zh-C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𝐲</m:t>
                          </m:r>
                        </m:e>
                      </m:acc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zh-CN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>
            <p:sp>
              <p:nvSpPr>
                <p:cNvPr id="37" name="文本框 36">
                  <a:extLst>
                    <a:ext uri="{FF2B5EF4-FFF2-40B4-BE49-F238E27FC236}">
                      <a16:creationId xmlns:a16="http://schemas.microsoft.com/office/drawing/2014/main" id="{6DF2FA46-B853-7F4A-1A2D-557B4CD80A7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71839" y="3245242"/>
                  <a:ext cx="759226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6400" t="-8197" r="-7200" b="-2459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06FDA3E6-CE51-B14C-6E88-BEF200FFB254}"/>
                </a:ext>
              </a:extLst>
            </p:cNvPr>
            <p:cNvSpPr txBox="1"/>
            <p:nvPr/>
          </p:nvSpPr>
          <p:spPr>
            <a:xfrm>
              <a:off x="4771839" y="1940577"/>
              <a:ext cx="9628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输出</a:t>
              </a: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D59FF324-B7C5-7C5D-BA2F-1A461F8CB89B}"/>
                </a:ext>
              </a:extLst>
            </p:cNvPr>
            <p:cNvSpPr txBox="1"/>
            <p:nvPr/>
          </p:nvSpPr>
          <p:spPr>
            <a:xfrm>
              <a:off x="4771839" y="4298317"/>
              <a:ext cx="10839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 err="1">
                  <a:latin typeface="Times New Roman" panose="02020603050405020304" pitchFamily="18" charset="0"/>
                  <a:ea typeface="宋体" panose="02010600030101010101" pitchFamily="2" charset="-122"/>
                </a:rPr>
                <a:t>arg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 max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907067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9050">
          <a:solidFill>
            <a:schemeClr val="tx1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102</Words>
  <Application>Microsoft Office PowerPoint</Application>
  <PresentationFormat>宽屏</PresentationFormat>
  <Paragraphs>22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8" baseType="lpstr">
      <vt:lpstr>等线</vt:lpstr>
      <vt:lpstr>等线 Light</vt:lpstr>
      <vt:lpstr>Arial</vt:lpstr>
      <vt:lpstr>Cambria Math</vt:lpstr>
      <vt:lpstr>Times New Roman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W.L.</dc:creator>
  <cp:lastModifiedBy>W.L.</cp:lastModifiedBy>
  <cp:revision>14</cp:revision>
  <dcterms:created xsi:type="dcterms:W3CDTF">2026-01-14T02:59:18Z</dcterms:created>
  <dcterms:modified xsi:type="dcterms:W3CDTF">2026-01-14T10:06:58Z</dcterms:modified>
</cp:coreProperties>
</file>