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82B4"/>
    <a:srgbClr val="FFEBDC"/>
    <a:srgbClr val="FFFADC"/>
    <a:srgbClr val="DCFFE6"/>
    <a:srgbClr val="DCE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62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5BE26EA9-7B62-70CA-6AF6-8C186648E98F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92421E56-D7C5-686E-DA57-E0BDB889DD30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6FF3F5A8-8ABC-DD86-6D00-7BB2A840098E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39BEE58F-E797-F7A7-B922-9B68BC435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39BEE58F-E797-F7A7-B922-9B68BC435A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35B6E8F2-40D8-AE3B-09E2-8F8AD9889A81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E74DDD8-8834-B94C-34D8-1B636CAFB018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0BAC6B0-88BC-3B29-E0E1-5D57FB4DA486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0BAC6B0-88BC-3B29-E0E1-5D57FB4DA4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9347E19E-9F33-B6F5-F3C6-824C88E469B9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9347E19E-9F33-B6F5-F3C6-824C88E469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88C9D37-8943-9300-AFC3-936F05F31171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38A6AD3-6000-6281-3074-1F486F4E9AC0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50404F99-79A8-EDB1-B7F4-6748EE890DF7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54C54E61-074F-1537-1C27-A623F33BD1D8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54C54E61-074F-1537-1C27-A623F33BD1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77C408C9-45A3-36DC-0B4B-7D04EEC46253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4873F60-3B9F-8DBE-E447-EB67EC56A037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D46FBEF7-0129-18DC-5701-3EDEF6768E0A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D46FBEF7-0129-18DC-5701-3EDEF6768E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084FC642-B382-CD16-998E-FC546AB47524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A26C3EAC-C021-7ACF-AA79-08B4B2D859FA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A201CC16-C720-5420-96AF-3C326BF9F98E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B7ADD4A7-EF14-8945-045C-BC38ACEC7E8B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928435EC-927A-FF64-D3E7-230226E80369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928435EC-927A-FF64-D3E7-230226E803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6DF2FA46-B853-7F4A-1A2D-557B4CD80A70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6DF2FA46-B853-7F4A-1A2D-557B4CD80A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06FDA3E6-CE51-B14C-6E88-BEF200FFB254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D59FF324-B7C5-7C5D-BA2F-1A461F8CB89B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DAE7EFC4-BB32-22CF-B878-68A68FA633AE}"/>
              </a:ext>
            </a:extLst>
          </p:cNvPr>
          <p:cNvGrpSpPr/>
          <p:nvPr/>
        </p:nvGrpSpPr>
        <p:grpSpPr>
          <a:xfrm>
            <a:off x="477142" y="103516"/>
            <a:ext cx="11237715" cy="6650968"/>
            <a:chOff x="207525" y="1110575"/>
            <a:chExt cx="9257489" cy="541344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E815B88-F159-9327-4D02-A5E43CECC3EE}"/>
                </a:ext>
              </a:extLst>
            </p:cNvPr>
            <p:cNvSpPr/>
            <p:nvPr/>
          </p:nvSpPr>
          <p:spPr>
            <a:xfrm>
              <a:off x="207525" y="1110575"/>
              <a:ext cx="2856397" cy="54134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AF823AAC-39F7-DB5C-F04C-7F046E61A97B}"/>
                </a:ext>
              </a:extLst>
            </p:cNvPr>
            <p:cNvGrpSpPr/>
            <p:nvPr/>
          </p:nvGrpSpPr>
          <p:grpSpPr>
            <a:xfrm>
              <a:off x="207525" y="2859122"/>
              <a:ext cx="1181100" cy="1550432"/>
              <a:chOff x="253731" y="3345505"/>
              <a:chExt cx="1181100" cy="155043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DA6B5533-0055-6165-5AF5-6EF0FAEE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7E255EC-BE87-4986-27C1-C19801ECB154}"/>
                  </a:ext>
                </a:extLst>
              </p:cNvPr>
              <p:cNvSpPr txBox="1"/>
              <p:nvPr/>
            </p:nvSpPr>
            <p:spPr>
              <a:xfrm>
                <a:off x="386270" y="4526605"/>
                <a:ext cx="9160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数据集</a:t>
                </a: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4E5CAB59-A72E-A296-9E17-82654A1046FD}"/>
                </a:ext>
              </a:extLst>
            </p:cNvPr>
            <p:cNvGrpSpPr/>
            <p:nvPr/>
          </p:nvGrpSpPr>
          <p:grpSpPr>
            <a:xfrm>
              <a:off x="1446991" y="1746765"/>
              <a:ext cx="1010866" cy="1340795"/>
              <a:chOff x="1952828" y="1951206"/>
              <a:chExt cx="1010866" cy="1340795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A8C110EA-7ED7-0E8D-28A7-1FCB9C90CB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2F0A2B0-4069-5DDF-1325-97D24DB56E3A}"/>
                  </a:ext>
                </a:extLst>
              </p:cNvPr>
              <p:cNvSpPr txBox="1"/>
              <p:nvPr/>
            </p:nvSpPr>
            <p:spPr>
              <a:xfrm>
                <a:off x="1952829" y="2922669"/>
                <a:ext cx="1010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训练集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E82F5BCD-D156-168B-7BF2-377C02E5BECB}"/>
                </a:ext>
              </a:extLst>
            </p:cNvPr>
            <p:cNvGrpSpPr/>
            <p:nvPr/>
          </p:nvGrpSpPr>
          <p:grpSpPr>
            <a:xfrm>
              <a:off x="1042046" y="5084807"/>
              <a:ext cx="1744495" cy="1379367"/>
              <a:chOff x="1551939" y="1951206"/>
              <a:chExt cx="1744495" cy="1379367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AAAE8D9B-EDAD-2E79-D706-2E3148F5E6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CEB1D6B-8249-86AC-C948-88281C4B97F6}"/>
                  </a:ext>
                </a:extLst>
              </p:cNvPr>
              <p:cNvSpPr txBox="1"/>
              <p:nvPr/>
            </p:nvSpPr>
            <p:spPr>
              <a:xfrm>
                <a:off x="1551939" y="2961241"/>
                <a:ext cx="17444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测试集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&amp;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验证集</a:t>
                </a: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2474E62-4792-313D-27C1-690412774C18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797668" y="2252198"/>
              <a:ext cx="649323" cy="606924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77A4D0A-AD67-C405-76F3-5365C78C296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530162" y="4677467"/>
              <a:ext cx="1180686" cy="644860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97FCBC68-70CA-4FCF-880A-CB0E21ED6E73}"/>
                </a:ext>
              </a:extLst>
            </p:cNvPr>
            <p:cNvSpPr txBox="1"/>
            <p:nvPr/>
          </p:nvSpPr>
          <p:spPr>
            <a:xfrm>
              <a:off x="207525" y="1176030"/>
              <a:ext cx="16690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数据预处理</a:t>
              </a:r>
            </a:p>
          </p:txBody>
        </p: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252D36C6-8F43-045A-17AB-DA6875EFC7BC}"/>
                </a:ext>
              </a:extLst>
            </p:cNvPr>
            <p:cNvGrpSpPr/>
            <p:nvPr/>
          </p:nvGrpSpPr>
          <p:grpSpPr>
            <a:xfrm>
              <a:off x="3292520" y="1143301"/>
              <a:ext cx="3202314" cy="1489953"/>
              <a:chOff x="3691647" y="1110575"/>
              <a:chExt cx="3202314" cy="1489953"/>
            </a:xfrm>
          </p:grpSpPr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D2D857E4-F963-AECD-7636-CD26E67BAEF8}"/>
                  </a:ext>
                </a:extLst>
              </p:cNvPr>
              <p:cNvSpPr txBox="1"/>
              <p:nvPr/>
            </p:nvSpPr>
            <p:spPr>
              <a:xfrm>
                <a:off x="4460132" y="1817858"/>
                <a:ext cx="21919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损失函数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MMSE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80FCB1C-C2E1-ABB8-6061-FCA6B5A6F055}"/>
                  </a:ext>
                </a:extLst>
              </p:cNvPr>
              <p:cNvGrpSpPr/>
              <p:nvPr/>
            </p:nvGrpSpPr>
            <p:grpSpPr>
              <a:xfrm>
                <a:off x="3691647" y="1110575"/>
                <a:ext cx="3202314" cy="1489953"/>
                <a:chOff x="3691647" y="1110575"/>
                <a:chExt cx="3202314" cy="1489953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5D737D50-B313-7D6D-034C-E7F32CB47B11}"/>
                    </a:ext>
                  </a:extLst>
                </p:cNvPr>
                <p:cNvSpPr/>
                <p:nvPr/>
              </p:nvSpPr>
              <p:spPr>
                <a:xfrm>
                  <a:off x="3839183" y="1110575"/>
                  <a:ext cx="3054778" cy="148995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C5C31074-6261-1CD7-CF57-0F23AF6C309E}"/>
                    </a:ext>
                  </a:extLst>
                </p:cNvPr>
                <p:cNvSpPr txBox="1"/>
                <p:nvPr/>
              </p:nvSpPr>
              <p:spPr>
                <a:xfrm>
                  <a:off x="3691647" y="1158925"/>
                  <a:ext cx="153697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3.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损失函数</a:t>
                  </a:r>
                </a:p>
              </p:txBody>
            </p:sp>
          </p:grp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8AA14FB4-FDFD-CAE4-10B0-6B0ABA5FD5C5}"/>
                </a:ext>
              </a:extLst>
            </p:cNvPr>
            <p:cNvGrpSpPr/>
            <p:nvPr/>
          </p:nvGrpSpPr>
          <p:grpSpPr>
            <a:xfrm>
              <a:off x="7165076" y="1143301"/>
              <a:ext cx="2299938" cy="1489953"/>
              <a:chOff x="8424154" y="1462353"/>
              <a:chExt cx="1964987" cy="1093307"/>
            </a:xfrm>
          </p:grpSpPr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CB16AABA-2E16-F04B-CF7F-4763A5726CDA}"/>
                  </a:ext>
                </a:extLst>
              </p:cNvPr>
              <p:cNvSpPr txBox="1"/>
              <p:nvPr/>
            </p:nvSpPr>
            <p:spPr>
              <a:xfrm>
                <a:off x="8512574" y="2033021"/>
                <a:ext cx="1876567" cy="2710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优化器</a:t>
                </a:r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AdamW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6E6D8856-41D1-D2FA-274B-EBAC330BD373}"/>
                  </a:ext>
                </a:extLst>
              </p:cNvPr>
              <p:cNvGrpSpPr/>
              <p:nvPr/>
            </p:nvGrpSpPr>
            <p:grpSpPr>
              <a:xfrm>
                <a:off x="8424154" y="1462353"/>
                <a:ext cx="1964987" cy="1093307"/>
                <a:chOff x="8618707" y="1507221"/>
                <a:chExt cx="1964987" cy="1093307"/>
              </a:xfrm>
            </p:grpSpPr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36EF50B6-8614-6B1D-AA4F-0B8AA43D4065}"/>
                    </a:ext>
                  </a:extLst>
                </p:cNvPr>
                <p:cNvSpPr/>
                <p:nvPr/>
              </p:nvSpPr>
              <p:spPr>
                <a:xfrm>
                  <a:off x="8618707" y="1507221"/>
                  <a:ext cx="1964987" cy="109330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CB0A4F75-3FEC-401D-7873-A0D85F382FC9}"/>
                    </a:ext>
                  </a:extLst>
                </p:cNvPr>
                <p:cNvSpPr txBox="1"/>
                <p:nvPr/>
              </p:nvSpPr>
              <p:spPr>
                <a:xfrm>
                  <a:off x="8673830" y="1555251"/>
                  <a:ext cx="849549" cy="2710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4.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优化</a:t>
                  </a:r>
                </a:p>
              </p:txBody>
            </p:sp>
          </p:grpSp>
        </p:grp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DEF30DAD-BEC4-8EAD-10A9-14338510D8C5}"/>
                </a:ext>
              </a:extLst>
            </p:cNvPr>
            <p:cNvGrpSpPr/>
            <p:nvPr/>
          </p:nvGrpSpPr>
          <p:grpSpPr>
            <a:xfrm>
              <a:off x="3472774" y="2834651"/>
              <a:ext cx="5992239" cy="3664895"/>
              <a:chOff x="3897549" y="2859122"/>
              <a:chExt cx="5625830" cy="3664895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0B56B3B9-E292-3BD7-4F13-0CA23124BEA3}"/>
                  </a:ext>
                </a:extLst>
              </p:cNvPr>
              <p:cNvSpPr/>
              <p:nvPr/>
            </p:nvSpPr>
            <p:spPr>
              <a:xfrm>
                <a:off x="3897549" y="2859122"/>
                <a:ext cx="5625830" cy="36648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6F9FE90-4986-AD30-B5A7-C36D8C511602}"/>
                  </a:ext>
                </a:extLst>
              </p:cNvPr>
              <p:cNvSpPr txBox="1"/>
              <p:nvPr/>
            </p:nvSpPr>
            <p:spPr>
              <a:xfrm>
                <a:off x="4045087" y="2937753"/>
                <a:ext cx="23644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2. 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多任务神经网络架构</a:t>
                </a:r>
              </a:p>
            </p:txBody>
          </p:sp>
        </p:grp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51757C63-CA56-11E4-ECCF-1B28BB3119E9}"/>
                </a:ext>
              </a:extLst>
            </p:cNvPr>
            <p:cNvSpPr/>
            <p:nvPr/>
          </p:nvSpPr>
          <p:spPr>
            <a:xfrm>
              <a:off x="3768282" y="3340537"/>
              <a:ext cx="5436678" cy="303529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5E08EB73-0EBF-3E56-3EF2-874E8B28ED55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rot="16200000" flipH="1">
              <a:off x="2213398" y="2826586"/>
              <a:ext cx="1356443" cy="187838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05BC51E5-2035-1623-CD8B-7ED5A11238A0}"/>
                </a:ext>
              </a:extLst>
            </p:cNvPr>
            <p:cNvGrpSpPr/>
            <p:nvPr/>
          </p:nvGrpSpPr>
          <p:grpSpPr>
            <a:xfrm>
              <a:off x="3831981" y="3573970"/>
              <a:ext cx="817163" cy="2601956"/>
              <a:chOff x="3805332" y="3533873"/>
              <a:chExt cx="817163" cy="2016227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5533EB0E-34CB-0000-4100-A9C0964163AD}"/>
                  </a:ext>
                </a:extLst>
              </p:cNvPr>
              <p:cNvSpPr/>
              <p:nvPr/>
            </p:nvSpPr>
            <p:spPr>
              <a:xfrm>
                <a:off x="3829892" y="3533873"/>
                <a:ext cx="768042" cy="201622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BE01B920-9475-632E-0610-A90341EC118C}"/>
                  </a:ext>
                </a:extLst>
              </p:cNvPr>
              <p:cNvSpPr txBox="1"/>
              <p:nvPr/>
            </p:nvSpPr>
            <p:spPr>
              <a:xfrm>
                <a:off x="3805332" y="4410709"/>
                <a:ext cx="817163" cy="321965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归一化层</a:t>
                </a:r>
                <a:endPara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5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LayerNorm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4719EDE1-F0DE-0573-8811-8A70C06BF588}"/>
                </a:ext>
              </a:extLst>
            </p:cNvPr>
            <p:cNvGrpSpPr/>
            <p:nvPr/>
          </p:nvGrpSpPr>
          <p:grpSpPr>
            <a:xfrm>
              <a:off x="8086283" y="3459248"/>
              <a:ext cx="1005838" cy="2846017"/>
              <a:chOff x="9775746" y="2956216"/>
              <a:chExt cx="1005838" cy="2368430"/>
            </a:xfrm>
          </p:grpSpPr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98688545-7D7A-1190-8924-EDEF9F0AF8CA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2368430"/>
                <a:chOff x="9775746" y="2956216"/>
                <a:chExt cx="1005838" cy="2368430"/>
              </a:xfrm>
            </p:grpSpPr>
            <p:grpSp>
              <p:nvGrpSpPr>
                <p:cNvPr id="76" name="组合 75">
                  <a:extLst>
                    <a:ext uri="{FF2B5EF4-FFF2-40B4-BE49-F238E27FC236}">
                      <a16:creationId xmlns:a16="http://schemas.microsoft.com/office/drawing/2014/main" id="{DE1B644C-B85E-8F5A-7CFE-E4B339B071A8}"/>
                    </a:ext>
                  </a:extLst>
                </p:cNvPr>
                <p:cNvGrpSpPr/>
                <p:nvPr/>
              </p:nvGrpSpPr>
              <p:grpSpPr>
                <a:xfrm>
                  <a:off x="9775746" y="2956216"/>
                  <a:ext cx="1005838" cy="633687"/>
                  <a:chOff x="9775746" y="2956216"/>
                  <a:chExt cx="1005838" cy="633687"/>
                </a:xfrm>
              </p:grpSpPr>
              <p:sp>
                <p:nvSpPr>
                  <p:cNvPr id="74" name="矩形 73">
                    <a:extLst>
                      <a:ext uri="{FF2B5EF4-FFF2-40B4-BE49-F238E27FC236}">
                        <a16:creationId xmlns:a16="http://schemas.microsoft.com/office/drawing/2014/main" id="{EBDC5CDB-502E-BE8C-E091-59B0362CF213}"/>
                      </a:ext>
                    </a:extLst>
                  </p:cNvPr>
                  <p:cNvSpPr/>
                  <p:nvPr/>
                </p:nvSpPr>
                <p:spPr>
                  <a:xfrm>
                    <a:off x="9775746" y="2956216"/>
                    <a:ext cx="1005838" cy="28346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任务</a:t>
                    </a:r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1</a:t>
                    </a:r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输出头</a:t>
                    </a:r>
                  </a:p>
                </p:txBody>
              </p:sp>
              <p:sp>
                <p:nvSpPr>
                  <p:cNvPr id="75" name="矩形 74">
                    <a:extLst>
                      <a:ext uri="{FF2B5EF4-FFF2-40B4-BE49-F238E27FC236}">
                        <a16:creationId xmlns:a16="http://schemas.microsoft.com/office/drawing/2014/main" id="{F225BD3A-2D2C-5890-0AF6-83F784083EE3}"/>
                      </a:ext>
                    </a:extLst>
                  </p:cNvPr>
                  <p:cNvSpPr/>
                  <p:nvPr/>
                </p:nvSpPr>
                <p:spPr>
                  <a:xfrm>
                    <a:off x="9775746" y="3239680"/>
                    <a:ext cx="1005838" cy="35022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80A52979-008E-F334-CC64-6E6DD6D54D80}"/>
                    </a:ext>
                  </a:extLst>
                </p:cNvPr>
                <p:cNvGrpSpPr/>
                <p:nvPr/>
              </p:nvGrpSpPr>
              <p:grpSpPr>
                <a:xfrm>
                  <a:off x="9775746" y="3661145"/>
                  <a:ext cx="1005838" cy="633687"/>
                  <a:chOff x="9775746" y="2956216"/>
                  <a:chExt cx="1005838" cy="633687"/>
                </a:xfrm>
              </p:grpSpPr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9F2B6779-B0F1-53AE-B214-8022C4C05FBD}"/>
                      </a:ext>
                    </a:extLst>
                  </p:cNvPr>
                  <p:cNvSpPr/>
                  <p:nvPr/>
                </p:nvSpPr>
                <p:spPr>
                  <a:xfrm>
                    <a:off x="9775746" y="2956216"/>
                    <a:ext cx="1005838" cy="28346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任务</a:t>
                    </a:r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2</a:t>
                    </a:r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输出头</a:t>
                    </a:r>
                  </a:p>
                </p:txBody>
              </p:sp>
              <p:sp>
                <p:nvSpPr>
                  <p:cNvPr id="79" name="矩形 78">
                    <a:extLst>
                      <a:ext uri="{FF2B5EF4-FFF2-40B4-BE49-F238E27FC236}">
                        <a16:creationId xmlns:a16="http://schemas.microsoft.com/office/drawing/2014/main" id="{B6DB6774-AA80-38EA-8D55-C37F28F57A64}"/>
                      </a:ext>
                    </a:extLst>
                  </p:cNvPr>
                  <p:cNvSpPr/>
                  <p:nvPr/>
                </p:nvSpPr>
                <p:spPr>
                  <a:xfrm>
                    <a:off x="9775746" y="3239680"/>
                    <a:ext cx="1005838" cy="35022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80" name="组合 79">
                  <a:extLst>
                    <a:ext uri="{FF2B5EF4-FFF2-40B4-BE49-F238E27FC236}">
                      <a16:creationId xmlns:a16="http://schemas.microsoft.com/office/drawing/2014/main" id="{7F444A52-521E-2FD4-7D2C-F73224C56F6B}"/>
                    </a:ext>
                  </a:extLst>
                </p:cNvPr>
                <p:cNvGrpSpPr/>
                <p:nvPr/>
              </p:nvGrpSpPr>
              <p:grpSpPr>
                <a:xfrm>
                  <a:off x="9775746" y="4690959"/>
                  <a:ext cx="1005838" cy="633687"/>
                  <a:chOff x="9775746" y="2956216"/>
                  <a:chExt cx="1005838" cy="633687"/>
                </a:xfrm>
              </p:grpSpPr>
              <p:sp>
                <p:nvSpPr>
                  <p:cNvPr id="81" name="矩形 80">
                    <a:extLst>
                      <a:ext uri="{FF2B5EF4-FFF2-40B4-BE49-F238E27FC236}">
                        <a16:creationId xmlns:a16="http://schemas.microsoft.com/office/drawing/2014/main" id="{AFC2FAAF-E8BD-3D23-ECA5-2DFD8F7860FA}"/>
                      </a:ext>
                    </a:extLst>
                  </p:cNvPr>
                  <p:cNvSpPr/>
                  <p:nvPr/>
                </p:nvSpPr>
                <p:spPr>
                  <a:xfrm>
                    <a:off x="9775746" y="2956216"/>
                    <a:ext cx="1005838" cy="28346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任务</a:t>
                    </a:r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4</a:t>
                    </a:r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输出头</a:t>
                    </a:r>
                  </a:p>
                </p:txBody>
              </p:sp>
              <p:sp>
                <p:nvSpPr>
                  <p:cNvPr id="82" name="矩形 81">
                    <a:extLst>
                      <a:ext uri="{FF2B5EF4-FFF2-40B4-BE49-F238E27FC236}">
                        <a16:creationId xmlns:a16="http://schemas.microsoft.com/office/drawing/2014/main" id="{1632100C-0880-F984-9791-E5BB1B757910}"/>
                      </a:ext>
                    </a:extLst>
                  </p:cNvPr>
                  <p:cNvSpPr/>
                  <p:nvPr/>
                </p:nvSpPr>
                <p:spPr>
                  <a:xfrm>
                    <a:off x="9775746" y="3239680"/>
                    <a:ext cx="1005838" cy="35022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</p:grp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7C1D770-9EB4-FB5C-BC41-82FAF9423935}"/>
                  </a:ext>
                </a:extLst>
              </p:cNvPr>
              <p:cNvSpPr txBox="1"/>
              <p:nvPr/>
            </p:nvSpPr>
            <p:spPr>
              <a:xfrm>
                <a:off x="9775746" y="4297766"/>
                <a:ext cx="1005838" cy="3073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…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09018DC0-46D8-BB91-6CF2-1F1598175414}"/>
                </a:ext>
              </a:extLst>
            </p:cNvPr>
            <p:cNvCxnSpPr>
              <a:cxnSpLocks/>
              <a:endCxn id="51" idx="1"/>
            </p:cNvCxnSpPr>
            <p:nvPr/>
          </p:nvCxnSpPr>
          <p:spPr>
            <a:xfrm flipV="1">
              <a:off x="1952424" y="4913282"/>
              <a:ext cx="1879557" cy="171525"/>
            </a:xfrm>
            <a:prstGeom prst="bentConnector3">
              <a:avLst>
                <a:gd name="adj1" fmla="val -465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C1ADEF32-EF9A-6F80-D5F8-EACFA93AC6B3}"/>
                </a:ext>
              </a:extLst>
            </p:cNvPr>
            <p:cNvSpPr txBox="1"/>
            <p:nvPr/>
          </p:nvSpPr>
          <p:spPr>
            <a:xfrm>
              <a:off x="5533855" y="3607670"/>
              <a:ext cx="1596985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共享特征提取层</a:t>
              </a: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17CBB046-BAB7-ABBD-FFFE-25F4F0248AC9}"/>
                </a:ext>
              </a:extLst>
            </p:cNvPr>
            <p:cNvSpPr/>
            <p:nvPr/>
          </p:nvSpPr>
          <p:spPr>
            <a:xfrm>
              <a:off x="4719874" y="3573971"/>
              <a:ext cx="3224949" cy="260195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200106F4-5ADA-2B4B-1F3C-9A24203566DF}"/>
                </a:ext>
              </a:extLst>
            </p:cNvPr>
            <p:cNvGrpSpPr/>
            <p:nvPr/>
          </p:nvGrpSpPr>
          <p:grpSpPr>
            <a:xfrm>
              <a:off x="4902044" y="3747172"/>
              <a:ext cx="2949340" cy="2314353"/>
              <a:chOff x="4902044" y="3678932"/>
              <a:chExt cx="2949340" cy="2314353"/>
            </a:xfrm>
          </p:grpSpPr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7CDC2FC7-6873-C453-51E6-3A3ED8F29D84}"/>
                  </a:ext>
                </a:extLst>
              </p:cNvPr>
              <p:cNvGrpSpPr/>
              <p:nvPr/>
            </p:nvGrpSpPr>
            <p:grpSpPr>
              <a:xfrm>
                <a:off x="4902044" y="3939354"/>
                <a:ext cx="2949340" cy="2053931"/>
                <a:chOff x="4889118" y="3723382"/>
                <a:chExt cx="2949340" cy="1669480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746CF857-36F2-7EDB-49F6-030F2A76FDCF}"/>
                    </a:ext>
                  </a:extLst>
                </p:cNvPr>
                <p:cNvGrpSpPr/>
                <p:nvPr/>
              </p:nvGrpSpPr>
              <p:grpSpPr>
                <a:xfrm>
                  <a:off x="4889118" y="3723382"/>
                  <a:ext cx="914274" cy="1669480"/>
                  <a:chOff x="9710928" y="2308040"/>
                  <a:chExt cx="920496" cy="1669480"/>
                </a:xfrm>
              </p:grpSpPr>
              <p:sp>
                <p:nvSpPr>
                  <p:cNvPr id="58" name="矩形 57">
                    <a:extLst>
                      <a:ext uri="{FF2B5EF4-FFF2-40B4-BE49-F238E27FC236}">
                        <a16:creationId xmlns:a16="http://schemas.microsoft.com/office/drawing/2014/main" id="{2F44776D-E4D9-F9E7-ACF3-BB0F0DD3E8DA}"/>
                      </a:ext>
                    </a:extLst>
                  </p:cNvPr>
                  <p:cNvSpPr/>
                  <p:nvPr/>
                </p:nvSpPr>
                <p:spPr>
                  <a:xfrm>
                    <a:off x="9710928" y="2308040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9" name="矩形 58">
                    <a:extLst>
                      <a:ext uri="{FF2B5EF4-FFF2-40B4-BE49-F238E27FC236}">
                        <a16:creationId xmlns:a16="http://schemas.microsoft.com/office/drawing/2014/main" id="{026F9296-CA64-E0F7-F34E-F26DDFEEE2FE}"/>
                      </a:ext>
                    </a:extLst>
                  </p:cNvPr>
                  <p:cNvSpPr/>
                  <p:nvPr/>
                </p:nvSpPr>
                <p:spPr>
                  <a:xfrm>
                    <a:off x="9710928" y="2727804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 err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FD89E1A8-D85E-2CBC-3564-BCB1249DCE8A}"/>
                      </a:ext>
                    </a:extLst>
                  </p:cNvPr>
                  <p:cNvSpPr/>
                  <p:nvPr/>
                </p:nvSpPr>
                <p:spPr>
                  <a:xfrm>
                    <a:off x="9710928" y="3147568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非线性激活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GELU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1" name="矩形 60">
                    <a:extLst>
                      <a:ext uri="{FF2B5EF4-FFF2-40B4-BE49-F238E27FC236}">
                        <a16:creationId xmlns:a16="http://schemas.microsoft.com/office/drawing/2014/main" id="{AFA50921-B47A-D60C-195D-BE2B8ECC6CFE}"/>
                      </a:ext>
                    </a:extLst>
                  </p:cNvPr>
                  <p:cNvSpPr/>
                  <p:nvPr/>
                </p:nvSpPr>
                <p:spPr>
                  <a:xfrm>
                    <a:off x="9710928" y="3567332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池化层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Dropout(0.1)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63" name="组合 62">
                  <a:extLst>
                    <a:ext uri="{FF2B5EF4-FFF2-40B4-BE49-F238E27FC236}">
                      <a16:creationId xmlns:a16="http://schemas.microsoft.com/office/drawing/2014/main" id="{A187E5AA-238B-AA3C-0D68-538660031E8D}"/>
                    </a:ext>
                  </a:extLst>
                </p:cNvPr>
                <p:cNvGrpSpPr/>
                <p:nvPr/>
              </p:nvGrpSpPr>
              <p:grpSpPr>
                <a:xfrm>
                  <a:off x="5906651" y="3723382"/>
                  <a:ext cx="914274" cy="1669480"/>
                  <a:chOff x="9710928" y="2308040"/>
                  <a:chExt cx="920496" cy="1669480"/>
                </a:xfrm>
              </p:grpSpPr>
              <p:sp>
                <p:nvSpPr>
                  <p:cNvPr id="64" name="矩形 63">
                    <a:extLst>
                      <a:ext uri="{FF2B5EF4-FFF2-40B4-BE49-F238E27FC236}">
                        <a16:creationId xmlns:a16="http://schemas.microsoft.com/office/drawing/2014/main" id="{ADB1D238-7326-62D0-802F-ACA5F40C5BCD}"/>
                      </a:ext>
                    </a:extLst>
                  </p:cNvPr>
                  <p:cNvSpPr/>
                  <p:nvPr/>
                </p:nvSpPr>
                <p:spPr>
                  <a:xfrm>
                    <a:off x="9710928" y="2308040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550312D8-71DD-1E3F-3422-C5936E362932}"/>
                      </a:ext>
                    </a:extLst>
                  </p:cNvPr>
                  <p:cNvSpPr/>
                  <p:nvPr/>
                </p:nvSpPr>
                <p:spPr>
                  <a:xfrm>
                    <a:off x="9710928" y="2727804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 err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6" name="矩形 65">
                    <a:extLst>
                      <a:ext uri="{FF2B5EF4-FFF2-40B4-BE49-F238E27FC236}">
                        <a16:creationId xmlns:a16="http://schemas.microsoft.com/office/drawing/2014/main" id="{21CDB939-7927-BDAE-1A38-0F15ADBFB951}"/>
                      </a:ext>
                    </a:extLst>
                  </p:cNvPr>
                  <p:cNvSpPr/>
                  <p:nvPr/>
                </p:nvSpPr>
                <p:spPr>
                  <a:xfrm>
                    <a:off x="9710928" y="3147568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非线性激活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GELU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7" name="矩形 66">
                    <a:extLst>
                      <a:ext uri="{FF2B5EF4-FFF2-40B4-BE49-F238E27FC236}">
                        <a16:creationId xmlns:a16="http://schemas.microsoft.com/office/drawing/2014/main" id="{F8C60D7D-610D-7319-6067-E2D6C5A7B247}"/>
                      </a:ext>
                    </a:extLst>
                  </p:cNvPr>
                  <p:cNvSpPr/>
                  <p:nvPr/>
                </p:nvSpPr>
                <p:spPr>
                  <a:xfrm>
                    <a:off x="9710928" y="3567332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池化层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Dropout(0.1)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68" name="组合 67">
                  <a:extLst>
                    <a:ext uri="{FF2B5EF4-FFF2-40B4-BE49-F238E27FC236}">
                      <a16:creationId xmlns:a16="http://schemas.microsoft.com/office/drawing/2014/main" id="{F6C8EA70-1AF8-AB5A-9D81-3223BEB36958}"/>
                    </a:ext>
                  </a:extLst>
                </p:cNvPr>
                <p:cNvGrpSpPr/>
                <p:nvPr/>
              </p:nvGrpSpPr>
              <p:grpSpPr>
                <a:xfrm>
                  <a:off x="6924184" y="3723382"/>
                  <a:ext cx="914274" cy="1669480"/>
                  <a:chOff x="9710928" y="2308040"/>
                  <a:chExt cx="920496" cy="1669480"/>
                </a:xfrm>
              </p:grpSpPr>
              <p:sp>
                <p:nvSpPr>
                  <p:cNvPr id="69" name="矩形 68">
                    <a:extLst>
                      <a:ext uri="{FF2B5EF4-FFF2-40B4-BE49-F238E27FC236}">
                        <a16:creationId xmlns:a16="http://schemas.microsoft.com/office/drawing/2014/main" id="{3E9686A9-A365-874B-4EDC-6BD7A69DA16A}"/>
                      </a:ext>
                    </a:extLst>
                  </p:cNvPr>
                  <p:cNvSpPr/>
                  <p:nvPr/>
                </p:nvSpPr>
                <p:spPr>
                  <a:xfrm>
                    <a:off x="9710928" y="2308040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0" name="矩形 69">
                    <a:extLst>
                      <a:ext uri="{FF2B5EF4-FFF2-40B4-BE49-F238E27FC236}">
                        <a16:creationId xmlns:a16="http://schemas.microsoft.com/office/drawing/2014/main" id="{1F043644-1141-6824-B3D4-F050444C4F71}"/>
                      </a:ext>
                    </a:extLst>
                  </p:cNvPr>
                  <p:cNvSpPr/>
                  <p:nvPr/>
                </p:nvSpPr>
                <p:spPr>
                  <a:xfrm>
                    <a:off x="9710928" y="2727804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 err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1" name="矩形 70">
                    <a:extLst>
                      <a:ext uri="{FF2B5EF4-FFF2-40B4-BE49-F238E27FC236}">
                        <a16:creationId xmlns:a16="http://schemas.microsoft.com/office/drawing/2014/main" id="{F1F4BE2A-92B8-3E50-C1C9-8ABFDB412C8E}"/>
                      </a:ext>
                    </a:extLst>
                  </p:cNvPr>
                  <p:cNvSpPr/>
                  <p:nvPr/>
                </p:nvSpPr>
                <p:spPr>
                  <a:xfrm>
                    <a:off x="9710928" y="3147568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非线性激活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GELU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2" name="矩形 71">
                    <a:extLst>
                      <a:ext uri="{FF2B5EF4-FFF2-40B4-BE49-F238E27FC236}">
                        <a16:creationId xmlns:a16="http://schemas.microsoft.com/office/drawing/2014/main" id="{6D3556AD-492A-6589-688D-A2AF1F698183}"/>
                      </a:ext>
                    </a:extLst>
                  </p:cNvPr>
                  <p:cNvSpPr/>
                  <p:nvPr/>
                </p:nvSpPr>
                <p:spPr>
                  <a:xfrm>
                    <a:off x="9710928" y="3567332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池化层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Dropout(0.1)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CAB053F7-E5CE-52DD-5C29-F8DE36A3A333}"/>
                  </a:ext>
                </a:extLst>
              </p:cNvPr>
              <p:cNvSpPr txBox="1"/>
              <p:nvPr/>
            </p:nvSpPr>
            <p:spPr>
              <a:xfrm>
                <a:off x="7129359" y="3678932"/>
                <a:ext cx="526609" cy="25391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</a:t>
                </a:r>
                <a:r>
                  <a:rPr lang="zh-CN" altLang="en-US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可选</a:t>
                </a:r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sz="105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</TotalTime>
  <Words>208</Words>
  <Application>Microsoft Office PowerPoint</Application>
  <PresentationFormat>宽屏</PresentationFormat>
  <Paragraphs>69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W.L.</dc:creator>
  <cp:lastModifiedBy>W.L.</cp:lastModifiedBy>
  <cp:revision>39</cp:revision>
  <dcterms:created xsi:type="dcterms:W3CDTF">2026-01-14T02:59:18Z</dcterms:created>
  <dcterms:modified xsi:type="dcterms:W3CDTF">2026-01-23T06:26:39Z</dcterms:modified>
</cp:coreProperties>
</file>